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4F8A6-D81D-414F-8D5A-F4CBDFB392BC}" v="1" dt="2025-07-17T05:32:22.0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5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microsoft.com/office/2015/10/relationships/revisionInfo" Target="revisionInfo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E184F8A6-D81D-414F-8D5A-F4CBDFB392BC}"/>
    <pc:docChg chg="custSel modSld">
      <pc:chgData name="Tarachand Amgoth" userId="ea017c71-c3c5-459d-b04b-915c0e816ad1" providerId="ADAL" clId="{E184F8A6-D81D-414F-8D5A-F4CBDFB392BC}" dt="2025-07-17T05:32:54.200" v="93" actId="113"/>
      <pc:docMkLst>
        <pc:docMk/>
      </pc:docMkLst>
      <pc:sldChg chg="addSp modSp mod">
        <pc:chgData name="Tarachand Amgoth" userId="ea017c71-c3c5-459d-b04b-915c0e816ad1" providerId="ADAL" clId="{E184F8A6-D81D-414F-8D5A-F4CBDFB392BC}" dt="2025-07-17T05:32:54.200" v="93" actId="113"/>
        <pc:sldMkLst>
          <pc:docMk/>
          <pc:sldMk cId="0" sldId="256"/>
        </pc:sldMkLst>
        <pc:spChg chg="add mod">
          <ac:chgData name="Tarachand Amgoth" userId="ea017c71-c3c5-459d-b04b-915c0e816ad1" providerId="ADAL" clId="{E184F8A6-D81D-414F-8D5A-F4CBDFB392BC}" dt="2025-07-17T05:32:54.200" v="93" actId="113"/>
          <ac:spMkLst>
            <pc:docMk/>
            <pc:sldMk cId="0" sldId="256"/>
            <ac:spMk id="2" creationId="{72526E62-28C9-3815-D77C-94947829DFE1}"/>
          </ac:spMkLst>
        </pc:spChg>
        <pc:spChg chg="mod">
          <ac:chgData name="Tarachand Amgoth" userId="ea017c71-c3c5-459d-b04b-915c0e816ad1" providerId="ADAL" clId="{E184F8A6-D81D-414F-8D5A-F4CBDFB392BC}" dt="2025-07-17T05:32:35.834" v="53" actId="1035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Tarachand Amgoth" userId="ea017c71-c3c5-459d-b04b-915c0e816ad1" providerId="ADAL" clId="{E184F8A6-D81D-414F-8D5A-F4CBDFB392BC}" dt="2025-07-17T04:13:06.929" v="3" actId="3626"/>
        <pc:sldMkLst>
          <pc:docMk/>
          <pc:sldMk cId="0" sldId="288"/>
        </pc:sldMkLst>
        <pc:spChg chg="mod">
          <ac:chgData name="Tarachand Amgoth" userId="ea017c71-c3c5-459d-b04b-915c0e816ad1" providerId="ADAL" clId="{E184F8A6-D81D-414F-8D5A-F4CBDFB392BC}" dt="2025-07-17T04:13:06.929" v="3" actId="3626"/>
          <ac:spMkLst>
            <pc:docMk/>
            <pc:sldMk cId="0" sldId="288"/>
            <ac:spMk id="28" creationId="{00000000-0000-0000-0000-000000000000}"/>
          </ac:spMkLst>
        </pc:spChg>
      </pc:sldChg>
      <pc:sldChg chg="modSp mod">
        <pc:chgData name="Tarachand Amgoth" userId="ea017c71-c3c5-459d-b04b-915c0e816ad1" providerId="ADAL" clId="{E184F8A6-D81D-414F-8D5A-F4CBDFB392BC}" dt="2025-07-17T04:12:59.014" v="1" actId="3626"/>
        <pc:sldMkLst>
          <pc:docMk/>
          <pc:sldMk cId="0" sldId="289"/>
        </pc:sldMkLst>
        <pc:spChg chg="mod">
          <ac:chgData name="Tarachand Amgoth" userId="ea017c71-c3c5-459d-b04b-915c0e816ad1" providerId="ADAL" clId="{E184F8A6-D81D-414F-8D5A-F4CBDFB392BC}" dt="2025-07-17T04:12:59.014" v="1" actId="3626"/>
          <ac:spMkLst>
            <pc:docMk/>
            <pc:sldMk cId="0" sldId="289"/>
            <ac:spMk id="28" creationId="{00000000-0000-0000-0000-000000000000}"/>
          </ac:spMkLst>
        </pc:spChg>
      </pc:sldChg>
      <pc:sldChg chg="modSp mod">
        <pc:chgData name="Tarachand Amgoth" userId="ea017c71-c3c5-459d-b04b-915c0e816ad1" providerId="ADAL" clId="{E184F8A6-D81D-414F-8D5A-F4CBDFB392BC}" dt="2025-07-17T04:13:20.120" v="5" actId="3626"/>
        <pc:sldMkLst>
          <pc:docMk/>
          <pc:sldMk cId="0" sldId="290"/>
        </pc:sldMkLst>
        <pc:spChg chg="mod">
          <ac:chgData name="Tarachand Amgoth" userId="ea017c71-c3c5-459d-b04b-915c0e816ad1" providerId="ADAL" clId="{E184F8A6-D81D-414F-8D5A-F4CBDFB392BC}" dt="2025-07-17T04:13:20.120" v="5" actId="3626"/>
          <ac:spMkLst>
            <pc:docMk/>
            <pc:sldMk cId="0" sldId="290"/>
            <ac:spMk id="28" creationId="{00000000-0000-0000-0000-000000000000}"/>
          </ac:spMkLst>
        </pc:spChg>
      </pc:sldChg>
      <pc:sldChg chg="modSp mod">
        <pc:chgData name="Tarachand Amgoth" userId="ea017c71-c3c5-459d-b04b-915c0e816ad1" providerId="ADAL" clId="{E184F8A6-D81D-414F-8D5A-F4CBDFB392BC}" dt="2025-07-17T04:13:31.700" v="7" actId="3626"/>
        <pc:sldMkLst>
          <pc:docMk/>
          <pc:sldMk cId="0" sldId="291"/>
        </pc:sldMkLst>
        <pc:spChg chg="mod">
          <ac:chgData name="Tarachand Amgoth" userId="ea017c71-c3c5-459d-b04b-915c0e816ad1" providerId="ADAL" clId="{E184F8A6-D81D-414F-8D5A-F4CBDFB392BC}" dt="2025-07-17T04:13:31.700" v="7" actId="3626"/>
          <ac:spMkLst>
            <pc:docMk/>
            <pc:sldMk cId="0" sldId="291"/>
            <ac:spMk id="28" creationId="{00000000-0000-0000-0000-000000000000}"/>
          </ac:spMkLst>
        </pc:spChg>
      </pc:sldChg>
      <pc:sldChg chg="modSp mod">
        <pc:chgData name="Tarachand Amgoth" userId="ea017c71-c3c5-459d-b04b-915c0e816ad1" providerId="ADAL" clId="{E184F8A6-D81D-414F-8D5A-F4CBDFB392BC}" dt="2025-07-17T04:13:41.906" v="9" actId="3626"/>
        <pc:sldMkLst>
          <pc:docMk/>
          <pc:sldMk cId="0" sldId="292"/>
        </pc:sldMkLst>
        <pc:spChg chg="mod">
          <ac:chgData name="Tarachand Amgoth" userId="ea017c71-c3c5-459d-b04b-915c0e816ad1" providerId="ADAL" clId="{E184F8A6-D81D-414F-8D5A-F4CBDFB392BC}" dt="2025-07-17T04:13:41.906" v="9" actId="3626"/>
          <ac:spMkLst>
            <pc:docMk/>
            <pc:sldMk cId="0" sldId="292"/>
            <ac:spMk id="2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45565"/>
            <a:ext cx="32670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88361" y="328853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08744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86546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39032" y="3278225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75863" y="328457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1883" y="329092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2982" y="328457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19183" y="3278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6302" y="327822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0101" y="328457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6302" y="331632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3434" y="32782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30870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8221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78225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5565"/>
            <a:ext cx="36480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297" y="576234"/>
            <a:ext cx="4273550" cy="239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8731" y="3344087"/>
            <a:ext cx="266369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8E0000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‹#›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37.png"/><Relationship Id="rId4" Type="http://schemas.openxmlformats.org/officeDocument/2006/relationships/image" Target="../media/image28.pn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0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image" Target="../media/image12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34.png"/><Relationship Id="rId10" Type="http://schemas.openxmlformats.org/officeDocument/2006/relationships/image" Target="../media/image50.png"/><Relationship Id="rId4" Type="http://schemas.openxmlformats.org/officeDocument/2006/relationships/image" Target="../media/image18.png"/><Relationship Id="rId9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5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0.png"/><Relationship Id="rId10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slide" Target="slide4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8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79.png"/><Relationship Id="rId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83.png"/><Relationship Id="rId9" Type="http://schemas.openxmlformats.org/officeDocument/2006/relationships/image" Target="../media/image91.png"/><Relationship Id="rId14" Type="http://schemas.openxmlformats.org/officeDocument/2006/relationships/slide" Target="slide4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slide" Target="slide42.xml"/><Relationship Id="rId5" Type="http://schemas.openxmlformats.org/officeDocument/2006/relationships/image" Target="../media/image84.png"/><Relationship Id="rId10" Type="http://schemas.openxmlformats.org/officeDocument/2006/relationships/image" Target="../media/image92.png"/><Relationship Id="rId4" Type="http://schemas.openxmlformats.org/officeDocument/2006/relationships/image" Target="../media/image83.png"/><Relationship Id="rId9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18.png"/><Relationship Id="rId7" Type="http://schemas.openxmlformats.org/officeDocument/2006/relationships/image" Target="../media/image131.pn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6.png"/><Relationship Id="rId5" Type="http://schemas.openxmlformats.org/officeDocument/2006/relationships/image" Target="../media/image129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28.png"/><Relationship Id="rId3" Type="http://schemas.openxmlformats.org/officeDocument/2006/relationships/image" Target="../media/image118.png"/><Relationship Id="rId7" Type="http://schemas.openxmlformats.org/officeDocument/2006/relationships/image" Target="../media/image131.pn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6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3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18.png"/><Relationship Id="rId7" Type="http://schemas.openxmlformats.org/officeDocument/2006/relationships/image" Target="../media/image13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image" Target="../media/image12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52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image" Target="../media/image12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43.png"/><Relationship Id="rId5" Type="http://schemas.openxmlformats.org/officeDocument/2006/relationships/image" Target="../media/image150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54.png"/><Relationship Id="rId14" Type="http://schemas.openxmlformats.org/officeDocument/2006/relationships/image" Target="../media/image14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35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36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1.png"/><Relationship Id="rId7" Type="http://schemas.openxmlformats.org/officeDocument/2006/relationships/image" Target="../media/image3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63.png"/><Relationship Id="rId10" Type="http://schemas.openxmlformats.org/officeDocument/2006/relationships/image" Target="../media/image167.png"/><Relationship Id="rId4" Type="http://schemas.openxmlformats.org/officeDocument/2006/relationships/image" Target="../media/image162.png"/><Relationship Id="rId9" Type="http://schemas.openxmlformats.org/officeDocument/2006/relationships/image" Target="../media/image16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9.png"/><Relationship Id="rId7" Type="http://schemas.openxmlformats.org/officeDocument/2006/relationships/image" Target="../media/image3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63.png"/><Relationship Id="rId10" Type="http://schemas.openxmlformats.org/officeDocument/2006/relationships/image" Target="../media/image167.png"/><Relationship Id="rId4" Type="http://schemas.openxmlformats.org/officeDocument/2006/relationships/image" Target="../media/image162.png"/><Relationship Id="rId9" Type="http://schemas.openxmlformats.org/officeDocument/2006/relationships/image" Target="../media/image16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9.png"/><Relationship Id="rId7" Type="http://schemas.openxmlformats.org/officeDocument/2006/relationships/image" Target="../media/image3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63.png"/><Relationship Id="rId10" Type="http://schemas.openxmlformats.org/officeDocument/2006/relationships/image" Target="../media/image167.png"/><Relationship Id="rId4" Type="http://schemas.openxmlformats.org/officeDocument/2006/relationships/image" Target="../media/image170.png"/><Relationship Id="rId9" Type="http://schemas.openxmlformats.org/officeDocument/2006/relationships/image" Target="../media/image16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9.png"/><Relationship Id="rId7" Type="http://schemas.openxmlformats.org/officeDocument/2006/relationships/image" Target="../media/image3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71.png"/><Relationship Id="rId10" Type="http://schemas.openxmlformats.org/officeDocument/2006/relationships/image" Target="../media/image167.png"/><Relationship Id="rId4" Type="http://schemas.openxmlformats.org/officeDocument/2006/relationships/image" Target="../media/image170.png"/><Relationship Id="rId9" Type="http://schemas.openxmlformats.org/officeDocument/2006/relationships/image" Target="../media/image16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9.png"/><Relationship Id="rId7" Type="http://schemas.openxmlformats.org/officeDocument/2006/relationships/image" Target="../media/image34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11" Type="http://schemas.openxmlformats.org/officeDocument/2006/relationships/image" Target="../media/image168.png"/><Relationship Id="rId5" Type="http://schemas.openxmlformats.org/officeDocument/2006/relationships/image" Target="../media/image171.png"/><Relationship Id="rId10" Type="http://schemas.openxmlformats.org/officeDocument/2006/relationships/image" Target="../media/image167.png"/><Relationship Id="rId4" Type="http://schemas.openxmlformats.org/officeDocument/2006/relationships/image" Target="../media/image170.png"/><Relationship Id="rId9" Type="http://schemas.openxmlformats.org/officeDocument/2006/relationships/image" Target="../media/image16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4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1.png"/><Relationship Id="rId7" Type="http://schemas.openxmlformats.org/officeDocument/2006/relationships/image" Target="../media/image18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85.png"/><Relationship Id="rId9" Type="http://schemas.openxmlformats.org/officeDocument/2006/relationships/image" Target="../media/image186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88.png"/><Relationship Id="rId7" Type="http://schemas.openxmlformats.org/officeDocument/2006/relationships/image" Target="../media/image19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88.png"/><Relationship Id="rId7" Type="http://schemas.openxmlformats.org/officeDocument/2006/relationships/image" Target="../media/image19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200.png"/><Relationship Id="rId4" Type="http://schemas.openxmlformats.org/officeDocument/2006/relationships/image" Target="../media/image189.png"/><Relationship Id="rId9" Type="http://schemas.openxmlformats.org/officeDocument/2006/relationships/image" Target="../media/image19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08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13.png"/><Relationship Id="rId12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16.png"/><Relationship Id="rId4" Type="http://schemas.openxmlformats.org/officeDocument/2006/relationships/image" Target="../media/image202.png"/><Relationship Id="rId9" Type="http://schemas.openxmlformats.org/officeDocument/2006/relationships/image" Target="../media/image21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16.png"/><Relationship Id="rId4" Type="http://schemas.openxmlformats.org/officeDocument/2006/relationships/image" Target="../media/image202.png"/><Relationship Id="rId9" Type="http://schemas.openxmlformats.org/officeDocument/2006/relationships/image" Target="../media/image215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20.png"/><Relationship Id="rId4" Type="http://schemas.openxmlformats.org/officeDocument/2006/relationships/image" Target="../media/image202.png"/><Relationship Id="rId9" Type="http://schemas.openxmlformats.org/officeDocument/2006/relationships/image" Target="../media/image219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0" Type="http://schemas.openxmlformats.org/officeDocument/2006/relationships/image" Target="../media/image221.png"/><Relationship Id="rId4" Type="http://schemas.openxmlformats.org/officeDocument/2006/relationships/image" Target="../media/image202.png"/><Relationship Id="rId9" Type="http://schemas.openxmlformats.org/officeDocument/2006/relationships/image" Target="../media/image21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4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22.png"/><Relationship Id="rId5" Type="http://schemas.openxmlformats.org/officeDocument/2006/relationships/image" Target="../media/image203.png"/><Relationship Id="rId10" Type="http://schemas.openxmlformats.org/officeDocument/2006/relationships/image" Target="../media/image221.png"/><Relationship Id="rId4" Type="http://schemas.openxmlformats.org/officeDocument/2006/relationships/image" Target="../media/image202.png"/><Relationship Id="rId9" Type="http://schemas.openxmlformats.org/officeDocument/2006/relationships/image" Target="../media/image219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4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22.png"/><Relationship Id="rId5" Type="http://schemas.openxmlformats.org/officeDocument/2006/relationships/image" Target="../media/image203.png"/><Relationship Id="rId10" Type="http://schemas.openxmlformats.org/officeDocument/2006/relationships/image" Target="../media/image221.png"/><Relationship Id="rId4" Type="http://schemas.openxmlformats.org/officeDocument/2006/relationships/image" Target="../media/image202.png"/><Relationship Id="rId9" Type="http://schemas.openxmlformats.org/officeDocument/2006/relationships/image" Target="../media/image219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6.png"/><Relationship Id="rId3" Type="http://schemas.openxmlformats.org/officeDocument/2006/relationships/image" Target="../media/image201.png"/><Relationship Id="rId7" Type="http://schemas.openxmlformats.org/officeDocument/2006/relationships/image" Target="../media/image217.png"/><Relationship Id="rId12" Type="http://schemas.openxmlformats.org/officeDocument/2006/relationships/image" Target="../media/image2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22.png"/><Relationship Id="rId5" Type="http://schemas.openxmlformats.org/officeDocument/2006/relationships/image" Target="../media/image203.png"/><Relationship Id="rId10" Type="http://schemas.openxmlformats.org/officeDocument/2006/relationships/image" Target="../media/image221.png"/><Relationship Id="rId4" Type="http://schemas.openxmlformats.org/officeDocument/2006/relationships/image" Target="../media/image202.png"/><Relationship Id="rId9" Type="http://schemas.openxmlformats.org/officeDocument/2006/relationships/image" Target="../media/image21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37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37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35.png"/><Relationship Id="rId5" Type="http://schemas.openxmlformats.org/officeDocument/2006/relationships/image" Target="../media/image239.png"/><Relationship Id="rId10" Type="http://schemas.openxmlformats.org/officeDocument/2006/relationships/image" Target="../media/image234.png"/><Relationship Id="rId4" Type="http://schemas.openxmlformats.org/officeDocument/2006/relationships/image" Target="../media/image238.png"/><Relationship Id="rId9" Type="http://schemas.openxmlformats.org/officeDocument/2006/relationships/image" Target="../media/image23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7.png"/><Relationship Id="rId7" Type="http://schemas.openxmlformats.org/officeDocument/2006/relationships/image" Target="../media/image23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Relationship Id="rId9" Type="http://schemas.openxmlformats.org/officeDocument/2006/relationships/image" Target="../media/image23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10" Type="http://schemas.openxmlformats.org/officeDocument/2006/relationships/image" Target="../media/image248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41.png"/><Relationship Id="rId7" Type="http://schemas.openxmlformats.org/officeDocument/2006/relationships/image" Target="../media/image24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10" Type="http://schemas.openxmlformats.org/officeDocument/2006/relationships/image" Target="../media/image248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41.png"/><Relationship Id="rId7" Type="http://schemas.openxmlformats.org/officeDocument/2006/relationships/image" Target="../media/image24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10" Type="http://schemas.openxmlformats.org/officeDocument/2006/relationships/image" Target="../media/image252.png"/><Relationship Id="rId4" Type="http://schemas.openxmlformats.org/officeDocument/2006/relationships/image" Target="../media/image242.png"/><Relationship Id="rId9" Type="http://schemas.openxmlformats.org/officeDocument/2006/relationships/image" Target="../media/image25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5" Type="http://schemas.openxmlformats.org/officeDocument/2006/relationships/image" Target="../media/image255.png"/><Relationship Id="rId4" Type="http://schemas.openxmlformats.org/officeDocument/2006/relationships/image" Target="../media/image25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7" Type="http://schemas.openxmlformats.org/officeDocument/2006/relationships/image" Target="../media/image25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5" Type="http://schemas.openxmlformats.org/officeDocument/2006/relationships/image" Target="../media/image255.png"/><Relationship Id="rId4" Type="http://schemas.openxmlformats.org/officeDocument/2006/relationships/image" Target="../media/image25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7" Type="http://schemas.openxmlformats.org/officeDocument/2006/relationships/image" Target="../media/image25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7" Type="http://schemas.openxmlformats.org/officeDocument/2006/relationships/image" Target="../media/image26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7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77.png"/><Relationship Id="rId10" Type="http://schemas.openxmlformats.org/officeDocument/2006/relationships/image" Target="../media/image282.png"/><Relationship Id="rId4" Type="http://schemas.openxmlformats.org/officeDocument/2006/relationships/image" Target="../media/image276.png"/><Relationship Id="rId9" Type="http://schemas.openxmlformats.org/officeDocument/2006/relationships/image" Target="../media/image281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84.png"/><Relationship Id="rId7" Type="http://schemas.openxmlformats.org/officeDocument/2006/relationships/image" Target="../media/image27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86.png"/><Relationship Id="rId10" Type="http://schemas.openxmlformats.org/officeDocument/2006/relationships/image" Target="../media/image282.png"/><Relationship Id="rId4" Type="http://schemas.openxmlformats.org/officeDocument/2006/relationships/image" Target="../media/image285.png"/><Relationship Id="rId9" Type="http://schemas.openxmlformats.org/officeDocument/2006/relationships/image" Target="../media/image281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84.png"/><Relationship Id="rId7" Type="http://schemas.openxmlformats.org/officeDocument/2006/relationships/image" Target="../media/image27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11" Type="http://schemas.openxmlformats.org/officeDocument/2006/relationships/image" Target="../media/image283.png"/><Relationship Id="rId5" Type="http://schemas.openxmlformats.org/officeDocument/2006/relationships/image" Target="../media/image286.png"/><Relationship Id="rId10" Type="http://schemas.openxmlformats.org/officeDocument/2006/relationships/image" Target="../media/image282.png"/><Relationship Id="rId4" Type="http://schemas.openxmlformats.org/officeDocument/2006/relationships/image" Target="../media/image285.png"/><Relationship Id="rId9" Type="http://schemas.openxmlformats.org/officeDocument/2006/relationships/image" Target="../media/image28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284.png"/><Relationship Id="rId7" Type="http://schemas.openxmlformats.org/officeDocument/2006/relationships/image" Target="../media/image28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5" Type="http://schemas.openxmlformats.org/officeDocument/2006/relationships/image" Target="../media/image286.png"/><Relationship Id="rId4" Type="http://schemas.openxmlformats.org/officeDocument/2006/relationships/image" Target="../media/image28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0" Type="http://schemas.openxmlformats.org/officeDocument/2006/relationships/image" Target="../media/image297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13" Type="http://schemas.openxmlformats.org/officeDocument/2006/relationships/image" Target="../media/image300.png"/><Relationship Id="rId3" Type="http://schemas.openxmlformats.org/officeDocument/2006/relationships/image" Target="../media/image302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0" Type="http://schemas.openxmlformats.org/officeDocument/2006/relationships/image" Target="../media/image297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13" Type="http://schemas.openxmlformats.org/officeDocument/2006/relationships/image" Target="../media/image300.png"/><Relationship Id="rId3" Type="http://schemas.openxmlformats.org/officeDocument/2006/relationships/image" Target="../media/image302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0" Type="http://schemas.openxmlformats.org/officeDocument/2006/relationships/image" Target="../media/image297.png"/><Relationship Id="rId4" Type="http://schemas.openxmlformats.org/officeDocument/2006/relationships/image" Target="../media/image304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13" Type="http://schemas.openxmlformats.org/officeDocument/2006/relationships/image" Target="../media/image300.png"/><Relationship Id="rId3" Type="http://schemas.openxmlformats.org/officeDocument/2006/relationships/image" Target="../media/image302.png"/><Relationship Id="rId7" Type="http://schemas.openxmlformats.org/officeDocument/2006/relationships/image" Target="../media/image307.png"/><Relationship Id="rId12" Type="http://schemas.openxmlformats.org/officeDocument/2006/relationships/image" Target="../media/image29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6.png"/><Relationship Id="rId11" Type="http://schemas.openxmlformats.org/officeDocument/2006/relationships/image" Target="../media/image298.png"/><Relationship Id="rId5" Type="http://schemas.openxmlformats.org/officeDocument/2006/relationships/image" Target="../media/image305.png"/><Relationship Id="rId10" Type="http://schemas.openxmlformats.org/officeDocument/2006/relationships/image" Target="../media/image297.png"/><Relationship Id="rId4" Type="http://schemas.openxmlformats.org/officeDocument/2006/relationships/image" Target="../media/image304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3" Type="http://schemas.openxmlformats.org/officeDocument/2006/relationships/image" Target="../media/image302.png"/><Relationship Id="rId7" Type="http://schemas.openxmlformats.org/officeDocument/2006/relationships/image" Target="../media/image30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6.png"/><Relationship Id="rId11" Type="http://schemas.openxmlformats.org/officeDocument/2006/relationships/image" Target="../media/image309.png"/><Relationship Id="rId5" Type="http://schemas.openxmlformats.org/officeDocument/2006/relationships/image" Target="../media/image305.png"/><Relationship Id="rId10" Type="http://schemas.openxmlformats.org/officeDocument/2006/relationships/image" Target="../media/image111.png"/><Relationship Id="rId4" Type="http://schemas.openxmlformats.org/officeDocument/2006/relationships/image" Target="../media/image304.png"/><Relationship Id="rId9" Type="http://schemas.openxmlformats.org/officeDocument/2006/relationships/image" Target="../media/image110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png"/><Relationship Id="rId3" Type="http://schemas.openxmlformats.org/officeDocument/2006/relationships/image" Target="../media/image94.png"/><Relationship Id="rId7" Type="http://schemas.openxmlformats.org/officeDocument/2006/relationships/image" Target="../media/image3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2.png"/><Relationship Id="rId5" Type="http://schemas.openxmlformats.org/officeDocument/2006/relationships/image" Target="../media/image311.png"/><Relationship Id="rId4" Type="http://schemas.openxmlformats.org/officeDocument/2006/relationships/image" Target="../media/image3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1.png"/><Relationship Id="rId4" Type="http://schemas.openxmlformats.org/officeDocument/2006/relationships/image" Target="../media/image310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15.png"/><Relationship Id="rId7" Type="http://schemas.openxmlformats.org/officeDocument/2006/relationships/image" Target="../media/image3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5" Type="http://schemas.openxmlformats.org/officeDocument/2006/relationships/image" Target="../media/image317.png"/><Relationship Id="rId4" Type="http://schemas.openxmlformats.org/officeDocument/2006/relationships/image" Target="../media/image316.png"/><Relationship Id="rId9" Type="http://schemas.openxmlformats.org/officeDocument/2006/relationships/image" Target="../media/image32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5" Type="http://schemas.openxmlformats.org/officeDocument/2006/relationships/image" Target="../media/image317.png"/><Relationship Id="rId4" Type="http://schemas.openxmlformats.org/officeDocument/2006/relationships/image" Target="../media/image316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jpg"/><Relationship Id="rId3" Type="http://schemas.openxmlformats.org/officeDocument/2006/relationships/image" Target="../media/image82.png"/><Relationship Id="rId7" Type="http://schemas.openxmlformats.org/officeDocument/2006/relationships/image" Target="../media/image23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321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325.png"/><Relationship Id="rId7" Type="http://schemas.openxmlformats.org/officeDocument/2006/relationships/image" Target="../media/image3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5" Type="http://schemas.openxmlformats.org/officeDocument/2006/relationships/image" Target="../media/image327.png"/><Relationship Id="rId4" Type="http://schemas.openxmlformats.org/officeDocument/2006/relationships/image" Target="../media/image326.png"/><Relationship Id="rId9" Type="http://schemas.openxmlformats.org/officeDocument/2006/relationships/image" Target="../media/image33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4.png"/><Relationship Id="rId5" Type="http://schemas.openxmlformats.org/officeDocument/2006/relationships/image" Target="../media/image333.png"/><Relationship Id="rId4" Type="http://schemas.openxmlformats.org/officeDocument/2006/relationships/image" Target="../media/image332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335.png"/><Relationship Id="rId7" Type="http://schemas.openxmlformats.org/officeDocument/2006/relationships/image" Target="../media/image3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5" Type="http://schemas.openxmlformats.org/officeDocument/2006/relationships/image" Target="../media/image337.png"/><Relationship Id="rId10" Type="http://schemas.openxmlformats.org/officeDocument/2006/relationships/image" Target="../media/image342.jpg"/><Relationship Id="rId4" Type="http://schemas.openxmlformats.org/officeDocument/2006/relationships/image" Target="../media/image336.png"/><Relationship Id="rId9" Type="http://schemas.openxmlformats.org/officeDocument/2006/relationships/image" Target="../media/image341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35.png"/><Relationship Id="rId7" Type="http://schemas.openxmlformats.org/officeDocument/2006/relationships/image" Target="../media/image3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4.png"/><Relationship Id="rId5" Type="http://schemas.openxmlformats.org/officeDocument/2006/relationships/image" Target="../media/image343.png"/><Relationship Id="rId10" Type="http://schemas.openxmlformats.org/officeDocument/2006/relationships/image" Target="../media/image342.jpg"/><Relationship Id="rId4" Type="http://schemas.openxmlformats.org/officeDocument/2006/relationships/image" Target="../media/image336.png"/><Relationship Id="rId9" Type="http://schemas.openxmlformats.org/officeDocument/2006/relationships/image" Target="../media/image34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jpg"/><Relationship Id="rId3" Type="http://schemas.openxmlformats.org/officeDocument/2006/relationships/image" Target="../media/image349.png"/><Relationship Id="rId7" Type="http://schemas.openxmlformats.org/officeDocument/2006/relationships/image" Target="../media/image3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351.png"/><Relationship Id="rId4" Type="http://schemas.openxmlformats.org/officeDocument/2006/relationships/image" Target="../media/image35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png"/><Relationship Id="rId3" Type="http://schemas.openxmlformats.org/officeDocument/2006/relationships/image" Target="../media/image353.png"/><Relationship Id="rId7" Type="http://schemas.openxmlformats.org/officeDocument/2006/relationships/image" Target="../media/image2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10" Type="http://schemas.openxmlformats.org/officeDocument/2006/relationships/image" Target="../media/image135.png"/><Relationship Id="rId4" Type="http://schemas.openxmlformats.org/officeDocument/2006/relationships/image" Target="../media/image354.png"/><Relationship Id="rId9" Type="http://schemas.openxmlformats.org/officeDocument/2006/relationships/image" Target="../media/image358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jpg"/><Relationship Id="rId3" Type="http://schemas.openxmlformats.org/officeDocument/2006/relationships/image" Target="../media/image360.png"/><Relationship Id="rId7" Type="http://schemas.openxmlformats.org/officeDocument/2006/relationships/image" Target="../media/image364.pn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3.png"/><Relationship Id="rId5" Type="http://schemas.openxmlformats.org/officeDocument/2006/relationships/image" Target="../media/image362.png"/><Relationship Id="rId4" Type="http://schemas.openxmlformats.org/officeDocument/2006/relationships/image" Target="../media/image361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jpg"/><Relationship Id="rId3" Type="http://schemas.openxmlformats.org/officeDocument/2006/relationships/image" Target="../media/image349.png"/><Relationship Id="rId7" Type="http://schemas.openxmlformats.org/officeDocument/2006/relationships/image" Target="../media/image36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3.png"/><Relationship Id="rId5" Type="http://schemas.openxmlformats.org/officeDocument/2006/relationships/image" Target="../media/image362.png"/><Relationship Id="rId4" Type="http://schemas.openxmlformats.org/officeDocument/2006/relationships/image" Target="../media/image335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jpg"/><Relationship Id="rId3" Type="http://schemas.openxmlformats.org/officeDocument/2006/relationships/image" Target="../media/image349.png"/><Relationship Id="rId7" Type="http://schemas.openxmlformats.org/officeDocument/2006/relationships/image" Target="../media/image36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7.png"/><Relationship Id="rId5" Type="http://schemas.openxmlformats.org/officeDocument/2006/relationships/image" Target="../media/image366.png"/><Relationship Id="rId4" Type="http://schemas.openxmlformats.org/officeDocument/2006/relationships/image" Target="../media/image335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jpg"/><Relationship Id="rId3" Type="http://schemas.openxmlformats.org/officeDocument/2006/relationships/image" Target="../media/image349.png"/><Relationship Id="rId7" Type="http://schemas.openxmlformats.org/officeDocument/2006/relationships/image" Target="../media/image36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7.png"/><Relationship Id="rId5" Type="http://schemas.openxmlformats.org/officeDocument/2006/relationships/image" Target="../media/image366.png"/><Relationship Id="rId4" Type="http://schemas.openxmlformats.org/officeDocument/2006/relationships/image" Target="../media/image335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png"/><Relationship Id="rId3" Type="http://schemas.openxmlformats.org/officeDocument/2006/relationships/image" Target="../media/image369.png"/><Relationship Id="rId7" Type="http://schemas.openxmlformats.org/officeDocument/2006/relationships/image" Target="../media/image37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2.png"/><Relationship Id="rId5" Type="http://schemas.openxmlformats.org/officeDocument/2006/relationships/image" Target="../media/image371.png"/><Relationship Id="rId4" Type="http://schemas.openxmlformats.org/officeDocument/2006/relationships/image" Target="../media/image37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7" Type="http://schemas.openxmlformats.org/officeDocument/2006/relationships/image" Target="../media/image37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5" Type="http://schemas.openxmlformats.org/officeDocument/2006/relationships/image" Target="../media/image195.png"/><Relationship Id="rId4" Type="http://schemas.openxmlformats.org/officeDocument/2006/relationships/image" Target="../media/image37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7" Type="http://schemas.openxmlformats.org/officeDocument/2006/relationships/image" Target="../media/image37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5" Type="http://schemas.openxmlformats.org/officeDocument/2006/relationships/image" Target="../media/image195.png"/><Relationship Id="rId4" Type="http://schemas.openxmlformats.org/officeDocument/2006/relationships/image" Target="../media/image37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7" Type="http://schemas.openxmlformats.org/officeDocument/2006/relationships/image" Target="../media/image37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5" Type="http://schemas.openxmlformats.org/officeDocument/2006/relationships/image" Target="../media/image200.png"/><Relationship Id="rId4" Type="http://schemas.openxmlformats.org/officeDocument/2006/relationships/image" Target="../media/image379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7" Type="http://schemas.openxmlformats.org/officeDocument/2006/relationships/image" Target="../media/image37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200.png"/><Relationship Id="rId4" Type="http://schemas.openxmlformats.org/officeDocument/2006/relationships/image" Target="../media/image379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7" Type="http://schemas.openxmlformats.org/officeDocument/2006/relationships/image" Target="../media/image1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200.png"/><Relationship Id="rId4" Type="http://schemas.openxmlformats.org/officeDocument/2006/relationships/image" Target="../media/image37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2.jp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2.jpg"/><Relationship Id="rId4" Type="http://schemas.openxmlformats.org/officeDocument/2006/relationships/image" Target="../media/image38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2.jp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5" Type="http://schemas.openxmlformats.org/officeDocument/2006/relationships/image" Target="../media/image387.png"/><Relationship Id="rId4" Type="http://schemas.openxmlformats.org/officeDocument/2006/relationships/image" Target="../media/image38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5" Type="http://schemas.openxmlformats.org/officeDocument/2006/relationships/image" Target="../media/image387.png"/><Relationship Id="rId4" Type="http://schemas.openxmlformats.org/officeDocument/2006/relationships/image" Target="../media/image38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5" Type="http://schemas.openxmlformats.org/officeDocument/2006/relationships/image" Target="../media/image387.png"/><Relationship Id="rId4" Type="http://schemas.openxmlformats.org/officeDocument/2006/relationships/image" Target="../media/image39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5" Type="http://schemas.openxmlformats.org/officeDocument/2006/relationships/image" Target="../media/image391.png"/><Relationship Id="rId4" Type="http://schemas.openxmlformats.org/officeDocument/2006/relationships/image" Target="../media/image39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5" Type="http://schemas.openxmlformats.org/officeDocument/2006/relationships/image" Target="../media/image391.png"/><Relationship Id="rId4" Type="http://schemas.openxmlformats.org/officeDocument/2006/relationships/image" Target="../media/image39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3.png"/><Relationship Id="rId7" Type="http://schemas.openxmlformats.org/officeDocument/2006/relationships/image" Target="../media/image2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6.png"/><Relationship Id="rId5" Type="http://schemas.openxmlformats.org/officeDocument/2006/relationships/image" Target="../media/image395.png"/><Relationship Id="rId4" Type="http://schemas.openxmlformats.org/officeDocument/2006/relationships/image" Target="../media/image394.png"/><Relationship Id="rId9" Type="http://schemas.openxmlformats.org/officeDocument/2006/relationships/image" Target="../media/image398.jp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9.png"/><Relationship Id="rId7" Type="http://schemas.openxmlformats.org/officeDocument/2006/relationships/image" Target="../media/image2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294.png"/><Relationship Id="rId4" Type="http://schemas.openxmlformats.org/officeDocument/2006/relationships/image" Target="../media/image293.png"/><Relationship Id="rId9" Type="http://schemas.openxmlformats.org/officeDocument/2006/relationships/image" Target="../media/image398.jp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9.png"/><Relationship Id="rId7" Type="http://schemas.openxmlformats.org/officeDocument/2006/relationships/image" Target="../media/image2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294.png"/><Relationship Id="rId4" Type="http://schemas.openxmlformats.org/officeDocument/2006/relationships/image" Target="../media/image306.png"/><Relationship Id="rId9" Type="http://schemas.openxmlformats.org/officeDocument/2006/relationships/image" Target="../media/image398.jp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9.png"/><Relationship Id="rId7" Type="http://schemas.openxmlformats.org/officeDocument/2006/relationships/image" Target="../media/image2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98.jp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9.png"/><Relationship Id="rId7" Type="http://schemas.openxmlformats.org/officeDocument/2006/relationships/image" Target="../media/image2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98.jp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3" Type="http://schemas.openxmlformats.org/officeDocument/2006/relationships/image" Target="../media/image399.png"/><Relationship Id="rId7" Type="http://schemas.openxmlformats.org/officeDocument/2006/relationships/image" Target="../media/image25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98.jp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png"/><Relationship Id="rId3" Type="http://schemas.openxmlformats.org/officeDocument/2006/relationships/image" Target="../media/image399.png"/><Relationship Id="rId7" Type="http://schemas.openxmlformats.org/officeDocument/2006/relationships/image" Target="../media/image25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98.jp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png"/><Relationship Id="rId3" Type="http://schemas.openxmlformats.org/officeDocument/2006/relationships/image" Target="../media/image402.png"/><Relationship Id="rId7" Type="http://schemas.openxmlformats.org/officeDocument/2006/relationships/image" Target="../media/image40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5.png"/><Relationship Id="rId11" Type="http://schemas.openxmlformats.org/officeDocument/2006/relationships/image" Target="../media/image409.png"/><Relationship Id="rId5" Type="http://schemas.openxmlformats.org/officeDocument/2006/relationships/image" Target="../media/image404.png"/><Relationship Id="rId10" Type="http://schemas.openxmlformats.org/officeDocument/2006/relationships/image" Target="../media/image408.png"/><Relationship Id="rId4" Type="http://schemas.openxmlformats.org/officeDocument/2006/relationships/image" Target="../media/image403.png"/><Relationship Id="rId9" Type="http://schemas.openxmlformats.org/officeDocument/2006/relationships/image" Target="../media/image346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png"/><Relationship Id="rId13" Type="http://schemas.openxmlformats.org/officeDocument/2006/relationships/image" Target="../media/image417.png"/><Relationship Id="rId3" Type="http://schemas.openxmlformats.org/officeDocument/2006/relationships/image" Target="../media/image410.png"/><Relationship Id="rId7" Type="http://schemas.openxmlformats.org/officeDocument/2006/relationships/image" Target="../media/image412.png"/><Relationship Id="rId12" Type="http://schemas.openxmlformats.org/officeDocument/2006/relationships/image" Target="../media/image416.png"/><Relationship Id="rId2" Type="http://schemas.openxmlformats.org/officeDocument/2006/relationships/image" Target="../media/image18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.png"/><Relationship Id="rId11" Type="http://schemas.openxmlformats.org/officeDocument/2006/relationships/image" Target="../media/image415.png"/><Relationship Id="rId5" Type="http://schemas.openxmlformats.org/officeDocument/2006/relationships/image" Target="../media/image353.png"/><Relationship Id="rId15" Type="http://schemas.openxmlformats.org/officeDocument/2006/relationships/image" Target="../media/image419.png"/><Relationship Id="rId10" Type="http://schemas.openxmlformats.org/officeDocument/2006/relationships/image" Target="../media/image96.png"/><Relationship Id="rId4" Type="http://schemas.openxmlformats.org/officeDocument/2006/relationships/image" Target="../media/image411.png"/><Relationship Id="rId9" Type="http://schemas.openxmlformats.org/officeDocument/2006/relationships/image" Target="../media/image414.png"/><Relationship Id="rId14" Type="http://schemas.openxmlformats.org/officeDocument/2006/relationships/image" Target="../media/image418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png"/><Relationship Id="rId3" Type="http://schemas.openxmlformats.org/officeDocument/2006/relationships/image" Target="../media/image421.png"/><Relationship Id="rId7" Type="http://schemas.openxmlformats.org/officeDocument/2006/relationships/image" Target="../media/image4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3.png"/><Relationship Id="rId11" Type="http://schemas.openxmlformats.org/officeDocument/2006/relationships/image" Target="../media/image426.png"/><Relationship Id="rId5" Type="http://schemas.openxmlformats.org/officeDocument/2006/relationships/image" Target="../media/image96.png"/><Relationship Id="rId10" Type="http://schemas.openxmlformats.org/officeDocument/2006/relationships/image" Target="../media/image414.png"/><Relationship Id="rId4" Type="http://schemas.openxmlformats.org/officeDocument/2006/relationships/image" Target="../media/image422.png"/><Relationship Id="rId9" Type="http://schemas.openxmlformats.org/officeDocument/2006/relationships/image" Target="../media/image4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0"/>
          <p:cNvGrpSpPr/>
          <p:nvPr/>
        </p:nvGrpSpPr>
        <p:grpSpPr>
          <a:xfrm>
            <a:off x="129195" y="1044575"/>
            <a:ext cx="4349750" cy="719455"/>
            <a:chOff x="129195" y="197421"/>
            <a:chExt cx="4349750" cy="719455"/>
          </a:xfrm>
        </p:grpSpPr>
        <p:sp>
          <p:nvSpPr>
            <p:cNvPr id="21" name="object 21"/>
            <p:cNvSpPr/>
            <p:nvPr/>
          </p:nvSpPr>
          <p:spPr>
            <a:xfrm>
              <a:off x="129184" y="197421"/>
              <a:ext cx="4349750" cy="719455"/>
            </a:xfrm>
            <a:custGeom>
              <a:avLst/>
              <a:gdLst/>
              <a:ahLst/>
              <a:cxnLst/>
              <a:rect l="l" t="t" r="r" b="b"/>
              <a:pathLst>
                <a:path w="4349750" h="719455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97" y="4013"/>
                  </a:lnTo>
                  <a:lnTo>
                    <a:pt x="4298861" y="0"/>
                  </a:lnTo>
                  <a:lnTo>
                    <a:pt x="50800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668096"/>
                  </a:lnTo>
                  <a:lnTo>
                    <a:pt x="4013" y="687832"/>
                  </a:lnTo>
                  <a:lnTo>
                    <a:pt x="14922" y="703973"/>
                  </a:lnTo>
                  <a:lnTo>
                    <a:pt x="31076" y="714895"/>
                  </a:lnTo>
                  <a:lnTo>
                    <a:pt x="50800" y="718896"/>
                  </a:lnTo>
                  <a:lnTo>
                    <a:pt x="4298861" y="718896"/>
                  </a:lnTo>
                  <a:lnTo>
                    <a:pt x="4318597" y="714895"/>
                  </a:lnTo>
                  <a:lnTo>
                    <a:pt x="4334738" y="703973"/>
                  </a:lnTo>
                  <a:lnTo>
                    <a:pt x="4345660" y="687832"/>
                  </a:lnTo>
                  <a:lnTo>
                    <a:pt x="4349661" y="668096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86080"/>
              <a:ext cx="0" cy="598805"/>
            </a:xfrm>
            <a:custGeom>
              <a:avLst/>
              <a:gdLst/>
              <a:ahLst/>
              <a:cxnLst/>
              <a:rect l="l" t="t" r="r" b="b"/>
              <a:pathLst>
                <a:path h="598805">
                  <a:moveTo>
                    <a:pt x="0" y="5984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733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06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479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3879" y="1273175"/>
            <a:ext cx="33826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Trebuchet MS"/>
                <a:cs typeface="Trebuchet MS"/>
              </a:rPr>
              <a:t>P</a:t>
            </a:r>
            <a:r>
              <a:rPr sz="1400" dirty="0">
                <a:solidFill>
                  <a:srgbClr val="3333B2"/>
                </a:solidFill>
                <a:latin typeface="Source Sans 3"/>
                <a:cs typeface="Source Sans 3"/>
              </a:rPr>
              <a:t>rinciples</a:t>
            </a:r>
            <a:r>
              <a:rPr sz="1400" spc="105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4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Artificial</a:t>
            </a:r>
            <a:r>
              <a:rPr sz="14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Intelligence</a:t>
            </a:r>
            <a:endParaRPr sz="1400" dirty="0">
              <a:latin typeface="Source Sans 3"/>
              <a:cs typeface="Source Sans 3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" name="object 26">
            <a:extLst>
              <a:ext uri="{FF2B5EF4-FFF2-40B4-BE49-F238E27FC236}">
                <a16:creationId xmlns:a16="http://schemas.microsoft.com/office/drawing/2014/main" id="{72526E62-28C9-3815-D77C-94947829DFE1}"/>
              </a:ext>
            </a:extLst>
          </p:cNvPr>
          <p:cNvSpPr txBox="1"/>
          <p:nvPr/>
        </p:nvSpPr>
        <p:spPr>
          <a:xfrm>
            <a:off x="598805" y="1794510"/>
            <a:ext cx="33826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Intelligent</a:t>
            </a:r>
            <a:r>
              <a:rPr sz="1400" spc="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Agents</a:t>
            </a:r>
            <a:endParaRPr sz="14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Task-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2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Task-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spc="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3</a:t>
            </a:fld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9925"/>
            <a:ext cx="4349750" cy="2783840"/>
            <a:chOff x="129196" y="469925"/>
            <a:chExt cx="4349750" cy="2783840"/>
          </a:xfrm>
        </p:grpSpPr>
        <p:sp>
          <p:nvSpPr>
            <p:cNvPr id="4" name="object 4"/>
            <p:cNvSpPr/>
            <p:nvPr/>
          </p:nvSpPr>
          <p:spPr>
            <a:xfrm>
              <a:off x="129196" y="469925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5021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94457"/>
              <a:ext cx="4349750" cy="2559050"/>
            </a:xfrm>
            <a:custGeom>
              <a:avLst/>
              <a:gdLst/>
              <a:ahLst/>
              <a:cxnLst/>
              <a:rect l="l" t="t" r="r" b="b"/>
              <a:pathLst>
                <a:path w="4349750" h="2559050">
                  <a:moveTo>
                    <a:pt x="4349657" y="0"/>
                  </a:moveTo>
                  <a:lnTo>
                    <a:pt x="0" y="0"/>
                  </a:lnTo>
                  <a:lnTo>
                    <a:pt x="0" y="2507986"/>
                  </a:lnTo>
                  <a:lnTo>
                    <a:pt x="4008" y="2527711"/>
                  </a:lnTo>
                  <a:lnTo>
                    <a:pt x="14922" y="2543864"/>
                  </a:lnTo>
                  <a:lnTo>
                    <a:pt x="31075" y="2554778"/>
                  </a:lnTo>
                  <a:lnTo>
                    <a:pt x="50800" y="2558787"/>
                  </a:lnTo>
                  <a:lnTo>
                    <a:pt x="4298856" y="2558787"/>
                  </a:lnTo>
                  <a:lnTo>
                    <a:pt x="4318581" y="2554778"/>
                  </a:lnTo>
                  <a:lnTo>
                    <a:pt x="4334734" y="2543864"/>
                  </a:lnTo>
                  <a:lnTo>
                    <a:pt x="4345648" y="2527711"/>
                  </a:lnTo>
                  <a:lnTo>
                    <a:pt x="4349657" y="250798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52217"/>
              <a:ext cx="0" cy="2669540"/>
            </a:xfrm>
            <a:custGeom>
              <a:avLst/>
              <a:gdLst/>
              <a:ahLst/>
              <a:cxnLst/>
              <a:rect l="l" t="t" r="r" b="b"/>
              <a:pathLst>
                <a:path h="2669540">
                  <a:moveTo>
                    <a:pt x="0" y="266927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9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268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141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921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9243"/>
              <a:ext cx="76809" cy="768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409953"/>
            <a:ext cx="3249295" cy="8693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5299"/>
              </a:lnSpc>
              <a:spcBef>
                <a:spcPts val="1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viewed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as: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perceiving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through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and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acting</a:t>
            </a:r>
            <a:r>
              <a:rPr sz="11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upon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through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actuators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728" y="1433833"/>
            <a:ext cx="2902520" cy="166139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82610" y="3122900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9925"/>
            <a:ext cx="4349750" cy="2783840"/>
            <a:chOff x="129196" y="469925"/>
            <a:chExt cx="4349750" cy="2783840"/>
          </a:xfrm>
        </p:grpSpPr>
        <p:sp>
          <p:nvSpPr>
            <p:cNvPr id="4" name="object 4"/>
            <p:cNvSpPr/>
            <p:nvPr/>
          </p:nvSpPr>
          <p:spPr>
            <a:xfrm>
              <a:off x="129196" y="469925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5021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94457"/>
              <a:ext cx="4349750" cy="2559050"/>
            </a:xfrm>
            <a:custGeom>
              <a:avLst/>
              <a:gdLst/>
              <a:ahLst/>
              <a:cxnLst/>
              <a:rect l="l" t="t" r="r" b="b"/>
              <a:pathLst>
                <a:path w="4349750" h="2559050">
                  <a:moveTo>
                    <a:pt x="4349657" y="0"/>
                  </a:moveTo>
                  <a:lnTo>
                    <a:pt x="0" y="0"/>
                  </a:lnTo>
                  <a:lnTo>
                    <a:pt x="0" y="2507986"/>
                  </a:lnTo>
                  <a:lnTo>
                    <a:pt x="4008" y="2527711"/>
                  </a:lnTo>
                  <a:lnTo>
                    <a:pt x="14922" y="2543864"/>
                  </a:lnTo>
                  <a:lnTo>
                    <a:pt x="31075" y="2554778"/>
                  </a:lnTo>
                  <a:lnTo>
                    <a:pt x="50800" y="2558787"/>
                  </a:lnTo>
                  <a:lnTo>
                    <a:pt x="4298856" y="2558787"/>
                  </a:lnTo>
                  <a:lnTo>
                    <a:pt x="4318581" y="2554778"/>
                  </a:lnTo>
                  <a:lnTo>
                    <a:pt x="4334734" y="2543864"/>
                  </a:lnTo>
                  <a:lnTo>
                    <a:pt x="4345648" y="2527711"/>
                  </a:lnTo>
                  <a:lnTo>
                    <a:pt x="4349657" y="250798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52217"/>
              <a:ext cx="0" cy="2669540"/>
            </a:xfrm>
            <a:custGeom>
              <a:avLst/>
              <a:gdLst/>
              <a:ahLst/>
              <a:cxnLst/>
              <a:rect l="l" t="t" r="r" b="b"/>
              <a:pathLst>
                <a:path h="2669540">
                  <a:moveTo>
                    <a:pt x="0" y="266927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9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268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141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921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9243"/>
              <a:ext cx="76809" cy="768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409953"/>
            <a:ext cx="3249295" cy="8693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5299"/>
              </a:lnSpc>
              <a:spcBef>
                <a:spcPts val="1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viewed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as: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perceiving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acting</a:t>
            </a:r>
            <a:r>
              <a:rPr sz="11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upon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through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actuators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728" y="1433833"/>
            <a:ext cx="2902520" cy="166139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82610" y="3122900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9925"/>
            <a:ext cx="4349750" cy="2783840"/>
            <a:chOff x="129196" y="469925"/>
            <a:chExt cx="4349750" cy="2783840"/>
          </a:xfrm>
        </p:grpSpPr>
        <p:sp>
          <p:nvSpPr>
            <p:cNvPr id="4" name="object 4"/>
            <p:cNvSpPr/>
            <p:nvPr/>
          </p:nvSpPr>
          <p:spPr>
            <a:xfrm>
              <a:off x="129196" y="469925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5021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94457"/>
              <a:ext cx="4349750" cy="2559050"/>
            </a:xfrm>
            <a:custGeom>
              <a:avLst/>
              <a:gdLst/>
              <a:ahLst/>
              <a:cxnLst/>
              <a:rect l="l" t="t" r="r" b="b"/>
              <a:pathLst>
                <a:path w="4349750" h="2559050">
                  <a:moveTo>
                    <a:pt x="4349657" y="0"/>
                  </a:moveTo>
                  <a:lnTo>
                    <a:pt x="0" y="0"/>
                  </a:lnTo>
                  <a:lnTo>
                    <a:pt x="0" y="2507986"/>
                  </a:lnTo>
                  <a:lnTo>
                    <a:pt x="4008" y="2527711"/>
                  </a:lnTo>
                  <a:lnTo>
                    <a:pt x="14922" y="2543864"/>
                  </a:lnTo>
                  <a:lnTo>
                    <a:pt x="31075" y="2554778"/>
                  </a:lnTo>
                  <a:lnTo>
                    <a:pt x="50800" y="2558787"/>
                  </a:lnTo>
                  <a:lnTo>
                    <a:pt x="4298856" y="2558787"/>
                  </a:lnTo>
                  <a:lnTo>
                    <a:pt x="4318581" y="2554778"/>
                  </a:lnTo>
                  <a:lnTo>
                    <a:pt x="4334734" y="2543864"/>
                  </a:lnTo>
                  <a:lnTo>
                    <a:pt x="4345648" y="2527711"/>
                  </a:lnTo>
                  <a:lnTo>
                    <a:pt x="4349657" y="250798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52217"/>
              <a:ext cx="0" cy="2669540"/>
            </a:xfrm>
            <a:custGeom>
              <a:avLst/>
              <a:gdLst/>
              <a:ahLst/>
              <a:cxnLst/>
              <a:rect l="l" t="t" r="r" b="b"/>
              <a:pathLst>
                <a:path h="2669540">
                  <a:moveTo>
                    <a:pt x="0" y="266927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9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268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141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921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9243"/>
              <a:ext cx="76809" cy="768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409953"/>
            <a:ext cx="3249295" cy="8693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5299"/>
              </a:lnSpc>
              <a:spcBef>
                <a:spcPts val="1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viewed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as: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perceiving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acting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728" y="1433833"/>
            <a:ext cx="2902520" cy="166139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82610" y="3122900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9925"/>
            <a:ext cx="4349750" cy="2783840"/>
            <a:chOff x="129196" y="469925"/>
            <a:chExt cx="4349750" cy="2783840"/>
          </a:xfrm>
        </p:grpSpPr>
        <p:sp>
          <p:nvSpPr>
            <p:cNvPr id="4" name="object 4"/>
            <p:cNvSpPr/>
            <p:nvPr/>
          </p:nvSpPr>
          <p:spPr>
            <a:xfrm>
              <a:off x="129196" y="469925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5021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94457"/>
              <a:ext cx="4349750" cy="2559050"/>
            </a:xfrm>
            <a:custGeom>
              <a:avLst/>
              <a:gdLst/>
              <a:ahLst/>
              <a:cxnLst/>
              <a:rect l="l" t="t" r="r" b="b"/>
              <a:pathLst>
                <a:path w="4349750" h="2559050">
                  <a:moveTo>
                    <a:pt x="4349657" y="0"/>
                  </a:moveTo>
                  <a:lnTo>
                    <a:pt x="0" y="0"/>
                  </a:lnTo>
                  <a:lnTo>
                    <a:pt x="0" y="2507986"/>
                  </a:lnTo>
                  <a:lnTo>
                    <a:pt x="4008" y="2527711"/>
                  </a:lnTo>
                  <a:lnTo>
                    <a:pt x="14922" y="2543864"/>
                  </a:lnTo>
                  <a:lnTo>
                    <a:pt x="31075" y="2554778"/>
                  </a:lnTo>
                  <a:lnTo>
                    <a:pt x="50800" y="2558787"/>
                  </a:lnTo>
                  <a:lnTo>
                    <a:pt x="4298856" y="2558787"/>
                  </a:lnTo>
                  <a:lnTo>
                    <a:pt x="4318581" y="2554778"/>
                  </a:lnTo>
                  <a:lnTo>
                    <a:pt x="4334734" y="2543864"/>
                  </a:lnTo>
                  <a:lnTo>
                    <a:pt x="4345648" y="2527711"/>
                  </a:lnTo>
                  <a:lnTo>
                    <a:pt x="4349657" y="250798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52217"/>
              <a:ext cx="0" cy="2669540"/>
            </a:xfrm>
            <a:custGeom>
              <a:avLst/>
              <a:gdLst/>
              <a:ahLst/>
              <a:cxnLst/>
              <a:rect l="l" t="t" r="r" b="b"/>
              <a:pathLst>
                <a:path h="2669540">
                  <a:moveTo>
                    <a:pt x="0" y="266927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9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268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141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921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9243"/>
              <a:ext cx="76809" cy="768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409953"/>
            <a:ext cx="3249295" cy="8693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5299"/>
              </a:lnSpc>
              <a:spcBef>
                <a:spcPts val="1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viewed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as: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perceiving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acting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728" y="1433833"/>
            <a:ext cx="2902520" cy="166139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82610" y="3122900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eyes,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ears,</a:t>
            </a:r>
            <a:r>
              <a:rPr sz="1100" spc="-5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nose,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hands,</a:t>
            </a:r>
            <a:r>
              <a:rPr sz="1100" spc="-5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E5E5F1"/>
                </a:solidFill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voice,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hands,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arms,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legs,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video-cameras,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infra-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red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sensors,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radar,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eyes,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ears,</a:t>
            </a:r>
            <a:r>
              <a:rPr sz="1100" spc="-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nose,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hands,</a:t>
            </a:r>
            <a:r>
              <a:rPr sz="1100" spc="-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voice,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hands,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arms,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legs,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video-cameras,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infra-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red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sensors,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radar,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voice,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hands,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arms,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legs,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video-cameras,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infra-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red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sensors,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radar,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video-cameras,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infra-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red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sensors,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radar,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video-cameras,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infra-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sensors,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radar,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wheels,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receiving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keystrokes,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files,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network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packets,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keystrokes,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displaying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screen,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writing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files,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network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keystrokes,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displaying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screen,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network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E6E6F5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E6E6F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E5F1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 dirty="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</a:t>
            </a:r>
            <a:r>
              <a:rPr lang="en-IN" sz="1100" spc="-1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n:</a:t>
            </a:r>
            <a:endParaRPr sz="1100" dirty="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 dirty="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 dirty="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keystrokes,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displaying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screen,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sending</a:t>
            </a:r>
            <a:endParaRPr sz="1100" dirty="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network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thermostat: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heat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sensor,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endParaRPr sz="1100" dirty="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...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keystrokes,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displaying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screen,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network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sensor,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FCFED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CFCFE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electric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impulses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valves,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devices,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Agents</a:t>
            </a:r>
            <a:r>
              <a:rPr spc="95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Environments</a:t>
            </a:r>
            <a:r>
              <a:rPr spc="9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6229"/>
            <a:ext cx="4349750" cy="2915920"/>
            <a:chOff x="129196" y="366229"/>
            <a:chExt cx="4349750" cy="2915920"/>
          </a:xfrm>
        </p:grpSpPr>
        <p:sp>
          <p:nvSpPr>
            <p:cNvPr id="4" name="object 4"/>
            <p:cNvSpPr/>
            <p:nvPr/>
          </p:nvSpPr>
          <p:spPr>
            <a:xfrm>
              <a:off x="129196" y="36622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4651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90765"/>
              <a:ext cx="4349750" cy="2691130"/>
            </a:xfrm>
            <a:custGeom>
              <a:avLst/>
              <a:gdLst/>
              <a:ahLst/>
              <a:cxnLst/>
              <a:rect l="l" t="t" r="r" b="b"/>
              <a:pathLst>
                <a:path w="4349750" h="2691129">
                  <a:moveTo>
                    <a:pt x="4349657" y="0"/>
                  </a:moveTo>
                  <a:lnTo>
                    <a:pt x="0" y="0"/>
                  </a:lnTo>
                  <a:lnTo>
                    <a:pt x="0" y="2640051"/>
                  </a:lnTo>
                  <a:lnTo>
                    <a:pt x="4008" y="2659776"/>
                  </a:lnTo>
                  <a:lnTo>
                    <a:pt x="14922" y="2675929"/>
                  </a:lnTo>
                  <a:lnTo>
                    <a:pt x="31075" y="2686843"/>
                  </a:lnTo>
                  <a:lnTo>
                    <a:pt x="50800" y="2690851"/>
                  </a:lnTo>
                  <a:lnTo>
                    <a:pt x="4298856" y="2690851"/>
                  </a:lnTo>
                  <a:lnTo>
                    <a:pt x="4318581" y="2686843"/>
                  </a:lnTo>
                  <a:lnTo>
                    <a:pt x="4334734" y="2675929"/>
                  </a:lnTo>
                  <a:lnTo>
                    <a:pt x="4345648" y="2659776"/>
                  </a:lnTo>
                  <a:lnTo>
                    <a:pt x="4349657" y="264005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8524"/>
              <a:ext cx="0" cy="2801620"/>
            </a:xfrm>
            <a:custGeom>
              <a:avLst/>
              <a:gdLst/>
              <a:ahLst/>
              <a:cxnLst/>
              <a:rect l="l" t="t" r="r" b="b"/>
              <a:pathLst>
                <a:path h="2801620">
                  <a:moveTo>
                    <a:pt x="0" y="2801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35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23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1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4870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281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07679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759240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03095"/>
            <a:ext cx="3904615" cy="2945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323215" indent="-277495">
              <a:lnSpc>
                <a:spcPct val="125299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Agents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humans,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robots,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softbots,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thermostats,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human:</a:t>
            </a:r>
            <a:endParaRPr sz="1100">
              <a:latin typeface="Arial"/>
              <a:cs typeface="Arial"/>
            </a:endParaRPr>
          </a:p>
          <a:p>
            <a:pPr marL="641985" marR="9194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eyes,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ears,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...,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voice,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arms,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robot:</a:t>
            </a:r>
            <a:endParaRPr sz="1100">
              <a:latin typeface="Arial"/>
              <a:cs typeface="Arial"/>
            </a:endParaRPr>
          </a:p>
          <a:p>
            <a:pPr marL="641985" marR="5080" indent="-335280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video-cameras,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infra-</a:t>
            </a:r>
            <a:r>
              <a:rPr sz="1100" dirty="0">
                <a:latin typeface="Arial"/>
                <a:cs typeface="Arial"/>
              </a:rPr>
              <a:t>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radar,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wheels,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motors,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softbot:</a:t>
            </a:r>
            <a:endParaRPr sz="1100">
              <a:latin typeface="Arial"/>
              <a:cs typeface="Arial"/>
            </a:endParaRPr>
          </a:p>
          <a:p>
            <a:pPr marL="603250" marR="80010" indent="-314325">
              <a:lnSpc>
                <a:spcPct val="102600"/>
              </a:lnSpc>
              <a:spcBef>
                <a:spcPts val="2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keystrokes,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network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displaying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screen,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sending</a:t>
            </a:r>
            <a:endParaRPr sz="11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network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packets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thermostat: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perceives:</a:t>
            </a:r>
            <a:r>
              <a:rPr sz="11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sensor,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60325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acts:</a:t>
            </a:r>
            <a:r>
              <a:rPr sz="11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electric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impulses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valves,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devices,</a:t>
            </a:r>
            <a:r>
              <a:rPr sz="1100" spc="-25" dirty="0"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5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37704"/>
            <a:ext cx="4349750" cy="977900"/>
            <a:chOff x="129196" y="637704"/>
            <a:chExt cx="4349750" cy="977900"/>
          </a:xfrm>
        </p:grpSpPr>
        <p:sp>
          <p:nvSpPr>
            <p:cNvPr id="4" name="object 4"/>
            <p:cNvSpPr/>
            <p:nvPr/>
          </p:nvSpPr>
          <p:spPr>
            <a:xfrm>
              <a:off x="129196" y="63770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1633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60607"/>
              <a:ext cx="4349750" cy="755015"/>
            </a:xfrm>
            <a:custGeom>
              <a:avLst/>
              <a:gdLst/>
              <a:ahLst/>
              <a:cxnLst/>
              <a:rect l="l" t="t" r="r" b="b"/>
              <a:pathLst>
                <a:path w="4349750" h="755015">
                  <a:moveTo>
                    <a:pt x="4349657" y="0"/>
                  </a:moveTo>
                  <a:lnTo>
                    <a:pt x="0" y="0"/>
                  </a:lnTo>
                  <a:lnTo>
                    <a:pt x="0" y="704185"/>
                  </a:lnTo>
                  <a:lnTo>
                    <a:pt x="4008" y="723909"/>
                  </a:lnTo>
                  <a:lnTo>
                    <a:pt x="14922" y="740062"/>
                  </a:lnTo>
                  <a:lnTo>
                    <a:pt x="31075" y="750977"/>
                  </a:lnTo>
                  <a:lnTo>
                    <a:pt x="50800" y="754985"/>
                  </a:lnTo>
                  <a:lnTo>
                    <a:pt x="4298856" y="754985"/>
                  </a:lnTo>
                  <a:lnTo>
                    <a:pt x="4318581" y="750977"/>
                  </a:lnTo>
                  <a:lnTo>
                    <a:pt x="4334734" y="740062"/>
                  </a:lnTo>
                  <a:lnTo>
                    <a:pt x="4345648" y="723909"/>
                  </a:lnTo>
                  <a:lnTo>
                    <a:pt x="4349657" y="70418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20030"/>
              <a:ext cx="0" cy="864235"/>
            </a:xfrm>
            <a:custGeom>
              <a:avLst/>
              <a:gdLst/>
              <a:ahLst/>
              <a:cxnLst/>
              <a:rect l="l" t="t" r="r" b="b"/>
              <a:pathLst>
                <a:path h="864235">
                  <a:moveTo>
                    <a:pt x="0" y="8638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07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94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681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0848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90586"/>
              <a:ext cx="76809" cy="768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196" y="1767522"/>
            <a:ext cx="4400550" cy="718185"/>
            <a:chOff x="129196" y="1767522"/>
            <a:chExt cx="4400550" cy="718185"/>
          </a:xfrm>
        </p:grpSpPr>
        <p:sp>
          <p:nvSpPr>
            <p:cNvPr id="14" name="object 14"/>
            <p:cNvSpPr/>
            <p:nvPr/>
          </p:nvSpPr>
          <p:spPr>
            <a:xfrm>
              <a:off x="129196" y="1767522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997" y="2383662"/>
              <a:ext cx="101600" cy="10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797" y="2370962"/>
              <a:ext cx="4298856" cy="1143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78853" y="1818081"/>
              <a:ext cx="50800" cy="56558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9196" y="1811933"/>
              <a:ext cx="4349750" cy="622935"/>
            </a:xfrm>
            <a:custGeom>
              <a:avLst/>
              <a:gdLst/>
              <a:ahLst/>
              <a:cxnLst/>
              <a:rect l="l" t="t" r="r" b="b"/>
              <a:pathLst>
                <a:path w="4349750" h="622935">
                  <a:moveTo>
                    <a:pt x="4349657" y="0"/>
                  </a:moveTo>
                  <a:lnTo>
                    <a:pt x="0" y="0"/>
                  </a:lnTo>
                  <a:lnTo>
                    <a:pt x="0" y="571729"/>
                  </a:lnTo>
                  <a:lnTo>
                    <a:pt x="4008" y="591454"/>
                  </a:lnTo>
                  <a:lnTo>
                    <a:pt x="14922" y="607607"/>
                  </a:lnTo>
                  <a:lnTo>
                    <a:pt x="31075" y="618521"/>
                  </a:lnTo>
                  <a:lnTo>
                    <a:pt x="50800" y="622529"/>
                  </a:lnTo>
                  <a:lnTo>
                    <a:pt x="4298856" y="622529"/>
                  </a:lnTo>
                  <a:lnTo>
                    <a:pt x="4318581" y="618521"/>
                  </a:lnTo>
                  <a:lnTo>
                    <a:pt x="4334734" y="607607"/>
                  </a:lnTo>
                  <a:lnTo>
                    <a:pt x="4345648" y="591454"/>
                  </a:lnTo>
                  <a:lnTo>
                    <a:pt x="4349657" y="57172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1856170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h="546735">
                  <a:moveTo>
                    <a:pt x="0" y="5465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18434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18307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18180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069846"/>
              <a:ext cx="76809" cy="7680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279878"/>
              <a:ext cx="76809" cy="7680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29196" y="2586392"/>
            <a:ext cx="4400550" cy="466090"/>
            <a:chOff x="129196" y="2586392"/>
            <a:chExt cx="4400550" cy="466090"/>
          </a:xfrm>
        </p:grpSpPr>
        <p:sp>
          <p:nvSpPr>
            <p:cNvPr id="26" name="object 26"/>
            <p:cNvSpPr/>
            <p:nvPr/>
          </p:nvSpPr>
          <p:spPr>
            <a:xfrm>
              <a:off x="129196" y="2586392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196" y="2754833"/>
              <a:ext cx="4349657" cy="506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2950781"/>
              <a:ext cx="101600" cy="101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2938081"/>
              <a:ext cx="4298856" cy="11430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2630627"/>
              <a:ext cx="50800" cy="32015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9196" y="2799122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78853" y="2668729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3011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78853" y="26560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78853" y="26433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8853" y="26306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67297" y="576234"/>
            <a:ext cx="4178300" cy="23907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100">
              <a:latin typeface="Arial"/>
              <a:cs typeface="Arial"/>
            </a:endParaRPr>
          </a:p>
          <a:p>
            <a:pPr marL="289560" marR="17145">
              <a:lnSpc>
                <a:spcPct val="102600"/>
              </a:lnSpc>
              <a:spcBef>
                <a:spcPts val="325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collection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perceptual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 instant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complete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history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everything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agent’s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choice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given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instant</a:t>
            </a:r>
            <a:endParaRPr sz="1100">
              <a:latin typeface="Arial"/>
              <a:cs typeface="Arial"/>
            </a:endParaRPr>
          </a:p>
          <a:p>
            <a:pPr marL="289560" marR="136525">
              <a:lnSpc>
                <a:spcPct val="125299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observed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date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does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anything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hasn’t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perceive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own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but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always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effects.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6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37704"/>
            <a:ext cx="4349750" cy="977900"/>
            <a:chOff x="129196" y="637704"/>
            <a:chExt cx="4349750" cy="977900"/>
          </a:xfrm>
        </p:grpSpPr>
        <p:sp>
          <p:nvSpPr>
            <p:cNvPr id="4" name="object 4"/>
            <p:cNvSpPr/>
            <p:nvPr/>
          </p:nvSpPr>
          <p:spPr>
            <a:xfrm>
              <a:off x="129196" y="63770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1633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60607"/>
              <a:ext cx="4349750" cy="755015"/>
            </a:xfrm>
            <a:custGeom>
              <a:avLst/>
              <a:gdLst/>
              <a:ahLst/>
              <a:cxnLst/>
              <a:rect l="l" t="t" r="r" b="b"/>
              <a:pathLst>
                <a:path w="4349750" h="755015">
                  <a:moveTo>
                    <a:pt x="4349657" y="0"/>
                  </a:moveTo>
                  <a:lnTo>
                    <a:pt x="0" y="0"/>
                  </a:lnTo>
                  <a:lnTo>
                    <a:pt x="0" y="704185"/>
                  </a:lnTo>
                  <a:lnTo>
                    <a:pt x="4008" y="723909"/>
                  </a:lnTo>
                  <a:lnTo>
                    <a:pt x="14922" y="740062"/>
                  </a:lnTo>
                  <a:lnTo>
                    <a:pt x="31075" y="750977"/>
                  </a:lnTo>
                  <a:lnTo>
                    <a:pt x="50800" y="754985"/>
                  </a:lnTo>
                  <a:lnTo>
                    <a:pt x="4298856" y="754985"/>
                  </a:lnTo>
                  <a:lnTo>
                    <a:pt x="4318581" y="750977"/>
                  </a:lnTo>
                  <a:lnTo>
                    <a:pt x="4334734" y="740062"/>
                  </a:lnTo>
                  <a:lnTo>
                    <a:pt x="4345648" y="723909"/>
                  </a:lnTo>
                  <a:lnTo>
                    <a:pt x="4349657" y="70418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20030"/>
              <a:ext cx="0" cy="864235"/>
            </a:xfrm>
            <a:custGeom>
              <a:avLst/>
              <a:gdLst/>
              <a:ahLst/>
              <a:cxnLst/>
              <a:rect l="l" t="t" r="r" b="b"/>
              <a:pathLst>
                <a:path h="864235">
                  <a:moveTo>
                    <a:pt x="0" y="8638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07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94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681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0848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90586"/>
              <a:ext cx="76809" cy="768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196" y="1767522"/>
            <a:ext cx="4349750" cy="667385"/>
            <a:chOff x="129196" y="1767522"/>
            <a:chExt cx="4349750" cy="667385"/>
          </a:xfrm>
        </p:grpSpPr>
        <p:sp>
          <p:nvSpPr>
            <p:cNvPr id="14" name="object 14"/>
            <p:cNvSpPr/>
            <p:nvPr/>
          </p:nvSpPr>
          <p:spPr>
            <a:xfrm>
              <a:off x="129184" y="1767522"/>
              <a:ext cx="4349750" cy="667385"/>
            </a:xfrm>
            <a:custGeom>
              <a:avLst/>
              <a:gdLst/>
              <a:ahLst/>
              <a:cxnLst/>
              <a:rect l="l" t="t" r="r" b="b"/>
              <a:pathLst>
                <a:path w="4349750" h="66738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616140"/>
                  </a:lnTo>
                  <a:lnTo>
                    <a:pt x="4013" y="635876"/>
                  </a:lnTo>
                  <a:lnTo>
                    <a:pt x="14922" y="652030"/>
                  </a:lnTo>
                  <a:lnTo>
                    <a:pt x="31076" y="662940"/>
                  </a:lnTo>
                  <a:lnTo>
                    <a:pt x="50812" y="666953"/>
                  </a:lnTo>
                  <a:lnTo>
                    <a:pt x="4298861" y="666953"/>
                  </a:lnTo>
                  <a:lnTo>
                    <a:pt x="4318584" y="662940"/>
                  </a:lnTo>
                  <a:lnTo>
                    <a:pt x="4334738" y="652030"/>
                  </a:lnTo>
                  <a:lnTo>
                    <a:pt x="4345660" y="635876"/>
                  </a:lnTo>
                  <a:lnTo>
                    <a:pt x="4349661" y="61614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78853" y="1856170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h="546735">
                  <a:moveTo>
                    <a:pt x="0" y="5465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853" y="18434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18307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18180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69846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279878"/>
              <a:ext cx="76809" cy="7680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29196" y="2586392"/>
            <a:ext cx="4400550" cy="466090"/>
            <a:chOff x="129196" y="2586392"/>
            <a:chExt cx="4400550" cy="466090"/>
          </a:xfrm>
        </p:grpSpPr>
        <p:sp>
          <p:nvSpPr>
            <p:cNvPr id="22" name="object 22"/>
            <p:cNvSpPr/>
            <p:nvPr/>
          </p:nvSpPr>
          <p:spPr>
            <a:xfrm>
              <a:off x="129196" y="2586392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754833"/>
              <a:ext cx="4349657" cy="5060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950781"/>
              <a:ext cx="101600" cy="101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938081"/>
              <a:ext cx="4298856" cy="1143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630627"/>
              <a:ext cx="50800" cy="32015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9196" y="2799122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668729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3011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78853" y="26560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8853" y="26433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78853" y="26306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67297" y="576234"/>
            <a:ext cx="4178300" cy="23907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100">
              <a:latin typeface="Arial"/>
              <a:cs typeface="Arial"/>
            </a:endParaRPr>
          </a:p>
          <a:p>
            <a:pPr marL="289560" marR="17145">
              <a:lnSpc>
                <a:spcPct val="102600"/>
              </a:lnSpc>
              <a:spcBef>
                <a:spcPts val="325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collection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perceptual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 instant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complete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history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everything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instant</a:t>
            </a:r>
            <a:endParaRPr sz="1100">
              <a:latin typeface="Arial"/>
              <a:cs typeface="Arial"/>
            </a:endParaRPr>
          </a:p>
          <a:p>
            <a:pPr marL="289560" marR="136525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observed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date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anything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hasn’t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perceive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own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but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always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effects.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37704"/>
            <a:ext cx="4349750" cy="977900"/>
            <a:chOff x="129196" y="637704"/>
            <a:chExt cx="4349750" cy="977900"/>
          </a:xfrm>
        </p:grpSpPr>
        <p:sp>
          <p:nvSpPr>
            <p:cNvPr id="4" name="object 4"/>
            <p:cNvSpPr/>
            <p:nvPr/>
          </p:nvSpPr>
          <p:spPr>
            <a:xfrm>
              <a:off x="129196" y="63770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1633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60607"/>
              <a:ext cx="4349750" cy="755015"/>
            </a:xfrm>
            <a:custGeom>
              <a:avLst/>
              <a:gdLst/>
              <a:ahLst/>
              <a:cxnLst/>
              <a:rect l="l" t="t" r="r" b="b"/>
              <a:pathLst>
                <a:path w="4349750" h="755015">
                  <a:moveTo>
                    <a:pt x="4349657" y="0"/>
                  </a:moveTo>
                  <a:lnTo>
                    <a:pt x="0" y="0"/>
                  </a:lnTo>
                  <a:lnTo>
                    <a:pt x="0" y="704185"/>
                  </a:lnTo>
                  <a:lnTo>
                    <a:pt x="4008" y="723909"/>
                  </a:lnTo>
                  <a:lnTo>
                    <a:pt x="14922" y="740062"/>
                  </a:lnTo>
                  <a:lnTo>
                    <a:pt x="31075" y="750977"/>
                  </a:lnTo>
                  <a:lnTo>
                    <a:pt x="50800" y="754985"/>
                  </a:lnTo>
                  <a:lnTo>
                    <a:pt x="4298856" y="754985"/>
                  </a:lnTo>
                  <a:lnTo>
                    <a:pt x="4318581" y="750977"/>
                  </a:lnTo>
                  <a:lnTo>
                    <a:pt x="4334734" y="740062"/>
                  </a:lnTo>
                  <a:lnTo>
                    <a:pt x="4345648" y="723909"/>
                  </a:lnTo>
                  <a:lnTo>
                    <a:pt x="4349657" y="70418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20030"/>
              <a:ext cx="0" cy="864235"/>
            </a:xfrm>
            <a:custGeom>
              <a:avLst/>
              <a:gdLst/>
              <a:ahLst/>
              <a:cxnLst/>
              <a:rect l="l" t="t" r="r" b="b"/>
              <a:pathLst>
                <a:path h="864235">
                  <a:moveTo>
                    <a:pt x="0" y="8638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07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94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681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0848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90586"/>
              <a:ext cx="76809" cy="768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196" y="1767522"/>
            <a:ext cx="4349750" cy="667385"/>
            <a:chOff x="129196" y="1767522"/>
            <a:chExt cx="4349750" cy="667385"/>
          </a:xfrm>
        </p:grpSpPr>
        <p:sp>
          <p:nvSpPr>
            <p:cNvPr id="14" name="object 14"/>
            <p:cNvSpPr/>
            <p:nvPr/>
          </p:nvSpPr>
          <p:spPr>
            <a:xfrm>
              <a:off x="129184" y="1767522"/>
              <a:ext cx="4349750" cy="667385"/>
            </a:xfrm>
            <a:custGeom>
              <a:avLst/>
              <a:gdLst/>
              <a:ahLst/>
              <a:cxnLst/>
              <a:rect l="l" t="t" r="r" b="b"/>
              <a:pathLst>
                <a:path w="4349750" h="66738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616140"/>
                  </a:lnTo>
                  <a:lnTo>
                    <a:pt x="4013" y="635876"/>
                  </a:lnTo>
                  <a:lnTo>
                    <a:pt x="14922" y="652030"/>
                  </a:lnTo>
                  <a:lnTo>
                    <a:pt x="31076" y="662940"/>
                  </a:lnTo>
                  <a:lnTo>
                    <a:pt x="50812" y="666953"/>
                  </a:lnTo>
                  <a:lnTo>
                    <a:pt x="4298861" y="666953"/>
                  </a:lnTo>
                  <a:lnTo>
                    <a:pt x="4318584" y="662940"/>
                  </a:lnTo>
                  <a:lnTo>
                    <a:pt x="4334738" y="652030"/>
                  </a:lnTo>
                  <a:lnTo>
                    <a:pt x="4345660" y="635876"/>
                  </a:lnTo>
                  <a:lnTo>
                    <a:pt x="4349661" y="61614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78853" y="1856170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h="546735">
                  <a:moveTo>
                    <a:pt x="0" y="5465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853" y="18434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18307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18180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069846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279878"/>
              <a:ext cx="76809" cy="7680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29196" y="2586392"/>
            <a:ext cx="4349750" cy="415290"/>
            <a:chOff x="129196" y="2586392"/>
            <a:chExt cx="4349750" cy="415290"/>
          </a:xfrm>
        </p:grpSpPr>
        <p:sp>
          <p:nvSpPr>
            <p:cNvPr id="22" name="object 22"/>
            <p:cNvSpPr/>
            <p:nvPr/>
          </p:nvSpPr>
          <p:spPr>
            <a:xfrm>
              <a:off x="129196" y="2586392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754833"/>
              <a:ext cx="4349657" cy="50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9196" y="2799122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68729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3011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560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6433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6306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7297" y="576234"/>
            <a:ext cx="4178300" cy="23907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100">
              <a:latin typeface="Arial"/>
              <a:cs typeface="Arial"/>
            </a:endParaRPr>
          </a:p>
          <a:p>
            <a:pPr marL="289560" marR="17145">
              <a:lnSpc>
                <a:spcPct val="102600"/>
              </a:lnSpc>
              <a:spcBef>
                <a:spcPts val="325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collection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perceptual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 instant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complete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history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everything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instant</a:t>
            </a:r>
            <a:endParaRPr sz="1100">
              <a:latin typeface="Arial"/>
              <a:cs typeface="Arial"/>
            </a:endParaRPr>
          </a:p>
          <a:p>
            <a:pPr marL="289560" marR="136525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observed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date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anything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hasn’t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perceive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always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effects.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6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361" y="328853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8744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6546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75863" y="3275694"/>
            <a:ext cx="203200" cy="55880"/>
            <a:chOff x="3275863" y="3275694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39032" y="3278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5863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42982" y="3274429"/>
            <a:ext cx="203200" cy="58419"/>
            <a:chOff x="3542982" y="3274429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31883" y="32909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2982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9183" y="3278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10101" y="3284575"/>
            <a:ext cx="203200" cy="48260"/>
            <a:chOff x="3810101" y="3284575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810101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6302" y="331632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153434" y="331632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582" y="3275694"/>
            <a:ext cx="238760" cy="57150"/>
            <a:chOff x="4326582" y="3275694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30870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3969" y="3282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29112" y="3278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40" dirty="0"/>
              <a:t> </a:t>
            </a:r>
            <a:r>
              <a:rPr dirty="0"/>
              <a:t>concepts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129196" y="432091"/>
            <a:ext cx="4349750" cy="816610"/>
            <a:chOff x="129196" y="432091"/>
            <a:chExt cx="4349750" cy="816610"/>
          </a:xfrm>
        </p:grpSpPr>
        <p:sp>
          <p:nvSpPr>
            <p:cNvPr id="23" name="object 23"/>
            <p:cNvSpPr/>
            <p:nvPr/>
          </p:nvSpPr>
          <p:spPr>
            <a:xfrm>
              <a:off x="129196" y="432091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5569"/>
              <a:ext cx="4349657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9196" y="659850"/>
              <a:ext cx="4349750" cy="588645"/>
            </a:xfrm>
            <a:custGeom>
              <a:avLst/>
              <a:gdLst/>
              <a:ahLst/>
              <a:cxnLst/>
              <a:rect l="l" t="t" r="r" b="b"/>
              <a:pathLst>
                <a:path w="4349750" h="588644">
                  <a:moveTo>
                    <a:pt x="4349657" y="0"/>
                  </a:moveTo>
                  <a:lnTo>
                    <a:pt x="0" y="0"/>
                  </a:lnTo>
                  <a:lnTo>
                    <a:pt x="0" y="537581"/>
                  </a:lnTo>
                  <a:lnTo>
                    <a:pt x="4008" y="557306"/>
                  </a:lnTo>
                  <a:lnTo>
                    <a:pt x="14922" y="573459"/>
                  </a:lnTo>
                  <a:lnTo>
                    <a:pt x="31075" y="584373"/>
                  </a:lnTo>
                  <a:lnTo>
                    <a:pt x="50800" y="588382"/>
                  </a:lnTo>
                  <a:lnTo>
                    <a:pt x="4298856" y="588382"/>
                  </a:lnTo>
                  <a:lnTo>
                    <a:pt x="4318581" y="584373"/>
                  </a:lnTo>
                  <a:lnTo>
                    <a:pt x="4334734" y="573459"/>
                  </a:lnTo>
                  <a:lnTo>
                    <a:pt x="4345648" y="557306"/>
                  </a:lnTo>
                  <a:lnTo>
                    <a:pt x="4349657" y="53758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514423"/>
              <a:ext cx="0" cy="702310"/>
            </a:xfrm>
            <a:custGeom>
              <a:avLst/>
              <a:gdLst/>
              <a:ahLst/>
              <a:cxnLst/>
              <a:rect l="l" t="t" r="r" b="b"/>
              <a:pathLst>
                <a:path h="702310">
                  <a:moveTo>
                    <a:pt x="0" y="7020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5017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489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78853" y="476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89825"/>
              <a:ext cx="76809" cy="76809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29196" y="1362201"/>
            <a:ext cx="4400550" cy="650240"/>
            <a:chOff x="129196" y="1362201"/>
            <a:chExt cx="4400550" cy="650240"/>
          </a:xfrm>
        </p:grpSpPr>
        <p:sp>
          <p:nvSpPr>
            <p:cNvPr id="32" name="object 32"/>
            <p:cNvSpPr/>
            <p:nvPr/>
          </p:nvSpPr>
          <p:spPr>
            <a:xfrm>
              <a:off x="129196" y="1362201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8F8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196" y="1542491"/>
              <a:ext cx="4349657" cy="5060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997" y="1910499"/>
              <a:ext cx="101600" cy="101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797" y="1897799"/>
              <a:ext cx="4298856" cy="11430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78853" y="1406436"/>
              <a:ext cx="50800" cy="5040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9196" y="1586763"/>
              <a:ext cx="4349750" cy="374650"/>
            </a:xfrm>
            <a:custGeom>
              <a:avLst/>
              <a:gdLst/>
              <a:ahLst/>
              <a:cxnLst/>
              <a:rect l="l" t="t" r="r" b="b"/>
              <a:pathLst>
                <a:path w="4349750" h="374650">
                  <a:moveTo>
                    <a:pt x="4349657" y="0"/>
                  </a:moveTo>
                  <a:lnTo>
                    <a:pt x="0" y="0"/>
                  </a:lnTo>
                  <a:lnTo>
                    <a:pt x="0" y="323736"/>
                  </a:lnTo>
                  <a:lnTo>
                    <a:pt x="4008" y="343460"/>
                  </a:lnTo>
                  <a:lnTo>
                    <a:pt x="14922" y="359613"/>
                  </a:lnTo>
                  <a:lnTo>
                    <a:pt x="31075" y="370528"/>
                  </a:lnTo>
                  <a:lnTo>
                    <a:pt x="50800" y="374536"/>
                  </a:lnTo>
                  <a:lnTo>
                    <a:pt x="4298856" y="374536"/>
                  </a:lnTo>
                  <a:lnTo>
                    <a:pt x="4318581" y="370528"/>
                  </a:lnTo>
                  <a:lnTo>
                    <a:pt x="4334734" y="359613"/>
                  </a:lnTo>
                  <a:lnTo>
                    <a:pt x="4345648" y="343460"/>
                  </a:lnTo>
                  <a:lnTo>
                    <a:pt x="4349657" y="32373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BF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78853" y="1444522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h="485139">
                  <a:moveTo>
                    <a:pt x="0" y="4850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78853" y="14318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78853" y="14191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78853" y="14064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129196" y="2075268"/>
            <a:ext cx="4400550" cy="1326515"/>
            <a:chOff x="129196" y="2075268"/>
            <a:chExt cx="4400550" cy="1326515"/>
          </a:xfrm>
        </p:grpSpPr>
        <p:sp>
          <p:nvSpPr>
            <p:cNvPr id="43" name="object 43"/>
            <p:cNvSpPr/>
            <p:nvPr/>
          </p:nvSpPr>
          <p:spPr>
            <a:xfrm>
              <a:off x="129196" y="2075268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196" y="2258745"/>
              <a:ext cx="4349657" cy="5060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9997" y="3299739"/>
              <a:ext cx="101600" cy="1016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797" y="3287039"/>
              <a:ext cx="4298856" cy="11430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78853" y="2119515"/>
              <a:ext cx="50800" cy="118022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29196" y="2303022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78853" y="2157595"/>
              <a:ext cx="0" cy="1161415"/>
            </a:xfrm>
            <a:custGeom>
              <a:avLst/>
              <a:gdLst/>
              <a:ahLst/>
              <a:cxnLst/>
              <a:rect l="l" t="t" r="r" b="b"/>
              <a:pathLst>
                <a:path h="1161414">
                  <a:moveTo>
                    <a:pt x="0" y="11611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78853" y="21448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78853" y="21321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78853" y="21194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1010" y="2350897"/>
              <a:ext cx="76809" cy="7680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21" y="2542971"/>
              <a:ext cx="61874" cy="6187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717825"/>
              <a:ext cx="76809" cy="7680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3021" y="3061728"/>
              <a:ext cx="61874" cy="6187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3021" y="3213557"/>
              <a:ext cx="61874" cy="61874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8397" y="372146"/>
            <a:ext cx="4322445" cy="29438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behavior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100" i="1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Lucida Sans Unicode"/>
                <a:cs typeface="Lucida Sans Unicode"/>
              </a:rPr>
              <a:t>:</a:t>
            </a:r>
            <a:r>
              <a:rPr sz="1100" spc="-4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200" i="1" baseline="27777" dirty="0">
                <a:solidFill>
                  <a:srgbClr val="0000FF"/>
                </a:solidFill>
                <a:latin typeface="Meiryo UI"/>
                <a:cs typeface="Meiryo UI"/>
              </a:rPr>
              <a:t>∗</a:t>
            </a:r>
            <a:r>
              <a:rPr sz="1200" i="1" spc="82" baseline="27777" dirty="0">
                <a:solidFill>
                  <a:srgbClr val="0000FF"/>
                </a:solidFill>
                <a:latin typeface="Meiryo UI"/>
                <a:cs typeface="Meiryo UI"/>
              </a:rPr>
              <a:t> </a:t>
            </a:r>
            <a:r>
              <a:rPr sz="1100" i="1" spc="285" dirty="0">
                <a:solidFill>
                  <a:srgbClr val="0000FF"/>
                </a:solidFill>
                <a:latin typeface="Source Sans 3"/>
                <a:cs typeface="Source Sans 3"/>
              </a:rPr>
              <a:t>−→</a:t>
            </a:r>
            <a:r>
              <a:rPr sz="1100" i="1" spc="55" dirty="0">
                <a:solidFill>
                  <a:srgbClr val="0000FF"/>
                </a:solidFill>
                <a:latin typeface="Source Sans 3"/>
                <a:cs typeface="Source Sans 3"/>
              </a:rPr>
              <a:t> </a:t>
            </a:r>
            <a:r>
              <a:rPr sz="1100" i="1" spc="-5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which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maps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action.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ideally,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percept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sequence,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action</a:t>
            </a:r>
            <a:r>
              <a:rPr sz="1100" spc="-10" dirty="0">
                <a:latin typeface="Lucida Sans Unicode"/>
                <a:cs typeface="Lucida Sans Unicode"/>
              </a:rPr>
              <a:t>]</a:t>
            </a:r>
            <a:endParaRPr sz="11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spcBef>
                <a:spcPts val="1275"/>
              </a:spcBef>
            </a:pPr>
            <a:r>
              <a:rPr sz="1100" dirty="0">
                <a:solidFill>
                  <a:srgbClr val="E0E0F3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E0E0F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0E0F3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101600" marR="43180">
              <a:lnSpc>
                <a:spcPct val="102600"/>
              </a:lnSpc>
              <a:spcBef>
                <a:spcPts val="340"/>
              </a:spcBef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Internally,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function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artificial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implemented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by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Note:</a:t>
            </a:r>
            <a:r>
              <a:rPr sz="1100" spc="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abstract</a:t>
            </a:r>
            <a:r>
              <a:rPr sz="1100" spc="-4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mathematical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description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possibly-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infinite</a:t>
            </a:r>
            <a:r>
              <a:rPr sz="10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378460" marR="187960">
              <a:lnSpc>
                <a:spcPts val="12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2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concrete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implementation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  <a:spcBef>
                <a:spcPts val="150"/>
              </a:spcBef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finite</a:t>
            </a:r>
            <a:r>
              <a:rPr sz="10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runs</a:t>
            </a:r>
            <a:r>
              <a:rPr sz="10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physical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architecture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produce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fu</a:t>
            </a:r>
            <a:r>
              <a:rPr sz="1000" u="heavy" dirty="0">
                <a:solidFill>
                  <a:srgbClr val="D8D8D8"/>
                </a:solidFill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dirty="0">
                <a:solidFill>
                  <a:srgbClr val="D8D8D8"/>
                </a:solidFill>
                <a:latin typeface="Arial"/>
                <a:cs typeface="Arial"/>
              </a:rPr>
              <a:t>ctio</a:t>
            </a:r>
            <a:r>
              <a:rPr sz="1000" u="heavy" dirty="0">
                <a:solidFill>
                  <a:srgbClr val="D8D8D8"/>
                </a:solidFill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i="1" u="none" spc="-50" dirty="0">
                <a:solidFill>
                  <a:srgbClr val="D8D8D8"/>
                </a:solidFill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361" y="328853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8744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6546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75863" y="3275694"/>
            <a:ext cx="203200" cy="55880"/>
            <a:chOff x="3275863" y="3275694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39032" y="3278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5863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42982" y="3274429"/>
            <a:ext cx="203200" cy="58419"/>
            <a:chOff x="3542982" y="3274429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31883" y="32909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2982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9183" y="3278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10101" y="3284575"/>
            <a:ext cx="203200" cy="48260"/>
            <a:chOff x="3810101" y="3284575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810101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6302" y="331632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153434" y="331632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582" y="3275694"/>
            <a:ext cx="238760" cy="57150"/>
            <a:chOff x="4326582" y="3275694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30870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3969" y="3282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29112" y="3278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40" dirty="0"/>
              <a:t> </a:t>
            </a:r>
            <a:r>
              <a:rPr dirty="0"/>
              <a:t>concepts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129196" y="432091"/>
            <a:ext cx="4349750" cy="816610"/>
            <a:chOff x="129196" y="432091"/>
            <a:chExt cx="4349750" cy="816610"/>
          </a:xfrm>
        </p:grpSpPr>
        <p:sp>
          <p:nvSpPr>
            <p:cNvPr id="23" name="object 23"/>
            <p:cNvSpPr/>
            <p:nvPr/>
          </p:nvSpPr>
          <p:spPr>
            <a:xfrm>
              <a:off x="129196" y="432091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5569"/>
              <a:ext cx="4349657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9196" y="659850"/>
              <a:ext cx="4349750" cy="588645"/>
            </a:xfrm>
            <a:custGeom>
              <a:avLst/>
              <a:gdLst/>
              <a:ahLst/>
              <a:cxnLst/>
              <a:rect l="l" t="t" r="r" b="b"/>
              <a:pathLst>
                <a:path w="4349750" h="588644">
                  <a:moveTo>
                    <a:pt x="4349657" y="0"/>
                  </a:moveTo>
                  <a:lnTo>
                    <a:pt x="0" y="0"/>
                  </a:lnTo>
                  <a:lnTo>
                    <a:pt x="0" y="537581"/>
                  </a:lnTo>
                  <a:lnTo>
                    <a:pt x="4008" y="557306"/>
                  </a:lnTo>
                  <a:lnTo>
                    <a:pt x="14922" y="573459"/>
                  </a:lnTo>
                  <a:lnTo>
                    <a:pt x="31075" y="584373"/>
                  </a:lnTo>
                  <a:lnTo>
                    <a:pt x="50800" y="588382"/>
                  </a:lnTo>
                  <a:lnTo>
                    <a:pt x="4298856" y="588382"/>
                  </a:lnTo>
                  <a:lnTo>
                    <a:pt x="4318581" y="584373"/>
                  </a:lnTo>
                  <a:lnTo>
                    <a:pt x="4334734" y="573459"/>
                  </a:lnTo>
                  <a:lnTo>
                    <a:pt x="4345648" y="557306"/>
                  </a:lnTo>
                  <a:lnTo>
                    <a:pt x="4349657" y="53758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514423"/>
              <a:ext cx="0" cy="702310"/>
            </a:xfrm>
            <a:custGeom>
              <a:avLst/>
              <a:gdLst/>
              <a:ahLst/>
              <a:cxnLst/>
              <a:rect l="l" t="t" r="r" b="b"/>
              <a:pathLst>
                <a:path h="702310">
                  <a:moveTo>
                    <a:pt x="0" y="7020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5017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489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78853" y="476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89825"/>
              <a:ext cx="76809" cy="76809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29196" y="1362201"/>
            <a:ext cx="4349750" cy="599440"/>
            <a:chOff x="129196" y="1362201"/>
            <a:chExt cx="4349750" cy="599440"/>
          </a:xfrm>
        </p:grpSpPr>
        <p:sp>
          <p:nvSpPr>
            <p:cNvPr id="32" name="object 32"/>
            <p:cNvSpPr/>
            <p:nvPr/>
          </p:nvSpPr>
          <p:spPr>
            <a:xfrm>
              <a:off x="129196" y="1362201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196" y="1542491"/>
              <a:ext cx="4349657" cy="50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9196" y="1586763"/>
              <a:ext cx="4349750" cy="374650"/>
            </a:xfrm>
            <a:custGeom>
              <a:avLst/>
              <a:gdLst/>
              <a:ahLst/>
              <a:cxnLst/>
              <a:rect l="l" t="t" r="r" b="b"/>
              <a:pathLst>
                <a:path w="4349750" h="374650">
                  <a:moveTo>
                    <a:pt x="4349657" y="0"/>
                  </a:moveTo>
                  <a:lnTo>
                    <a:pt x="0" y="0"/>
                  </a:lnTo>
                  <a:lnTo>
                    <a:pt x="0" y="323736"/>
                  </a:lnTo>
                  <a:lnTo>
                    <a:pt x="4008" y="343460"/>
                  </a:lnTo>
                  <a:lnTo>
                    <a:pt x="14922" y="359613"/>
                  </a:lnTo>
                  <a:lnTo>
                    <a:pt x="31075" y="370528"/>
                  </a:lnTo>
                  <a:lnTo>
                    <a:pt x="50800" y="374536"/>
                  </a:lnTo>
                  <a:lnTo>
                    <a:pt x="4298856" y="374536"/>
                  </a:lnTo>
                  <a:lnTo>
                    <a:pt x="4318581" y="370528"/>
                  </a:lnTo>
                  <a:lnTo>
                    <a:pt x="4334734" y="359613"/>
                  </a:lnTo>
                  <a:lnTo>
                    <a:pt x="4345648" y="343460"/>
                  </a:lnTo>
                  <a:lnTo>
                    <a:pt x="4349657" y="32373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8853" y="1444522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h="485139">
                  <a:moveTo>
                    <a:pt x="0" y="4850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8853" y="14318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78853" y="14191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78853" y="14064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129196" y="2075268"/>
            <a:ext cx="4400550" cy="1326515"/>
            <a:chOff x="129196" y="2075268"/>
            <a:chExt cx="4400550" cy="1326515"/>
          </a:xfrm>
        </p:grpSpPr>
        <p:sp>
          <p:nvSpPr>
            <p:cNvPr id="40" name="object 40"/>
            <p:cNvSpPr/>
            <p:nvPr/>
          </p:nvSpPr>
          <p:spPr>
            <a:xfrm>
              <a:off x="129196" y="2075268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96" y="2258745"/>
              <a:ext cx="4349657" cy="5060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997" y="3299739"/>
              <a:ext cx="101600" cy="101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797" y="3287039"/>
              <a:ext cx="4298856" cy="11430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8853" y="2119503"/>
              <a:ext cx="50800" cy="118023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29196" y="2303022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78853" y="2157595"/>
              <a:ext cx="0" cy="1161415"/>
            </a:xfrm>
            <a:custGeom>
              <a:avLst/>
              <a:gdLst/>
              <a:ahLst/>
              <a:cxnLst/>
              <a:rect l="l" t="t" r="r" b="b"/>
              <a:pathLst>
                <a:path h="1161414">
                  <a:moveTo>
                    <a:pt x="0" y="11611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78853" y="21448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78853" y="21321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78853" y="21194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50897"/>
              <a:ext cx="76809" cy="7680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21" y="2542971"/>
              <a:ext cx="61874" cy="6187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17825"/>
              <a:ext cx="76809" cy="7680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21" y="3061728"/>
              <a:ext cx="61874" cy="618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21" y="3213557"/>
              <a:ext cx="61874" cy="61874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78397" y="372146"/>
            <a:ext cx="4322445" cy="29438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behavior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100" i="1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Lucida Sans Unicode"/>
                <a:cs typeface="Lucida Sans Unicode"/>
              </a:rPr>
              <a:t>:</a:t>
            </a:r>
            <a:r>
              <a:rPr sz="1100" spc="-4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200" i="1" baseline="27777" dirty="0">
                <a:solidFill>
                  <a:srgbClr val="0000FF"/>
                </a:solidFill>
                <a:latin typeface="Meiryo UI"/>
                <a:cs typeface="Meiryo UI"/>
              </a:rPr>
              <a:t>∗</a:t>
            </a:r>
            <a:r>
              <a:rPr sz="1200" i="1" spc="82" baseline="27777" dirty="0">
                <a:solidFill>
                  <a:srgbClr val="0000FF"/>
                </a:solidFill>
                <a:latin typeface="Meiryo UI"/>
                <a:cs typeface="Meiryo UI"/>
              </a:rPr>
              <a:t> </a:t>
            </a:r>
            <a:r>
              <a:rPr sz="1100" i="1" spc="285" dirty="0">
                <a:solidFill>
                  <a:srgbClr val="0000FF"/>
                </a:solidFill>
                <a:latin typeface="Source Sans 3"/>
                <a:cs typeface="Source Sans 3"/>
              </a:rPr>
              <a:t>−→</a:t>
            </a:r>
            <a:r>
              <a:rPr sz="1100" i="1" spc="55" dirty="0">
                <a:solidFill>
                  <a:srgbClr val="0000FF"/>
                </a:solidFill>
                <a:latin typeface="Source Sans 3"/>
                <a:cs typeface="Source Sans 3"/>
              </a:rPr>
              <a:t> </a:t>
            </a:r>
            <a:r>
              <a:rPr sz="1100" i="1" spc="-5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which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maps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action.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ideally,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percept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sequence,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action</a:t>
            </a:r>
            <a:r>
              <a:rPr sz="1100" spc="-10" dirty="0">
                <a:latin typeface="Lucida Sans Unicode"/>
                <a:cs typeface="Lucida Sans Unicode"/>
              </a:rPr>
              <a:t>]</a:t>
            </a:r>
            <a:endParaRPr sz="11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spcBef>
                <a:spcPts val="12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101600" marR="43180">
              <a:lnSpc>
                <a:spcPct val="102600"/>
              </a:lnSpc>
              <a:spcBef>
                <a:spcPts val="340"/>
              </a:spcBef>
            </a:pPr>
            <a:r>
              <a:rPr sz="1100" spc="-10" dirty="0">
                <a:latin typeface="Arial"/>
                <a:cs typeface="Arial"/>
              </a:rPr>
              <a:t>Internally,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artificial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Note:</a:t>
            </a:r>
            <a:r>
              <a:rPr sz="1100" spc="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abstract</a:t>
            </a:r>
            <a:r>
              <a:rPr sz="1100" spc="-4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mathematical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description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possibly-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infinite</a:t>
            </a:r>
            <a:r>
              <a:rPr sz="10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378460" marR="187960">
              <a:lnSpc>
                <a:spcPts val="12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2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concrete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implementation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  <a:spcBef>
                <a:spcPts val="150"/>
              </a:spcBef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finite</a:t>
            </a:r>
            <a:r>
              <a:rPr sz="1000" spc="-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runs</a:t>
            </a:r>
            <a:r>
              <a:rPr sz="10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physical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architecture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produce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fu</a:t>
            </a:r>
            <a:r>
              <a:rPr sz="1000" u="heavy" dirty="0">
                <a:solidFill>
                  <a:srgbClr val="D8D8D8"/>
                </a:solidFill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dirty="0">
                <a:solidFill>
                  <a:srgbClr val="D8D8D8"/>
                </a:solidFill>
                <a:latin typeface="Arial"/>
                <a:cs typeface="Arial"/>
              </a:rPr>
              <a:t>ctio</a:t>
            </a:r>
            <a:r>
              <a:rPr sz="1000" u="heavy" dirty="0">
                <a:solidFill>
                  <a:srgbClr val="D8D8D8"/>
                </a:solidFill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spc="-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i="1" u="none" spc="-50" dirty="0">
                <a:solidFill>
                  <a:srgbClr val="D8D8D8"/>
                </a:solidFill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46346" y="3340524"/>
            <a:ext cx="198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361" y="328853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8744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6546" y="328457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75863" y="3275694"/>
            <a:ext cx="203200" cy="55880"/>
            <a:chOff x="3275863" y="3275694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39032" y="3278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5863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42982" y="3274429"/>
            <a:ext cx="203200" cy="58419"/>
            <a:chOff x="3542982" y="3274429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31883" y="32909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2982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9183" y="3278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10101" y="3284575"/>
            <a:ext cx="203200" cy="48260"/>
            <a:chOff x="3810101" y="3284575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810101" y="328457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6302" y="331632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153434" y="331632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582" y="3275694"/>
            <a:ext cx="238760" cy="57150"/>
            <a:chOff x="4326582" y="3275694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30870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3969" y="3282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29112" y="3278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40" dirty="0"/>
              <a:t> </a:t>
            </a:r>
            <a:r>
              <a:rPr dirty="0"/>
              <a:t>concepts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129196" y="432091"/>
            <a:ext cx="4349750" cy="816610"/>
            <a:chOff x="129196" y="432091"/>
            <a:chExt cx="4349750" cy="816610"/>
          </a:xfrm>
        </p:grpSpPr>
        <p:sp>
          <p:nvSpPr>
            <p:cNvPr id="23" name="object 23"/>
            <p:cNvSpPr/>
            <p:nvPr/>
          </p:nvSpPr>
          <p:spPr>
            <a:xfrm>
              <a:off x="129196" y="432091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5569"/>
              <a:ext cx="4349657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9196" y="659850"/>
              <a:ext cx="4349750" cy="588645"/>
            </a:xfrm>
            <a:custGeom>
              <a:avLst/>
              <a:gdLst/>
              <a:ahLst/>
              <a:cxnLst/>
              <a:rect l="l" t="t" r="r" b="b"/>
              <a:pathLst>
                <a:path w="4349750" h="588644">
                  <a:moveTo>
                    <a:pt x="4349657" y="0"/>
                  </a:moveTo>
                  <a:lnTo>
                    <a:pt x="0" y="0"/>
                  </a:lnTo>
                  <a:lnTo>
                    <a:pt x="0" y="537581"/>
                  </a:lnTo>
                  <a:lnTo>
                    <a:pt x="4008" y="557306"/>
                  </a:lnTo>
                  <a:lnTo>
                    <a:pt x="14922" y="573459"/>
                  </a:lnTo>
                  <a:lnTo>
                    <a:pt x="31075" y="584373"/>
                  </a:lnTo>
                  <a:lnTo>
                    <a:pt x="50800" y="588382"/>
                  </a:lnTo>
                  <a:lnTo>
                    <a:pt x="4298856" y="588382"/>
                  </a:lnTo>
                  <a:lnTo>
                    <a:pt x="4318581" y="584373"/>
                  </a:lnTo>
                  <a:lnTo>
                    <a:pt x="4334734" y="573459"/>
                  </a:lnTo>
                  <a:lnTo>
                    <a:pt x="4345648" y="557306"/>
                  </a:lnTo>
                  <a:lnTo>
                    <a:pt x="4349657" y="53758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514423"/>
              <a:ext cx="0" cy="702310"/>
            </a:xfrm>
            <a:custGeom>
              <a:avLst/>
              <a:gdLst/>
              <a:ahLst/>
              <a:cxnLst/>
              <a:rect l="l" t="t" r="r" b="b"/>
              <a:pathLst>
                <a:path h="702310">
                  <a:moveTo>
                    <a:pt x="0" y="7020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5017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489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78853" y="476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89825"/>
              <a:ext cx="76809" cy="76809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29196" y="1362201"/>
            <a:ext cx="4349750" cy="599440"/>
            <a:chOff x="129196" y="1362201"/>
            <a:chExt cx="4349750" cy="599440"/>
          </a:xfrm>
        </p:grpSpPr>
        <p:sp>
          <p:nvSpPr>
            <p:cNvPr id="32" name="object 32"/>
            <p:cNvSpPr/>
            <p:nvPr/>
          </p:nvSpPr>
          <p:spPr>
            <a:xfrm>
              <a:off x="129196" y="1362201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196" y="1542491"/>
              <a:ext cx="4349657" cy="50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9196" y="1586763"/>
              <a:ext cx="4349750" cy="374650"/>
            </a:xfrm>
            <a:custGeom>
              <a:avLst/>
              <a:gdLst/>
              <a:ahLst/>
              <a:cxnLst/>
              <a:rect l="l" t="t" r="r" b="b"/>
              <a:pathLst>
                <a:path w="4349750" h="374650">
                  <a:moveTo>
                    <a:pt x="4349657" y="0"/>
                  </a:moveTo>
                  <a:lnTo>
                    <a:pt x="0" y="0"/>
                  </a:lnTo>
                  <a:lnTo>
                    <a:pt x="0" y="323736"/>
                  </a:lnTo>
                  <a:lnTo>
                    <a:pt x="4008" y="343460"/>
                  </a:lnTo>
                  <a:lnTo>
                    <a:pt x="14922" y="359613"/>
                  </a:lnTo>
                  <a:lnTo>
                    <a:pt x="31075" y="370528"/>
                  </a:lnTo>
                  <a:lnTo>
                    <a:pt x="50800" y="374536"/>
                  </a:lnTo>
                  <a:lnTo>
                    <a:pt x="4298856" y="374536"/>
                  </a:lnTo>
                  <a:lnTo>
                    <a:pt x="4318581" y="370528"/>
                  </a:lnTo>
                  <a:lnTo>
                    <a:pt x="4334734" y="359613"/>
                  </a:lnTo>
                  <a:lnTo>
                    <a:pt x="4345648" y="343460"/>
                  </a:lnTo>
                  <a:lnTo>
                    <a:pt x="4349657" y="32373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8853" y="1444522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h="485139">
                  <a:moveTo>
                    <a:pt x="0" y="4850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8853" y="14318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78853" y="14191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78853" y="14064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129196" y="2075268"/>
            <a:ext cx="4349750" cy="1275715"/>
            <a:chOff x="129196" y="2075268"/>
            <a:chExt cx="4349750" cy="1275715"/>
          </a:xfrm>
        </p:grpSpPr>
        <p:sp>
          <p:nvSpPr>
            <p:cNvPr id="40" name="object 40"/>
            <p:cNvSpPr/>
            <p:nvPr/>
          </p:nvSpPr>
          <p:spPr>
            <a:xfrm>
              <a:off x="129196" y="2075268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96" y="2258745"/>
              <a:ext cx="4349657" cy="5060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9196" y="2303022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78853" y="2157595"/>
              <a:ext cx="0" cy="1161415"/>
            </a:xfrm>
            <a:custGeom>
              <a:avLst/>
              <a:gdLst/>
              <a:ahLst/>
              <a:cxnLst/>
              <a:rect l="l" t="t" r="r" b="b"/>
              <a:pathLst>
                <a:path h="1161414">
                  <a:moveTo>
                    <a:pt x="0" y="11611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78853" y="21448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78853" y="21321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78853" y="21194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350897"/>
              <a:ext cx="76809" cy="7680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21" y="2542971"/>
              <a:ext cx="61874" cy="6187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717825"/>
              <a:ext cx="76809" cy="7680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21" y="3061728"/>
              <a:ext cx="61874" cy="6187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21" y="3213557"/>
              <a:ext cx="61874" cy="61874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8397" y="372146"/>
            <a:ext cx="4322445" cy="29438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behavior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100" i="1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Lucida Sans Unicode"/>
                <a:cs typeface="Lucida Sans Unicode"/>
              </a:rPr>
              <a:t>:</a:t>
            </a:r>
            <a:r>
              <a:rPr sz="1100" spc="-4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200" i="1" baseline="27777" dirty="0">
                <a:solidFill>
                  <a:srgbClr val="0000FF"/>
                </a:solidFill>
                <a:latin typeface="Meiryo UI"/>
                <a:cs typeface="Meiryo UI"/>
              </a:rPr>
              <a:t>∗</a:t>
            </a:r>
            <a:r>
              <a:rPr sz="1200" i="1" spc="82" baseline="27777" dirty="0">
                <a:solidFill>
                  <a:srgbClr val="0000FF"/>
                </a:solidFill>
                <a:latin typeface="Meiryo UI"/>
                <a:cs typeface="Meiryo UI"/>
              </a:rPr>
              <a:t> </a:t>
            </a:r>
            <a:r>
              <a:rPr sz="1100" i="1" spc="285" dirty="0">
                <a:solidFill>
                  <a:srgbClr val="0000FF"/>
                </a:solidFill>
                <a:latin typeface="Source Sans 3"/>
                <a:cs typeface="Source Sans 3"/>
              </a:rPr>
              <a:t>−→</a:t>
            </a:r>
            <a:r>
              <a:rPr sz="1100" i="1" spc="55" dirty="0">
                <a:solidFill>
                  <a:srgbClr val="0000FF"/>
                </a:solidFill>
                <a:latin typeface="Source Sans 3"/>
                <a:cs typeface="Source Sans 3"/>
              </a:rPr>
              <a:t> </a:t>
            </a:r>
            <a:r>
              <a:rPr sz="1100" i="1" spc="-5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which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maps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action.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ideally,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percept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sequence,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action</a:t>
            </a:r>
            <a:r>
              <a:rPr sz="1100" spc="-10" dirty="0">
                <a:latin typeface="Lucida Sans Unicode"/>
                <a:cs typeface="Lucida Sans Unicode"/>
              </a:rPr>
              <a:t>]</a:t>
            </a:r>
            <a:endParaRPr sz="11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spcBef>
                <a:spcPts val="12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101600" marR="43180">
              <a:lnSpc>
                <a:spcPct val="102600"/>
              </a:lnSpc>
              <a:spcBef>
                <a:spcPts val="340"/>
              </a:spcBef>
            </a:pPr>
            <a:r>
              <a:rPr sz="1100" spc="-10" dirty="0">
                <a:latin typeface="Arial"/>
                <a:cs typeface="Arial"/>
              </a:rPr>
              <a:t>Internally,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artificial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Note:</a:t>
            </a:r>
            <a:r>
              <a:rPr sz="1100" spc="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abstract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mathematical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description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possibly-</a:t>
            </a:r>
            <a:r>
              <a:rPr sz="1000" dirty="0">
                <a:latin typeface="Arial"/>
                <a:cs typeface="Arial"/>
              </a:rPr>
              <a:t>infinite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378460" marR="187960">
              <a:lnSpc>
                <a:spcPts val="12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concrete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implementation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finite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655320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runs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physical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architecture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produce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</a:t>
            </a:r>
            <a:r>
              <a:rPr sz="1000" u="heavy" dirty="0"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dirty="0">
                <a:latin typeface="Arial"/>
                <a:cs typeface="Arial"/>
              </a:rPr>
              <a:t>ctio</a:t>
            </a:r>
            <a:r>
              <a:rPr sz="1000" u="heavy" dirty="0">
                <a:uFill>
                  <a:solidFill>
                    <a:srgbClr val="ADADE0"/>
                  </a:solidFill>
                </a:uFill>
                <a:latin typeface="Arial"/>
                <a:cs typeface="Arial"/>
              </a:rPr>
              <a:t>n</a:t>
            </a:r>
            <a:r>
              <a:rPr sz="1000" u="none" spc="-10" dirty="0">
                <a:latin typeface="Arial"/>
                <a:cs typeface="Arial"/>
              </a:rPr>
              <a:t> </a:t>
            </a:r>
            <a:r>
              <a:rPr sz="1000" i="1" u="none" spc="-50" dirty="0"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90334"/>
            <a:ext cx="4349750" cy="2874645"/>
            <a:chOff x="129196" y="390334"/>
            <a:chExt cx="4349750" cy="2874645"/>
          </a:xfrm>
        </p:grpSpPr>
        <p:sp>
          <p:nvSpPr>
            <p:cNvPr id="4" name="object 4"/>
            <p:cNvSpPr/>
            <p:nvPr/>
          </p:nvSpPr>
          <p:spPr>
            <a:xfrm>
              <a:off x="129196" y="39033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7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68972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13216"/>
              <a:ext cx="4349750" cy="2651760"/>
            </a:xfrm>
            <a:custGeom>
              <a:avLst/>
              <a:gdLst/>
              <a:ahLst/>
              <a:cxnLst/>
              <a:rect l="l" t="t" r="r" b="b"/>
              <a:pathLst>
                <a:path w="4349750" h="2651760">
                  <a:moveTo>
                    <a:pt x="4349657" y="0"/>
                  </a:moveTo>
                  <a:lnTo>
                    <a:pt x="0" y="0"/>
                  </a:lnTo>
                  <a:lnTo>
                    <a:pt x="0" y="2600607"/>
                  </a:lnTo>
                  <a:lnTo>
                    <a:pt x="4008" y="2620332"/>
                  </a:lnTo>
                  <a:lnTo>
                    <a:pt x="14922" y="2636485"/>
                  </a:lnTo>
                  <a:lnTo>
                    <a:pt x="31075" y="2647399"/>
                  </a:lnTo>
                  <a:lnTo>
                    <a:pt x="50800" y="2651407"/>
                  </a:lnTo>
                  <a:lnTo>
                    <a:pt x="4298856" y="2651407"/>
                  </a:lnTo>
                  <a:lnTo>
                    <a:pt x="4318581" y="2647399"/>
                  </a:lnTo>
                  <a:lnTo>
                    <a:pt x="4334734" y="2636485"/>
                  </a:lnTo>
                  <a:lnTo>
                    <a:pt x="4345648" y="2620332"/>
                  </a:lnTo>
                  <a:lnTo>
                    <a:pt x="4349657" y="260060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72639"/>
              <a:ext cx="0" cy="2760345"/>
            </a:xfrm>
            <a:custGeom>
              <a:avLst/>
              <a:gdLst/>
              <a:ahLst/>
              <a:cxnLst/>
              <a:rect l="l" t="t" r="r" b="b"/>
              <a:pathLst>
                <a:path h="2760345">
                  <a:moveTo>
                    <a:pt x="0" y="27602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599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472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345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5792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84771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39787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234884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332039"/>
            <a:ext cx="3689985" cy="102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506220" indent="-277495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very-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vacuum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cleaner </a:t>
            </a:r>
            <a:r>
              <a:rPr sz="1100" dirty="0">
                <a:latin typeface="Arial"/>
                <a:cs typeface="Arial"/>
              </a:rPr>
              <a:t>Environment: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0" dirty="0">
                <a:latin typeface="Arial"/>
                <a:cs typeface="Arial"/>
              </a:rPr>
              <a:t> B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Percepts:</a:t>
            </a:r>
            <a:r>
              <a:rPr sz="1100" spc="1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location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006300"/>
                </a:solidFill>
                <a:latin typeface="Source Sans 3"/>
                <a:cs typeface="Source Sans 3"/>
              </a:rPr>
              <a:t>{</a:t>
            </a:r>
            <a:r>
              <a:rPr sz="1100" i="1" dirty="0">
                <a:solidFill>
                  <a:srgbClr val="006300"/>
                </a:solidFill>
                <a:latin typeface="Arial"/>
                <a:cs typeface="Arial"/>
              </a:rPr>
              <a:t>A,</a:t>
            </a:r>
            <a:r>
              <a:rPr sz="1100" i="1" spc="-9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i="1" spc="80" dirty="0">
                <a:solidFill>
                  <a:srgbClr val="006300"/>
                </a:solidFill>
                <a:latin typeface="Arial"/>
                <a:cs typeface="Arial"/>
              </a:rPr>
              <a:t>B</a:t>
            </a:r>
            <a:r>
              <a:rPr sz="1100" i="1" spc="80" dirty="0">
                <a:solidFill>
                  <a:srgbClr val="006300"/>
                </a:solidFill>
                <a:latin typeface="Source Sans 3"/>
                <a:cs typeface="Source Sans 3"/>
              </a:rPr>
              <a:t>}</a:t>
            </a:r>
            <a:r>
              <a:rPr sz="1100" spc="80" dirty="0">
                <a:latin typeface="Arial"/>
                <a:cs typeface="Arial"/>
              </a:rPr>
              <a:t>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content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006300"/>
                </a:solidFill>
                <a:latin typeface="Source Sans 3"/>
                <a:cs typeface="Source Sans 3"/>
              </a:rPr>
              <a:t>{</a:t>
            </a:r>
            <a:r>
              <a:rPr sz="1100" i="1" dirty="0">
                <a:solidFill>
                  <a:srgbClr val="006300"/>
                </a:solidFill>
                <a:latin typeface="Arial"/>
                <a:cs typeface="Arial"/>
              </a:rPr>
              <a:t>Dirty,</a:t>
            </a:r>
            <a:r>
              <a:rPr sz="1100" i="1" spc="-9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6300"/>
                </a:solidFill>
                <a:latin typeface="Arial"/>
                <a:cs typeface="Arial"/>
              </a:rPr>
              <a:t>Clean</a:t>
            </a:r>
            <a:r>
              <a:rPr sz="1100" i="1" spc="-10" dirty="0">
                <a:solidFill>
                  <a:srgbClr val="006300"/>
                </a:solidFill>
                <a:latin typeface="Source Sans 3"/>
                <a:cs typeface="Source Sans 3"/>
              </a:rPr>
              <a:t>}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e.g.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[A,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Dirty]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Actions:</a:t>
            </a:r>
            <a:r>
              <a:rPr sz="1100" spc="229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300"/>
                </a:solidFill>
                <a:latin typeface="Source Sans 3"/>
                <a:cs typeface="Source Sans 3"/>
              </a:rPr>
              <a:t>{</a:t>
            </a:r>
            <a:r>
              <a:rPr sz="1100" i="1" dirty="0">
                <a:solidFill>
                  <a:srgbClr val="006300"/>
                </a:solidFill>
                <a:latin typeface="Arial"/>
                <a:cs typeface="Arial"/>
              </a:rPr>
              <a:t>left,</a:t>
            </a:r>
            <a:r>
              <a:rPr sz="1100" i="1" spc="-4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300"/>
                </a:solidFill>
                <a:latin typeface="Arial"/>
                <a:cs typeface="Arial"/>
              </a:rPr>
              <a:t>right,</a:t>
            </a:r>
            <a:r>
              <a:rPr sz="1100" i="1" spc="-4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300"/>
                </a:solidFill>
                <a:latin typeface="Arial"/>
                <a:cs typeface="Arial"/>
              </a:rPr>
              <a:t>suck,</a:t>
            </a:r>
            <a:r>
              <a:rPr sz="1100" i="1" spc="-4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6300"/>
                </a:solidFill>
                <a:latin typeface="Arial"/>
                <a:cs typeface="Arial"/>
              </a:rPr>
              <a:t>no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_</a:t>
            </a:r>
            <a:r>
              <a:rPr sz="1100" i="1" spc="-10" dirty="0">
                <a:solidFill>
                  <a:srgbClr val="006300"/>
                </a:solidFill>
                <a:latin typeface="Arial"/>
                <a:cs typeface="Arial"/>
              </a:rPr>
              <a:t>op</a:t>
            </a:r>
            <a:r>
              <a:rPr sz="1100" i="1" spc="-10" dirty="0">
                <a:solidFill>
                  <a:srgbClr val="006300"/>
                </a:solidFill>
                <a:latin typeface="Source Sans 3"/>
                <a:cs typeface="Source Sans 3"/>
              </a:rPr>
              <a:t>}</a:t>
            </a:r>
            <a:endParaRPr sz="1100">
              <a:latin typeface="Source Sans 3"/>
              <a:cs typeface="Source Sans 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9142" y="1445249"/>
            <a:ext cx="3289714" cy="166136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682610" y="3133254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8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1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51218"/>
            <a:ext cx="4349750" cy="2264410"/>
            <a:chOff x="129196" y="451218"/>
            <a:chExt cx="4349750" cy="2264410"/>
          </a:xfrm>
        </p:grpSpPr>
        <p:sp>
          <p:nvSpPr>
            <p:cNvPr id="4" name="object 4"/>
            <p:cNvSpPr/>
            <p:nvPr/>
          </p:nvSpPr>
          <p:spPr>
            <a:xfrm>
              <a:off x="129196" y="451218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3469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78958"/>
              <a:ext cx="4349750" cy="2036445"/>
            </a:xfrm>
            <a:custGeom>
              <a:avLst/>
              <a:gdLst/>
              <a:ahLst/>
              <a:cxnLst/>
              <a:rect l="l" t="t" r="r" b="b"/>
              <a:pathLst>
                <a:path w="4349750" h="2036445">
                  <a:moveTo>
                    <a:pt x="4349657" y="0"/>
                  </a:moveTo>
                  <a:lnTo>
                    <a:pt x="0" y="0"/>
                  </a:lnTo>
                  <a:lnTo>
                    <a:pt x="0" y="1985412"/>
                  </a:lnTo>
                  <a:lnTo>
                    <a:pt x="4008" y="2005137"/>
                  </a:lnTo>
                  <a:lnTo>
                    <a:pt x="14922" y="2021290"/>
                  </a:lnTo>
                  <a:lnTo>
                    <a:pt x="31075" y="2032204"/>
                  </a:lnTo>
                  <a:lnTo>
                    <a:pt x="50800" y="2036212"/>
                  </a:lnTo>
                  <a:lnTo>
                    <a:pt x="4298856" y="2036212"/>
                  </a:lnTo>
                  <a:lnTo>
                    <a:pt x="4318581" y="2032204"/>
                  </a:lnTo>
                  <a:lnTo>
                    <a:pt x="4334734" y="2021290"/>
                  </a:lnTo>
                  <a:lnTo>
                    <a:pt x="4345648" y="2005137"/>
                  </a:lnTo>
                  <a:lnTo>
                    <a:pt x="4349657" y="198541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33531"/>
              <a:ext cx="0" cy="2150110"/>
            </a:xfrm>
            <a:custGeom>
              <a:avLst/>
              <a:gdLst/>
              <a:ahLst/>
              <a:cxnLst/>
              <a:rect l="l" t="t" r="r" b="b"/>
              <a:pathLst>
                <a:path h="2150110">
                  <a:moveTo>
                    <a:pt x="0" y="21498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208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81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954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7297" y="391272"/>
            <a:ext cx="2401570" cy="6280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335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square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dirty,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then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suck;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otherwise,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move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square.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384" y="1061954"/>
            <a:ext cx="3535217" cy="149520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9196" y="2857829"/>
            <a:ext cx="4400550" cy="468630"/>
            <a:chOff x="129196" y="2857829"/>
            <a:chExt cx="4400550" cy="468630"/>
          </a:xfrm>
        </p:grpSpPr>
        <p:sp>
          <p:nvSpPr>
            <p:cNvPr id="14" name="object 14"/>
            <p:cNvSpPr/>
            <p:nvPr/>
          </p:nvSpPr>
          <p:spPr>
            <a:xfrm>
              <a:off x="129196" y="285782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997" y="3224326"/>
              <a:ext cx="101600" cy="10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797" y="3211626"/>
              <a:ext cx="4298856" cy="1143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8853" y="2908388"/>
              <a:ext cx="50800" cy="3159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9196" y="2902253"/>
              <a:ext cx="4349750" cy="373380"/>
            </a:xfrm>
            <a:custGeom>
              <a:avLst/>
              <a:gdLst/>
              <a:ahLst/>
              <a:cxnLst/>
              <a:rect l="l" t="t" r="r" b="b"/>
              <a:pathLst>
                <a:path w="4349750" h="373379">
                  <a:moveTo>
                    <a:pt x="4349657" y="0"/>
                  </a:moveTo>
                  <a:lnTo>
                    <a:pt x="0" y="0"/>
                  </a:lnTo>
                  <a:lnTo>
                    <a:pt x="0" y="322073"/>
                  </a:lnTo>
                  <a:lnTo>
                    <a:pt x="4008" y="341797"/>
                  </a:lnTo>
                  <a:lnTo>
                    <a:pt x="14922" y="357950"/>
                  </a:lnTo>
                  <a:lnTo>
                    <a:pt x="31075" y="368864"/>
                  </a:lnTo>
                  <a:lnTo>
                    <a:pt x="50800" y="372873"/>
                  </a:lnTo>
                  <a:lnTo>
                    <a:pt x="4298856" y="372873"/>
                  </a:lnTo>
                  <a:lnTo>
                    <a:pt x="4318581" y="368864"/>
                  </a:lnTo>
                  <a:lnTo>
                    <a:pt x="4334734" y="357950"/>
                  </a:lnTo>
                  <a:lnTo>
                    <a:pt x="4345648" y="341797"/>
                  </a:lnTo>
                  <a:lnTo>
                    <a:pt x="4349657" y="3220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946491"/>
              <a:ext cx="0" cy="297180"/>
            </a:xfrm>
            <a:custGeom>
              <a:avLst/>
              <a:gdLst/>
              <a:ahLst/>
              <a:cxnLst/>
              <a:rect l="l" t="t" r="r" b="b"/>
              <a:pathLst>
                <a:path h="297180">
                  <a:moveTo>
                    <a:pt x="0" y="2968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9337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9210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908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82610" y="2584826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297" y="2884724"/>
            <a:ext cx="3608070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Note: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only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last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percept,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whole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1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51218"/>
            <a:ext cx="4349750" cy="2264410"/>
            <a:chOff x="129196" y="451218"/>
            <a:chExt cx="4349750" cy="2264410"/>
          </a:xfrm>
        </p:grpSpPr>
        <p:sp>
          <p:nvSpPr>
            <p:cNvPr id="4" name="object 4"/>
            <p:cNvSpPr/>
            <p:nvPr/>
          </p:nvSpPr>
          <p:spPr>
            <a:xfrm>
              <a:off x="129196" y="451218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3469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78958"/>
              <a:ext cx="4349750" cy="2036445"/>
            </a:xfrm>
            <a:custGeom>
              <a:avLst/>
              <a:gdLst/>
              <a:ahLst/>
              <a:cxnLst/>
              <a:rect l="l" t="t" r="r" b="b"/>
              <a:pathLst>
                <a:path w="4349750" h="2036445">
                  <a:moveTo>
                    <a:pt x="4349657" y="0"/>
                  </a:moveTo>
                  <a:lnTo>
                    <a:pt x="0" y="0"/>
                  </a:lnTo>
                  <a:lnTo>
                    <a:pt x="0" y="1985412"/>
                  </a:lnTo>
                  <a:lnTo>
                    <a:pt x="4008" y="2005137"/>
                  </a:lnTo>
                  <a:lnTo>
                    <a:pt x="14922" y="2021290"/>
                  </a:lnTo>
                  <a:lnTo>
                    <a:pt x="31075" y="2032204"/>
                  </a:lnTo>
                  <a:lnTo>
                    <a:pt x="50800" y="2036212"/>
                  </a:lnTo>
                  <a:lnTo>
                    <a:pt x="4298856" y="2036212"/>
                  </a:lnTo>
                  <a:lnTo>
                    <a:pt x="4318581" y="2032204"/>
                  </a:lnTo>
                  <a:lnTo>
                    <a:pt x="4334734" y="2021290"/>
                  </a:lnTo>
                  <a:lnTo>
                    <a:pt x="4345648" y="2005137"/>
                  </a:lnTo>
                  <a:lnTo>
                    <a:pt x="4349657" y="198541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33531"/>
              <a:ext cx="0" cy="2150110"/>
            </a:xfrm>
            <a:custGeom>
              <a:avLst/>
              <a:gdLst/>
              <a:ahLst/>
              <a:cxnLst/>
              <a:rect l="l" t="t" r="r" b="b"/>
              <a:pathLst>
                <a:path h="2150110">
                  <a:moveTo>
                    <a:pt x="0" y="21498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208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81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954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7297" y="391272"/>
            <a:ext cx="2401570" cy="6280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335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square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dirty,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then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suck;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otherwise,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move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square.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384" y="1061954"/>
            <a:ext cx="3535217" cy="149520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9196" y="2857829"/>
            <a:ext cx="4349750" cy="417830"/>
            <a:chOff x="129196" y="2857829"/>
            <a:chExt cx="4349750" cy="417830"/>
          </a:xfrm>
        </p:grpSpPr>
        <p:sp>
          <p:nvSpPr>
            <p:cNvPr id="14" name="object 14"/>
            <p:cNvSpPr/>
            <p:nvPr/>
          </p:nvSpPr>
          <p:spPr>
            <a:xfrm>
              <a:off x="129184" y="2857830"/>
              <a:ext cx="4349750" cy="417830"/>
            </a:xfrm>
            <a:custGeom>
              <a:avLst/>
              <a:gdLst/>
              <a:ahLst/>
              <a:cxnLst/>
              <a:rect l="l" t="t" r="r" b="b"/>
              <a:pathLst>
                <a:path w="4349750" h="417829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66509"/>
                  </a:lnTo>
                  <a:lnTo>
                    <a:pt x="4013" y="386232"/>
                  </a:lnTo>
                  <a:lnTo>
                    <a:pt x="14922" y="402386"/>
                  </a:lnTo>
                  <a:lnTo>
                    <a:pt x="31076" y="413296"/>
                  </a:lnTo>
                  <a:lnTo>
                    <a:pt x="50812" y="417309"/>
                  </a:lnTo>
                  <a:lnTo>
                    <a:pt x="4298861" y="417309"/>
                  </a:lnTo>
                  <a:lnTo>
                    <a:pt x="4318584" y="413296"/>
                  </a:lnTo>
                  <a:lnTo>
                    <a:pt x="4334738" y="402386"/>
                  </a:lnTo>
                  <a:lnTo>
                    <a:pt x="4345660" y="386232"/>
                  </a:lnTo>
                  <a:lnTo>
                    <a:pt x="4349661" y="366509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78853" y="2946491"/>
              <a:ext cx="0" cy="297180"/>
            </a:xfrm>
            <a:custGeom>
              <a:avLst/>
              <a:gdLst/>
              <a:ahLst/>
              <a:cxnLst/>
              <a:rect l="l" t="t" r="r" b="b"/>
              <a:pathLst>
                <a:path h="297180">
                  <a:moveTo>
                    <a:pt x="0" y="2968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853" y="29337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9210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908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82610" y="2584826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884724"/>
            <a:ext cx="3608070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Note: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only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last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percept,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whole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46346" y="3344092"/>
            <a:ext cx="19875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5565"/>
            <a:ext cx="1281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400" spc="1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[cont.]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196" y="1086548"/>
            <a:ext cx="4349750" cy="196215"/>
          </a:xfrm>
          <a:custGeom>
            <a:avLst/>
            <a:gdLst/>
            <a:ahLst/>
            <a:cxnLst/>
            <a:rect l="l" t="t" r="r" b="b"/>
            <a:pathLst>
              <a:path w="4349750" h="196215">
                <a:moveTo>
                  <a:pt x="429885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133"/>
                </a:lnTo>
                <a:lnTo>
                  <a:pt x="4349657" y="196133"/>
                </a:lnTo>
                <a:lnTo>
                  <a:pt x="4349657" y="50800"/>
                </a:lnTo>
                <a:lnTo>
                  <a:pt x="4345648" y="31075"/>
                </a:lnTo>
                <a:lnTo>
                  <a:pt x="4334734" y="14922"/>
                </a:lnTo>
                <a:lnTo>
                  <a:pt x="4318581" y="4008"/>
                </a:lnTo>
                <a:lnTo>
                  <a:pt x="429885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297" y="1075307"/>
            <a:ext cx="1870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Corresponding</a:t>
            </a:r>
            <a:r>
              <a:rPr sz="11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196" y="1130770"/>
            <a:ext cx="4349750" cy="1197610"/>
            <a:chOff x="129196" y="1130770"/>
            <a:chExt cx="4349750" cy="11976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70025"/>
              <a:ext cx="434965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196" y="1314297"/>
              <a:ext cx="4349750" cy="1014094"/>
            </a:xfrm>
            <a:custGeom>
              <a:avLst/>
              <a:gdLst/>
              <a:ahLst/>
              <a:cxnLst/>
              <a:rect l="l" t="t" r="r" b="b"/>
              <a:pathLst>
                <a:path w="4349750" h="1014094">
                  <a:moveTo>
                    <a:pt x="4349657" y="0"/>
                  </a:moveTo>
                  <a:lnTo>
                    <a:pt x="0" y="0"/>
                  </a:lnTo>
                  <a:lnTo>
                    <a:pt x="0" y="963206"/>
                  </a:lnTo>
                  <a:lnTo>
                    <a:pt x="4008" y="982931"/>
                  </a:lnTo>
                  <a:lnTo>
                    <a:pt x="14922" y="999084"/>
                  </a:lnTo>
                  <a:lnTo>
                    <a:pt x="31075" y="1009998"/>
                  </a:lnTo>
                  <a:lnTo>
                    <a:pt x="50800" y="1014006"/>
                  </a:lnTo>
                  <a:lnTo>
                    <a:pt x="4298856" y="1014006"/>
                  </a:lnTo>
                  <a:lnTo>
                    <a:pt x="4318581" y="1009998"/>
                  </a:lnTo>
                  <a:lnTo>
                    <a:pt x="4334734" y="999084"/>
                  </a:lnTo>
                  <a:lnTo>
                    <a:pt x="4345648" y="982931"/>
                  </a:lnTo>
                  <a:lnTo>
                    <a:pt x="4349657" y="9632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68870"/>
              <a:ext cx="0" cy="1127760"/>
            </a:xfrm>
            <a:custGeom>
              <a:avLst/>
              <a:gdLst/>
              <a:ahLst/>
              <a:cxnLst/>
              <a:rect l="l" t="t" r="r" b="b"/>
              <a:pathLst>
                <a:path h="1127760">
                  <a:moveTo>
                    <a:pt x="0" y="112768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561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1434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8853" y="113077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730" y="1339615"/>
              <a:ext cx="3994624" cy="8306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82610" y="2196933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10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Task-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spc="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11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5565"/>
            <a:ext cx="11601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Main</a:t>
            </a:r>
            <a:r>
              <a:rPr sz="1400" spc="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196" y="1484502"/>
            <a:ext cx="4349750" cy="247015"/>
            <a:chOff x="129196" y="1484502"/>
            <a:chExt cx="4349750" cy="247015"/>
          </a:xfrm>
        </p:grpSpPr>
        <p:sp>
          <p:nvSpPr>
            <p:cNvPr id="4" name="object 4"/>
            <p:cNvSpPr/>
            <p:nvPr/>
          </p:nvSpPr>
          <p:spPr>
            <a:xfrm>
              <a:off x="129184" y="1484502"/>
              <a:ext cx="4349750" cy="247015"/>
            </a:xfrm>
            <a:custGeom>
              <a:avLst/>
              <a:gdLst/>
              <a:ahLst/>
              <a:cxnLst/>
              <a:rect l="l" t="t" r="r" b="b"/>
              <a:pathLst>
                <a:path w="4349750" h="247014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196088"/>
                  </a:lnTo>
                  <a:lnTo>
                    <a:pt x="4013" y="215811"/>
                  </a:lnTo>
                  <a:lnTo>
                    <a:pt x="14922" y="231965"/>
                  </a:lnTo>
                  <a:lnTo>
                    <a:pt x="31076" y="242874"/>
                  </a:lnTo>
                  <a:lnTo>
                    <a:pt x="50812" y="246888"/>
                  </a:lnTo>
                  <a:lnTo>
                    <a:pt x="4298861" y="246888"/>
                  </a:lnTo>
                  <a:lnTo>
                    <a:pt x="4318584" y="242874"/>
                  </a:lnTo>
                  <a:lnTo>
                    <a:pt x="4334738" y="231965"/>
                  </a:lnTo>
                  <a:lnTo>
                    <a:pt x="4345660" y="215811"/>
                  </a:lnTo>
                  <a:lnTo>
                    <a:pt x="4349661" y="196088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157315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15604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5477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5350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7297" y="1504885"/>
            <a:ext cx="1557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rational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i.e.,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every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entry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function-table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filled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What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right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Approximation:</a:t>
            </a:r>
            <a:r>
              <a:rPr sz="1100" spc="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most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environment,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according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it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receives,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an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 generates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actions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r>
              <a:rPr sz="1000" spc="5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causing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.</a:t>
            </a:r>
            <a:r>
              <a:rPr sz="1000" spc="50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13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What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right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Approximation:</a:t>
            </a:r>
            <a:r>
              <a:rPr sz="1100" spc="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most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environment,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according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it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receives,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an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 generates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actions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r>
              <a:rPr sz="1000" spc="5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causing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.</a:t>
            </a:r>
            <a:r>
              <a:rPr sz="1000" spc="50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Approximation:</a:t>
            </a:r>
            <a:r>
              <a:rPr sz="1100" spc="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most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environment,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according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it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receives,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an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 generates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actions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...</a:t>
            </a:r>
            <a:r>
              <a:rPr sz="1000" spc="5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causing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go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.</a:t>
            </a:r>
            <a:r>
              <a:rPr sz="1000" spc="50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according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it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receives,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an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 generates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actions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causing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go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.</a:t>
            </a:r>
            <a:r>
              <a:rPr sz="1000" spc="50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...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causing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go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.</a:t>
            </a:r>
            <a:r>
              <a:rPr sz="1000" spc="50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...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such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desirable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performed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...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desirable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performed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evaluate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any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sequence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...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desirable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performed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measure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should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400550" cy="822960"/>
            <a:chOff x="129196" y="2593009"/>
            <a:chExt cx="4400550" cy="822960"/>
          </a:xfrm>
        </p:grpSpPr>
        <p:sp>
          <p:nvSpPr>
            <p:cNvPr id="18" name="object 18"/>
            <p:cNvSpPr/>
            <p:nvPr/>
          </p:nvSpPr>
          <p:spPr>
            <a:xfrm>
              <a:off x="129196" y="2593009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1403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01339"/>
              <a:ext cx="4298856" cy="1143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643568"/>
              <a:ext cx="50800" cy="6704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96" y="2637425"/>
              <a:ext cx="4349750" cy="727710"/>
            </a:xfrm>
            <a:custGeom>
              <a:avLst/>
              <a:gdLst/>
              <a:ahLst/>
              <a:cxnLst/>
              <a:rect l="l" t="t" r="r" b="b"/>
              <a:pathLst>
                <a:path w="4349750" h="727710">
                  <a:moveTo>
                    <a:pt x="4349657" y="0"/>
                  </a:moveTo>
                  <a:lnTo>
                    <a:pt x="0" y="0"/>
                  </a:lnTo>
                  <a:lnTo>
                    <a:pt x="0" y="676614"/>
                  </a:lnTo>
                  <a:lnTo>
                    <a:pt x="4008" y="696338"/>
                  </a:lnTo>
                  <a:lnTo>
                    <a:pt x="14922" y="712491"/>
                  </a:lnTo>
                  <a:lnTo>
                    <a:pt x="31075" y="723405"/>
                  </a:lnTo>
                  <a:lnTo>
                    <a:pt x="50800" y="727414"/>
                  </a:lnTo>
                  <a:lnTo>
                    <a:pt x="4298856" y="727414"/>
                  </a:lnTo>
                  <a:lnTo>
                    <a:pt x="4318581" y="723405"/>
                  </a:lnTo>
                  <a:lnTo>
                    <a:pt x="4334734" y="712491"/>
                  </a:lnTo>
                  <a:lnTo>
                    <a:pt x="4345648" y="696338"/>
                  </a:lnTo>
                  <a:lnTo>
                    <a:pt x="4349657" y="6766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...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desirable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performed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Performance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Performance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according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what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not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”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better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than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  <a:hlinkClick r:id="rId14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105" dirty="0"/>
              <a:t> </a:t>
            </a: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2047239"/>
            <a:chOff x="129196" y="432091"/>
            <a:chExt cx="4349750" cy="2047239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2047239"/>
            </a:xfrm>
            <a:custGeom>
              <a:avLst/>
              <a:gdLst/>
              <a:ahLst/>
              <a:cxnLst/>
              <a:rect l="l" t="t" r="r" b="b"/>
              <a:pathLst>
                <a:path w="4349750" h="2047239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96147"/>
                  </a:lnTo>
                  <a:lnTo>
                    <a:pt x="4013" y="2015883"/>
                  </a:lnTo>
                  <a:lnTo>
                    <a:pt x="14922" y="2032038"/>
                  </a:lnTo>
                  <a:lnTo>
                    <a:pt x="31076" y="2042947"/>
                  </a:lnTo>
                  <a:lnTo>
                    <a:pt x="50812" y="2046960"/>
                  </a:lnTo>
                  <a:lnTo>
                    <a:pt x="4298861" y="2046960"/>
                  </a:lnTo>
                  <a:lnTo>
                    <a:pt x="4318584" y="2042947"/>
                  </a:lnTo>
                  <a:lnTo>
                    <a:pt x="4334738" y="2032038"/>
                  </a:lnTo>
                  <a:lnTo>
                    <a:pt x="4345660" y="2015883"/>
                  </a:lnTo>
                  <a:lnTo>
                    <a:pt x="4349661" y="1996147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34"/>
              <a:ext cx="0" cy="1926589"/>
            </a:xfrm>
            <a:custGeom>
              <a:avLst/>
              <a:gdLst/>
              <a:ahLst/>
              <a:cxnLst/>
              <a:rect l="l" t="t" r="r" b="b"/>
              <a:pathLst>
                <a:path h="1926589">
                  <a:moveTo>
                    <a:pt x="0" y="1926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9115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0134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9340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970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74890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26106"/>
              <a:ext cx="76809" cy="768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593009"/>
            <a:ext cx="4349750" cy="772160"/>
            <a:chOff x="129196" y="2593009"/>
            <a:chExt cx="4349750" cy="772160"/>
          </a:xfrm>
        </p:grpSpPr>
        <p:sp>
          <p:nvSpPr>
            <p:cNvPr id="18" name="object 18"/>
            <p:cNvSpPr/>
            <p:nvPr/>
          </p:nvSpPr>
          <p:spPr>
            <a:xfrm>
              <a:off x="129184" y="2593009"/>
              <a:ext cx="4349750" cy="772160"/>
            </a:xfrm>
            <a:custGeom>
              <a:avLst/>
              <a:gdLst/>
              <a:ahLst/>
              <a:cxnLst/>
              <a:rect l="l" t="t" r="r" b="b"/>
              <a:pathLst>
                <a:path w="4349750" h="77216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721042"/>
                  </a:lnTo>
                  <a:lnTo>
                    <a:pt x="4013" y="740765"/>
                  </a:lnTo>
                  <a:lnTo>
                    <a:pt x="14922" y="756920"/>
                  </a:lnTo>
                  <a:lnTo>
                    <a:pt x="31076" y="767829"/>
                  </a:lnTo>
                  <a:lnTo>
                    <a:pt x="50812" y="771842"/>
                  </a:lnTo>
                  <a:lnTo>
                    <a:pt x="4298861" y="771842"/>
                  </a:lnTo>
                  <a:lnTo>
                    <a:pt x="4318584" y="767829"/>
                  </a:lnTo>
                  <a:lnTo>
                    <a:pt x="4334738" y="756920"/>
                  </a:lnTo>
                  <a:lnTo>
                    <a:pt x="4345660" y="740765"/>
                  </a:lnTo>
                  <a:lnTo>
                    <a:pt x="4349661" y="721042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681662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6514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668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656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6435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3067405"/>
              <a:ext cx="76809" cy="7680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1904" y="427392"/>
            <a:ext cx="4239895" cy="29324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Intuition: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“does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thing”</a:t>
            </a:r>
            <a:endParaRPr sz="1100" dirty="0">
              <a:latin typeface="Arial"/>
              <a:cs typeface="Arial"/>
            </a:endParaRPr>
          </a:p>
          <a:p>
            <a:pPr marL="5816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function-table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correctly</a:t>
            </a:r>
            <a:endParaRPr sz="10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thing?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Approximation: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succesfull</a:t>
            </a:r>
            <a:r>
              <a:rPr sz="1100" spc="-1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thing:</a:t>
            </a:r>
            <a:endParaRPr sz="1100" dirty="0">
              <a:latin typeface="Arial"/>
              <a:cs typeface="Arial"/>
            </a:endParaRPr>
          </a:p>
          <a:p>
            <a:pPr marL="581660" marR="2647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according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receives,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 generates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 of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...</a:t>
            </a:r>
            <a:endParaRPr sz="1000" dirty="0">
              <a:latin typeface="Arial"/>
              <a:cs typeface="Arial"/>
            </a:endParaRPr>
          </a:p>
          <a:p>
            <a:pPr marL="5816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...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states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desirable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performed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well.</a:t>
            </a:r>
            <a:endParaRPr sz="1000" dirty="0">
              <a:latin typeface="Arial"/>
              <a:cs typeface="Arial"/>
            </a:endParaRPr>
          </a:p>
          <a:p>
            <a:pPr marL="304800" marR="347980" indent="-292735">
              <a:lnSpc>
                <a:spcPct val="102600"/>
              </a:lnSpc>
              <a:spcBef>
                <a:spcPts val="275"/>
              </a:spcBef>
            </a:pPr>
            <a:r>
              <a:rPr sz="1100" spc="10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100" i="1" spc="30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Performance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objective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Arial"/>
              <a:cs typeface="Arial"/>
            </a:endParaRPr>
          </a:p>
          <a:p>
            <a:pPr marL="27940" marR="716915">
              <a:lnSpc>
                <a:spcPct val="102600"/>
              </a:lnSpc>
            </a:pPr>
            <a:r>
              <a:rPr sz="1100" spc="-10" dirty="0">
                <a:latin typeface="Arial"/>
                <a:cs typeface="Arial"/>
              </a:rPr>
              <a:t>Performance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according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wanted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agents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should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behave</a:t>
            </a:r>
            <a:endParaRPr sz="1100" dirty="0">
              <a:latin typeface="Arial"/>
              <a:cs typeface="Arial"/>
            </a:endParaRPr>
          </a:p>
          <a:p>
            <a:pPr marL="304800" marR="7264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e.g.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how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clean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floor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100" dirty="0">
                <a:latin typeface="Arial"/>
                <a:cs typeface="Arial"/>
              </a:rPr>
              <a:t>”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than </a:t>
            </a:r>
            <a:r>
              <a:rPr sz="1100" dirty="0">
                <a:latin typeface="Arial"/>
                <a:cs typeface="Arial"/>
              </a:rPr>
              <a:t>“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amount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dirt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cleaned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within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certain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time</a:t>
            </a:r>
            <a:r>
              <a:rPr sz="1100" spc="-10" dirty="0">
                <a:latin typeface="Arial"/>
                <a:cs typeface="Arial"/>
                <a:hlinkClick r:id="rId11" action="ppaction://hlinksldjump"/>
              </a:rPr>
              <a:t>”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13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5" dirty="0"/>
              <a:t> </a:t>
            </a:r>
            <a:r>
              <a:rPr dirty="0"/>
              <a:t>Agents</a:t>
            </a:r>
            <a:r>
              <a:rPr spc="10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10374"/>
            <a:ext cx="4349750" cy="1087120"/>
            <a:chOff x="129196" y="710374"/>
            <a:chExt cx="4349750" cy="1087120"/>
          </a:xfrm>
        </p:grpSpPr>
        <p:sp>
          <p:nvSpPr>
            <p:cNvPr id="4" name="object 4"/>
            <p:cNvSpPr/>
            <p:nvPr/>
          </p:nvSpPr>
          <p:spPr>
            <a:xfrm>
              <a:off x="129184" y="710374"/>
              <a:ext cx="4349750" cy="1087120"/>
            </a:xfrm>
            <a:custGeom>
              <a:avLst/>
              <a:gdLst/>
              <a:ahLst/>
              <a:cxnLst/>
              <a:rect l="l" t="t" r="r" b="b"/>
              <a:pathLst>
                <a:path w="4349750" h="108712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036218"/>
                  </a:lnTo>
                  <a:lnTo>
                    <a:pt x="4013" y="1055954"/>
                  </a:lnTo>
                  <a:lnTo>
                    <a:pt x="14922" y="1072108"/>
                  </a:lnTo>
                  <a:lnTo>
                    <a:pt x="31076" y="1083017"/>
                  </a:lnTo>
                  <a:lnTo>
                    <a:pt x="50812" y="1087031"/>
                  </a:lnTo>
                  <a:lnTo>
                    <a:pt x="4298861" y="1087031"/>
                  </a:lnTo>
                  <a:lnTo>
                    <a:pt x="4318584" y="1083017"/>
                  </a:lnTo>
                  <a:lnTo>
                    <a:pt x="4334738" y="1072108"/>
                  </a:lnTo>
                  <a:lnTo>
                    <a:pt x="4345660" y="1055954"/>
                  </a:lnTo>
                  <a:lnTo>
                    <a:pt x="4349661" y="1036218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799030"/>
              <a:ext cx="0" cy="967105"/>
            </a:xfrm>
            <a:custGeom>
              <a:avLst/>
              <a:gdLst/>
              <a:ahLst/>
              <a:cxnLst/>
              <a:rect l="l" t="t" r="r" b="b"/>
              <a:pathLst>
                <a:path h="967105">
                  <a:moveTo>
                    <a:pt x="0" y="9666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786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73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60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1012698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22730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3276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642795"/>
              <a:ext cx="76809" cy="768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196" y="1949310"/>
            <a:ext cx="4400550" cy="994410"/>
            <a:chOff x="129196" y="1949310"/>
            <a:chExt cx="4400550" cy="994410"/>
          </a:xfrm>
        </p:grpSpPr>
        <p:sp>
          <p:nvSpPr>
            <p:cNvPr id="14" name="object 14"/>
            <p:cNvSpPr/>
            <p:nvPr/>
          </p:nvSpPr>
          <p:spPr>
            <a:xfrm>
              <a:off x="129196" y="1949310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8F8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196" y="2132787"/>
              <a:ext cx="4349657" cy="506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2841764"/>
              <a:ext cx="101600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2829064"/>
              <a:ext cx="4298856" cy="1143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1993544"/>
              <a:ext cx="50800" cy="8482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9196" y="2177061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4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BF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031634"/>
              <a:ext cx="0" cy="829310"/>
            </a:xfrm>
            <a:custGeom>
              <a:avLst/>
              <a:gdLst/>
              <a:ahLst/>
              <a:cxnLst/>
              <a:rect l="l" t="t" r="r" b="b"/>
              <a:pathLst>
                <a:path h="829310">
                  <a:moveTo>
                    <a:pt x="0" y="8291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0189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062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19935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297" y="686978"/>
            <a:ext cx="4156710" cy="21710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things:</a:t>
            </a:r>
            <a:endParaRPr sz="1100">
              <a:latin typeface="Arial"/>
              <a:cs typeface="Arial"/>
            </a:endParaRPr>
          </a:p>
          <a:p>
            <a:pPr marL="289560" marR="12700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criterion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success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prior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sensors)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E0E0F3"/>
                </a:solidFill>
                <a:latin typeface="Arial"/>
                <a:cs typeface="Arial"/>
              </a:rPr>
              <a:t>Definition </a:t>
            </a:r>
            <a:r>
              <a:rPr sz="1100" dirty="0">
                <a:solidFill>
                  <a:srgbClr val="E0E0F3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E0E0F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0E0F3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E0E0F3"/>
                </a:solidFill>
                <a:latin typeface="Arial"/>
                <a:cs typeface="Arial"/>
              </a:rPr>
              <a:t> rational</a:t>
            </a:r>
            <a:r>
              <a:rPr sz="1100" spc="-5" dirty="0">
                <a:solidFill>
                  <a:srgbClr val="E0E0F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0E0F3"/>
                </a:solidFill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10"/>
              </a:spcBef>
            </a:pP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For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each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possible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sequence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rational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should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select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action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expected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maximize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measure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, given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evidence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provided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by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whatever 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built-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knowledge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has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5" dirty="0"/>
              <a:t> </a:t>
            </a:r>
            <a:r>
              <a:rPr dirty="0"/>
              <a:t>Agents</a:t>
            </a:r>
            <a:r>
              <a:rPr spc="10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10374"/>
            <a:ext cx="4349750" cy="1087120"/>
            <a:chOff x="129196" y="710374"/>
            <a:chExt cx="4349750" cy="1087120"/>
          </a:xfrm>
        </p:grpSpPr>
        <p:sp>
          <p:nvSpPr>
            <p:cNvPr id="4" name="object 4"/>
            <p:cNvSpPr/>
            <p:nvPr/>
          </p:nvSpPr>
          <p:spPr>
            <a:xfrm>
              <a:off x="129184" y="710374"/>
              <a:ext cx="4349750" cy="1087120"/>
            </a:xfrm>
            <a:custGeom>
              <a:avLst/>
              <a:gdLst/>
              <a:ahLst/>
              <a:cxnLst/>
              <a:rect l="l" t="t" r="r" b="b"/>
              <a:pathLst>
                <a:path w="4349750" h="108712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036218"/>
                  </a:lnTo>
                  <a:lnTo>
                    <a:pt x="4013" y="1055954"/>
                  </a:lnTo>
                  <a:lnTo>
                    <a:pt x="14922" y="1072108"/>
                  </a:lnTo>
                  <a:lnTo>
                    <a:pt x="31076" y="1083017"/>
                  </a:lnTo>
                  <a:lnTo>
                    <a:pt x="50812" y="1087031"/>
                  </a:lnTo>
                  <a:lnTo>
                    <a:pt x="4298861" y="1087031"/>
                  </a:lnTo>
                  <a:lnTo>
                    <a:pt x="4318584" y="1083017"/>
                  </a:lnTo>
                  <a:lnTo>
                    <a:pt x="4334738" y="1072108"/>
                  </a:lnTo>
                  <a:lnTo>
                    <a:pt x="4345660" y="1055954"/>
                  </a:lnTo>
                  <a:lnTo>
                    <a:pt x="4349661" y="1036218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799030"/>
              <a:ext cx="0" cy="967105"/>
            </a:xfrm>
            <a:custGeom>
              <a:avLst/>
              <a:gdLst/>
              <a:ahLst/>
              <a:cxnLst/>
              <a:rect l="l" t="t" r="r" b="b"/>
              <a:pathLst>
                <a:path h="967105">
                  <a:moveTo>
                    <a:pt x="0" y="9666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786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73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60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1012698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22730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3276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642795"/>
              <a:ext cx="76809" cy="768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196" y="1949310"/>
            <a:ext cx="4349750" cy="943610"/>
            <a:chOff x="129196" y="1949310"/>
            <a:chExt cx="4349750" cy="943610"/>
          </a:xfrm>
        </p:grpSpPr>
        <p:sp>
          <p:nvSpPr>
            <p:cNvPr id="14" name="object 14"/>
            <p:cNvSpPr/>
            <p:nvPr/>
          </p:nvSpPr>
          <p:spPr>
            <a:xfrm>
              <a:off x="129196" y="1949310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196" y="2132787"/>
              <a:ext cx="4349657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196" y="2177061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4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031634"/>
              <a:ext cx="0" cy="829310"/>
            </a:xfrm>
            <a:custGeom>
              <a:avLst/>
              <a:gdLst/>
              <a:ahLst/>
              <a:cxnLst/>
              <a:rect l="l" t="t" r="r" b="b"/>
              <a:pathLst>
                <a:path h="829310">
                  <a:moveTo>
                    <a:pt x="0" y="8291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0189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0062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19935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7297" y="686978"/>
            <a:ext cx="4156710" cy="21710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things:</a:t>
            </a:r>
            <a:endParaRPr sz="1100">
              <a:latin typeface="Arial"/>
              <a:cs typeface="Arial"/>
            </a:endParaRPr>
          </a:p>
          <a:p>
            <a:pPr marL="289560" marR="12700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criterion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success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prior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sensors)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Definition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 rational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10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each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possible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sequence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select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action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expected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maximize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its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10" dirty="0">
                <a:latin typeface="Arial"/>
                <a:cs typeface="Arial"/>
              </a:rPr>
              <a:t>, 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evidence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provided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whatever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built-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0" dirty="0"/>
              <a:t> </a:t>
            </a:r>
            <a:r>
              <a:rPr dirty="0"/>
              <a:t>Agents:</a:t>
            </a:r>
            <a:r>
              <a:rPr spc="21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44677"/>
            <a:ext cx="4349750" cy="2282190"/>
            <a:chOff x="129196" y="444677"/>
            <a:chExt cx="4349750" cy="2282190"/>
          </a:xfrm>
        </p:grpSpPr>
        <p:sp>
          <p:nvSpPr>
            <p:cNvPr id="4" name="object 4"/>
            <p:cNvSpPr/>
            <p:nvPr/>
          </p:nvSpPr>
          <p:spPr>
            <a:xfrm>
              <a:off x="129196" y="444677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2497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69227"/>
              <a:ext cx="4349750" cy="2057400"/>
            </a:xfrm>
            <a:custGeom>
              <a:avLst/>
              <a:gdLst/>
              <a:ahLst/>
              <a:cxnLst/>
              <a:rect l="l" t="t" r="r" b="b"/>
              <a:pathLst>
                <a:path w="4349750" h="2057400">
                  <a:moveTo>
                    <a:pt x="4349657" y="0"/>
                  </a:moveTo>
                  <a:lnTo>
                    <a:pt x="0" y="0"/>
                  </a:lnTo>
                  <a:lnTo>
                    <a:pt x="0" y="2006547"/>
                  </a:lnTo>
                  <a:lnTo>
                    <a:pt x="4008" y="2026272"/>
                  </a:lnTo>
                  <a:lnTo>
                    <a:pt x="14922" y="2042425"/>
                  </a:lnTo>
                  <a:lnTo>
                    <a:pt x="31075" y="2053339"/>
                  </a:lnTo>
                  <a:lnTo>
                    <a:pt x="50800" y="2057348"/>
                  </a:lnTo>
                  <a:lnTo>
                    <a:pt x="4298856" y="2057348"/>
                  </a:lnTo>
                  <a:lnTo>
                    <a:pt x="4318581" y="2053339"/>
                  </a:lnTo>
                  <a:lnTo>
                    <a:pt x="4334734" y="2042425"/>
                  </a:lnTo>
                  <a:lnTo>
                    <a:pt x="4345648" y="2026272"/>
                  </a:lnTo>
                  <a:lnTo>
                    <a:pt x="4349657" y="20065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26987"/>
              <a:ext cx="0" cy="2167890"/>
            </a:xfrm>
            <a:custGeom>
              <a:avLst/>
              <a:gdLst/>
              <a:ahLst/>
              <a:cxnLst/>
              <a:rect l="l" t="t" r="r" b="b"/>
              <a:pathLst>
                <a:path h="2167890">
                  <a:moveTo>
                    <a:pt x="0" y="2167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142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15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88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2715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8902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8108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329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84756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979853"/>
              <a:ext cx="76809" cy="768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189886"/>
              <a:ext cx="76809" cy="7680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7297" y="381531"/>
            <a:ext cx="4181475" cy="231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708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vacuum-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cleaner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Under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assumptions: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1000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“geography”</a:t>
            </a:r>
            <a:r>
              <a:rPr sz="1000" dirty="0">
                <a:latin typeface="Arial"/>
                <a:cs typeface="Arial"/>
              </a:rPr>
              <a:t> known a </a:t>
            </a:r>
            <a:r>
              <a:rPr sz="1000" spc="-10" dirty="0">
                <a:latin typeface="Arial"/>
                <a:cs typeface="Arial"/>
              </a:rPr>
              <a:t>priori,</a:t>
            </a:r>
            <a:endParaRPr sz="1000">
              <a:latin typeface="Arial"/>
              <a:cs typeface="Arial"/>
            </a:endParaRPr>
          </a:p>
          <a:p>
            <a:pPr marL="601980" marR="847090" indent="-3556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Arial"/>
                <a:cs typeface="Arial"/>
              </a:rPr>
              <a:t>dirt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location</a:t>
            </a:r>
            <a:r>
              <a:rPr sz="1000" spc="-10" dirty="0">
                <a:latin typeface="Arial"/>
                <a:cs typeface="Arial"/>
              </a:rPr>
              <a:t> unknown </a:t>
            </a:r>
            <a:r>
              <a:rPr sz="1000" dirty="0">
                <a:latin typeface="Arial"/>
                <a:cs typeface="Arial"/>
              </a:rPr>
              <a:t>[clean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squares cannot become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dirty again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 marL="289560" marR="1372870">
              <a:lnSpc>
                <a:spcPts val="165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Perception: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location,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presence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C7C7D2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7C7D2"/>
                </a:solidFill>
                <a:latin typeface="Source Sans 3"/>
                <a:cs typeface="Source Sans 3"/>
              </a:rPr>
              <a:t>⇒</a:t>
            </a:r>
            <a:r>
              <a:rPr sz="1100" i="1" spc="60" dirty="0">
                <a:solidFill>
                  <a:srgbClr val="C7C7D2"/>
                </a:solidFill>
                <a:latin typeface="Source Sans 3"/>
                <a:cs typeface="Source Sans 3"/>
              </a:rPr>
              <a:t> </a:t>
            </a:r>
            <a:r>
              <a:rPr sz="1100" spc="-20" dirty="0">
                <a:solidFill>
                  <a:srgbClr val="E5CDD7"/>
                </a:solidFill>
                <a:latin typeface="Arial"/>
                <a:cs typeface="Arial"/>
              </a:rPr>
              <a:t>Yes!</a:t>
            </a:r>
            <a:r>
              <a:rPr sz="1100" spc="4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(provided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given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performence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measure)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9196" y="2859430"/>
            <a:ext cx="4400550" cy="469900"/>
            <a:chOff x="129196" y="2859430"/>
            <a:chExt cx="4400550" cy="469900"/>
          </a:xfrm>
        </p:grpSpPr>
        <p:sp>
          <p:nvSpPr>
            <p:cNvPr id="20" name="object 20"/>
            <p:cNvSpPr/>
            <p:nvPr/>
          </p:nvSpPr>
          <p:spPr>
            <a:xfrm>
              <a:off x="129196" y="28594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27590"/>
              <a:ext cx="101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14890"/>
              <a:ext cx="4298856" cy="114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910001"/>
              <a:ext cx="50800" cy="3175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9196" y="2903854"/>
              <a:ext cx="4349750" cy="374650"/>
            </a:xfrm>
            <a:custGeom>
              <a:avLst/>
              <a:gdLst/>
              <a:ahLst/>
              <a:cxnLst/>
              <a:rect l="l" t="t" r="r" b="b"/>
              <a:pathLst>
                <a:path w="4349750" h="374650">
                  <a:moveTo>
                    <a:pt x="4349657" y="0"/>
                  </a:moveTo>
                  <a:lnTo>
                    <a:pt x="0" y="0"/>
                  </a:lnTo>
                  <a:lnTo>
                    <a:pt x="0" y="323736"/>
                  </a:lnTo>
                  <a:lnTo>
                    <a:pt x="4008" y="343460"/>
                  </a:lnTo>
                  <a:lnTo>
                    <a:pt x="14922" y="359613"/>
                  </a:lnTo>
                  <a:lnTo>
                    <a:pt x="31075" y="370528"/>
                  </a:lnTo>
                  <a:lnTo>
                    <a:pt x="50800" y="374536"/>
                  </a:lnTo>
                  <a:lnTo>
                    <a:pt x="4298856" y="374536"/>
                  </a:lnTo>
                  <a:lnTo>
                    <a:pt x="4318581" y="370528"/>
                  </a:lnTo>
                  <a:lnTo>
                    <a:pt x="4334734" y="359613"/>
                  </a:lnTo>
                  <a:lnTo>
                    <a:pt x="4345648" y="343460"/>
                  </a:lnTo>
                  <a:lnTo>
                    <a:pt x="4349657" y="32373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948091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298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935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9226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9099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7297" y="2879812"/>
            <a:ext cx="42735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Beware: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penalty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each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move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given,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behaves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poorly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F8F6F6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8F6F6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F8F6F6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better</a:t>
            </a:r>
            <a:r>
              <a:rPr sz="1100" spc="-20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agent:</a:t>
            </a:r>
            <a:r>
              <a:rPr sz="1100" spc="40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do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nothing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once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it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sure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all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squares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8F6F6"/>
                </a:solidFill>
                <a:latin typeface="Arial"/>
                <a:cs typeface="Arial"/>
              </a:rPr>
              <a:t>clean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15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0" dirty="0"/>
              <a:t> </a:t>
            </a:r>
            <a:r>
              <a:rPr dirty="0"/>
              <a:t>Agents:</a:t>
            </a:r>
            <a:r>
              <a:rPr spc="21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44677"/>
            <a:ext cx="4349750" cy="2282190"/>
            <a:chOff x="129196" y="444677"/>
            <a:chExt cx="4349750" cy="2282190"/>
          </a:xfrm>
        </p:grpSpPr>
        <p:sp>
          <p:nvSpPr>
            <p:cNvPr id="4" name="object 4"/>
            <p:cNvSpPr/>
            <p:nvPr/>
          </p:nvSpPr>
          <p:spPr>
            <a:xfrm>
              <a:off x="129196" y="444677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2497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69227"/>
              <a:ext cx="4349750" cy="2057400"/>
            </a:xfrm>
            <a:custGeom>
              <a:avLst/>
              <a:gdLst/>
              <a:ahLst/>
              <a:cxnLst/>
              <a:rect l="l" t="t" r="r" b="b"/>
              <a:pathLst>
                <a:path w="4349750" h="2057400">
                  <a:moveTo>
                    <a:pt x="4349657" y="0"/>
                  </a:moveTo>
                  <a:lnTo>
                    <a:pt x="0" y="0"/>
                  </a:lnTo>
                  <a:lnTo>
                    <a:pt x="0" y="2006547"/>
                  </a:lnTo>
                  <a:lnTo>
                    <a:pt x="4008" y="2026272"/>
                  </a:lnTo>
                  <a:lnTo>
                    <a:pt x="14922" y="2042425"/>
                  </a:lnTo>
                  <a:lnTo>
                    <a:pt x="31075" y="2053339"/>
                  </a:lnTo>
                  <a:lnTo>
                    <a:pt x="50800" y="2057348"/>
                  </a:lnTo>
                  <a:lnTo>
                    <a:pt x="4298856" y="2057348"/>
                  </a:lnTo>
                  <a:lnTo>
                    <a:pt x="4318581" y="2053339"/>
                  </a:lnTo>
                  <a:lnTo>
                    <a:pt x="4334734" y="2042425"/>
                  </a:lnTo>
                  <a:lnTo>
                    <a:pt x="4345648" y="2026272"/>
                  </a:lnTo>
                  <a:lnTo>
                    <a:pt x="4349657" y="20065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26987"/>
              <a:ext cx="0" cy="2167890"/>
            </a:xfrm>
            <a:custGeom>
              <a:avLst/>
              <a:gdLst/>
              <a:ahLst/>
              <a:cxnLst/>
              <a:rect l="l" t="t" r="r" b="b"/>
              <a:pathLst>
                <a:path h="2167890">
                  <a:moveTo>
                    <a:pt x="0" y="2167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142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15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88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2715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8902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8108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329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84756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979853"/>
              <a:ext cx="76809" cy="768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189886"/>
              <a:ext cx="76809" cy="7680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7297" y="381531"/>
            <a:ext cx="4181475" cy="231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708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vacuum-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cleaner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Under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assumptions: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1000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“geography”</a:t>
            </a:r>
            <a:r>
              <a:rPr sz="1000" dirty="0">
                <a:latin typeface="Arial"/>
                <a:cs typeface="Arial"/>
              </a:rPr>
              <a:t> known a </a:t>
            </a:r>
            <a:r>
              <a:rPr sz="1000" spc="-10" dirty="0">
                <a:latin typeface="Arial"/>
                <a:cs typeface="Arial"/>
              </a:rPr>
              <a:t>priori,</a:t>
            </a:r>
            <a:endParaRPr sz="1000">
              <a:latin typeface="Arial"/>
              <a:cs typeface="Arial"/>
            </a:endParaRPr>
          </a:p>
          <a:p>
            <a:pPr marL="601980" marR="847090" indent="-3556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Arial"/>
                <a:cs typeface="Arial"/>
              </a:rPr>
              <a:t>dirt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location</a:t>
            </a:r>
            <a:r>
              <a:rPr sz="1000" spc="-10" dirty="0">
                <a:latin typeface="Arial"/>
                <a:cs typeface="Arial"/>
              </a:rPr>
              <a:t> unknown </a:t>
            </a:r>
            <a:r>
              <a:rPr sz="1000" dirty="0">
                <a:latin typeface="Arial"/>
                <a:cs typeface="Arial"/>
              </a:rPr>
              <a:t>[clean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squares cannot become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dirty again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 marL="289560" marR="1372870">
              <a:lnSpc>
                <a:spcPts val="165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Perception: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location,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presence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60" dirty="0">
                <a:latin typeface="Source Sans 3"/>
                <a:cs typeface="Source Sans 3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Yes!</a:t>
            </a:r>
            <a:r>
              <a:rPr sz="1100" spc="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(provided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measure)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9196" y="2859430"/>
            <a:ext cx="4400550" cy="469900"/>
            <a:chOff x="129196" y="2859430"/>
            <a:chExt cx="4400550" cy="469900"/>
          </a:xfrm>
        </p:grpSpPr>
        <p:sp>
          <p:nvSpPr>
            <p:cNvPr id="20" name="object 20"/>
            <p:cNvSpPr/>
            <p:nvPr/>
          </p:nvSpPr>
          <p:spPr>
            <a:xfrm>
              <a:off x="129196" y="28594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27590"/>
              <a:ext cx="101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14890"/>
              <a:ext cx="4298856" cy="114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910001"/>
              <a:ext cx="50800" cy="3175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9196" y="2903854"/>
              <a:ext cx="4349750" cy="374650"/>
            </a:xfrm>
            <a:custGeom>
              <a:avLst/>
              <a:gdLst/>
              <a:ahLst/>
              <a:cxnLst/>
              <a:rect l="l" t="t" r="r" b="b"/>
              <a:pathLst>
                <a:path w="4349750" h="374650">
                  <a:moveTo>
                    <a:pt x="4349657" y="0"/>
                  </a:moveTo>
                  <a:lnTo>
                    <a:pt x="0" y="0"/>
                  </a:lnTo>
                  <a:lnTo>
                    <a:pt x="0" y="323736"/>
                  </a:lnTo>
                  <a:lnTo>
                    <a:pt x="4008" y="343460"/>
                  </a:lnTo>
                  <a:lnTo>
                    <a:pt x="14922" y="359613"/>
                  </a:lnTo>
                  <a:lnTo>
                    <a:pt x="31075" y="370528"/>
                  </a:lnTo>
                  <a:lnTo>
                    <a:pt x="50800" y="374536"/>
                  </a:lnTo>
                  <a:lnTo>
                    <a:pt x="4298856" y="374536"/>
                  </a:lnTo>
                  <a:lnTo>
                    <a:pt x="4318581" y="370528"/>
                  </a:lnTo>
                  <a:lnTo>
                    <a:pt x="4334734" y="359613"/>
                  </a:lnTo>
                  <a:lnTo>
                    <a:pt x="4345648" y="343460"/>
                  </a:lnTo>
                  <a:lnTo>
                    <a:pt x="4349657" y="32373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948091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298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935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9226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9099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7297" y="2879812"/>
            <a:ext cx="42735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Beware: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penalty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each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move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given,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behaves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poorly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F8F6F6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8F6F6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F8F6F6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better</a:t>
            </a:r>
            <a:r>
              <a:rPr sz="1100" spc="-20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agent:</a:t>
            </a:r>
            <a:r>
              <a:rPr sz="1100" spc="40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do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nothing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once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it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sure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all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squares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8F6F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F8F6F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8F6F6"/>
                </a:solidFill>
                <a:latin typeface="Arial"/>
                <a:cs typeface="Arial"/>
              </a:rPr>
              <a:t>clean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0" dirty="0"/>
              <a:t> </a:t>
            </a:r>
            <a:r>
              <a:rPr dirty="0"/>
              <a:t>Agents:</a:t>
            </a:r>
            <a:r>
              <a:rPr spc="21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44677"/>
            <a:ext cx="4349750" cy="2282190"/>
            <a:chOff x="129196" y="444677"/>
            <a:chExt cx="4349750" cy="2282190"/>
          </a:xfrm>
        </p:grpSpPr>
        <p:sp>
          <p:nvSpPr>
            <p:cNvPr id="4" name="object 4"/>
            <p:cNvSpPr/>
            <p:nvPr/>
          </p:nvSpPr>
          <p:spPr>
            <a:xfrm>
              <a:off x="129196" y="444677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2497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69227"/>
              <a:ext cx="4349750" cy="2057400"/>
            </a:xfrm>
            <a:custGeom>
              <a:avLst/>
              <a:gdLst/>
              <a:ahLst/>
              <a:cxnLst/>
              <a:rect l="l" t="t" r="r" b="b"/>
              <a:pathLst>
                <a:path w="4349750" h="2057400">
                  <a:moveTo>
                    <a:pt x="4349657" y="0"/>
                  </a:moveTo>
                  <a:lnTo>
                    <a:pt x="0" y="0"/>
                  </a:lnTo>
                  <a:lnTo>
                    <a:pt x="0" y="2006547"/>
                  </a:lnTo>
                  <a:lnTo>
                    <a:pt x="4008" y="2026272"/>
                  </a:lnTo>
                  <a:lnTo>
                    <a:pt x="14922" y="2042425"/>
                  </a:lnTo>
                  <a:lnTo>
                    <a:pt x="31075" y="2053339"/>
                  </a:lnTo>
                  <a:lnTo>
                    <a:pt x="50800" y="2057348"/>
                  </a:lnTo>
                  <a:lnTo>
                    <a:pt x="4298856" y="2057348"/>
                  </a:lnTo>
                  <a:lnTo>
                    <a:pt x="4318581" y="2053339"/>
                  </a:lnTo>
                  <a:lnTo>
                    <a:pt x="4334734" y="2042425"/>
                  </a:lnTo>
                  <a:lnTo>
                    <a:pt x="4345648" y="2026272"/>
                  </a:lnTo>
                  <a:lnTo>
                    <a:pt x="4349657" y="20065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26987"/>
              <a:ext cx="0" cy="2167890"/>
            </a:xfrm>
            <a:custGeom>
              <a:avLst/>
              <a:gdLst/>
              <a:ahLst/>
              <a:cxnLst/>
              <a:rect l="l" t="t" r="r" b="b"/>
              <a:pathLst>
                <a:path h="2167890">
                  <a:moveTo>
                    <a:pt x="0" y="2167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142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15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88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2715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8902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8108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329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84756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979853"/>
              <a:ext cx="76809" cy="768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189886"/>
              <a:ext cx="76809" cy="7680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859430"/>
            <a:ext cx="4349750" cy="419100"/>
            <a:chOff x="129196" y="2859430"/>
            <a:chExt cx="4349750" cy="419100"/>
          </a:xfrm>
        </p:grpSpPr>
        <p:sp>
          <p:nvSpPr>
            <p:cNvPr id="19" name="object 19"/>
            <p:cNvSpPr/>
            <p:nvPr/>
          </p:nvSpPr>
          <p:spPr>
            <a:xfrm>
              <a:off x="129184" y="2859430"/>
              <a:ext cx="4349750" cy="419100"/>
            </a:xfrm>
            <a:custGeom>
              <a:avLst/>
              <a:gdLst/>
              <a:ahLst/>
              <a:cxnLst/>
              <a:rect l="l" t="t" r="r" b="b"/>
              <a:pathLst>
                <a:path w="4349750" h="41910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368160"/>
                  </a:lnTo>
                  <a:lnTo>
                    <a:pt x="4013" y="387896"/>
                  </a:lnTo>
                  <a:lnTo>
                    <a:pt x="14922" y="404050"/>
                  </a:lnTo>
                  <a:lnTo>
                    <a:pt x="31076" y="414959"/>
                  </a:lnTo>
                  <a:lnTo>
                    <a:pt x="50812" y="418973"/>
                  </a:lnTo>
                  <a:lnTo>
                    <a:pt x="4298861" y="418973"/>
                  </a:lnTo>
                  <a:lnTo>
                    <a:pt x="4318584" y="414959"/>
                  </a:lnTo>
                  <a:lnTo>
                    <a:pt x="4334738" y="404050"/>
                  </a:lnTo>
                  <a:lnTo>
                    <a:pt x="4345660" y="387896"/>
                  </a:lnTo>
                  <a:lnTo>
                    <a:pt x="4349661" y="36816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948091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298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935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9226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9099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297" y="381531"/>
            <a:ext cx="4273550" cy="286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6979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vacuum-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cleaner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Under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assumptions:</a:t>
            </a:r>
            <a:endParaRPr sz="1100">
              <a:latin typeface="Arial"/>
              <a:cs typeface="Arial"/>
            </a:endParaRPr>
          </a:p>
          <a:p>
            <a:pPr marL="289560" marR="97155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1000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“geography”</a:t>
            </a:r>
            <a:r>
              <a:rPr sz="1000" dirty="0">
                <a:latin typeface="Arial"/>
                <a:cs typeface="Arial"/>
              </a:rPr>
              <a:t> known a </a:t>
            </a:r>
            <a:r>
              <a:rPr sz="1000" spc="-10" dirty="0">
                <a:latin typeface="Arial"/>
                <a:cs typeface="Arial"/>
              </a:rPr>
              <a:t>priori,</a:t>
            </a:r>
            <a:endParaRPr sz="1000">
              <a:latin typeface="Arial"/>
              <a:cs typeface="Arial"/>
            </a:endParaRPr>
          </a:p>
          <a:p>
            <a:pPr marL="601980" marR="939165" indent="-3556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Arial"/>
                <a:cs typeface="Arial"/>
              </a:rPr>
              <a:t>dirt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location</a:t>
            </a:r>
            <a:r>
              <a:rPr sz="1000" spc="-10" dirty="0">
                <a:latin typeface="Arial"/>
                <a:cs typeface="Arial"/>
              </a:rPr>
              <a:t> unknown </a:t>
            </a:r>
            <a:r>
              <a:rPr sz="1000" dirty="0">
                <a:latin typeface="Arial"/>
                <a:cs typeface="Arial"/>
              </a:rPr>
              <a:t>[clean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squares cannot become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dirty again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 marL="289560" marR="1464945">
              <a:lnSpc>
                <a:spcPts val="165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Perception: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location,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presence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60" dirty="0">
                <a:latin typeface="Source Sans 3"/>
                <a:cs typeface="Source Sans 3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Yes!</a:t>
            </a:r>
            <a:r>
              <a:rPr sz="1100" spc="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(provided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measure)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Beware: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penalty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move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behaves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poorly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4C6C6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4C6C6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4C6C6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better</a:t>
            </a:r>
            <a:r>
              <a:rPr sz="1100" spc="-20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agent:</a:t>
            </a:r>
            <a:r>
              <a:rPr sz="1100" spc="40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do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nothing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once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it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sure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all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squares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4C6C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4C6C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4C6C6"/>
                </a:solidFill>
                <a:latin typeface="Arial"/>
                <a:cs typeface="Arial"/>
              </a:rPr>
              <a:t>clean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</a:t>
            </a:r>
            <a:r>
              <a:rPr spc="90" dirty="0"/>
              <a:t> </a:t>
            </a:r>
            <a:r>
              <a:rPr dirty="0"/>
              <a:t>Agents:</a:t>
            </a:r>
            <a:r>
              <a:rPr spc="21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44677"/>
            <a:ext cx="4349750" cy="2282190"/>
            <a:chOff x="129196" y="444677"/>
            <a:chExt cx="4349750" cy="2282190"/>
          </a:xfrm>
        </p:grpSpPr>
        <p:sp>
          <p:nvSpPr>
            <p:cNvPr id="4" name="object 4"/>
            <p:cNvSpPr/>
            <p:nvPr/>
          </p:nvSpPr>
          <p:spPr>
            <a:xfrm>
              <a:off x="129196" y="444677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2497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69227"/>
              <a:ext cx="4349750" cy="2057400"/>
            </a:xfrm>
            <a:custGeom>
              <a:avLst/>
              <a:gdLst/>
              <a:ahLst/>
              <a:cxnLst/>
              <a:rect l="l" t="t" r="r" b="b"/>
              <a:pathLst>
                <a:path w="4349750" h="2057400">
                  <a:moveTo>
                    <a:pt x="4349657" y="0"/>
                  </a:moveTo>
                  <a:lnTo>
                    <a:pt x="0" y="0"/>
                  </a:lnTo>
                  <a:lnTo>
                    <a:pt x="0" y="2006547"/>
                  </a:lnTo>
                  <a:lnTo>
                    <a:pt x="4008" y="2026272"/>
                  </a:lnTo>
                  <a:lnTo>
                    <a:pt x="14922" y="2042425"/>
                  </a:lnTo>
                  <a:lnTo>
                    <a:pt x="31075" y="2053339"/>
                  </a:lnTo>
                  <a:lnTo>
                    <a:pt x="50800" y="2057348"/>
                  </a:lnTo>
                  <a:lnTo>
                    <a:pt x="4298856" y="2057348"/>
                  </a:lnTo>
                  <a:lnTo>
                    <a:pt x="4318581" y="2053339"/>
                  </a:lnTo>
                  <a:lnTo>
                    <a:pt x="4334734" y="2042425"/>
                  </a:lnTo>
                  <a:lnTo>
                    <a:pt x="4345648" y="2026272"/>
                  </a:lnTo>
                  <a:lnTo>
                    <a:pt x="4349657" y="20065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26987"/>
              <a:ext cx="0" cy="2167890"/>
            </a:xfrm>
            <a:custGeom>
              <a:avLst/>
              <a:gdLst/>
              <a:ahLst/>
              <a:cxnLst/>
              <a:rect l="l" t="t" r="r" b="b"/>
              <a:pathLst>
                <a:path h="2167890">
                  <a:moveTo>
                    <a:pt x="0" y="2167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142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015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88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2715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89024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8108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329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84756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979853"/>
              <a:ext cx="76809" cy="768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189886"/>
              <a:ext cx="76809" cy="7680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859430"/>
            <a:ext cx="4349750" cy="419100"/>
            <a:chOff x="129196" y="2859430"/>
            <a:chExt cx="4349750" cy="419100"/>
          </a:xfrm>
        </p:grpSpPr>
        <p:sp>
          <p:nvSpPr>
            <p:cNvPr id="19" name="object 19"/>
            <p:cNvSpPr/>
            <p:nvPr/>
          </p:nvSpPr>
          <p:spPr>
            <a:xfrm>
              <a:off x="129184" y="2859430"/>
              <a:ext cx="4349750" cy="419100"/>
            </a:xfrm>
            <a:custGeom>
              <a:avLst/>
              <a:gdLst/>
              <a:ahLst/>
              <a:cxnLst/>
              <a:rect l="l" t="t" r="r" b="b"/>
              <a:pathLst>
                <a:path w="4349750" h="41910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368160"/>
                  </a:lnTo>
                  <a:lnTo>
                    <a:pt x="4013" y="387896"/>
                  </a:lnTo>
                  <a:lnTo>
                    <a:pt x="14922" y="404050"/>
                  </a:lnTo>
                  <a:lnTo>
                    <a:pt x="31076" y="414959"/>
                  </a:lnTo>
                  <a:lnTo>
                    <a:pt x="50812" y="418973"/>
                  </a:lnTo>
                  <a:lnTo>
                    <a:pt x="4298861" y="418973"/>
                  </a:lnTo>
                  <a:lnTo>
                    <a:pt x="4318584" y="414959"/>
                  </a:lnTo>
                  <a:lnTo>
                    <a:pt x="4334738" y="404050"/>
                  </a:lnTo>
                  <a:lnTo>
                    <a:pt x="4345660" y="387896"/>
                  </a:lnTo>
                  <a:lnTo>
                    <a:pt x="4349661" y="36816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948091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298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9353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9226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9099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297" y="381531"/>
            <a:ext cx="4273550" cy="286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6979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vacuum-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cleaner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 </a:t>
            </a:r>
            <a:r>
              <a:rPr sz="1100" dirty="0">
                <a:latin typeface="Arial"/>
                <a:cs typeface="Arial"/>
              </a:rPr>
              <a:t>Under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assumptions:</a:t>
            </a:r>
            <a:endParaRPr sz="1100">
              <a:latin typeface="Arial"/>
              <a:cs typeface="Arial"/>
            </a:endParaRPr>
          </a:p>
          <a:p>
            <a:pPr marL="289560" marR="97155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1000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knowledge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“geography”</a:t>
            </a:r>
            <a:r>
              <a:rPr sz="1000" dirty="0">
                <a:latin typeface="Arial"/>
                <a:cs typeface="Arial"/>
              </a:rPr>
              <a:t> known a </a:t>
            </a:r>
            <a:r>
              <a:rPr sz="1000" spc="-10" dirty="0">
                <a:latin typeface="Arial"/>
                <a:cs typeface="Arial"/>
              </a:rPr>
              <a:t>priori,</a:t>
            </a:r>
            <a:endParaRPr sz="1000">
              <a:latin typeface="Arial"/>
              <a:cs typeface="Arial"/>
            </a:endParaRPr>
          </a:p>
          <a:p>
            <a:pPr marL="601980" marR="939165" indent="-3556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Arial"/>
                <a:cs typeface="Arial"/>
              </a:rPr>
              <a:t>dirt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location</a:t>
            </a:r>
            <a:r>
              <a:rPr sz="1000" spc="-10" dirty="0">
                <a:latin typeface="Arial"/>
                <a:cs typeface="Arial"/>
              </a:rPr>
              <a:t> unknown </a:t>
            </a:r>
            <a:r>
              <a:rPr sz="1000" dirty="0">
                <a:latin typeface="Arial"/>
                <a:cs typeface="Arial"/>
              </a:rPr>
              <a:t>[clean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squares cannot become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dirty again</a:t>
            </a:r>
            <a:r>
              <a:rPr sz="1000" spc="27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 marL="289560" marR="1464945">
              <a:lnSpc>
                <a:spcPts val="165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Perception: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location,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presence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60" dirty="0">
                <a:latin typeface="Source Sans 3"/>
                <a:cs typeface="Source Sans 3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Yes!</a:t>
            </a:r>
            <a:r>
              <a:rPr sz="1100" spc="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(provided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performence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measure)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Beware: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penalty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move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given,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behaves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poorly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55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better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nothing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15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Rationality</a:t>
            </a:r>
            <a:r>
              <a:rPr spc="70" dirty="0"/>
              <a:t> </a:t>
            </a:r>
            <a:r>
              <a:rPr dirty="0"/>
              <a:t>vs.</a:t>
            </a:r>
            <a:r>
              <a:rPr spc="190" dirty="0"/>
              <a:t> </a:t>
            </a:r>
            <a:r>
              <a:rPr dirty="0"/>
              <a:t>Omniscience</a:t>
            </a:r>
            <a:r>
              <a:rPr spc="75" dirty="0"/>
              <a:t> </a:t>
            </a:r>
            <a:r>
              <a:rPr dirty="0"/>
              <a:t>vs.</a:t>
            </a:r>
            <a:r>
              <a:rPr spc="185" dirty="0"/>
              <a:t> </a:t>
            </a:r>
            <a:r>
              <a:rPr spc="-10" dirty="0"/>
              <a:t>Perfection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962"/>
            <a:ext cx="4349750" cy="1715770"/>
            <a:chOff x="129196" y="896962"/>
            <a:chExt cx="4349750" cy="1715770"/>
          </a:xfrm>
        </p:grpSpPr>
        <p:sp>
          <p:nvSpPr>
            <p:cNvPr id="4" name="object 4"/>
            <p:cNvSpPr/>
            <p:nvPr/>
          </p:nvSpPr>
          <p:spPr>
            <a:xfrm>
              <a:off x="129196" y="896962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6540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09667"/>
              <a:ext cx="4349750" cy="1503045"/>
            </a:xfrm>
            <a:custGeom>
              <a:avLst/>
              <a:gdLst/>
              <a:ahLst/>
              <a:cxnLst/>
              <a:rect l="l" t="t" r="r" b="b"/>
              <a:pathLst>
                <a:path w="4349750" h="1503045">
                  <a:moveTo>
                    <a:pt x="4349657" y="0"/>
                  </a:moveTo>
                  <a:lnTo>
                    <a:pt x="0" y="0"/>
                  </a:lnTo>
                  <a:lnTo>
                    <a:pt x="0" y="1452214"/>
                  </a:lnTo>
                  <a:lnTo>
                    <a:pt x="4008" y="1471939"/>
                  </a:lnTo>
                  <a:lnTo>
                    <a:pt x="14922" y="1488092"/>
                  </a:lnTo>
                  <a:lnTo>
                    <a:pt x="31075" y="1499006"/>
                  </a:lnTo>
                  <a:lnTo>
                    <a:pt x="50800" y="1503015"/>
                  </a:lnTo>
                  <a:lnTo>
                    <a:pt x="4298856" y="1503015"/>
                  </a:lnTo>
                  <a:lnTo>
                    <a:pt x="4318581" y="1499006"/>
                  </a:lnTo>
                  <a:lnTo>
                    <a:pt x="4334734" y="1488092"/>
                  </a:lnTo>
                  <a:lnTo>
                    <a:pt x="4345648" y="1471939"/>
                  </a:lnTo>
                  <a:lnTo>
                    <a:pt x="4349657" y="145221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274"/>
              <a:ext cx="0" cy="1602105"/>
            </a:xfrm>
            <a:custGeom>
              <a:avLst/>
              <a:gdLst/>
              <a:ahLst/>
              <a:cxnLst/>
              <a:rect l="l" t="t" r="r" b="b"/>
              <a:pathLst>
                <a:path h="1602105">
                  <a:moveTo>
                    <a:pt x="0" y="16016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5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8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1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57554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349629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5328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31796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32387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475699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C92626"/>
                </a:solidFill>
              </a:rPr>
              <a:t>Remark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92626"/>
                </a:solidFill>
              </a:rPr>
              <a:t>Rationality</a:t>
            </a:r>
            <a:r>
              <a:rPr spc="145" dirty="0">
                <a:solidFill>
                  <a:srgbClr val="C92626"/>
                </a:solidFill>
              </a:rPr>
              <a:t> </a:t>
            </a:r>
            <a:r>
              <a:rPr i="1" spc="-105" dirty="0">
                <a:solidFill>
                  <a:srgbClr val="C92626"/>
                </a:solidFill>
                <a:latin typeface="Source Sans 3"/>
                <a:cs typeface="Source Sans 3"/>
              </a:rPr>
              <a:t>/</a:t>
            </a:r>
            <a:r>
              <a:rPr spc="-105" dirty="0">
                <a:solidFill>
                  <a:srgbClr val="C92626"/>
                </a:solidFill>
                <a:latin typeface="Lucida Sans Unicode"/>
                <a:cs typeface="Lucida Sans Unicode"/>
              </a:rPr>
              <a:t>=</a:t>
            </a:r>
            <a:r>
              <a:rPr spc="105" dirty="0">
                <a:solidFill>
                  <a:srgbClr val="C92626"/>
                </a:solidFill>
                <a:latin typeface="Lucida Sans Unicode"/>
                <a:cs typeface="Lucida Sans Unicode"/>
              </a:rPr>
              <a:t> </a:t>
            </a:r>
            <a:r>
              <a:rPr spc="-10" dirty="0">
                <a:solidFill>
                  <a:srgbClr val="C92626"/>
                </a:solidFill>
              </a:rPr>
              <a:t>Omniscience</a:t>
            </a:r>
            <a:r>
              <a:rPr spc="-10" dirty="0">
                <a:solidFill>
                  <a:srgbClr val="000000"/>
                </a:solidFill>
              </a:rPr>
              <a:t>!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An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omniscient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knows</a:t>
            </a:r>
            <a:r>
              <a:rPr sz="1000" spc="-1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for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sure</a:t>
            </a:r>
            <a:r>
              <a:rPr sz="1000" spc="-1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outcome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its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actions</a:t>
            </a:r>
            <a:endParaRPr sz="1000"/>
          </a:p>
          <a:p>
            <a:pPr marL="566420">
              <a:lnSpc>
                <a:spcPts val="1195"/>
              </a:lnSpc>
            </a:pPr>
            <a:r>
              <a:rPr sz="1000" spc="95" dirty="0">
                <a:solidFill>
                  <a:srgbClr val="000000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000000"/>
                </a:solidFill>
                <a:latin typeface="Source Sans 3"/>
                <a:cs typeface="Source Sans 3"/>
              </a:rPr>
              <a:t>⇒</a:t>
            </a:r>
            <a:r>
              <a:rPr sz="1000" i="1" spc="4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000000"/>
                </a:solidFill>
              </a:rPr>
              <a:t>omniscience</a:t>
            </a:r>
            <a:r>
              <a:rPr sz="1000" spc="-3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impossible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</a:t>
            </a:r>
            <a:r>
              <a:rPr sz="1000" spc="-3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reality</a:t>
            </a:r>
            <a:endParaRPr sz="1000">
              <a:latin typeface="Source Sans 3"/>
              <a:cs typeface="Source Sans 3"/>
            </a:endParaRPr>
          </a:p>
          <a:p>
            <a:pPr marL="566420" marR="508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rational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may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only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know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“up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reasonable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confidence” </a:t>
            </a:r>
            <a:r>
              <a:rPr sz="1000" dirty="0">
                <a:solidFill>
                  <a:srgbClr val="000000"/>
                </a:solidFill>
              </a:rPr>
              <a:t>(e.g.,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when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crossing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road,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what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if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something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falling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from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plane </a:t>
            </a:r>
            <a:r>
              <a:rPr sz="1000" dirty="0">
                <a:solidFill>
                  <a:srgbClr val="000000"/>
                </a:solidFill>
              </a:rPr>
              <a:t>flattens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you?</a:t>
            </a:r>
            <a:r>
              <a:rPr sz="1000" spc="4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if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so,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would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you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considered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irrational?)</a:t>
            </a:r>
            <a:endParaRPr sz="1000"/>
          </a:p>
          <a:p>
            <a:pPr marL="289560">
              <a:lnSpc>
                <a:spcPct val="100000"/>
              </a:lnSpc>
              <a:spcBef>
                <a:spcPts val="145"/>
              </a:spcBef>
            </a:pPr>
            <a:r>
              <a:rPr spc="-10" dirty="0">
                <a:solidFill>
                  <a:srgbClr val="C92626"/>
                </a:solidFill>
              </a:rPr>
              <a:t>Rational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behaviour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not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perfect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behaviour</a:t>
            </a:r>
            <a:r>
              <a:rPr spc="-10" dirty="0">
                <a:solidFill>
                  <a:srgbClr val="000000"/>
                </a:solidFill>
              </a:rPr>
              <a:t>!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perfection</a:t>
            </a:r>
            <a:r>
              <a:rPr sz="1000" spc="-3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maximizes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actual</a:t>
            </a:r>
            <a:r>
              <a:rPr sz="1000" spc="-3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performance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(given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uncertainty)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rationality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maximizes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expected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performance</a:t>
            </a:r>
            <a:endParaRPr sz="10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16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Information</a:t>
            </a:r>
            <a:r>
              <a:rPr spc="150" dirty="0"/>
              <a:t> </a:t>
            </a:r>
            <a:r>
              <a:rPr dirty="0"/>
              <a:t>Gathering,</a:t>
            </a:r>
            <a:r>
              <a:rPr spc="155" dirty="0"/>
              <a:t> </a:t>
            </a:r>
            <a:r>
              <a:rPr dirty="0"/>
              <a:t>Learning,</a:t>
            </a:r>
            <a:r>
              <a:rPr spc="150" dirty="0"/>
              <a:t> </a:t>
            </a:r>
            <a:r>
              <a:rPr spc="-10" dirty="0"/>
              <a:t>Autonomy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8614"/>
            <a:ext cx="4349750" cy="2313305"/>
            <a:chOff x="129196" y="498614"/>
            <a:chExt cx="4349750" cy="2313305"/>
          </a:xfrm>
        </p:grpSpPr>
        <p:sp>
          <p:nvSpPr>
            <p:cNvPr id="4" name="object 4"/>
            <p:cNvSpPr/>
            <p:nvPr/>
          </p:nvSpPr>
          <p:spPr>
            <a:xfrm>
              <a:off x="129184" y="498614"/>
              <a:ext cx="4349750" cy="2313305"/>
            </a:xfrm>
            <a:custGeom>
              <a:avLst/>
              <a:gdLst/>
              <a:ahLst/>
              <a:cxnLst/>
              <a:rect l="l" t="t" r="r" b="b"/>
              <a:pathLst>
                <a:path w="4349750" h="231330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2261997"/>
                  </a:lnTo>
                  <a:lnTo>
                    <a:pt x="4013" y="2281720"/>
                  </a:lnTo>
                  <a:lnTo>
                    <a:pt x="14922" y="2297874"/>
                  </a:lnTo>
                  <a:lnTo>
                    <a:pt x="31076" y="2308783"/>
                  </a:lnTo>
                  <a:lnTo>
                    <a:pt x="50812" y="2312797"/>
                  </a:lnTo>
                  <a:lnTo>
                    <a:pt x="4298861" y="2312797"/>
                  </a:lnTo>
                  <a:lnTo>
                    <a:pt x="4318584" y="2308783"/>
                  </a:lnTo>
                  <a:lnTo>
                    <a:pt x="4334738" y="2297874"/>
                  </a:lnTo>
                  <a:lnTo>
                    <a:pt x="4345660" y="2281720"/>
                  </a:lnTo>
                  <a:lnTo>
                    <a:pt x="4349661" y="2261997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87259"/>
              <a:ext cx="0" cy="2192655"/>
            </a:xfrm>
            <a:custGeom>
              <a:avLst/>
              <a:gdLst/>
              <a:ahLst/>
              <a:cxnLst/>
              <a:rect l="l" t="t" r="r" b="b"/>
              <a:pathLst>
                <a:path h="2192655">
                  <a:moveTo>
                    <a:pt x="0" y="21923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74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618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491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780694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972769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6426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152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70155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052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20538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9744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701112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963316"/>
            <a:ext cx="4400550" cy="297815"/>
            <a:chOff x="129196" y="2963316"/>
            <a:chExt cx="4400550" cy="297815"/>
          </a:xfrm>
        </p:grpSpPr>
        <p:sp>
          <p:nvSpPr>
            <p:cNvPr id="19" name="object 19"/>
            <p:cNvSpPr/>
            <p:nvPr/>
          </p:nvSpPr>
          <p:spPr>
            <a:xfrm>
              <a:off x="129196" y="29633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3159404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3146704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3013887"/>
              <a:ext cx="50800" cy="1455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3007745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305198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3039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3026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3013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7297" y="495475"/>
            <a:ext cx="427355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556385" indent="-277495">
              <a:lnSpc>
                <a:spcPct val="113199"/>
              </a:lnSpc>
              <a:spcBef>
                <a:spcPts val="100"/>
              </a:spcBef>
            </a:pPr>
            <a:r>
              <a:rPr sz="1100" spc="-10" dirty="0">
                <a:latin typeface="Arial"/>
                <a:cs typeface="Arial"/>
              </a:rPr>
              <a:t>Rationality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Information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gathering/exploration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choice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date</a:t>
            </a:r>
            <a:endParaRPr sz="1000">
              <a:latin typeface="Arial"/>
              <a:cs typeface="Arial"/>
            </a:endParaRPr>
          </a:p>
          <a:p>
            <a:pPr marL="566420" marR="709930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needed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order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modify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future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percepts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look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both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ways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before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crossing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busy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road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5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Learning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4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agent’s</a:t>
            </a:r>
            <a:r>
              <a:rPr sz="10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prior</a:t>
            </a:r>
            <a:r>
              <a:rPr sz="10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knowledge</a:t>
            </a:r>
            <a:r>
              <a:rPr sz="10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0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incomplete</a:t>
            </a:r>
            <a:endParaRPr sz="1000">
              <a:latin typeface="Arial"/>
              <a:cs typeface="Arial"/>
            </a:endParaRPr>
          </a:p>
          <a:p>
            <a:pPr marL="566420" marR="163195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solidFill>
                  <a:srgbClr val="C7C7D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7C7D2"/>
                </a:solidFill>
                <a:latin typeface="Source Sans 3"/>
                <a:cs typeface="Source Sans 3"/>
              </a:rPr>
              <a:t>⇒</a:t>
            </a:r>
            <a:r>
              <a:rPr sz="1000" i="1" spc="70" dirty="0">
                <a:solidFill>
                  <a:srgbClr val="C7C7D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learning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from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percept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sequences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improves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&amp;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augments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it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1000" spc="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baby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learns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from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trial&amp;errors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right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movements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 walk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Being</a:t>
            </a:r>
            <a:r>
              <a:rPr sz="1100" spc="-6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Autonomous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prior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knowledge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may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partial/incorrect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or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evolving</a:t>
            </a:r>
            <a:endParaRPr sz="1000">
              <a:latin typeface="Arial"/>
              <a:cs typeface="Arial"/>
            </a:endParaRPr>
          </a:p>
          <a:p>
            <a:pPr marL="566420" marR="389255" indent="-273685">
              <a:lnSpc>
                <a:spcPts val="1200"/>
              </a:lnSpc>
              <a:spcBef>
                <a:spcPts val="35"/>
              </a:spcBef>
            </a:pPr>
            <a:r>
              <a:rPr sz="1000" spc="9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learn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compensate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for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partial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or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incorrect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prior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knowledge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child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learns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how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climb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tree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Information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gathering,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learning,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autonomy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play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essential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Information</a:t>
            </a:r>
            <a:r>
              <a:rPr spc="150" dirty="0"/>
              <a:t> </a:t>
            </a:r>
            <a:r>
              <a:rPr dirty="0"/>
              <a:t>Gathering,</a:t>
            </a:r>
            <a:r>
              <a:rPr spc="155" dirty="0"/>
              <a:t> </a:t>
            </a:r>
            <a:r>
              <a:rPr dirty="0"/>
              <a:t>Learning,</a:t>
            </a:r>
            <a:r>
              <a:rPr spc="150" dirty="0"/>
              <a:t> </a:t>
            </a:r>
            <a:r>
              <a:rPr spc="-10" dirty="0"/>
              <a:t>Autonomy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8614"/>
            <a:ext cx="4349750" cy="2313305"/>
            <a:chOff x="129196" y="498614"/>
            <a:chExt cx="4349750" cy="2313305"/>
          </a:xfrm>
        </p:grpSpPr>
        <p:sp>
          <p:nvSpPr>
            <p:cNvPr id="4" name="object 4"/>
            <p:cNvSpPr/>
            <p:nvPr/>
          </p:nvSpPr>
          <p:spPr>
            <a:xfrm>
              <a:off x="129184" y="498614"/>
              <a:ext cx="4349750" cy="2313305"/>
            </a:xfrm>
            <a:custGeom>
              <a:avLst/>
              <a:gdLst/>
              <a:ahLst/>
              <a:cxnLst/>
              <a:rect l="l" t="t" r="r" b="b"/>
              <a:pathLst>
                <a:path w="4349750" h="231330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2261997"/>
                  </a:lnTo>
                  <a:lnTo>
                    <a:pt x="4013" y="2281720"/>
                  </a:lnTo>
                  <a:lnTo>
                    <a:pt x="14922" y="2297874"/>
                  </a:lnTo>
                  <a:lnTo>
                    <a:pt x="31076" y="2308783"/>
                  </a:lnTo>
                  <a:lnTo>
                    <a:pt x="50812" y="2312797"/>
                  </a:lnTo>
                  <a:lnTo>
                    <a:pt x="4298861" y="2312797"/>
                  </a:lnTo>
                  <a:lnTo>
                    <a:pt x="4318584" y="2308783"/>
                  </a:lnTo>
                  <a:lnTo>
                    <a:pt x="4334738" y="2297874"/>
                  </a:lnTo>
                  <a:lnTo>
                    <a:pt x="4345660" y="2281720"/>
                  </a:lnTo>
                  <a:lnTo>
                    <a:pt x="4349661" y="2261997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87259"/>
              <a:ext cx="0" cy="2192655"/>
            </a:xfrm>
            <a:custGeom>
              <a:avLst/>
              <a:gdLst/>
              <a:ahLst/>
              <a:cxnLst/>
              <a:rect l="l" t="t" r="r" b="b"/>
              <a:pathLst>
                <a:path h="2192655">
                  <a:moveTo>
                    <a:pt x="0" y="21923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74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618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491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780694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972769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6426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152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70155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052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20538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9744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701112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963316"/>
            <a:ext cx="4400550" cy="297815"/>
            <a:chOff x="129196" y="2963316"/>
            <a:chExt cx="4400550" cy="297815"/>
          </a:xfrm>
        </p:grpSpPr>
        <p:sp>
          <p:nvSpPr>
            <p:cNvPr id="19" name="object 19"/>
            <p:cNvSpPr/>
            <p:nvPr/>
          </p:nvSpPr>
          <p:spPr>
            <a:xfrm>
              <a:off x="129196" y="29633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3159404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3146704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3013887"/>
              <a:ext cx="50800" cy="1455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3007745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305198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3039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3026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3013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7297" y="495475"/>
            <a:ext cx="427355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556385" indent="-277495">
              <a:lnSpc>
                <a:spcPct val="113199"/>
              </a:lnSpc>
              <a:spcBef>
                <a:spcPts val="100"/>
              </a:spcBef>
            </a:pPr>
            <a:r>
              <a:rPr sz="1100" spc="-10" dirty="0">
                <a:latin typeface="Arial"/>
                <a:cs typeface="Arial"/>
              </a:rPr>
              <a:t>Rationality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Information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gathering/exploration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choice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date</a:t>
            </a:r>
            <a:endParaRPr sz="1000">
              <a:latin typeface="Arial"/>
              <a:cs typeface="Arial"/>
            </a:endParaRPr>
          </a:p>
          <a:p>
            <a:pPr marL="566420" marR="709930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needed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order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modify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future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percepts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look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both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ways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before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crossing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busy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road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475"/>
              </a:spcBef>
            </a:pPr>
            <a:r>
              <a:rPr sz="1000" dirty="0">
                <a:latin typeface="Arial"/>
                <a:cs typeface="Arial"/>
              </a:rPr>
              <a:t>agent’s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incomplete</a:t>
            </a:r>
            <a:endParaRPr sz="1000">
              <a:latin typeface="Arial"/>
              <a:cs typeface="Arial"/>
            </a:endParaRPr>
          </a:p>
          <a:p>
            <a:pPr marL="566420" marR="163195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learning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from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sequences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improves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&amp;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augments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it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baby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learns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from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trial&amp;errors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right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movements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walk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Being</a:t>
            </a:r>
            <a:r>
              <a:rPr sz="1100" spc="-6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Autonomous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prior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knowledge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may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partial/incorrect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or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evolving</a:t>
            </a:r>
            <a:endParaRPr sz="1000">
              <a:latin typeface="Arial"/>
              <a:cs typeface="Arial"/>
            </a:endParaRPr>
          </a:p>
          <a:p>
            <a:pPr marL="566420" marR="389255" indent="-273685">
              <a:lnSpc>
                <a:spcPts val="1200"/>
              </a:lnSpc>
              <a:spcBef>
                <a:spcPts val="35"/>
              </a:spcBef>
            </a:pPr>
            <a:r>
              <a:rPr sz="1000" spc="9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learn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compensate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for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partial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or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incorrect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prior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knowledge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child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learns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how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climb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D6D2"/>
                </a:solidFill>
                <a:latin typeface="Arial"/>
                <a:cs typeface="Arial"/>
              </a:rPr>
              <a:t>tree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Information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gathering,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learning,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autonomy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play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essential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Information</a:t>
            </a:r>
            <a:r>
              <a:rPr spc="150" dirty="0"/>
              <a:t> </a:t>
            </a:r>
            <a:r>
              <a:rPr dirty="0"/>
              <a:t>Gathering,</a:t>
            </a:r>
            <a:r>
              <a:rPr spc="155" dirty="0"/>
              <a:t> </a:t>
            </a:r>
            <a:r>
              <a:rPr dirty="0"/>
              <a:t>Learning,</a:t>
            </a:r>
            <a:r>
              <a:rPr spc="150" dirty="0"/>
              <a:t> </a:t>
            </a:r>
            <a:r>
              <a:rPr spc="-10" dirty="0"/>
              <a:t>Autonomy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8614"/>
            <a:ext cx="4349750" cy="2313305"/>
            <a:chOff x="129196" y="498614"/>
            <a:chExt cx="4349750" cy="2313305"/>
          </a:xfrm>
        </p:grpSpPr>
        <p:sp>
          <p:nvSpPr>
            <p:cNvPr id="4" name="object 4"/>
            <p:cNvSpPr/>
            <p:nvPr/>
          </p:nvSpPr>
          <p:spPr>
            <a:xfrm>
              <a:off x="129184" y="498614"/>
              <a:ext cx="4349750" cy="2313305"/>
            </a:xfrm>
            <a:custGeom>
              <a:avLst/>
              <a:gdLst/>
              <a:ahLst/>
              <a:cxnLst/>
              <a:rect l="l" t="t" r="r" b="b"/>
              <a:pathLst>
                <a:path w="4349750" h="231330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2261997"/>
                  </a:lnTo>
                  <a:lnTo>
                    <a:pt x="4013" y="2281720"/>
                  </a:lnTo>
                  <a:lnTo>
                    <a:pt x="14922" y="2297874"/>
                  </a:lnTo>
                  <a:lnTo>
                    <a:pt x="31076" y="2308783"/>
                  </a:lnTo>
                  <a:lnTo>
                    <a:pt x="50812" y="2312797"/>
                  </a:lnTo>
                  <a:lnTo>
                    <a:pt x="4298861" y="2312797"/>
                  </a:lnTo>
                  <a:lnTo>
                    <a:pt x="4318584" y="2308783"/>
                  </a:lnTo>
                  <a:lnTo>
                    <a:pt x="4334738" y="2297874"/>
                  </a:lnTo>
                  <a:lnTo>
                    <a:pt x="4345660" y="2281720"/>
                  </a:lnTo>
                  <a:lnTo>
                    <a:pt x="4349661" y="2261997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87259"/>
              <a:ext cx="0" cy="2192655"/>
            </a:xfrm>
            <a:custGeom>
              <a:avLst/>
              <a:gdLst/>
              <a:ahLst/>
              <a:cxnLst/>
              <a:rect l="l" t="t" r="r" b="b"/>
              <a:pathLst>
                <a:path h="2192655">
                  <a:moveTo>
                    <a:pt x="0" y="21923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74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618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491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780694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972769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6426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152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70155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052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20538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9744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701112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963316"/>
            <a:ext cx="4400550" cy="297815"/>
            <a:chOff x="129196" y="2963316"/>
            <a:chExt cx="4400550" cy="297815"/>
          </a:xfrm>
        </p:grpSpPr>
        <p:sp>
          <p:nvSpPr>
            <p:cNvPr id="19" name="object 19"/>
            <p:cNvSpPr/>
            <p:nvPr/>
          </p:nvSpPr>
          <p:spPr>
            <a:xfrm>
              <a:off x="129196" y="29633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3159404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3146704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3013887"/>
              <a:ext cx="50800" cy="1455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3007745"/>
              <a:ext cx="4349750" cy="202565"/>
            </a:xfrm>
            <a:custGeom>
              <a:avLst/>
              <a:gdLst/>
              <a:ahLst/>
              <a:cxnLst/>
              <a:rect l="l" t="t" r="r" b="b"/>
              <a:pathLst>
                <a:path w="4349750" h="202564">
                  <a:moveTo>
                    <a:pt x="4349657" y="0"/>
                  </a:moveTo>
                  <a:lnTo>
                    <a:pt x="0" y="0"/>
                  </a:lnTo>
                  <a:lnTo>
                    <a:pt x="0" y="151659"/>
                  </a:lnTo>
                  <a:lnTo>
                    <a:pt x="4008" y="171383"/>
                  </a:lnTo>
                  <a:lnTo>
                    <a:pt x="14922" y="187536"/>
                  </a:lnTo>
                  <a:lnTo>
                    <a:pt x="31075" y="198451"/>
                  </a:lnTo>
                  <a:lnTo>
                    <a:pt x="50800" y="202459"/>
                  </a:lnTo>
                  <a:lnTo>
                    <a:pt x="4298856" y="202459"/>
                  </a:lnTo>
                  <a:lnTo>
                    <a:pt x="4318581" y="198451"/>
                  </a:lnTo>
                  <a:lnTo>
                    <a:pt x="4334734" y="187536"/>
                  </a:lnTo>
                  <a:lnTo>
                    <a:pt x="4345648" y="171383"/>
                  </a:lnTo>
                  <a:lnTo>
                    <a:pt x="4349657" y="15165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305198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3039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3026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3013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7297" y="495475"/>
            <a:ext cx="427355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556385" indent="-277495">
              <a:lnSpc>
                <a:spcPct val="113199"/>
              </a:lnSpc>
              <a:spcBef>
                <a:spcPts val="100"/>
              </a:spcBef>
            </a:pPr>
            <a:r>
              <a:rPr sz="1100" spc="-10" dirty="0">
                <a:latin typeface="Arial"/>
                <a:cs typeface="Arial"/>
              </a:rPr>
              <a:t>Rationality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Information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gathering/exploration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choice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date</a:t>
            </a:r>
            <a:endParaRPr sz="1000">
              <a:latin typeface="Arial"/>
              <a:cs typeface="Arial"/>
            </a:endParaRPr>
          </a:p>
          <a:p>
            <a:pPr marL="566420" marR="709930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needed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order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modify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future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percepts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look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both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ways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before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crossing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busy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road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475"/>
              </a:spcBef>
            </a:pPr>
            <a:r>
              <a:rPr sz="1000" dirty="0">
                <a:latin typeface="Arial"/>
                <a:cs typeface="Arial"/>
              </a:rPr>
              <a:t>agent’s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incomplete</a:t>
            </a:r>
            <a:endParaRPr sz="1000">
              <a:latin typeface="Arial"/>
              <a:cs typeface="Arial"/>
            </a:endParaRPr>
          </a:p>
          <a:p>
            <a:pPr marL="566420" marR="163195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learning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from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sequences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improves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&amp;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augments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it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baby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learns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from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trial&amp;errors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right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movements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walk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Being</a:t>
            </a:r>
            <a:r>
              <a:rPr sz="11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Autonomous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prior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partial/incorrect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evolving</a:t>
            </a:r>
            <a:endParaRPr sz="1000">
              <a:latin typeface="Arial"/>
              <a:cs typeface="Arial"/>
            </a:endParaRPr>
          </a:p>
          <a:p>
            <a:pPr marL="566420" marR="389255" indent="-273685">
              <a:lnSpc>
                <a:spcPts val="1200"/>
              </a:lnSpc>
              <a:spcBef>
                <a:spcPts val="35"/>
              </a:spcBef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learn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compensate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partial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incorrect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prior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knowledge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child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learns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how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climb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tree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Information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gathering,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learning,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autonomy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play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essential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Information</a:t>
            </a:r>
            <a:r>
              <a:rPr spc="150" dirty="0"/>
              <a:t> </a:t>
            </a:r>
            <a:r>
              <a:rPr dirty="0"/>
              <a:t>Gathering,</a:t>
            </a:r>
            <a:r>
              <a:rPr spc="155" dirty="0"/>
              <a:t> </a:t>
            </a:r>
            <a:r>
              <a:rPr dirty="0"/>
              <a:t>Learning,</a:t>
            </a:r>
            <a:r>
              <a:rPr spc="150" dirty="0"/>
              <a:t> </a:t>
            </a:r>
            <a:r>
              <a:rPr spc="-10" dirty="0"/>
              <a:t>Autonomy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8614"/>
            <a:ext cx="4349750" cy="2313305"/>
            <a:chOff x="129196" y="498614"/>
            <a:chExt cx="4349750" cy="2313305"/>
          </a:xfrm>
        </p:grpSpPr>
        <p:sp>
          <p:nvSpPr>
            <p:cNvPr id="4" name="object 4"/>
            <p:cNvSpPr/>
            <p:nvPr/>
          </p:nvSpPr>
          <p:spPr>
            <a:xfrm>
              <a:off x="129184" y="498614"/>
              <a:ext cx="4349750" cy="2313305"/>
            </a:xfrm>
            <a:custGeom>
              <a:avLst/>
              <a:gdLst/>
              <a:ahLst/>
              <a:cxnLst/>
              <a:rect l="l" t="t" r="r" b="b"/>
              <a:pathLst>
                <a:path w="4349750" h="2313305">
                  <a:moveTo>
                    <a:pt x="4349661" y="44411"/>
                  </a:moveTo>
                  <a:lnTo>
                    <a:pt x="4348353" y="44411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11"/>
                  </a:lnTo>
                  <a:lnTo>
                    <a:pt x="0" y="44411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2261997"/>
                  </a:lnTo>
                  <a:lnTo>
                    <a:pt x="4013" y="2281720"/>
                  </a:lnTo>
                  <a:lnTo>
                    <a:pt x="14922" y="2297874"/>
                  </a:lnTo>
                  <a:lnTo>
                    <a:pt x="31076" y="2308783"/>
                  </a:lnTo>
                  <a:lnTo>
                    <a:pt x="50812" y="2312797"/>
                  </a:lnTo>
                  <a:lnTo>
                    <a:pt x="4298861" y="2312797"/>
                  </a:lnTo>
                  <a:lnTo>
                    <a:pt x="4318584" y="2308783"/>
                  </a:lnTo>
                  <a:lnTo>
                    <a:pt x="4334738" y="2297874"/>
                  </a:lnTo>
                  <a:lnTo>
                    <a:pt x="4345660" y="2281720"/>
                  </a:lnTo>
                  <a:lnTo>
                    <a:pt x="4349661" y="2261997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11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87259"/>
              <a:ext cx="0" cy="2192655"/>
            </a:xfrm>
            <a:custGeom>
              <a:avLst/>
              <a:gdLst/>
              <a:ahLst/>
              <a:cxnLst/>
              <a:rect l="l" t="t" r="r" b="b"/>
              <a:pathLst>
                <a:path h="2192655">
                  <a:moveTo>
                    <a:pt x="0" y="21923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74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618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491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780694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972769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6426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152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70155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052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205380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9744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701112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963316"/>
            <a:ext cx="4349750" cy="247015"/>
            <a:chOff x="129196" y="2963316"/>
            <a:chExt cx="4349750" cy="247015"/>
          </a:xfrm>
        </p:grpSpPr>
        <p:sp>
          <p:nvSpPr>
            <p:cNvPr id="19" name="object 19"/>
            <p:cNvSpPr/>
            <p:nvPr/>
          </p:nvSpPr>
          <p:spPr>
            <a:xfrm>
              <a:off x="129184" y="2963316"/>
              <a:ext cx="4349750" cy="247015"/>
            </a:xfrm>
            <a:custGeom>
              <a:avLst/>
              <a:gdLst/>
              <a:ahLst/>
              <a:cxnLst/>
              <a:rect l="l" t="t" r="r" b="b"/>
              <a:pathLst>
                <a:path w="4349750" h="247014">
                  <a:moveTo>
                    <a:pt x="4349661" y="44437"/>
                  </a:moveTo>
                  <a:lnTo>
                    <a:pt x="4348365" y="44437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82" y="44437"/>
                  </a:lnTo>
                  <a:lnTo>
                    <a:pt x="0" y="44437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6088"/>
                  </a:lnTo>
                  <a:lnTo>
                    <a:pt x="4013" y="215823"/>
                  </a:lnTo>
                  <a:lnTo>
                    <a:pt x="14922" y="231978"/>
                  </a:lnTo>
                  <a:lnTo>
                    <a:pt x="31076" y="242887"/>
                  </a:lnTo>
                  <a:lnTo>
                    <a:pt x="50812" y="246900"/>
                  </a:lnTo>
                  <a:lnTo>
                    <a:pt x="4298861" y="246900"/>
                  </a:lnTo>
                  <a:lnTo>
                    <a:pt x="4318584" y="242887"/>
                  </a:lnTo>
                  <a:lnTo>
                    <a:pt x="4334738" y="231978"/>
                  </a:lnTo>
                  <a:lnTo>
                    <a:pt x="4345660" y="215823"/>
                  </a:lnTo>
                  <a:lnTo>
                    <a:pt x="4349661" y="196088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37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3051982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64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3039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3026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3013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297" y="495475"/>
            <a:ext cx="4273550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556385" indent="-277495">
              <a:lnSpc>
                <a:spcPct val="113199"/>
              </a:lnSpc>
              <a:spcBef>
                <a:spcPts val="100"/>
              </a:spcBef>
            </a:pPr>
            <a:r>
              <a:rPr sz="1100" spc="-10" dirty="0">
                <a:latin typeface="Arial"/>
                <a:cs typeface="Arial"/>
              </a:rPr>
              <a:t>Rationality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Information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gathering/exploration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choice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date</a:t>
            </a:r>
            <a:endParaRPr sz="1000">
              <a:latin typeface="Arial"/>
              <a:cs typeface="Arial"/>
            </a:endParaRPr>
          </a:p>
          <a:p>
            <a:pPr marL="566420" marR="709930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needed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order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modify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future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percepts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look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both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ways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before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crossing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busy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road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475"/>
              </a:spcBef>
            </a:pPr>
            <a:r>
              <a:rPr sz="1000" dirty="0">
                <a:latin typeface="Arial"/>
                <a:cs typeface="Arial"/>
              </a:rPr>
              <a:t>agent’s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incomplete</a:t>
            </a:r>
            <a:endParaRPr sz="1000">
              <a:latin typeface="Arial"/>
              <a:cs typeface="Arial"/>
            </a:endParaRPr>
          </a:p>
          <a:p>
            <a:pPr marL="566420" marR="163195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learning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from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sequences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improves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&amp;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augments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it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baby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learns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from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trial&amp;errors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right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movements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walk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Being</a:t>
            </a:r>
            <a:r>
              <a:rPr sz="11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Autonomous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prior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partial/incorrect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evolving</a:t>
            </a:r>
            <a:endParaRPr sz="1000">
              <a:latin typeface="Arial"/>
              <a:cs typeface="Arial"/>
            </a:endParaRPr>
          </a:p>
          <a:p>
            <a:pPr marL="566420" marR="389255" indent="-273685">
              <a:lnSpc>
                <a:spcPts val="1200"/>
              </a:lnSpc>
              <a:spcBef>
                <a:spcPts val="35"/>
              </a:spcBef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learn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compensate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partial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incorrect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prior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knowledge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child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learns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how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climb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tree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Information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gathering,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autonomy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play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essential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Task-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spc="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18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-65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39737"/>
            <a:ext cx="4349750" cy="1400175"/>
            <a:chOff x="129196" y="539737"/>
            <a:chExt cx="4349750" cy="1400175"/>
          </a:xfrm>
        </p:grpSpPr>
        <p:sp>
          <p:nvSpPr>
            <p:cNvPr id="4" name="object 4"/>
            <p:cNvSpPr/>
            <p:nvPr/>
          </p:nvSpPr>
          <p:spPr>
            <a:xfrm>
              <a:off x="129196" y="5397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155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5817"/>
              <a:ext cx="4349750" cy="1174115"/>
            </a:xfrm>
            <a:custGeom>
              <a:avLst/>
              <a:gdLst/>
              <a:ahLst/>
              <a:cxnLst/>
              <a:rect l="l" t="t" r="r" b="b"/>
              <a:pathLst>
                <a:path w="4349750" h="1174114">
                  <a:moveTo>
                    <a:pt x="4349657" y="0"/>
                  </a:moveTo>
                  <a:lnTo>
                    <a:pt x="0" y="0"/>
                  </a:lnTo>
                  <a:lnTo>
                    <a:pt x="0" y="1122990"/>
                  </a:lnTo>
                  <a:lnTo>
                    <a:pt x="4008" y="1142715"/>
                  </a:lnTo>
                  <a:lnTo>
                    <a:pt x="14922" y="1158868"/>
                  </a:lnTo>
                  <a:lnTo>
                    <a:pt x="31075" y="1169782"/>
                  </a:lnTo>
                  <a:lnTo>
                    <a:pt x="50800" y="1173790"/>
                  </a:lnTo>
                  <a:lnTo>
                    <a:pt x="4298856" y="1173790"/>
                  </a:lnTo>
                  <a:lnTo>
                    <a:pt x="4318581" y="1169782"/>
                  </a:lnTo>
                  <a:lnTo>
                    <a:pt x="4334734" y="1158868"/>
                  </a:lnTo>
                  <a:lnTo>
                    <a:pt x="4345648" y="1142715"/>
                  </a:lnTo>
                  <a:lnTo>
                    <a:pt x="4349657" y="11229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22052"/>
              <a:ext cx="0" cy="1285875"/>
            </a:xfrm>
            <a:custGeom>
              <a:avLst/>
              <a:gdLst/>
              <a:ahLst/>
              <a:cxnLst/>
              <a:rect l="l" t="t" r="r" b="b"/>
              <a:pathLst>
                <a:path h="1285875">
                  <a:moveTo>
                    <a:pt x="0" y="12858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093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96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83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370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00577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80617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372692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24520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67636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1828190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091537"/>
            <a:ext cx="4400550" cy="1108075"/>
            <a:chOff x="129196" y="2091537"/>
            <a:chExt cx="4400550" cy="1108075"/>
          </a:xfrm>
        </p:grpSpPr>
        <p:sp>
          <p:nvSpPr>
            <p:cNvPr id="19" name="object 19"/>
            <p:cNvSpPr/>
            <p:nvPr/>
          </p:nvSpPr>
          <p:spPr>
            <a:xfrm>
              <a:off x="129196" y="20915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7F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196" y="2273350"/>
              <a:ext cx="4349657" cy="506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3097720"/>
              <a:ext cx="101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3085020"/>
              <a:ext cx="4298856" cy="114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2135771"/>
              <a:ext cx="50800" cy="9619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9196" y="2317619"/>
              <a:ext cx="4349750" cy="831215"/>
            </a:xfrm>
            <a:custGeom>
              <a:avLst/>
              <a:gdLst/>
              <a:ahLst/>
              <a:cxnLst/>
              <a:rect l="l" t="t" r="r" b="b"/>
              <a:pathLst>
                <a:path w="4349750" h="831214">
                  <a:moveTo>
                    <a:pt x="4349657" y="0"/>
                  </a:moveTo>
                  <a:lnTo>
                    <a:pt x="0" y="0"/>
                  </a:lnTo>
                  <a:lnTo>
                    <a:pt x="0" y="780101"/>
                  </a:lnTo>
                  <a:lnTo>
                    <a:pt x="4008" y="799826"/>
                  </a:lnTo>
                  <a:lnTo>
                    <a:pt x="14922" y="815979"/>
                  </a:lnTo>
                  <a:lnTo>
                    <a:pt x="31075" y="826893"/>
                  </a:lnTo>
                  <a:lnTo>
                    <a:pt x="50800" y="830901"/>
                  </a:lnTo>
                  <a:lnTo>
                    <a:pt x="4298856" y="830901"/>
                  </a:lnTo>
                  <a:lnTo>
                    <a:pt x="4318581" y="826893"/>
                  </a:lnTo>
                  <a:lnTo>
                    <a:pt x="4334734" y="815979"/>
                  </a:lnTo>
                  <a:lnTo>
                    <a:pt x="4345648" y="799826"/>
                  </a:lnTo>
                  <a:lnTo>
                    <a:pt x="4349657" y="78010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BF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173854"/>
              <a:ext cx="0" cy="942975"/>
            </a:xfrm>
            <a:custGeom>
              <a:avLst/>
              <a:gdLst/>
              <a:ahLst/>
              <a:cxnLst/>
              <a:rect l="l" t="t" r="r" b="b"/>
              <a:pathLst>
                <a:path h="942975">
                  <a:moveTo>
                    <a:pt x="0" y="94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1611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1484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1357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365502"/>
              <a:ext cx="76809" cy="768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1010" y="2575534"/>
              <a:ext cx="76809" cy="7680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1010" y="2785567"/>
              <a:ext cx="76809" cy="768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1010" y="2995599"/>
              <a:ext cx="76809" cy="7680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7297" y="481454"/>
            <a:ext cx="4218940" cy="26339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PEAS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Description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Task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Environments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design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task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“problems”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“solutions”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Task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described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terms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four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elements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(“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PEAS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”):</a:t>
            </a:r>
            <a:endParaRPr sz="1100">
              <a:latin typeface="Arial"/>
              <a:cs typeface="Arial"/>
            </a:endParaRPr>
          </a:p>
          <a:p>
            <a:pPr marL="566420" marR="239331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erformance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measure 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nvironment</a:t>
            </a:r>
            <a:r>
              <a:rPr sz="1000" spc="50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ctuators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85"/>
              </a:lnSpc>
            </a:pP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ensors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Example:</a:t>
            </a:r>
            <a:r>
              <a:rPr sz="1100" spc="1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EBD8"/>
                </a:solidFill>
                <a:latin typeface="Arial"/>
                <a:cs typeface="Arial"/>
              </a:rPr>
              <a:t>Vacuum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BD8"/>
                </a:solidFill>
                <a:latin typeface="Arial"/>
                <a:cs typeface="Arial"/>
              </a:rPr>
              <a:t>Cleaner</a:t>
            </a:r>
            <a:endParaRPr sz="1100">
              <a:latin typeface="Arial"/>
              <a:cs typeface="Arial"/>
            </a:endParaRPr>
          </a:p>
          <a:p>
            <a:pPr marL="289560" marR="146685">
              <a:lnSpc>
                <a:spcPct val="125299"/>
              </a:lnSpc>
              <a:spcBef>
                <a:spcPts val="30"/>
              </a:spcBef>
            </a:pP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measure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point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clean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square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time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step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squares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and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possibly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dirty</a:t>
            </a:r>
            <a:endParaRPr sz="1100">
              <a:latin typeface="Arial"/>
              <a:cs typeface="Arial"/>
            </a:endParaRPr>
          </a:p>
          <a:p>
            <a:pPr marL="289560" marR="1557655">
              <a:lnSpc>
                <a:spcPct val="125299"/>
              </a:lnSpc>
            </a:pP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Actuators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move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left/right,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suck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self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location,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presence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dirt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19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-65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39737"/>
            <a:ext cx="4349750" cy="1400175"/>
            <a:chOff x="129196" y="539737"/>
            <a:chExt cx="4349750" cy="1400175"/>
          </a:xfrm>
        </p:grpSpPr>
        <p:sp>
          <p:nvSpPr>
            <p:cNvPr id="4" name="object 4"/>
            <p:cNvSpPr/>
            <p:nvPr/>
          </p:nvSpPr>
          <p:spPr>
            <a:xfrm>
              <a:off x="129196" y="5397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155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5817"/>
              <a:ext cx="4349750" cy="1174115"/>
            </a:xfrm>
            <a:custGeom>
              <a:avLst/>
              <a:gdLst/>
              <a:ahLst/>
              <a:cxnLst/>
              <a:rect l="l" t="t" r="r" b="b"/>
              <a:pathLst>
                <a:path w="4349750" h="1174114">
                  <a:moveTo>
                    <a:pt x="4349657" y="0"/>
                  </a:moveTo>
                  <a:lnTo>
                    <a:pt x="0" y="0"/>
                  </a:lnTo>
                  <a:lnTo>
                    <a:pt x="0" y="1122990"/>
                  </a:lnTo>
                  <a:lnTo>
                    <a:pt x="4008" y="1142715"/>
                  </a:lnTo>
                  <a:lnTo>
                    <a:pt x="14922" y="1158868"/>
                  </a:lnTo>
                  <a:lnTo>
                    <a:pt x="31075" y="1169782"/>
                  </a:lnTo>
                  <a:lnTo>
                    <a:pt x="50800" y="1173790"/>
                  </a:lnTo>
                  <a:lnTo>
                    <a:pt x="4298856" y="1173790"/>
                  </a:lnTo>
                  <a:lnTo>
                    <a:pt x="4318581" y="1169782"/>
                  </a:lnTo>
                  <a:lnTo>
                    <a:pt x="4334734" y="1158868"/>
                  </a:lnTo>
                  <a:lnTo>
                    <a:pt x="4345648" y="1142715"/>
                  </a:lnTo>
                  <a:lnTo>
                    <a:pt x="4349657" y="11229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22052"/>
              <a:ext cx="0" cy="1285875"/>
            </a:xfrm>
            <a:custGeom>
              <a:avLst/>
              <a:gdLst/>
              <a:ahLst/>
              <a:cxnLst/>
              <a:rect l="l" t="t" r="r" b="b"/>
              <a:pathLst>
                <a:path h="1285875">
                  <a:moveTo>
                    <a:pt x="0" y="12858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093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96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83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370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00577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80617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372692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24520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67636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1828190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091537"/>
            <a:ext cx="4400550" cy="1108075"/>
            <a:chOff x="129196" y="2091537"/>
            <a:chExt cx="4400550" cy="1108075"/>
          </a:xfrm>
        </p:grpSpPr>
        <p:sp>
          <p:nvSpPr>
            <p:cNvPr id="19" name="object 19"/>
            <p:cNvSpPr/>
            <p:nvPr/>
          </p:nvSpPr>
          <p:spPr>
            <a:xfrm>
              <a:off x="129196" y="20915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7F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196" y="2273350"/>
              <a:ext cx="4349657" cy="506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997" y="3097720"/>
              <a:ext cx="101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0797" y="3085020"/>
              <a:ext cx="4298856" cy="1143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8853" y="2135771"/>
              <a:ext cx="50800" cy="9619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9196" y="2317619"/>
              <a:ext cx="4349750" cy="831215"/>
            </a:xfrm>
            <a:custGeom>
              <a:avLst/>
              <a:gdLst/>
              <a:ahLst/>
              <a:cxnLst/>
              <a:rect l="l" t="t" r="r" b="b"/>
              <a:pathLst>
                <a:path w="4349750" h="831214">
                  <a:moveTo>
                    <a:pt x="4349657" y="0"/>
                  </a:moveTo>
                  <a:lnTo>
                    <a:pt x="0" y="0"/>
                  </a:lnTo>
                  <a:lnTo>
                    <a:pt x="0" y="780101"/>
                  </a:lnTo>
                  <a:lnTo>
                    <a:pt x="4008" y="799826"/>
                  </a:lnTo>
                  <a:lnTo>
                    <a:pt x="14922" y="815979"/>
                  </a:lnTo>
                  <a:lnTo>
                    <a:pt x="31075" y="826893"/>
                  </a:lnTo>
                  <a:lnTo>
                    <a:pt x="50800" y="830901"/>
                  </a:lnTo>
                  <a:lnTo>
                    <a:pt x="4298856" y="830901"/>
                  </a:lnTo>
                  <a:lnTo>
                    <a:pt x="4318581" y="826893"/>
                  </a:lnTo>
                  <a:lnTo>
                    <a:pt x="4334734" y="815979"/>
                  </a:lnTo>
                  <a:lnTo>
                    <a:pt x="4345648" y="799826"/>
                  </a:lnTo>
                  <a:lnTo>
                    <a:pt x="4349657" y="78010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BF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173854"/>
              <a:ext cx="0" cy="942975"/>
            </a:xfrm>
            <a:custGeom>
              <a:avLst/>
              <a:gdLst/>
              <a:ahLst/>
              <a:cxnLst/>
              <a:rect l="l" t="t" r="r" b="b"/>
              <a:pathLst>
                <a:path h="942975">
                  <a:moveTo>
                    <a:pt x="0" y="94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1611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1484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1357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365502"/>
              <a:ext cx="76809" cy="768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1010" y="2575534"/>
              <a:ext cx="76809" cy="7680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1010" y="2785567"/>
              <a:ext cx="76809" cy="768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1010" y="2995599"/>
              <a:ext cx="76809" cy="7680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7297" y="481454"/>
            <a:ext cx="4218940" cy="26339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PEAS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Description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Task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Environments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design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task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“problems”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“solutions”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z="1100" spc="-40" dirty="0">
                <a:latin typeface="Arial"/>
                <a:cs typeface="Arial"/>
              </a:rPr>
              <a:t>Task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elements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(“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PEAS</a:t>
            </a:r>
            <a:r>
              <a:rPr sz="1100" spc="-10" dirty="0">
                <a:latin typeface="Arial"/>
                <a:cs typeface="Arial"/>
              </a:rPr>
              <a:t>”):</a:t>
            </a:r>
            <a:endParaRPr sz="1100">
              <a:latin typeface="Arial"/>
              <a:cs typeface="Arial"/>
            </a:endParaRPr>
          </a:p>
          <a:p>
            <a:pPr marL="566420" marR="239331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000" dirty="0">
                <a:latin typeface="Arial"/>
                <a:cs typeface="Arial"/>
              </a:rPr>
              <a:t>erformance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measure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000" spc="-10" dirty="0">
                <a:latin typeface="Arial"/>
                <a:cs typeface="Arial"/>
              </a:rPr>
              <a:t>nvironment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ctuators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85"/>
              </a:lnSpc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000" spc="-10" dirty="0">
                <a:latin typeface="Arial"/>
                <a:cs typeface="Arial"/>
              </a:rPr>
              <a:t>ensors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Example:</a:t>
            </a:r>
            <a:r>
              <a:rPr sz="1100" spc="1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BD8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EBD8"/>
                </a:solidFill>
                <a:latin typeface="Arial"/>
                <a:cs typeface="Arial"/>
              </a:rPr>
              <a:t>Vacuum</a:t>
            </a:r>
            <a:r>
              <a:rPr sz="1100" spc="-50" dirty="0">
                <a:solidFill>
                  <a:srgbClr val="D8EB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BD8"/>
                </a:solidFill>
                <a:latin typeface="Arial"/>
                <a:cs typeface="Arial"/>
              </a:rPr>
              <a:t>Cleaner</a:t>
            </a:r>
            <a:endParaRPr sz="1100">
              <a:latin typeface="Arial"/>
              <a:cs typeface="Arial"/>
            </a:endParaRPr>
          </a:p>
          <a:p>
            <a:pPr marL="289560" marR="146685">
              <a:lnSpc>
                <a:spcPct val="125299"/>
              </a:lnSpc>
              <a:spcBef>
                <a:spcPts val="30"/>
              </a:spcBef>
            </a:pP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measure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1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point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clean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square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time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step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squares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and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possibly</a:t>
            </a:r>
            <a:r>
              <a:rPr sz="1100" spc="-4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dirty</a:t>
            </a:r>
            <a:endParaRPr sz="1100">
              <a:latin typeface="Arial"/>
              <a:cs typeface="Arial"/>
            </a:endParaRPr>
          </a:p>
          <a:p>
            <a:pPr marL="289560" marR="1557655">
              <a:lnSpc>
                <a:spcPct val="125299"/>
              </a:lnSpc>
            </a:pP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Actuators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move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left/right,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suck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self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location,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presence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dirt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19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-65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39737"/>
            <a:ext cx="4349750" cy="1400175"/>
            <a:chOff x="129196" y="539737"/>
            <a:chExt cx="4349750" cy="1400175"/>
          </a:xfrm>
        </p:grpSpPr>
        <p:sp>
          <p:nvSpPr>
            <p:cNvPr id="4" name="object 4"/>
            <p:cNvSpPr/>
            <p:nvPr/>
          </p:nvSpPr>
          <p:spPr>
            <a:xfrm>
              <a:off x="129196" y="5397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155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5817"/>
              <a:ext cx="4349750" cy="1174115"/>
            </a:xfrm>
            <a:custGeom>
              <a:avLst/>
              <a:gdLst/>
              <a:ahLst/>
              <a:cxnLst/>
              <a:rect l="l" t="t" r="r" b="b"/>
              <a:pathLst>
                <a:path w="4349750" h="1174114">
                  <a:moveTo>
                    <a:pt x="4349657" y="0"/>
                  </a:moveTo>
                  <a:lnTo>
                    <a:pt x="0" y="0"/>
                  </a:lnTo>
                  <a:lnTo>
                    <a:pt x="0" y="1122990"/>
                  </a:lnTo>
                  <a:lnTo>
                    <a:pt x="4008" y="1142715"/>
                  </a:lnTo>
                  <a:lnTo>
                    <a:pt x="14922" y="1158868"/>
                  </a:lnTo>
                  <a:lnTo>
                    <a:pt x="31075" y="1169782"/>
                  </a:lnTo>
                  <a:lnTo>
                    <a:pt x="50800" y="1173790"/>
                  </a:lnTo>
                  <a:lnTo>
                    <a:pt x="4298856" y="1173790"/>
                  </a:lnTo>
                  <a:lnTo>
                    <a:pt x="4318581" y="1169782"/>
                  </a:lnTo>
                  <a:lnTo>
                    <a:pt x="4334734" y="1158868"/>
                  </a:lnTo>
                  <a:lnTo>
                    <a:pt x="4345648" y="1142715"/>
                  </a:lnTo>
                  <a:lnTo>
                    <a:pt x="4349657" y="11229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22052"/>
              <a:ext cx="0" cy="1285875"/>
            </a:xfrm>
            <a:custGeom>
              <a:avLst/>
              <a:gdLst/>
              <a:ahLst/>
              <a:cxnLst/>
              <a:rect l="l" t="t" r="r" b="b"/>
              <a:pathLst>
                <a:path h="1285875">
                  <a:moveTo>
                    <a:pt x="0" y="12858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093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96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83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370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00577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80617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372692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524520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676362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1828190"/>
              <a:ext cx="61874" cy="6187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9196" y="2091537"/>
            <a:ext cx="4349750" cy="1057275"/>
            <a:chOff x="129196" y="2091537"/>
            <a:chExt cx="4349750" cy="1057275"/>
          </a:xfrm>
        </p:grpSpPr>
        <p:sp>
          <p:nvSpPr>
            <p:cNvPr id="19" name="object 19"/>
            <p:cNvSpPr/>
            <p:nvPr/>
          </p:nvSpPr>
          <p:spPr>
            <a:xfrm>
              <a:off x="129196" y="2091537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196" y="2273350"/>
              <a:ext cx="4349657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317619"/>
              <a:ext cx="4349750" cy="831215"/>
            </a:xfrm>
            <a:custGeom>
              <a:avLst/>
              <a:gdLst/>
              <a:ahLst/>
              <a:cxnLst/>
              <a:rect l="l" t="t" r="r" b="b"/>
              <a:pathLst>
                <a:path w="4349750" h="831214">
                  <a:moveTo>
                    <a:pt x="4349657" y="0"/>
                  </a:moveTo>
                  <a:lnTo>
                    <a:pt x="0" y="0"/>
                  </a:lnTo>
                  <a:lnTo>
                    <a:pt x="0" y="780101"/>
                  </a:lnTo>
                  <a:lnTo>
                    <a:pt x="4008" y="799826"/>
                  </a:lnTo>
                  <a:lnTo>
                    <a:pt x="14922" y="815979"/>
                  </a:lnTo>
                  <a:lnTo>
                    <a:pt x="31075" y="826893"/>
                  </a:lnTo>
                  <a:lnTo>
                    <a:pt x="50800" y="830901"/>
                  </a:lnTo>
                  <a:lnTo>
                    <a:pt x="4298856" y="830901"/>
                  </a:lnTo>
                  <a:lnTo>
                    <a:pt x="4318581" y="826893"/>
                  </a:lnTo>
                  <a:lnTo>
                    <a:pt x="4334734" y="815979"/>
                  </a:lnTo>
                  <a:lnTo>
                    <a:pt x="4345648" y="799826"/>
                  </a:lnTo>
                  <a:lnTo>
                    <a:pt x="4349657" y="78010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173854"/>
              <a:ext cx="0" cy="942975"/>
            </a:xfrm>
            <a:custGeom>
              <a:avLst/>
              <a:gdLst/>
              <a:ahLst/>
              <a:cxnLst/>
              <a:rect l="l" t="t" r="r" b="b"/>
              <a:pathLst>
                <a:path h="942975">
                  <a:moveTo>
                    <a:pt x="0" y="94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1611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1484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1357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365502"/>
              <a:ext cx="76809" cy="768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1010" y="2575534"/>
              <a:ext cx="76809" cy="768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2785567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995599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67297" y="481454"/>
            <a:ext cx="4218940" cy="26339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PEAS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Description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Task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Environments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design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task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“problems”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“solutions”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z="1100" spc="-40" dirty="0">
                <a:latin typeface="Arial"/>
                <a:cs typeface="Arial"/>
              </a:rPr>
              <a:t>Task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elements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(“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PEAS</a:t>
            </a:r>
            <a:r>
              <a:rPr sz="1100" spc="-10" dirty="0">
                <a:latin typeface="Arial"/>
                <a:cs typeface="Arial"/>
              </a:rPr>
              <a:t>”):</a:t>
            </a:r>
            <a:endParaRPr sz="1100">
              <a:latin typeface="Arial"/>
              <a:cs typeface="Arial"/>
            </a:endParaRPr>
          </a:p>
          <a:p>
            <a:pPr marL="566420" marR="239331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000" dirty="0">
                <a:latin typeface="Arial"/>
                <a:cs typeface="Arial"/>
              </a:rPr>
              <a:t>erformance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measure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000" spc="-10" dirty="0">
                <a:latin typeface="Arial"/>
                <a:cs typeface="Arial"/>
              </a:rPr>
              <a:t>nvironment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ctuators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85"/>
              </a:lnSpc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000" spc="-10" dirty="0">
                <a:latin typeface="Arial"/>
                <a:cs typeface="Arial"/>
              </a:rPr>
              <a:t>ensors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1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Simple</a:t>
            </a:r>
            <a:r>
              <a:rPr sz="1100" spc="-5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Vacuum</a:t>
            </a:r>
            <a:r>
              <a:rPr sz="1100" spc="-5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Cleaner</a:t>
            </a:r>
            <a:endParaRPr sz="1100">
              <a:latin typeface="Arial"/>
              <a:cs typeface="Arial"/>
            </a:endParaRPr>
          </a:p>
          <a:p>
            <a:pPr marL="289560" marR="146685">
              <a:lnSpc>
                <a:spcPct val="125299"/>
              </a:lnSpc>
              <a:spcBef>
                <a:spcPts val="3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step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squares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possibly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dirty</a:t>
            </a:r>
            <a:endParaRPr sz="1100">
              <a:latin typeface="Arial"/>
              <a:cs typeface="Arial"/>
            </a:endParaRPr>
          </a:p>
          <a:p>
            <a:pPr marL="289560" marR="1557655">
              <a:lnSpc>
                <a:spcPct val="125299"/>
              </a:lnSpc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left/right,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suck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location,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19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400550" cy="846455"/>
            <a:chOff x="129196" y="1991347"/>
            <a:chExt cx="4400550" cy="8464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736177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723476"/>
              <a:ext cx="4298856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035581"/>
              <a:ext cx="50800" cy="7005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C3CDE9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C3CDE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measure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3CDC3"/>
                </a:solidFill>
                <a:latin typeface="Arial"/>
                <a:cs typeface="Arial"/>
              </a:rPr>
              <a:t>safety,</a:t>
            </a:r>
            <a:r>
              <a:rPr sz="1100" spc="-4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destination,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profits,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comfort,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streets/freeways,</a:t>
            </a:r>
            <a:r>
              <a:rPr sz="1100" spc="-3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other</a:t>
            </a:r>
            <a:r>
              <a:rPr sz="1100" spc="-3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traffic,</a:t>
            </a:r>
            <a:r>
              <a:rPr sz="1100" spc="-3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pedestrians,</a:t>
            </a:r>
            <a:r>
              <a:rPr sz="1100" spc="-3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Actuators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steering,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accelerator, brake,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horn,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3CDC3"/>
                </a:solidFill>
                <a:latin typeface="Arial"/>
                <a:cs typeface="Arial"/>
              </a:rPr>
              <a:t>speaker/display,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video,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sonar,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speedometer,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engine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sensors,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GPS,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Some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goals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safety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comfort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tradeoffs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20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400550" cy="846455"/>
            <a:chOff x="129196" y="1991347"/>
            <a:chExt cx="4400550" cy="8464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736177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723476"/>
              <a:ext cx="4298856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035581"/>
              <a:ext cx="50800" cy="7005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safety,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destination,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profits,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comfort,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streets/freeways,</a:t>
            </a:r>
            <a:r>
              <a:rPr sz="1100" spc="-3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other</a:t>
            </a:r>
            <a:r>
              <a:rPr sz="1100" spc="-3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traffic,</a:t>
            </a:r>
            <a:r>
              <a:rPr sz="1100" spc="-3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pedestrians,</a:t>
            </a:r>
            <a:r>
              <a:rPr sz="1100" spc="-3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Actuators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steering,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accelerator, brake,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horn,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3CDC3"/>
                </a:solidFill>
                <a:latin typeface="Arial"/>
                <a:cs typeface="Arial"/>
              </a:rPr>
              <a:t>speaker/display,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video,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sonar,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speedometer,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engine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sensors,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GPS,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Some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goals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safety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comfort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tradeoffs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400550" cy="846455"/>
            <a:chOff x="129196" y="1991347"/>
            <a:chExt cx="4400550" cy="8464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736177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723476"/>
              <a:ext cx="4298856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035581"/>
              <a:ext cx="50800" cy="7005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safety,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destination,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profits,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comfort,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streets/freeways,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pedestrians,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Actuators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steering,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accelerator, brake,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horn,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3CDC3"/>
                </a:solidFill>
                <a:latin typeface="Arial"/>
                <a:cs typeface="Arial"/>
              </a:rPr>
              <a:t>speaker/display,</a:t>
            </a:r>
            <a:r>
              <a:rPr sz="1100" spc="-5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video,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sonar,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speedometer,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engine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sensors,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GPS,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Some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goals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safety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comfort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tradeoffs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400550" cy="846455"/>
            <a:chOff x="129196" y="1991347"/>
            <a:chExt cx="4400550" cy="8464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736177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723476"/>
              <a:ext cx="4298856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035581"/>
              <a:ext cx="50800" cy="7005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safety,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destination,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profits,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comfort,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streets/freeways,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pedestrians,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steering,</a:t>
            </a:r>
            <a:r>
              <a:rPr sz="1100" spc="-10" dirty="0">
                <a:latin typeface="Arial"/>
                <a:cs typeface="Arial"/>
              </a:rPr>
              <a:t> accelerator, brake,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horn,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speaker/display,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C3CDE9"/>
                </a:solidFill>
                <a:latin typeface="Arial"/>
                <a:cs typeface="Arial"/>
              </a:rPr>
              <a:t>Sensors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:</a:t>
            </a:r>
            <a:r>
              <a:rPr sz="1100" spc="2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video,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sonar,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3CDC3"/>
                </a:solidFill>
                <a:latin typeface="Arial"/>
                <a:cs typeface="Arial"/>
              </a:rPr>
              <a:t>speedometer,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engine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sensors,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3CDC3"/>
                </a:solidFill>
                <a:latin typeface="Arial"/>
                <a:cs typeface="Arial"/>
              </a:rPr>
              <a:t>GPS,</a:t>
            </a:r>
            <a:r>
              <a:rPr sz="1100" spc="-40" dirty="0">
                <a:solidFill>
                  <a:srgbClr val="C3CDC3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3CDC3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Some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goals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safety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comfort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tradeoffs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400550" cy="846455"/>
            <a:chOff x="129196" y="1991347"/>
            <a:chExt cx="4400550" cy="8464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97" y="2736177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97" y="2723476"/>
              <a:ext cx="4298856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853" y="2035581"/>
              <a:ext cx="50800" cy="7005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safety,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destination,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profits,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comfort,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streets/freeways,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pedestrians,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steering,</a:t>
            </a:r>
            <a:r>
              <a:rPr sz="1100" spc="-10" dirty="0">
                <a:latin typeface="Arial"/>
                <a:cs typeface="Arial"/>
              </a:rPr>
              <a:t> accelerator, brake,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horn,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speaker/display,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sonar,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speedometer,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engine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GPS,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Some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goals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measured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e.g.</a:t>
            </a:r>
            <a:r>
              <a:rPr sz="1100" spc="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safety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comfort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,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tradeoffs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Task</a:t>
            </a:r>
            <a:r>
              <a:rPr spc="40" dirty="0"/>
              <a:t> </a:t>
            </a:r>
            <a:r>
              <a:rPr dirty="0"/>
              <a:t>Environments</a:t>
            </a:r>
            <a:r>
              <a:rPr spc="40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80770"/>
            <a:ext cx="4349750" cy="1059180"/>
            <a:chOff x="129196" y="780770"/>
            <a:chExt cx="4349750" cy="1059180"/>
          </a:xfrm>
        </p:grpSpPr>
        <p:sp>
          <p:nvSpPr>
            <p:cNvPr id="4" name="object 4"/>
            <p:cNvSpPr/>
            <p:nvPr/>
          </p:nvSpPr>
          <p:spPr>
            <a:xfrm>
              <a:off x="129196" y="780770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62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0685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63088"/>
              <a:ext cx="0" cy="944880"/>
            </a:xfrm>
            <a:custGeom>
              <a:avLst/>
              <a:gdLst/>
              <a:ahLst/>
              <a:cxnLst/>
              <a:rect l="l" t="t" r="r" b="b"/>
              <a:pathLst>
                <a:path h="944880">
                  <a:moveTo>
                    <a:pt x="0" y="9445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503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376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2498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5473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26476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80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684832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1991347"/>
            <a:ext cx="4349750" cy="795655"/>
            <a:chOff x="129196" y="1991347"/>
            <a:chExt cx="4349750" cy="795655"/>
          </a:xfrm>
        </p:grpSpPr>
        <p:sp>
          <p:nvSpPr>
            <p:cNvPr id="16" name="object 16"/>
            <p:cNvSpPr/>
            <p:nvPr/>
          </p:nvSpPr>
          <p:spPr>
            <a:xfrm>
              <a:off x="129196" y="199134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196" y="2159787"/>
              <a:ext cx="4349657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9196" y="2204069"/>
              <a:ext cx="4349750" cy="582930"/>
            </a:xfrm>
            <a:custGeom>
              <a:avLst/>
              <a:gdLst/>
              <a:ahLst/>
              <a:cxnLst/>
              <a:rect l="l" t="t" r="r" b="b"/>
              <a:pathLst>
                <a:path w="4349750" h="582930">
                  <a:moveTo>
                    <a:pt x="4349657" y="0"/>
                  </a:moveTo>
                  <a:lnTo>
                    <a:pt x="0" y="0"/>
                  </a:lnTo>
                  <a:lnTo>
                    <a:pt x="0" y="532108"/>
                  </a:lnTo>
                  <a:lnTo>
                    <a:pt x="4008" y="551832"/>
                  </a:lnTo>
                  <a:lnTo>
                    <a:pt x="14922" y="567985"/>
                  </a:lnTo>
                  <a:lnTo>
                    <a:pt x="31075" y="578899"/>
                  </a:lnTo>
                  <a:lnTo>
                    <a:pt x="50800" y="582908"/>
                  </a:lnTo>
                  <a:lnTo>
                    <a:pt x="4298856" y="582908"/>
                  </a:lnTo>
                  <a:lnTo>
                    <a:pt x="4318581" y="578899"/>
                  </a:lnTo>
                  <a:lnTo>
                    <a:pt x="4334734" y="567985"/>
                  </a:lnTo>
                  <a:lnTo>
                    <a:pt x="4345648" y="551832"/>
                  </a:lnTo>
                  <a:lnTo>
                    <a:pt x="4349657" y="532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073675"/>
              <a:ext cx="0" cy="681990"/>
            </a:xfrm>
            <a:custGeom>
              <a:avLst/>
              <a:gdLst/>
              <a:ahLst/>
              <a:cxnLst/>
              <a:rect l="l" t="t" r="r" b="b"/>
              <a:pathLst>
                <a:path h="681989">
                  <a:moveTo>
                    <a:pt x="0" y="681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060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04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3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461971"/>
              <a:ext cx="76809" cy="7680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7297" y="722488"/>
            <a:ext cx="4209415" cy="20313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Complex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7F00"/>
                </a:solidFill>
                <a:latin typeface="Arial"/>
                <a:cs typeface="Arial"/>
              </a:rPr>
              <a:t>Example:</a:t>
            </a:r>
            <a:r>
              <a:rPr sz="1100" spc="2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Autonomous</a:t>
            </a:r>
            <a:r>
              <a:rPr sz="1100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Arial"/>
                <a:cs typeface="Arial"/>
              </a:rPr>
              <a:t>Taxi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2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safety,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destination,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profits,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comfort,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streets/freeways,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pedestrians,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Actuators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steering,</a:t>
            </a:r>
            <a:r>
              <a:rPr sz="1100" spc="-10" dirty="0">
                <a:latin typeface="Arial"/>
                <a:cs typeface="Arial"/>
              </a:rPr>
              <a:t> accelerator, brake,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horn,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speaker/display,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Sensors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video,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sonar,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speedometer,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engine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GPS,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dirty="0">
                <a:latin typeface="Arial"/>
                <a:cs typeface="Arial"/>
              </a:rPr>
              <a:t>Some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goals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conflict!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e.g.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safety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profits</a:t>
            </a:r>
            <a:r>
              <a:rPr sz="1100" spc="-3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comfort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55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tradeoffs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required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20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5565"/>
            <a:ext cx="2472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Task</a:t>
            </a:r>
            <a:r>
              <a:rPr sz="14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Environments:</a:t>
            </a:r>
            <a:r>
              <a:rPr sz="14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694" y="414864"/>
            <a:ext cx="3480692" cy="27821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82610" y="3223652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21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Task-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Task</a:t>
            </a:r>
            <a:r>
              <a:rPr spc="50" dirty="0"/>
              <a:t> </a:t>
            </a:r>
            <a:r>
              <a:rPr spc="-1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93393"/>
            <a:ext cx="4349750" cy="1475105"/>
            <a:chOff x="129196" y="993393"/>
            <a:chExt cx="4349750" cy="1475105"/>
          </a:xfrm>
        </p:grpSpPr>
        <p:sp>
          <p:nvSpPr>
            <p:cNvPr id="4" name="object 4"/>
            <p:cNvSpPr/>
            <p:nvPr/>
          </p:nvSpPr>
          <p:spPr>
            <a:xfrm>
              <a:off x="129184" y="993393"/>
              <a:ext cx="4349750" cy="1475105"/>
            </a:xfrm>
            <a:custGeom>
              <a:avLst/>
              <a:gdLst/>
              <a:ahLst/>
              <a:cxnLst/>
              <a:rect l="l" t="t" r="r" b="b"/>
              <a:pathLst>
                <a:path w="4349750" h="1475105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1423860"/>
                  </a:lnTo>
                  <a:lnTo>
                    <a:pt x="4013" y="1443583"/>
                  </a:lnTo>
                  <a:lnTo>
                    <a:pt x="14922" y="1459738"/>
                  </a:lnTo>
                  <a:lnTo>
                    <a:pt x="31076" y="1470647"/>
                  </a:lnTo>
                  <a:lnTo>
                    <a:pt x="50812" y="1474660"/>
                  </a:lnTo>
                  <a:lnTo>
                    <a:pt x="4298861" y="1474660"/>
                  </a:lnTo>
                  <a:lnTo>
                    <a:pt x="4318584" y="1470647"/>
                  </a:lnTo>
                  <a:lnTo>
                    <a:pt x="4334738" y="1459738"/>
                  </a:lnTo>
                  <a:lnTo>
                    <a:pt x="4345660" y="1443583"/>
                  </a:lnTo>
                  <a:lnTo>
                    <a:pt x="4349661" y="1423860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1082030"/>
              <a:ext cx="0" cy="1354455"/>
            </a:xfrm>
            <a:custGeom>
              <a:avLst/>
              <a:gdLst/>
              <a:ahLst/>
              <a:cxnLst/>
              <a:rect l="l" t="t" r="r" b="b"/>
              <a:pathLst>
                <a:path h="1354455">
                  <a:moveTo>
                    <a:pt x="0" y="13542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1069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56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043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1292529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502562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71259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2262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3266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342692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966810"/>
            <a:ext cx="3748404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latin typeface="Arial"/>
                <a:cs typeface="Arial"/>
              </a:rPr>
              <a:t>Task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categorized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along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dimensions: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Fully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observable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partially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 marR="1727835">
              <a:lnSpc>
                <a:spcPct val="125299"/>
              </a:lnSpc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multi-agent Deterministic</a:t>
            </a:r>
            <a:r>
              <a:rPr sz="11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stochastic Episodic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sequential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Static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dynamic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Discrete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continuous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23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798753"/>
            <a:ext cx="4349750" cy="1961514"/>
            <a:chOff x="129196" y="798753"/>
            <a:chExt cx="4349750" cy="1961514"/>
          </a:xfrm>
        </p:grpSpPr>
        <p:sp>
          <p:nvSpPr>
            <p:cNvPr id="4" name="object 4"/>
            <p:cNvSpPr/>
            <p:nvPr/>
          </p:nvSpPr>
          <p:spPr>
            <a:xfrm>
              <a:off x="129196" y="798753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7737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21647"/>
              <a:ext cx="4349750" cy="1738630"/>
            </a:xfrm>
            <a:custGeom>
              <a:avLst/>
              <a:gdLst/>
              <a:ahLst/>
              <a:cxnLst/>
              <a:rect l="l" t="t" r="r" b="b"/>
              <a:pathLst>
                <a:path w="4349750" h="1738630">
                  <a:moveTo>
                    <a:pt x="4349657" y="0"/>
                  </a:moveTo>
                  <a:lnTo>
                    <a:pt x="0" y="0"/>
                  </a:lnTo>
                  <a:lnTo>
                    <a:pt x="0" y="1687555"/>
                  </a:lnTo>
                  <a:lnTo>
                    <a:pt x="4008" y="1707279"/>
                  </a:lnTo>
                  <a:lnTo>
                    <a:pt x="14922" y="1723432"/>
                  </a:lnTo>
                  <a:lnTo>
                    <a:pt x="31075" y="1734347"/>
                  </a:lnTo>
                  <a:lnTo>
                    <a:pt x="50800" y="1738355"/>
                  </a:lnTo>
                  <a:lnTo>
                    <a:pt x="4298856" y="1738355"/>
                  </a:lnTo>
                  <a:lnTo>
                    <a:pt x="4318581" y="1734347"/>
                  </a:lnTo>
                  <a:lnTo>
                    <a:pt x="4334734" y="1723432"/>
                  </a:lnTo>
                  <a:lnTo>
                    <a:pt x="4345648" y="1707279"/>
                  </a:lnTo>
                  <a:lnTo>
                    <a:pt x="4349657" y="168755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81069"/>
              <a:ext cx="0" cy="1847214"/>
            </a:xfrm>
            <a:custGeom>
              <a:avLst/>
              <a:gdLst/>
              <a:ahLst/>
              <a:cxnLst/>
              <a:rect l="l" t="t" r="r" b="b"/>
              <a:pathLst>
                <a:path h="1847214">
                  <a:moveTo>
                    <a:pt x="0" y="18471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683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556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429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6953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58550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73733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1218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263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256091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430945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623020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94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Fully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partially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</a:p>
          <a:p>
            <a:pPr marL="289560" marR="15240">
              <a:lnSpc>
                <a:spcPct val="102699"/>
              </a:lnSpc>
              <a:spcBef>
                <a:spcPts val="325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0" dirty="0">
                <a:solidFill>
                  <a:srgbClr val="000000"/>
                </a:solidFill>
              </a:rPr>
              <a:t> 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(effectively)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0" dirty="0">
                <a:solidFill>
                  <a:srgbClr val="000000"/>
                </a:solidFill>
              </a:rPr>
              <a:t> sensors </a:t>
            </a:r>
            <a:r>
              <a:rPr dirty="0">
                <a:solidFill>
                  <a:srgbClr val="000000"/>
                </a:solidFill>
              </a:rPr>
              <a:t>detect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complete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state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environment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pc="-10" dirty="0">
              <a:solidFill>
                <a:srgbClr val="C92626"/>
              </a:solidFill>
            </a:endParaRPr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C7C7D2"/>
                </a:solidFill>
              </a:rPr>
              <a:t>”relevant”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depends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on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performance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measure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C7C7D2"/>
                </a:solidFill>
              </a:rPr>
              <a:t>no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need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to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maintain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internal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state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to</a:t>
            </a:r>
            <a:r>
              <a:rPr sz="1000" spc="-1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keep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track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environment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C7C7D2"/>
                </a:solidFill>
              </a:rPr>
              <a:t>A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4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may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F8"/>
                </a:solidFill>
              </a:rPr>
              <a:t>partially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observable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(Ex:</a:t>
            </a:r>
            <a:r>
              <a:rPr spc="50" dirty="0">
                <a:solidFill>
                  <a:srgbClr val="C7C7D2"/>
                </a:solidFill>
              </a:rPr>
              <a:t> </a:t>
            </a:r>
            <a:r>
              <a:rPr spc="-45" dirty="0">
                <a:solidFill>
                  <a:srgbClr val="C7D6D2"/>
                </a:solidFill>
              </a:rPr>
              <a:t>Taxi</a:t>
            </a:r>
            <a:r>
              <a:rPr spc="-20" dirty="0">
                <a:solidFill>
                  <a:srgbClr val="C7D6D2"/>
                </a:solidFill>
              </a:rPr>
              <a:t> </a:t>
            </a:r>
            <a:r>
              <a:rPr spc="-10" dirty="0">
                <a:solidFill>
                  <a:srgbClr val="C7D6D2"/>
                </a:solidFill>
              </a:rPr>
              <a:t>driving</a:t>
            </a:r>
            <a:r>
              <a:rPr spc="-10" dirty="0">
                <a:solidFill>
                  <a:srgbClr val="C7C7D2"/>
                </a:solidFill>
              </a:rPr>
              <a:t>):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noisy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inaccurate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sensors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C7C7D2"/>
                </a:solidFill>
              </a:rPr>
              <a:t>parts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state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are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not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accessible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for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sensors</a:t>
            </a:r>
            <a:endParaRPr sz="1000"/>
          </a:p>
          <a:p>
            <a:pPr marL="289560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C7C7D2"/>
                </a:solidFill>
              </a:rPr>
              <a:t>A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4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might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even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unobservable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(no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sensors)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e.g.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fully-</a:t>
            </a:r>
            <a:r>
              <a:rPr sz="1000" dirty="0">
                <a:solidFill>
                  <a:srgbClr val="C7C7D2"/>
                </a:solidFill>
              </a:rPr>
              <a:t>deterministic</a:t>
            </a:r>
            <a:r>
              <a:rPr sz="1000" spc="-10" dirty="0">
                <a:solidFill>
                  <a:srgbClr val="C7C7D2"/>
                </a:solidFill>
              </a:rPr>
              <a:t> actions</a:t>
            </a:r>
            <a:endParaRPr sz="10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06856"/>
            <a:ext cx="4349750" cy="1941195"/>
            <a:chOff x="129196" y="806856"/>
            <a:chExt cx="4349750" cy="1941195"/>
          </a:xfrm>
        </p:grpSpPr>
        <p:sp>
          <p:nvSpPr>
            <p:cNvPr id="4" name="object 4"/>
            <p:cNvSpPr/>
            <p:nvPr/>
          </p:nvSpPr>
          <p:spPr>
            <a:xfrm>
              <a:off x="129196" y="806856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85482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29737"/>
              <a:ext cx="4349750" cy="1718310"/>
            </a:xfrm>
            <a:custGeom>
              <a:avLst/>
              <a:gdLst/>
              <a:ahLst/>
              <a:cxnLst/>
              <a:rect l="l" t="t" r="r" b="b"/>
              <a:pathLst>
                <a:path w="4349750" h="1718310">
                  <a:moveTo>
                    <a:pt x="4349657" y="0"/>
                  </a:moveTo>
                  <a:lnTo>
                    <a:pt x="0" y="0"/>
                  </a:lnTo>
                  <a:lnTo>
                    <a:pt x="0" y="1667310"/>
                  </a:lnTo>
                  <a:lnTo>
                    <a:pt x="4008" y="1687035"/>
                  </a:lnTo>
                  <a:lnTo>
                    <a:pt x="14922" y="1703188"/>
                  </a:lnTo>
                  <a:lnTo>
                    <a:pt x="31075" y="1714102"/>
                  </a:lnTo>
                  <a:lnTo>
                    <a:pt x="50800" y="1718111"/>
                  </a:lnTo>
                  <a:lnTo>
                    <a:pt x="4298856" y="1718111"/>
                  </a:lnTo>
                  <a:lnTo>
                    <a:pt x="4318581" y="1714102"/>
                  </a:lnTo>
                  <a:lnTo>
                    <a:pt x="4334734" y="1703188"/>
                  </a:lnTo>
                  <a:lnTo>
                    <a:pt x="4345648" y="1687035"/>
                  </a:lnTo>
                  <a:lnTo>
                    <a:pt x="4349657" y="166731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89160"/>
              <a:ext cx="0" cy="1827530"/>
            </a:xfrm>
            <a:custGeom>
              <a:avLst/>
              <a:gdLst/>
              <a:ahLst/>
              <a:cxnLst/>
              <a:rect l="l" t="t" r="r" b="b"/>
              <a:pathLst>
                <a:path h="1827530">
                  <a:moveTo>
                    <a:pt x="0" y="18269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76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637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510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776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573365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725193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00047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9212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243950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418804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61086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7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Fully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partially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</a:p>
          <a:p>
            <a:pPr marL="289560" marR="1524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0" dirty="0">
                <a:solidFill>
                  <a:srgbClr val="000000"/>
                </a:solidFill>
              </a:rPr>
              <a:t> 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(effectively)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0" dirty="0">
                <a:solidFill>
                  <a:srgbClr val="000000"/>
                </a:solidFill>
              </a:rPr>
              <a:t> sensors </a:t>
            </a:r>
            <a:r>
              <a:rPr dirty="0">
                <a:solidFill>
                  <a:srgbClr val="000000"/>
                </a:solidFill>
              </a:rPr>
              <a:t>detect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all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aspects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state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environments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that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25" dirty="0">
                <a:solidFill>
                  <a:srgbClr val="C92626"/>
                </a:solidFill>
              </a:rPr>
              <a:t>are </a:t>
            </a:r>
            <a:r>
              <a:rPr spc="-10" dirty="0">
                <a:solidFill>
                  <a:srgbClr val="C92626"/>
                </a:solidFill>
              </a:rPr>
              <a:t>relevant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to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choice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</a:t>
            </a:r>
          </a:p>
          <a:p>
            <a:pPr marL="566420">
              <a:lnSpc>
                <a:spcPts val="1200"/>
              </a:lnSpc>
              <a:spcBef>
                <a:spcPts val="145"/>
              </a:spcBef>
            </a:pPr>
            <a:r>
              <a:rPr sz="1000" spc="-10" dirty="0">
                <a:solidFill>
                  <a:srgbClr val="000000"/>
                </a:solidFill>
              </a:rPr>
              <a:t>”relevant”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depends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on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performance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measure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no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need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maintain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internal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keep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track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environment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C7C7D2"/>
                </a:solidFill>
              </a:rPr>
              <a:t>A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4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may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F8"/>
                </a:solidFill>
              </a:rPr>
              <a:t>partially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observable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(Ex:</a:t>
            </a:r>
            <a:r>
              <a:rPr spc="50" dirty="0">
                <a:solidFill>
                  <a:srgbClr val="C7C7D2"/>
                </a:solidFill>
              </a:rPr>
              <a:t> </a:t>
            </a:r>
            <a:r>
              <a:rPr spc="-45" dirty="0">
                <a:solidFill>
                  <a:srgbClr val="C7D6D2"/>
                </a:solidFill>
              </a:rPr>
              <a:t>Taxi</a:t>
            </a:r>
            <a:r>
              <a:rPr spc="-20" dirty="0">
                <a:solidFill>
                  <a:srgbClr val="C7D6D2"/>
                </a:solidFill>
              </a:rPr>
              <a:t> </a:t>
            </a:r>
            <a:r>
              <a:rPr spc="-10" dirty="0">
                <a:solidFill>
                  <a:srgbClr val="C7D6D2"/>
                </a:solidFill>
              </a:rPr>
              <a:t>driving</a:t>
            </a:r>
            <a:r>
              <a:rPr spc="-10" dirty="0">
                <a:solidFill>
                  <a:srgbClr val="C7C7D2"/>
                </a:solidFill>
              </a:rPr>
              <a:t>):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noisy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inaccurate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sensors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C7C7D2"/>
                </a:solidFill>
              </a:rPr>
              <a:t>parts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state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are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not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accessible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for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sensors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C7C7D2"/>
                </a:solidFill>
              </a:rPr>
              <a:t>A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4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might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even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unobservable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(no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sensors)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e.g.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fully-</a:t>
            </a:r>
            <a:r>
              <a:rPr sz="1000" dirty="0">
                <a:solidFill>
                  <a:srgbClr val="C7C7D2"/>
                </a:solidFill>
              </a:rPr>
              <a:t>deterministic</a:t>
            </a:r>
            <a:r>
              <a:rPr sz="1000" spc="-10" dirty="0">
                <a:solidFill>
                  <a:srgbClr val="C7C7D2"/>
                </a:solidFill>
              </a:rPr>
              <a:t> actions</a:t>
            </a: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06856"/>
            <a:ext cx="4349750" cy="1941195"/>
            <a:chOff x="129196" y="806856"/>
            <a:chExt cx="4349750" cy="1941195"/>
          </a:xfrm>
        </p:grpSpPr>
        <p:sp>
          <p:nvSpPr>
            <p:cNvPr id="4" name="object 4"/>
            <p:cNvSpPr/>
            <p:nvPr/>
          </p:nvSpPr>
          <p:spPr>
            <a:xfrm>
              <a:off x="129196" y="806856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85482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29737"/>
              <a:ext cx="4349750" cy="1718310"/>
            </a:xfrm>
            <a:custGeom>
              <a:avLst/>
              <a:gdLst/>
              <a:ahLst/>
              <a:cxnLst/>
              <a:rect l="l" t="t" r="r" b="b"/>
              <a:pathLst>
                <a:path w="4349750" h="1718310">
                  <a:moveTo>
                    <a:pt x="4349657" y="0"/>
                  </a:moveTo>
                  <a:lnTo>
                    <a:pt x="0" y="0"/>
                  </a:lnTo>
                  <a:lnTo>
                    <a:pt x="0" y="1667310"/>
                  </a:lnTo>
                  <a:lnTo>
                    <a:pt x="4008" y="1687035"/>
                  </a:lnTo>
                  <a:lnTo>
                    <a:pt x="14922" y="1703188"/>
                  </a:lnTo>
                  <a:lnTo>
                    <a:pt x="31075" y="1714102"/>
                  </a:lnTo>
                  <a:lnTo>
                    <a:pt x="50800" y="1718111"/>
                  </a:lnTo>
                  <a:lnTo>
                    <a:pt x="4298856" y="1718111"/>
                  </a:lnTo>
                  <a:lnTo>
                    <a:pt x="4318581" y="1714102"/>
                  </a:lnTo>
                  <a:lnTo>
                    <a:pt x="4334734" y="1703188"/>
                  </a:lnTo>
                  <a:lnTo>
                    <a:pt x="4345648" y="1687035"/>
                  </a:lnTo>
                  <a:lnTo>
                    <a:pt x="4349657" y="166731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89160"/>
              <a:ext cx="0" cy="1827530"/>
            </a:xfrm>
            <a:custGeom>
              <a:avLst/>
              <a:gdLst/>
              <a:ahLst/>
              <a:cxnLst/>
              <a:rect l="l" t="t" r="r" b="b"/>
              <a:pathLst>
                <a:path h="1827530">
                  <a:moveTo>
                    <a:pt x="0" y="18269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76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637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510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776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573365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725193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00047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9212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243950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418804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61086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7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Fully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partially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</a:p>
          <a:p>
            <a:pPr marL="289560" marR="1524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0" dirty="0">
                <a:solidFill>
                  <a:srgbClr val="000000"/>
                </a:solidFill>
              </a:rPr>
              <a:t> 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(effectively)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0" dirty="0">
                <a:solidFill>
                  <a:srgbClr val="000000"/>
                </a:solidFill>
              </a:rPr>
              <a:t> sensors </a:t>
            </a:r>
            <a:r>
              <a:rPr dirty="0">
                <a:solidFill>
                  <a:srgbClr val="000000"/>
                </a:solidFill>
              </a:rPr>
              <a:t>detect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all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aspects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state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environments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that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25" dirty="0">
                <a:solidFill>
                  <a:srgbClr val="C92626"/>
                </a:solidFill>
              </a:rPr>
              <a:t>are </a:t>
            </a:r>
            <a:r>
              <a:rPr spc="-10" dirty="0">
                <a:solidFill>
                  <a:srgbClr val="C92626"/>
                </a:solidFill>
              </a:rPr>
              <a:t>relevant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to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choice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</a:t>
            </a:r>
          </a:p>
          <a:p>
            <a:pPr marL="566420">
              <a:lnSpc>
                <a:spcPts val="1200"/>
              </a:lnSpc>
              <a:spcBef>
                <a:spcPts val="145"/>
              </a:spcBef>
            </a:pPr>
            <a:r>
              <a:rPr sz="1000" spc="-10" dirty="0">
                <a:solidFill>
                  <a:srgbClr val="000000"/>
                </a:solidFill>
              </a:rPr>
              <a:t>”relevant”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depends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on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performance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measure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no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need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maintain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internal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keep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track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environment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t.e.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may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partially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observable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(Ex: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45" dirty="0">
                <a:solidFill>
                  <a:srgbClr val="006300"/>
                </a:solidFill>
              </a:rPr>
              <a:t>Taxi</a:t>
            </a:r>
            <a:r>
              <a:rPr spc="-20" dirty="0">
                <a:solidFill>
                  <a:srgbClr val="006300"/>
                </a:solidFill>
              </a:rPr>
              <a:t> </a:t>
            </a:r>
            <a:r>
              <a:rPr spc="-10" dirty="0">
                <a:solidFill>
                  <a:srgbClr val="006300"/>
                </a:solidFill>
              </a:rPr>
              <a:t>driving</a:t>
            </a:r>
            <a:r>
              <a:rPr spc="-10" dirty="0">
                <a:solidFill>
                  <a:srgbClr val="000000"/>
                </a:solidFill>
              </a:rPr>
              <a:t>):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noisy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inaccurate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sensors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parts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are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not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accessible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for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sensors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C7C7D2"/>
                </a:solidFill>
              </a:rPr>
              <a:t>A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4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might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even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unobservable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(no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sensors)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e.g.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fully-</a:t>
            </a:r>
            <a:r>
              <a:rPr sz="1000" dirty="0">
                <a:solidFill>
                  <a:srgbClr val="C7C7D2"/>
                </a:solidFill>
              </a:rPr>
              <a:t>deterministic</a:t>
            </a:r>
            <a:r>
              <a:rPr sz="1000" spc="-10" dirty="0">
                <a:solidFill>
                  <a:srgbClr val="C7C7D2"/>
                </a:solidFill>
              </a:rPr>
              <a:t> actions</a:t>
            </a: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06856"/>
            <a:ext cx="4349750" cy="1941195"/>
            <a:chOff x="129196" y="806856"/>
            <a:chExt cx="4349750" cy="1941195"/>
          </a:xfrm>
        </p:grpSpPr>
        <p:sp>
          <p:nvSpPr>
            <p:cNvPr id="4" name="object 4"/>
            <p:cNvSpPr/>
            <p:nvPr/>
          </p:nvSpPr>
          <p:spPr>
            <a:xfrm>
              <a:off x="129196" y="806856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85482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29737"/>
              <a:ext cx="4349750" cy="1718310"/>
            </a:xfrm>
            <a:custGeom>
              <a:avLst/>
              <a:gdLst/>
              <a:ahLst/>
              <a:cxnLst/>
              <a:rect l="l" t="t" r="r" b="b"/>
              <a:pathLst>
                <a:path w="4349750" h="1718310">
                  <a:moveTo>
                    <a:pt x="4349657" y="0"/>
                  </a:moveTo>
                  <a:lnTo>
                    <a:pt x="0" y="0"/>
                  </a:lnTo>
                  <a:lnTo>
                    <a:pt x="0" y="1667310"/>
                  </a:lnTo>
                  <a:lnTo>
                    <a:pt x="4008" y="1687035"/>
                  </a:lnTo>
                  <a:lnTo>
                    <a:pt x="14922" y="1703188"/>
                  </a:lnTo>
                  <a:lnTo>
                    <a:pt x="31075" y="1714102"/>
                  </a:lnTo>
                  <a:lnTo>
                    <a:pt x="50800" y="1718111"/>
                  </a:lnTo>
                  <a:lnTo>
                    <a:pt x="4298856" y="1718111"/>
                  </a:lnTo>
                  <a:lnTo>
                    <a:pt x="4318581" y="1714102"/>
                  </a:lnTo>
                  <a:lnTo>
                    <a:pt x="4334734" y="1703188"/>
                  </a:lnTo>
                  <a:lnTo>
                    <a:pt x="4345648" y="1687035"/>
                  </a:lnTo>
                  <a:lnTo>
                    <a:pt x="4349657" y="166731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89160"/>
              <a:ext cx="0" cy="1827530"/>
            </a:xfrm>
            <a:custGeom>
              <a:avLst/>
              <a:gdLst/>
              <a:ahLst/>
              <a:cxnLst/>
              <a:rect l="l" t="t" r="r" b="b"/>
              <a:pathLst>
                <a:path h="1827530">
                  <a:moveTo>
                    <a:pt x="0" y="18269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76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637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510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776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573365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725193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00047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9212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243950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418804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61086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7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Fully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partially</a:t>
            </a:r>
            <a:r>
              <a:rPr spc="-2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observable</a:t>
            </a:r>
          </a:p>
          <a:p>
            <a:pPr marL="289560" marR="1524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0" dirty="0">
                <a:solidFill>
                  <a:srgbClr val="000000"/>
                </a:solidFill>
              </a:rPr>
              <a:t> 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(effectively)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0" dirty="0">
                <a:solidFill>
                  <a:srgbClr val="000000"/>
                </a:solidFill>
              </a:rPr>
              <a:t> sensors </a:t>
            </a:r>
            <a:r>
              <a:rPr dirty="0">
                <a:solidFill>
                  <a:srgbClr val="000000"/>
                </a:solidFill>
              </a:rPr>
              <a:t>detect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all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aspects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state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environments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that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spc="-25" dirty="0">
                <a:solidFill>
                  <a:srgbClr val="C92626"/>
                </a:solidFill>
              </a:rPr>
              <a:t>are </a:t>
            </a:r>
            <a:r>
              <a:rPr spc="-10" dirty="0">
                <a:solidFill>
                  <a:srgbClr val="C92626"/>
                </a:solidFill>
              </a:rPr>
              <a:t>relevant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to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choice</a:t>
            </a:r>
            <a:r>
              <a:rPr spc="-3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of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</a:t>
            </a:r>
          </a:p>
          <a:p>
            <a:pPr marL="566420">
              <a:lnSpc>
                <a:spcPts val="1200"/>
              </a:lnSpc>
              <a:spcBef>
                <a:spcPts val="145"/>
              </a:spcBef>
            </a:pPr>
            <a:r>
              <a:rPr sz="1000" spc="-10" dirty="0">
                <a:solidFill>
                  <a:srgbClr val="000000"/>
                </a:solidFill>
              </a:rPr>
              <a:t>”relevant”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depends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on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performance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measure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no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need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maintain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internal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keep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track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environment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t.e.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may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partially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observable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(Ex: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45" dirty="0">
                <a:solidFill>
                  <a:srgbClr val="006300"/>
                </a:solidFill>
              </a:rPr>
              <a:t>Taxi</a:t>
            </a:r>
            <a:r>
              <a:rPr spc="-20" dirty="0">
                <a:solidFill>
                  <a:srgbClr val="006300"/>
                </a:solidFill>
              </a:rPr>
              <a:t> </a:t>
            </a:r>
            <a:r>
              <a:rPr spc="-10" dirty="0">
                <a:solidFill>
                  <a:srgbClr val="006300"/>
                </a:solidFill>
              </a:rPr>
              <a:t>driving</a:t>
            </a:r>
            <a:r>
              <a:rPr spc="-10" dirty="0">
                <a:solidFill>
                  <a:srgbClr val="000000"/>
                </a:solidFill>
              </a:rPr>
              <a:t>):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noisy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inaccurate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sensors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parts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are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not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accessible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for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sensors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t.e.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might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even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unobservable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(no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sensors)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e.g.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fully-</a:t>
            </a:r>
            <a:r>
              <a:rPr sz="1000" dirty="0">
                <a:solidFill>
                  <a:srgbClr val="000000"/>
                </a:solidFill>
              </a:rPr>
              <a:t>deterministic</a:t>
            </a:r>
            <a:r>
              <a:rPr sz="1000" spc="-10" dirty="0">
                <a:solidFill>
                  <a:srgbClr val="000000"/>
                </a:solidFill>
              </a:rPr>
              <a:t> actions</a:t>
            </a:r>
            <a:endParaRPr sz="10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7297" y="441284"/>
            <a:ext cx="4265930" cy="204723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solidFill>
                  <a:srgbClr val="C7C7D2"/>
                </a:solidFill>
                <a:latin typeface="Arial"/>
                <a:cs typeface="Arial"/>
              </a:rPr>
              <a:t>Two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important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multi-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</a:t>
            </a:r>
            <a:r>
              <a:rPr sz="1000" spc="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environment:</a:t>
            </a:r>
            <a:r>
              <a:rPr sz="1000" spc="7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Ex:</a:t>
            </a:r>
            <a:r>
              <a:rPr sz="900" spc="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chess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scenarios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(compete</a:t>
            </a:r>
            <a:r>
              <a:rPr sz="9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for</a:t>
            </a:r>
            <a:r>
              <a:rPr sz="9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parking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lot),</a:t>
            </a:r>
            <a:r>
              <a:rPr sz="900" spc="-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multi-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</a:t>
            </a:r>
            <a:r>
              <a:rPr sz="1000" spc="-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environment:</a:t>
            </a:r>
            <a:r>
              <a:rPr sz="1000" spc="5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1010" y="2550515"/>
            <a:ext cx="631190" cy="581025"/>
            <a:chOff x="311010" y="2550515"/>
            <a:chExt cx="631190" cy="58102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44385" y="2659972"/>
            <a:ext cx="3905885" cy="52260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multi-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6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single-agent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7297" y="441284"/>
            <a:ext cx="4265930" cy="22091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multi-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environment:</a:t>
            </a:r>
            <a:r>
              <a:rPr sz="1000" spc="7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900" spc="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chess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9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scenarios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9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(compete</a:t>
            </a:r>
            <a:r>
              <a:rPr sz="9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9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parking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lot),</a:t>
            </a:r>
            <a:r>
              <a:rPr sz="9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multi-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environment:</a:t>
            </a:r>
            <a:r>
              <a:rPr sz="1000" spc="5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Ex:</a:t>
            </a:r>
            <a:r>
              <a:rPr sz="900" spc="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nest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factory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5E5F1"/>
                </a:solidFill>
                <a:latin typeface="Arial"/>
                <a:cs typeface="Arial"/>
              </a:rPr>
              <a:t>(avoid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collisions),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1010" y="2725369"/>
            <a:ext cx="354330" cy="406400"/>
            <a:chOff x="311010" y="2725369"/>
            <a:chExt cx="354330" cy="40640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44385" y="2659972"/>
            <a:ext cx="3905885" cy="52260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multi-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6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single-agent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multi-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environment:</a:t>
            </a:r>
            <a:r>
              <a:rPr sz="1000" spc="5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Ex:</a:t>
            </a:r>
            <a:r>
              <a:rPr sz="900" spc="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nest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factory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7F1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E5E7F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5E5F1"/>
                </a:solidFill>
                <a:latin typeface="Arial"/>
                <a:cs typeface="Arial"/>
              </a:rPr>
              <a:t>(avoid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5E5F1"/>
                </a:solidFill>
                <a:latin typeface="Arial"/>
                <a:cs typeface="Arial"/>
              </a:rPr>
              <a:t>collisions),</a:t>
            </a:r>
            <a:r>
              <a:rPr sz="900" spc="-25" dirty="0">
                <a:solidFill>
                  <a:srgbClr val="E5E5F1"/>
                </a:solidFill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multi-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6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single-agent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900" spc="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nest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factory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7C7D2"/>
                </a:solidFill>
                <a:latin typeface="Arial"/>
                <a:cs typeface="Arial"/>
              </a:rPr>
              <a:t>(avoid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collisions),</a:t>
            </a:r>
            <a:r>
              <a:rPr sz="900" spc="-25" dirty="0">
                <a:solidFill>
                  <a:srgbClr val="C7C7D2"/>
                </a:solidFill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multi-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6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single-agent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nest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factory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collisions),</a:t>
            </a:r>
            <a:r>
              <a:rPr sz="900" spc="-25" dirty="0"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multi-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6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single-agent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nest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factory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collisions),</a:t>
            </a:r>
            <a:r>
              <a:rPr sz="900" spc="-25" dirty="0"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multi-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wrt.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single-agent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competitive:</a:t>
            </a:r>
            <a:r>
              <a:rPr sz="1000" spc="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behaviour</a:t>
            </a:r>
            <a:r>
              <a:rPr sz="10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rational</a:t>
            </a:r>
            <a:r>
              <a:rPr sz="10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nest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factory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collisions),</a:t>
            </a:r>
            <a:r>
              <a:rPr sz="900" spc="-25" dirty="0"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multi-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wrt.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single-agent </a:t>
            </a:r>
            <a:r>
              <a:rPr sz="1000" dirty="0">
                <a:latin typeface="Arial"/>
                <a:cs typeface="Arial"/>
              </a:rPr>
              <a:t>competitive: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behaviour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often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(unpredictable)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collaborative:</a:t>
            </a:r>
            <a:r>
              <a:rPr sz="1000" spc="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other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agents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01256"/>
            <a:ext cx="4349750" cy="2705100"/>
            <a:chOff x="129196" y="501256"/>
            <a:chExt cx="4349750" cy="2705100"/>
          </a:xfrm>
        </p:grpSpPr>
        <p:sp>
          <p:nvSpPr>
            <p:cNvPr id="4" name="object 4"/>
            <p:cNvSpPr/>
            <p:nvPr/>
          </p:nvSpPr>
          <p:spPr>
            <a:xfrm>
              <a:off x="129196" y="501256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8473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8981"/>
              <a:ext cx="4349750" cy="2477770"/>
            </a:xfrm>
            <a:custGeom>
              <a:avLst/>
              <a:gdLst/>
              <a:ahLst/>
              <a:cxnLst/>
              <a:rect l="l" t="t" r="r" b="b"/>
              <a:pathLst>
                <a:path w="4349750" h="2477770">
                  <a:moveTo>
                    <a:pt x="4349657" y="0"/>
                  </a:moveTo>
                  <a:lnTo>
                    <a:pt x="0" y="0"/>
                  </a:lnTo>
                  <a:lnTo>
                    <a:pt x="0" y="2426473"/>
                  </a:lnTo>
                  <a:lnTo>
                    <a:pt x="4008" y="2446198"/>
                  </a:lnTo>
                  <a:lnTo>
                    <a:pt x="14922" y="2462351"/>
                  </a:lnTo>
                  <a:lnTo>
                    <a:pt x="31075" y="2473265"/>
                  </a:lnTo>
                  <a:lnTo>
                    <a:pt x="50800" y="2477274"/>
                  </a:lnTo>
                  <a:lnTo>
                    <a:pt x="4298856" y="2477274"/>
                  </a:lnTo>
                  <a:lnTo>
                    <a:pt x="4318581" y="2473265"/>
                  </a:lnTo>
                  <a:lnTo>
                    <a:pt x="4334734" y="2462351"/>
                  </a:lnTo>
                  <a:lnTo>
                    <a:pt x="4345648" y="2446198"/>
                  </a:lnTo>
                  <a:lnTo>
                    <a:pt x="4349657" y="242647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3553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h="2591435">
                  <a:moveTo>
                    <a:pt x="0" y="2590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708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81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5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7687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260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2444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599298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7787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082368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246858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122" y="2550515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5369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034" y="2917444"/>
              <a:ext cx="61874" cy="61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3069272"/>
              <a:ext cx="61874" cy="6187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7297" y="441284"/>
            <a:ext cx="4265930" cy="2730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multi-agent</a:t>
            </a:r>
            <a:endParaRPr sz="1100">
              <a:latin typeface="Arial"/>
              <a:cs typeface="Arial"/>
            </a:endParaRPr>
          </a:p>
          <a:p>
            <a:pPr marL="289560" marR="121920" algn="just">
              <a:lnSpc>
                <a:spcPts val="1200"/>
              </a:lnSpc>
              <a:spcBef>
                <a:spcPts val="509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who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maximizing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some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depends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  <a:spcBef>
                <a:spcPts val="145"/>
              </a:spcBef>
            </a:pPr>
            <a:r>
              <a:rPr sz="1000" dirty="0">
                <a:latin typeface="Arial"/>
                <a:cs typeface="Arial"/>
              </a:rPr>
              <a:t>latest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566420" algn="just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distinction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single-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subtle</a:t>
            </a:r>
            <a:endParaRPr sz="10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95"/>
              </a:spcBef>
            </a:pPr>
            <a:r>
              <a:rPr sz="1100" spc="-6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0" dirty="0">
                <a:latin typeface="Arial"/>
                <a:cs typeface="Arial"/>
              </a:rPr>
              <a:t> cases</a:t>
            </a:r>
            <a:endParaRPr sz="1100">
              <a:latin typeface="Arial"/>
              <a:cs typeface="Arial"/>
            </a:endParaRPr>
          </a:p>
          <a:p>
            <a:pPr marL="566420" marR="88265" algn="just">
              <a:lnSpc>
                <a:spcPts val="1100"/>
              </a:lnSpc>
              <a:spcBef>
                <a:spcPts val="1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competitive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conflict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oppose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66420" marR="5080" indent="276860">
              <a:lnSpc>
                <a:spcPct val="101000"/>
              </a:lnSpc>
              <a:spcBef>
                <a:spcPts val="160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war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scenarios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(compete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...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cooperative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other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agents’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coincide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full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goals</a:t>
            </a:r>
            <a:endParaRPr sz="1000">
              <a:latin typeface="Arial"/>
              <a:cs typeface="Arial"/>
            </a:endParaRPr>
          </a:p>
          <a:p>
            <a:pPr marL="843915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ants’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nest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factory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collisions),</a:t>
            </a:r>
            <a:r>
              <a:rPr sz="900" spc="-25" dirty="0">
                <a:latin typeface="Arial"/>
                <a:cs typeface="Arial"/>
              </a:rPr>
              <a:t> ...</a:t>
            </a:r>
            <a:endParaRPr sz="900">
              <a:latin typeface="Arial"/>
              <a:cs typeface="Arial"/>
            </a:endParaRPr>
          </a:p>
          <a:p>
            <a:pPr marL="566420" marR="87630" indent="-277495">
              <a:lnSpc>
                <a:spcPct val="106400"/>
              </a:lnSpc>
              <a:spcBef>
                <a:spcPts val="130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different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design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problems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multi-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wrt.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single-agent </a:t>
            </a:r>
            <a:r>
              <a:rPr sz="1000" dirty="0">
                <a:latin typeface="Arial"/>
                <a:cs typeface="Arial"/>
              </a:rPr>
              <a:t>competitive: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randomized</a:t>
            </a:r>
            <a:r>
              <a:rPr sz="1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behaviour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often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rational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(unpredictable) </a:t>
            </a:r>
            <a:r>
              <a:rPr sz="1000" dirty="0">
                <a:latin typeface="Arial"/>
                <a:cs typeface="Arial"/>
              </a:rPr>
              <a:t>collaborative: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communication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often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rational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25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1577975"/>
            <a:chOff x="129196" y="360095"/>
            <a:chExt cx="4349750" cy="157797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2853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72805"/>
              <a:ext cx="4349750" cy="1365250"/>
            </a:xfrm>
            <a:custGeom>
              <a:avLst/>
              <a:gdLst/>
              <a:ahLst/>
              <a:cxnLst/>
              <a:rect l="l" t="t" r="r" b="b"/>
              <a:pathLst>
                <a:path w="4349750" h="1365250">
                  <a:moveTo>
                    <a:pt x="4349657" y="0"/>
                  </a:moveTo>
                  <a:lnTo>
                    <a:pt x="0" y="0"/>
                  </a:lnTo>
                  <a:lnTo>
                    <a:pt x="0" y="1314046"/>
                  </a:lnTo>
                  <a:lnTo>
                    <a:pt x="4008" y="1333771"/>
                  </a:lnTo>
                  <a:lnTo>
                    <a:pt x="14922" y="1349924"/>
                  </a:lnTo>
                  <a:lnTo>
                    <a:pt x="31075" y="1360838"/>
                  </a:lnTo>
                  <a:lnTo>
                    <a:pt x="50800" y="1364846"/>
                  </a:lnTo>
                  <a:lnTo>
                    <a:pt x="4298856" y="1364846"/>
                  </a:lnTo>
                  <a:lnTo>
                    <a:pt x="4318581" y="1360838"/>
                  </a:lnTo>
                  <a:lnTo>
                    <a:pt x="4334734" y="1349924"/>
                  </a:lnTo>
                  <a:lnTo>
                    <a:pt x="4345648" y="1333771"/>
                  </a:lnTo>
                  <a:lnTo>
                    <a:pt x="4349657" y="13140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412"/>
              <a:ext cx="0" cy="1463675"/>
            </a:xfrm>
            <a:custGeom>
              <a:avLst/>
              <a:gdLst/>
              <a:ahLst/>
              <a:cxnLst/>
              <a:rect l="l" t="t" r="r" b="b"/>
              <a:pathLst>
                <a:path h="1463675">
                  <a:moveTo>
                    <a:pt x="0" y="14634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7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70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2068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4620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4669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50352"/>
              <a:ext cx="61874" cy="61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015616"/>
            <a:ext cx="4400550" cy="1440815"/>
            <a:chOff x="129196" y="2015616"/>
            <a:chExt cx="4400550" cy="1440815"/>
          </a:xfrm>
        </p:grpSpPr>
        <p:sp>
          <p:nvSpPr>
            <p:cNvPr id="16" name="object 16"/>
            <p:cNvSpPr/>
            <p:nvPr/>
          </p:nvSpPr>
          <p:spPr>
            <a:xfrm>
              <a:off x="129196" y="20156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2555849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2543149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066175"/>
              <a:ext cx="50800" cy="4896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060036"/>
              <a:ext cx="4349750" cy="546735"/>
            </a:xfrm>
            <a:custGeom>
              <a:avLst/>
              <a:gdLst/>
              <a:ahLst/>
              <a:cxnLst/>
              <a:rect l="l" t="t" r="r" b="b"/>
              <a:pathLst>
                <a:path w="4349750" h="546735">
                  <a:moveTo>
                    <a:pt x="4349657" y="0"/>
                  </a:moveTo>
                  <a:lnTo>
                    <a:pt x="0" y="0"/>
                  </a:lnTo>
                  <a:lnTo>
                    <a:pt x="0" y="495813"/>
                  </a:lnTo>
                  <a:lnTo>
                    <a:pt x="4008" y="515537"/>
                  </a:lnTo>
                  <a:lnTo>
                    <a:pt x="14922" y="531690"/>
                  </a:lnTo>
                  <a:lnTo>
                    <a:pt x="31075" y="542604"/>
                  </a:lnTo>
                  <a:lnTo>
                    <a:pt x="50800" y="546613"/>
                  </a:lnTo>
                  <a:lnTo>
                    <a:pt x="4298856" y="546613"/>
                  </a:lnTo>
                  <a:lnTo>
                    <a:pt x="4318581" y="542604"/>
                  </a:lnTo>
                  <a:lnTo>
                    <a:pt x="4334734" y="531690"/>
                  </a:lnTo>
                  <a:lnTo>
                    <a:pt x="4345648" y="515537"/>
                  </a:lnTo>
                  <a:lnTo>
                    <a:pt x="4349657" y="49581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104273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69">
                  <a:moveTo>
                    <a:pt x="0" y="4706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91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78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661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196" y="2684614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93732"/>
              <a:ext cx="101600" cy="622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81032"/>
              <a:ext cx="4298856" cy="749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735173"/>
              <a:ext cx="50800" cy="65855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9196" y="2729029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5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8853" y="2773266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6395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78853" y="2760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78853" y="2747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78853" y="2735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67297" y="308811"/>
            <a:ext cx="4273550" cy="310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Deterministic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stochastic</a:t>
            </a:r>
            <a:endParaRPr sz="1100">
              <a:latin typeface="Arial"/>
              <a:cs typeface="Arial"/>
            </a:endParaRPr>
          </a:p>
          <a:p>
            <a:pPr marL="289560" marR="36830">
              <a:lnSpc>
                <a:spcPct val="102600"/>
              </a:lnSpc>
              <a:spcBef>
                <a:spcPts val="24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deterministic</a:t>
            </a:r>
            <a:r>
              <a:rPr sz="11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iff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next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completely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determined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current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action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agent.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(Ex:</a:t>
            </a:r>
            <a:r>
              <a:rPr sz="11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D6D2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crossword</a:t>
            </a:r>
            <a:r>
              <a:rPr sz="11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D6D2"/>
                </a:solidFill>
                <a:latin typeface="Arial"/>
                <a:cs typeface="Arial"/>
              </a:rPr>
              <a:t>puzzle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not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so: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t.e.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stochastic</a:t>
            </a:r>
            <a:r>
              <a:rPr sz="10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uncertainty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about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outcomes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quantified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in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terms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(Ex: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dice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poker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game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failure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,...)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t.e.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nondeterministic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actions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characterized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their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possible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outcomes,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no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attached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them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146685" algn="just">
              <a:lnSpc>
                <a:spcPct val="1026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ignore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uncertainty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arises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from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chess</a:t>
            </a:r>
            <a:r>
              <a:rPr sz="1100" spc="-20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deterministic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even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though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each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unable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predict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others).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observable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could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appear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 marR="169545">
              <a:lnSpc>
                <a:spcPct val="102699"/>
              </a:lnSpc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0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practical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purposes,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impossible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keep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track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all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unobserved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aspects,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must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treated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8E7D8"/>
                </a:solidFill>
                <a:latin typeface="Arial"/>
                <a:cs typeface="Arial"/>
              </a:rPr>
              <a:t>Taxi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driving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26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1577975"/>
            <a:chOff x="129196" y="360095"/>
            <a:chExt cx="4349750" cy="157797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2853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72805"/>
              <a:ext cx="4349750" cy="1365250"/>
            </a:xfrm>
            <a:custGeom>
              <a:avLst/>
              <a:gdLst/>
              <a:ahLst/>
              <a:cxnLst/>
              <a:rect l="l" t="t" r="r" b="b"/>
              <a:pathLst>
                <a:path w="4349750" h="1365250">
                  <a:moveTo>
                    <a:pt x="4349657" y="0"/>
                  </a:moveTo>
                  <a:lnTo>
                    <a:pt x="0" y="0"/>
                  </a:lnTo>
                  <a:lnTo>
                    <a:pt x="0" y="1314046"/>
                  </a:lnTo>
                  <a:lnTo>
                    <a:pt x="4008" y="1333771"/>
                  </a:lnTo>
                  <a:lnTo>
                    <a:pt x="14922" y="1349924"/>
                  </a:lnTo>
                  <a:lnTo>
                    <a:pt x="31075" y="1360838"/>
                  </a:lnTo>
                  <a:lnTo>
                    <a:pt x="50800" y="1364846"/>
                  </a:lnTo>
                  <a:lnTo>
                    <a:pt x="4298856" y="1364846"/>
                  </a:lnTo>
                  <a:lnTo>
                    <a:pt x="4318581" y="1360838"/>
                  </a:lnTo>
                  <a:lnTo>
                    <a:pt x="4334734" y="1349924"/>
                  </a:lnTo>
                  <a:lnTo>
                    <a:pt x="4345648" y="1333771"/>
                  </a:lnTo>
                  <a:lnTo>
                    <a:pt x="4349657" y="13140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412"/>
              <a:ext cx="0" cy="1463675"/>
            </a:xfrm>
            <a:custGeom>
              <a:avLst/>
              <a:gdLst/>
              <a:ahLst/>
              <a:cxnLst/>
              <a:rect l="l" t="t" r="r" b="b"/>
              <a:pathLst>
                <a:path h="1463675">
                  <a:moveTo>
                    <a:pt x="0" y="14634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7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70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2068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4620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4669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50352"/>
              <a:ext cx="61874" cy="61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015616"/>
            <a:ext cx="4400550" cy="1440815"/>
            <a:chOff x="129196" y="2015616"/>
            <a:chExt cx="4400550" cy="1440815"/>
          </a:xfrm>
        </p:grpSpPr>
        <p:sp>
          <p:nvSpPr>
            <p:cNvPr id="16" name="object 16"/>
            <p:cNvSpPr/>
            <p:nvPr/>
          </p:nvSpPr>
          <p:spPr>
            <a:xfrm>
              <a:off x="129196" y="20156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2555849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2543149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066175"/>
              <a:ext cx="50800" cy="4896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060036"/>
              <a:ext cx="4349750" cy="546735"/>
            </a:xfrm>
            <a:custGeom>
              <a:avLst/>
              <a:gdLst/>
              <a:ahLst/>
              <a:cxnLst/>
              <a:rect l="l" t="t" r="r" b="b"/>
              <a:pathLst>
                <a:path w="4349750" h="546735">
                  <a:moveTo>
                    <a:pt x="4349657" y="0"/>
                  </a:moveTo>
                  <a:lnTo>
                    <a:pt x="0" y="0"/>
                  </a:lnTo>
                  <a:lnTo>
                    <a:pt x="0" y="495813"/>
                  </a:lnTo>
                  <a:lnTo>
                    <a:pt x="4008" y="515537"/>
                  </a:lnTo>
                  <a:lnTo>
                    <a:pt x="14922" y="531690"/>
                  </a:lnTo>
                  <a:lnTo>
                    <a:pt x="31075" y="542604"/>
                  </a:lnTo>
                  <a:lnTo>
                    <a:pt x="50800" y="546613"/>
                  </a:lnTo>
                  <a:lnTo>
                    <a:pt x="4298856" y="546613"/>
                  </a:lnTo>
                  <a:lnTo>
                    <a:pt x="4318581" y="542604"/>
                  </a:lnTo>
                  <a:lnTo>
                    <a:pt x="4334734" y="531690"/>
                  </a:lnTo>
                  <a:lnTo>
                    <a:pt x="4345648" y="515537"/>
                  </a:lnTo>
                  <a:lnTo>
                    <a:pt x="4349657" y="49581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104273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69">
                  <a:moveTo>
                    <a:pt x="0" y="4706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91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78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661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196" y="2684614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93732"/>
              <a:ext cx="101600" cy="622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81032"/>
              <a:ext cx="4298856" cy="749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735173"/>
              <a:ext cx="50800" cy="65855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9196" y="2729029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5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8853" y="2773266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6395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78853" y="2760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78853" y="2747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78853" y="2735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67297" y="308811"/>
            <a:ext cx="4273550" cy="310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Deterministic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stochastic</a:t>
            </a:r>
            <a:endParaRPr sz="1100">
              <a:latin typeface="Arial"/>
              <a:cs typeface="Arial"/>
            </a:endParaRPr>
          </a:p>
          <a:p>
            <a:pPr marL="289560" marR="36830">
              <a:lnSpc>
                <a:spcPct val="102600"/>
              </a:lnSpc>
              <a:spcBef>
                <a:spcPts val="24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deterministic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completely </a:t>
            </a:r>
            <a:r>
              <a:rPr sz="1100" dirty="0">
                <a:latin typeface="Arial"/>
                <a:cs typeface="Arial"/>
              </a:rPr>
              <a:t>determined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current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agent.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crossword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puzzle</a:t>
            </a:r>
            <a:r>
              <a:rPr sz="1100" spc="-10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not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so: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t.e.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stochastic</a:t>
            </a:r>
            <a:r>
              <a:rPr sz="1000" spc="-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uncertainty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about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outcomes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quantified</a:t>
            </a:r>
            <a:r>
              <a:rPr sz="10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in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terms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(Ex:</a:t>
            </a:r>
            <a:r>
              <a:rPr sz="1000" spc="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dice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poker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game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failure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,...)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t.e.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nondeterministic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actions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characterized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their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possible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outcomes,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no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attached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them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146685" algn="just">
              <a:lnSpc>
                <a:spcPct val="1026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ignore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uncertainty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arises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from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chess</a:t>
            </a:r>
            <a:r>
              <a:rPr sz="1100" spc="-20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deterministic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even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though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each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unable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predict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others).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observable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could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appear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 marR="169545">
              <a:lnSpc>
                <a:spcPct val="102699"/>
              </a:lnSpc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0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practical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purposes,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impossible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keep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track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all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unobserved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aspects,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must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treated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8E7D8"/>
                </a:solidFill>
                <a:latin typeface="Arial"/>
                <a:cs typeface="Arial"/>
              </a:rPr>
              <a:t>Taxi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driving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1577975"/>
            <a:chOff x="129196" y="360095"/>
            <a:chExt cx="4349750" cy="157797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2853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72805"/>
              <a:ext cx="4349750" cy="1365250"/>
            </a:xfrm>
            <a:custGeom>
              <a:avLst/>
              <a:gdLst/>
              <a:ahLst/>
              <a:cxnLst/>
              <a:rect l="l" t="t" r="r" b="b"/>
              <a:pathLst>
                <a:path w="4349750" h="1365250">
                  <a:moveTo>
                    <a:pt x="4349657" y="0"/>
                  </a:moveTo>
                  <a:lnTo>
                    <a:pt x="0" y="0"/>
                  </a:lnTo>
                  <a:lnTo>
                    <a:pt x="0" y="1314046"/>
                  </a:lnTo>
                  <a:lnTo>
                    <a:pt x="4008" y="1333771"/>
                  </a:lnTo>
                  <a:lnTo>
                    <a:pt x="14922" y="1349924"/>
                  </a:lnTo>
                  <a:lnTo>
                    <a:pt x="31075" y="1360838"/>
                  </a:lnTo>
                  <a:lnTo>
                    <a:pt x="50800" y="1364846"/>
                  </a:lnTo>
                  <a:lnTo>
                    <a:pt x="4298856" y="1364846"/>
                  </a:lnTo>
                  <a:lnTo>
                    <a:pt x="4318581" y="1360838"/>
                  </a:lnTo>
                  <a:lnTo>
                    <a:pt x="4334734" y="1349924"/>
                  </a:lnTo>
                  <a:lnTo>
                    <a:pt x="4345648" y="1333771"/>
                  </a:lnTo>
                  <a:lnTo>
                    <a:pt x="4349657" y="13140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412"/>
              <a:ext cx="0" cy="1463675"/>
            </a:xfrm>
            <a:custGeom>
              <a:avLst/>
              <a:gdLst/>
              <a:ahLst/>
              <a:cxnLst/>
              <a:rect l="l" t="t" r="r" b="b"/>
              <a:pathLst>
                <a:path h="1463675">
                  <a:moveTo>
                    <a:pt x="0" y="14634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7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70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2068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4620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4669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50352"/>
              <a:ext cx="61874" cy="61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015616"/>
            <a:ext cx="4400550" cy="1440815"/>
            <a:chOff x="129196" y="2015616"/>
            <a:chExt cx="4400550" cy="1440815"/>
          </a:xfrm>
        </p:grpSpPr>
        <p:sp>
          <p:nvSpPr>
            <p:cNvPr id="16" name="object 16"/>
            <p:cNvSpPr/>
            <p:nvPr/>
          </p:nvSpPr>
          <p:spPr>
            <a:xfrm>
              <a:off x="129196" y="2015616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2555849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2543149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066175"/>
              <a:ext cx="50800" cy="4896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060036"/>
              <a:ext cx="4349750" cy="546735"/>
            </a:xfrm>
            <a:custGeom>
              <a:avLst/>
              <a:gdLst/>
              <a:ahLst/>
              <a:cxnLst/>
              <a:rect l="l" t="t" r="r" b="b"/>
              <a:pathLst>
                <a:path w="4349750" h="546735">
                  <a:moveTo>
                    <a:pt x="4349657" y="0"/>
                  </a:moveTo>
                  <a:lnTo>
                    <a:pt x="0" y="0"/>
                  </a:lnTo>
                  <a:lnTo>
                    <a:pt x="0" y="495813"/>
                  </a:lnTo>
                  <a:lnTo>
                    <a:pt x="4008" y="515537"/>
                  </a:lnTo>
                  <a:lnTo>
                    <a:pt x="14922" y="531690"/>
                  </a:lnTo>
                  <a:lnTo>
                    <a:pt x="31075" y="542604"/>
                  </a:lnTo>
                  <a:lnTo>
                    <a:pt x="50800" y="546613"/>
                  </a:lnTo>
                  <a:lnTo>
                    <a:pt x="4298856" y="546613"/>
                  </a:lnTo>
                  <a:lnTo>
                    <a:pt x="4318581" y="542604"/>
                  </a:lnTo>
                  <a:lnTo>
                    <a:pt x="4334734" y="531690"/>
                  </a:lnTo>
                  <a:lnTo>
                    <a:pt x="4345648" y="515537"/>
                  </a:lnTo>
                  <a:lnTo>
                    <a:pt x="4349657" y="49581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104273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69">
                  <a:moveTo>
                    <a:pt x="0" y="4706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091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078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0661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196" y="2684614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393732"/>
              <a:ext cx="101600" cy="622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381032"/>
              <a:ext cx="4298856" cy="749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735173"/>
              <a:ext cx="50800" cy="65855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9196" y="2729029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5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8853" y="2773266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6395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78853" y="2760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78853" y="2747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78853" y="2735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67297" y="308811"/>
            <a:ext cx="4273550" cy="310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Deterministic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stochastic</a:t>
            </a:r>
            <a:endParaRPr sz="1100">
              <a:latin typeface="Arial"/>
              <a:cs typeface="Arial"/>
            </a:endParaRPr>
          </a:p>
          <a:p>
            <a:pPr marL="289560" marR="36830">
              <a:lnSpc>
                <a:spcPct val="102600"/>
              </a:lnSpc>
              <a:spcBef>
                <a:spcPts val="24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deterministic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completely </a:t>
            </a:r>
            <a:r>
              <a:rPr sz="1100" dirty="0">
                <a:latin typeface="Arial"/>
                <a:cs typeface="Arial"/>
              </a:rPr>
              <a:t>determined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current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agent.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crossword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puzzle</a:t>
            </a:r>
            <a:r>
              <a:rPr sz="1100" spc="-10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stochastic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uncertainty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about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quantified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terms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dice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poker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game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failure</a:t>
            </a:r>
            <a:r>
              <a:rPr sz="1000" spc="-10" dirty="0">
                <a:latin typeface="Arial"/>
                <a:cs typeface="Arial"/>
              </a:rPr>
              <a:t>,...)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nondeterministic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characterized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their </a:t>
            </a:r>
            <a:r>
              <a:rPr sz="1000" dirty="0">
                <a:latin typeface="Arial"/>
                <a:cs typeface="Arial"/>
              </a:rPr>
              <a:t>possible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probabilities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146685" algn="just">
              <a:lnSpc>
                <a:spcPct val="1026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multi-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ignore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uncertainty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that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arises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from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other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chess</a:t>
            </a:r>
            <a:r>
              <a:rPr sz="1100" spc="-20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deterministic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even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though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each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unable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predict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others).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observable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could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appear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 marR="169545">
              <a:lnSpc>
                <a:spcPct val="102699"/>
              </a:lnSpc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0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practical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purposes,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impossible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keep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track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all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unobserved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aspects,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must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treated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8E7D8"/>
                </a:solidFill>
                <a:latin typeface="Arial"/>
                <a:cs typeface="Arial"/>
              </a:rPr>
              <a:t>Taxi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driving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1577975"/>
            <a:chOff x="129196" y="360095"/>
            <a:chExt cx="4349750" cy="157797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2853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72805"/>
              <a:ext cx="4349750" cy="1365250"/>
            </a:xfrm>
            <a:custGeom>
              <a:avLst/>
              <a:gdLst/>
              <a:ahLst/>
              <a:cxnLst/>
              <a:rect l="l" t="t" r="r" b="b"/>
              <a:pathLst>
                <a:path w="4349750" h="1365250">
                  <a:moveTo>
                    <a:pt x="4349657" y="0"/>
                  </a:moveTo>
                  <a:lnTo>
                    <a:pt x="0" y="0"/>
                  </a:lnTo>
                  <a:lnTo>
                    <a:pt x="0" y="1314046"/>
                  </a:lnTo>
                  <a:lnTo>
                    <a:pt x="4008" y="1333771"/>
                  </a:lnTo>
                  <a:lnTo>
                    <a:pt x="14922" y="1349924"/>
                  </a:lnTo>
                  <a:lnTo>
                    <a:pt x="31075" y="1360838"/>
                  </a:lnTo>
                  <a:lnTo>
                    <a:pt x="50800" y="1364846"/>
                  </a:lnTo>
                  <a:lnTo>
                    <a:pt x="4298856" y="1364846"/>
                  </a:lnTo>
                  <a:lnTo>
                    <a:pt x="4318581" y="1360838"/>
                  </a:lnTo>
                  <a:lnTo>
                    <a:pt x="4334734" y="1349924"/>
                  </a:lnTo>
                  <a:lnTo>
                    <a:pt x="4345648" y="1333771"/>
                  </a:lnTo>
                  <a:lnTo>
                    <a:pt x="4349657" y="13140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412"/>
              <a:ext cx="0" cy="1463675"/>
            </a:xfrm>
            <a:custGeom>
              <a:avLst/>
              <a:gdLst/>
              <a:ahLst/>
              <a:cxnLst/>
              <a:rect l="l" t="t" r="r" b="b"/>
              <a:pathLst>
                <a:path h="1463675">
                  <a:moveTo>
                    <a:pt x="0" y="14634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7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70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2068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4620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4669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50352"/>
              <a:ext cx="61874" cy="61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015616"/>
            <a:ext cx="4349750" cy="591185"/>
            <a:chOff x="129196" y="2015616"/>
            <a:chExt cx="4349750" cy="591185"/>
          </a:xfrm>
        </p:grpSpPr>
        <p:sp>
          <p:nvSpPr>
            <p:cNvPr id="16" name="object 16"/>
            <p:cNvSpPr/>
            <p:nvPr/>
          </p:nvSpPr>
          <p:spPr>
            <a:xfrm>
              <a:off x="129184" y="2015617"/>
              <a:ext cx="4349750" cy="591185"/>
            </a:xfrm>
            <a:custGeom>
              <a:avLst/>
              <a:gdLst/>
              <a:ahLst/>
              <a:cxnLst/>
              <a:rect l="l" t="t" r="r" b="b"/>
              <a:pathLst>
                <a:path w="4349750" h="591185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540245"/>
                  </a:lnTo>
                  <a:lnTo>
                    <a:pt x="4013" y="559968"/>
                  </a:lnTo>
                  <a:lnTo>
                    <a:pt x="14922" y="576122"/>
                  </a:lnTo>
                  <a:lnTo>
                    <a:pt x="31076" y="587032"/>
                  </a:lnTo>
                  <a:lnTo>
                    <a:pt x="50812" y="591045"/>
                  </a:lnTo>
                  <a:lnTo>
                    <a:pt x="4298861" y="591045"/>
                  </a:lnTo>
                  <a:lnTo>
                    <a:pt x="4318584" y="587032"/>
                  </a:lnTo>
                  <a:lnTo>
                    <a:pt x="4334738" y="576122"/>
                  </a:lnTo>
                  <a:lnTo>
                    <a:pt x="4345660" y="559968"/>
                  </a:lnTo>
                  <a:lnTo>
                    <a:pt x="4349661" y="540245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104273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69">
                  <a:moveTo>
                    <a:pt x="0" y="4706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091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078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0661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9196" y="2684614"/>
            <a:ext cx="4400550" cy="771525"/>
            <a:chOff x="129196" y="2684614"/>
            <a:chExt cx="4400550" cy="771525"/>
          </a:xfrm>
        </p:grpSpPr>
        <p:sp>
          <p:nvSpPr>
            <p:cNvPr id="22" name="object 22"/>
            <p:cNvSpPr/>
            <p:nvPr/>
          </p:nvSpPr>
          <p:spPr>
            <a:xfrm>
              <a:off x="129196" y="2684614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3393732"/>
              <a:ext cx="101600" cy="6226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3381032"/>
              <a:ext cx="4298856" cy="7496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735173"/>
              <a:ext cx="50800" cy="6585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9196" y="2729029"/>
              <a:ext cx="4349750" cy="715645"/>
            </a:xfrm>
            <a:custGeom>
              <a:avLst/>
              <a:gdLst/>
              <a:ahLst/>
              <a:cxnLst/>
              <a:rect l="l" t="t" r="r" b="b"/>
              <a:pathLst>
                <a:path w="4349750" h="715645">
                  <a:moveTo>
                    <a:pt x="4349657" y="0"/>
                  </a:moveTo>
                  <a:lnTo>
                    <a:pt x="0" y="0"/>
                  </a:lnTo>
                  <a:lnTo>
                    <a:pt x="0" y="664703"/>
                  </a:lnTo>
                  <a:lnTo>
                    <a:pt x="4008" y="684427"/>
                  </a:lnTo>
                  <a:lnTo>
                    <a:pt x="14922" y="700580"/>
                  </a:lnTo>
                  <a:lnTo>
                    <a:pt x="31075" y="711494"/>
                  </a:lnTo>
                  <a:lnTo>
                    <a:pt x="50800" y="715503"/>
                  </a:lnTo>
                  <a:lnTo>
                    <a:pt x="4298856" y="715503"/>
                  </a:lnTo>
                  <a:lnTo>
                    <a:pt x="4318581" y="711494"/>
                  </a:lnTo>
                  <a:lnTo>
                    <a:pt x="4334734" y="700580"/>
                  </a:lnTo>
                  <a:lnTo>
                    <a:pt x="4345648" y="684427"/>
                  </a:lnTo>
                  <a:lnTo>
                    <a:pt x="4349657" y="66470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773266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6395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8853" y="2760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78853" y="2747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78853" y="2735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67297" y="308811"/>
            <a:ext cx="4273550" cy="310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Deterministic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stochastic</a:t>
            </a:r>
            <a:endParaRPr sz="1100">
              <a:latin typeface="Arial"/>
              <a:cs typeface="Arial"/>
            </a:endParaRPr>
          </a:p>
          <a:p>
            <a:pPr marL="289560" marR="36830">
              <a:lnSpc>
                <a:spcPct val="102600"/>
              </a:lnSpc>
              <a:spcBef>
                <a:spcPts val="24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deterministic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completely </a:t>
            </a:r>
            <a:r>
              <a:rPr sz="1100" dirty="0">
                <a:latin typeface="Arial"/>
                <a:cs typeface="Arial"/>
              </a:rPr>
              <a:t>determined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current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agent.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crossword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puzzle</a:t>
            </a:r>
            <a:r>
              <a:rPr sz="1100" spc="-10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stochastic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uncertainty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about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quantified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terms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dice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poker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game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failure</a:t>
            </a:r>
            <a:r>
              <a:rPr sz="1000" spc="-10" dirty="0">
                <a:latin typeface="Arial"/>
                <a:cs typeface="Arial"/>
              </a:rPr>
              <a:t>,...)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nondeterministic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characterized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their </a:t>
            </a:r>
            <a:r>
              <a:rPr sz="1000" dirty="0">
                <a:latin typeface="Arial"/>
                <a:cs typeface="Arial"/>
              </a:rPr>
              <a:t>possible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probabilities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146685" algn="just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multi-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ignore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uncertainty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arises</a:t>
            </a:r>
            <a:r>
              <a:rPr sz="1100" spc="-20" dirty="0">
                <a:latin typeface="Arial"/>
                <a:cs typeface="Arial"/>
              </a:rPr>
              <a:t> from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deterministic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though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predict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others).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FF"/>
                </a:solidFill>
                <a:latin typeface="Arial"/>
                <a:cs typeface="Arial"/>
              </a:rPr>
              <a:t>observable</a:t>
            </a:r>
            <a:r>
              <a:rPr sz="1100" spc="-1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could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appear</a:t>
            </a:r>
            <a:r>
              <a:rPr sz="1100" spc="-1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 marR="169545">
              <a:lnSpc>
                <a:spcPct val="102699"/>
              </a:lnSpc>
            </a:pP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0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practical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purposes,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it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impossible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keep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track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all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unobserved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aspects,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they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must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treated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8E7D8"/>
                </a:solidFill>
                <a:latin typeface="Arial"/>
                <a:cs typeface="Arial"/>
              </a:rPr>
              <a:t>Taxi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driving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1577975"/>
            <a:chOff x="129196" y="360095"/>
            <a:chExt cx="4349750" cy="157797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2853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72805"/>
              <a:ext cx="4349750" cy="1365250"/>
            </a:xfrm>
            <a:custGeom>
              <a:avLst/>
              <a:gdLst/>
              <a:ahLst/>
              <a:cxnLst/>
              <a:rect l="l" t="t" r="r" b="b"/>
              <a:pathLst>
                <a:path w="4349750" h="1365250">
                  <a:moveTo>
                    <a:pt x="4349657" y="0"/>
                  </a:moveTo>
                  <a:lnTo>
                    <a:pt x="0" y="0"/>
                  </a:lnTo>
                  <a:lnTo>
                    <a:pt x="0" y="1314046"/>
                  </a:lnTo>
                  <a:lnTo>
                    <a:pt x="4008" y="1333771"/>
                  </a:lnTo>
                  <a:lnTo>
                    <a:pt x="14922" y="1349924"/>
                  </a:lnTo>
                  <a:lnTo>
                    <a:pt x="31075" y="1360838"/>
                  </a:lnTo>
                  <a:lnTo>
                    <a:pt x="50800" y="1364846"/>
                  </a:lnTo>
                  <a:lnTo>
                    <a:pt x="4298856" y="1364846"/>
                  </a:lnTo>
                  <a:lnTo>
                    <a:pt x="4318581" y="1360838"/>
                  </a:lnTo>
                  <a:lnTo>
                    <a:pt x="4334734" y="1349924"/>
                  </a:lnTo>
                  <a:lnTo>
                    <a:pt x="4345648" y="1333771"/>
                  </a:lnTo>
                  <a:lnTo>
                    <a:pt x="4349657" y="13140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412"/>
              <a:ext cx="0" cy="1463675"/>
            </a:xfrm>
            <a:custGeom>
              <a:avLst/>
              <a:gdLst/>
              <a:ahLst/>
              <a:cxnLst/>
              <a:rect l="l" t="t" r="r" b="b"/>
              <a:pathLst>
                <a:path h="1463675">
                  <a:moveTo>
                    <a:pt x="0" y="14634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7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70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2068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54620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4669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50352"/>
              <a:ext cx="61874" cy="61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015616"/>
            <a:ext cx="4349750" cy="591185"/>
            <a:chOff x="129196" y="2015616"/>
            <a:chExt cx="4349750" cy="591185"/>
          </a:xfrm>
        </p:grpSpPr>
        <p:sp>
          <p:nvSpPr>
            <p:cNvPr id="16" name="object 16"/>
            <p:cNvSpPr/>
            <p:nvPr/>
          </p:nvSpPr>
          <p:spPr>
            <a:xfrm>
              <a:off x="129184" y="2015617"/>
              <a:ext cx="4349750" cy="591185"/>
            </a:xfrm>
            <a:custGeom>
              <a:avLst/>
              <a:gdLst/>
              <a:ahLst/>
              <a:cxnLst/>
              <a:rect l="l" t="t" r="r" b="b"/>
              <a:pathLst>
                <a:path w="4349750" h="591185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540245"/>
                  </a:lnTo>
                  <a:lnTo>
                    <a:pt x="4013" y="559968"/>
                  </a:lnTo>
                  <a:lnTo>
                    <a:pt x="14922" y="576122"/>
                  </a:lnTo>
                  <a:lnTo>
                    <a:pt x="31076" y="587032"/>
                  </a:lnTo>
                  <a:lnTo>
                    <a:pt x="50812" y="591045"/>
                  </a:lnTo>
                  <a:lnTo>
                    <a:pt x="4298861" y="591045"/>
                  </a:lnTo>
                  <a:lnTo>
                    <a:pt x="4318584" y="587032"/>
                  </a:lnTo>
                  <a:lnTo>
                    <a:pt x="4334738" y="576122"/>
                  </a:lnTo>
                  <a:lnTo>
                    <a:pt x="4345660" y="559968"/>
                  </a:lnTo>
                  <a:lnTo>
                    <a:pt x="4349661" y="540245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104273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69">
                  <a:moveTo>
                    <a:pt x="0" y="4706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091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078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0661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9196" y="2684614"/>
            <a:ext cx="4349750" cy="760095"/>
            <a:chOff x="129196" y="2684614"/>
            <a:chExt cx="4349750" cy="760095"/>
          </a:xfrm>
        </p:grpSpPr>
        <p:sp>
          <p:nvSpPr>
            <p:cNvPr id="22" name="object 22"/>
            <p:cNvSpPr/>
            <p:nvPr/>
          </p:nvSpPr>
          <p:spPr>
            <a:xfrm>
              <a:off x="129184" y="2684614"/>
              <a:ext cx="4349750" cy="760095"/>
            </a:xfrm>
            <a:custGeom>
              <a:avLst/>
              <a:gdLst/>
              <a:ahLst/>
              <a:cxnLst/>
              <a:rect l="l" t="t" r="r" b="b"/>
              <a:pathLst>
                <a:path w="4349750" h="760095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709129"/>
                  </a:lnTo>
                  <a:lnTo>
                    <a:pt x="4013" y="728853"/>
                  </a:lnTo>
                  <a:lnTo>
                    <a:pt x="14922" y="745007"/>
                  </a:lnTo>
                  <a:lnTo>
                    <a:pt x="31076" y="755916"/>
                  </a:lnTo>
                  <a:lnTo>
                    <a:pt x="50812" y="759929"/>
                  </a:lnTo>
                  <a:lnTo>
                    <a:pt x="4298861" y="759929"/>
                  </a:lnTo>
                  <a:lnTo>
                    <a:pt x="4318584" y="755916"/>
                  </a:lnTo>
                  <a:lnTo>
                    <a:pt x="4334738" y="745007"/>
                  </a:lnTo>
                  <a:lnTo>
                    <a:pt x="4345660" y="728853"/>
                  </a:lnTo>
                  <a:lnTo>
                    <a:pt x="4349661" y="709129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773266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h="640079">
                  <a:moveTo>
                    <a:pt x="0" y="6395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760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747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735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7297" y="308811"/>
            <a:ext cx="4273550" cy="3101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Deterministic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stochastic</a:t>
            </a:r>
            <a:endParaRPr sz="1100">
              <a:latin typeface="Arial"/>
              <a:cs typeface="Arial"/>
            </a:endParaRPr>
          </a:p>
          <a:p>
            <a:pPr marL="289560" marR="36830">
              <a:lnSpc>
                <a:spcPct val="102600"/>
              </a:lnSpc>
              <a:spcBef>
                <a:spcPts val="24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deterministic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completely </a:t>
            </a:r>
            <a:r>
              <a:rPr sz="1100" dirty="0">
                <a:latin typeface="Arial"/>
                <a:cs typeface="Arial"/>
              </a:rPr>
              <a:t>determined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current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agent.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crossword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puzzle</a:t>
            </a:r>
            <a:r>
              <a:rPr sz="1100" spc="-10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stochastic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uncertainty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about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quantified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in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terms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dice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poker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game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failure</a:t>
            </a:r>
            <a:r>
              <a:rPr sz="1000" spc="-10" dirty="0">
                <a:latin typeface="Arial"/>
                <a:cs typeface="Arial"/>
              </a:rPr>
              <a:t>,...)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t.e.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nondeterministic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characterized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their </a:t>
            </a:r>
            <a:r>
              <a:rPr sz="1000" dirty="0">
                <a:latin typeface="Arial"/>
                <a:cs typeface="Arial"/>
              </a:rPr>
              <a:t>possible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outcomes,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probabilities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them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146685" algn="just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multi-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ignore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uncertainty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arises</a:t>
            </a:r>
            <a:r>
              <a:rPr sz="1100" spc="-20" dirty="0">
                <a:latin typeface="Arial"/>
                <a:cs typeface="Arial"/>
              </a:rPr>
              <a:t> from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chess</a:t>
            </a:r>
            <a:r>
              <a:rPr sz="11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deterministic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though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predict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others).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observable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could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appear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 marR="169545">
              <a:lnSpc>
                <a:spcPct val="102699"/>
              </a:lnSpc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50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practical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purposes,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impossible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keep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all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unobserved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aspects,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treated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stochastic.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(Ex: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26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97344"/>
            <a:ext cx="4349750" cy="2214880"/>
            <a:chOff x="129196" y="697344"/>
            <a:chExt cx="4349750" cy="2214880"/>
          </a:xfrm>
        </p:grpSpPr>
        <p:sp>
          <p:nvSpPr>
            <p:cNvPr id="4" name="object 4"/>
            <p:cNvSpPr/>
            <p:nvPr/>
          </p:nvSpPr>
          <p:spPr>
            <a:xfrm>
              <a:off x="129196" y="69734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7596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920231"/>
              <a:ext cx="4349750" cy="1991995"/>
            </a:xfrm>
            <a:custGeom>
              <a:avLst/>
              <a:gdLst/>
              <a:ahLst/>
              <a:cxnLst/>
              <a:rect l="l" t="t" r="r" b="b"/>
              <a:pathLst>
                <a:path w="4349750" h="1991995">
                  <a:moveTo>
                    <a:pt x="4349657" y="0"/>
                  </a:moveTo>
                  <a:lnTo>
                    <a:pt x="0" y="0"/>
                  </a:lnTo>
                  <a:lnTo>
                    <a:pt x="0" y="1941090"/>
                  </a:lnTo>
                  <a:lnTo>
                    <a:pt x="4008" y="1960815"/>
                  </a:lnTo>
                  <a:lnTo>
                    <a:pt x="14922" y="1976968"/>
                  </a:lnTo>
                  <a:lnTo>
                    <a:pt x="31075" y="1987882"/>
                  </a:lnTo>
                  <a:lnTo>
                    <a:pt x="50800" y="1991891"/>
                  </a:lnTo>
                  <a:lnTo>
                    <a:pt x="4298856" y="1991891"/>
                  </a:lnTo>
                  <a:lnTo>
                    <a:pt x="4318581" y="1987882"/>
                  </a:lnTo>
                  <a:lnTo>
                    <a:pt x="4334734" y="1976968"/>
                  </a:lnTo>
                  <a:lnTo>
                    <a:pt x="4345648" y="1960815"/>
                  </a:lnTo>
                  <a:lnTo>
                    <a:pt x="4349657" y="19410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79654"/>
              <a:ext cx="0" cy="2101215"/>
            </a:xfrm>
            <a:custGeom>
              <a:avLst/>
              <a:gdLst/>
              <a:ahLst/>
              <a:cxnLst/>
              <a:rect l="l" t="t" r="r" b="b"/>
              <a:pathLst>
                <a:path h="2101215">
                  <a:moveTo>
                    <a:pt x="0" y="2100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669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542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415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649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700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0883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91615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091004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434907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609761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80183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0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>
                <a:solidFill>
                  <a:srgbClr val="3333B2"/>
                </a:solidFill>
              </a:rPr>
              <a:t>Episodic</a:t>
            </a:r>
            <a:r>
              <a:rPr spc="-2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sequential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episodic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agent’s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experience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divided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into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atomic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 marR="508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00"/>
                </a:solidFill>
              </a:rPr>
              <a:t>in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each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episode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receives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percept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50" dirty="0">
                <a:solidFill>
                  <a:srgbClr val="000000"/>
                </a:solidFill>
              </a:rPr>
              <a:t>a </a:t>
            </a:r>
            <a:r>
              <a:rPr sz="1000" dirty="0">
                <a:solidFill>
                  <a:srgbClr val="000000"/>
                </a:solidFill>
              </a:rPr>
              <a:t>single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action</a:t>
            </a:r>
            <a:endParaRPr sz="1000"/>
          </a:p>
          <a:p>
            <a:pPr marR="233679" algn="ctr">
              <a:lnSpc>
                <a:spcPts val="1150"/>
              </a:lnSpc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4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depend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on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actions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taken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</a:t>
            </a:r>
            <a:r>
              <a:rPr sz="1000" spc="-10" dirty="0">
                <a:solidFill>
                  <a:srgbClr val="C92626"/>
                </a:solidFill>
              </a:rPr>
              <a:t> previous</a:t>
            </a:r>
            <a:endParaRPr sz="1000">
              <a:latin typeface="Source Sans 3"/>
              <a:cs typeface="Source Sans 3"/>
            </a:endParaRPr>
          </a:p>
          <a:p>
            <a:pPr marR="231140" algn="ctr">
              <a:lnSpc>
                <a:spcPts val="1195"/>
              </a:lnSpc>
            </a:pP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they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influence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future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6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agent that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has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to spot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defective</a:t>
            </a:r>
            <a:r>
              <a:rPr sz="1000" dirty="0">
                <a:solidFill>
                  <a:srgbClr val="006300"/>
                </a:solidFill>
              </a:rPr>
              <a:t> parts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on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 assembly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line</a:t>
            </a:r>
            <a:r>
              <a:rPr sz="1000" spc="-10" dirty="0">
                <a:solidFill>
                  <a:srgbClr val="000000"/>
                </a:solidFill>
              </a:rPr>
              <a:t>,</a:t>
            </a:r>
            <a:endParaRPr sz="1000"/>
          </a:p>
          <a:p>
            <a:pPr marL="289560" marR="10033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C7C7D2"/>
                </a:solidFill>
              </a:rPr>
              <a:t>In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sequential</a:t>
            </a:r>
            <a:r>
              <a:rPr spc="-15" dirty="0">
                <a:solidFill>
                  <a:srgbClr val="C7C7F8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environments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the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current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decision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could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affect </a:t>
            </a:r>
            <a:r>
              <a:rPr dirty="0">
                <a:solidFill>
                  <a:srgbClr val="C7C7D2"/>
                </a:solidFill>
              </a:rPr>
              <a:t>future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decisions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105" dirty="0">
                <a:solidFill>
                  <a:srgbClr val="C7C7D2"/>
                </a:solidFill>
                <a:latin typeface="Lucida Sans Unicode"/>
                <a:cs typeface="Lucida Sans Unicode"/>
              </a:rPr>
              <a:t>=</a:t>
            </a:r>
            <a:r>
              <a:rPr i="1" spc="105" dirty="0">
                <a:solidFill>
                  <a:srgbClr val="C7C7D2"/>
                </a:solidFill>
                <a:latin typeface="Source Sans 3"/>
                <a:cs typeface="Source Sans 3"/>
              </a:rPr>
              <a:t>⇒</a:t>
            </a:r>
            <a:r>
              <a:rPr i="1" spc="65" dirty="0">
                <a:solidFill>
                  <a:srgbClr val="C7C7D2"/>
                </a:solidFill>
                <a:latin typeface="Source Sans 3"/>
                <a:cs typeface="Source Sans 3"/>
              </a:rPr>
              <a:t> </a:t>
            </a:r>
            <a:r>
              <a:rPr dirty="0">
                <a:solidFill>
                  <a:srgbClr val="C7C7D2"/>
                </a:solidFill>
              </a:rPr>
              <a:t>actions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can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have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long-</a:t>
            </a:r>
            <a:r>
              <a:rPr dirty="0">
                <a:solidFill>
                  <a:srgbClr val="C7C7D2"/>
                </a:solidFill>
              </a:rPr>
              <a:t>term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consequences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C7C7D2"/>
                </a:solidFill>
              </a:rPr>
              <a:t>Ex: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chess</a:t>
            </a:r>
            <a:r>
              <a:rPr sz="1000" dirty="0">
                <a:solidFill>
                  <a:srgbClr val="C7C7D2"/>
                </a:solidFill>
              </a:rPr>
              <a:t>,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taxi</a:t>
            </a:r>
            <a:r>
              <a:rPr sz="1000" spc="-5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driving</a:t>
            </a:r>
            <a:r>
              <a:rPr sz="1000" dirty="0">
                <a:solidFill>
                  <a:srgbClr val="C7C7D2"/>
                </a:solidFill>
              </a:rPr>
              <a:t>,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spc="-25" dirty="0">
                <a:solidFill>
                  <a:srgbClr val="C7C7D2"/>
                </a:solidFill>
              </a:rPr>
              <a:t>...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pc="-10" dirty="0">
                <a:solidFill>
                  <a:srgbClr val="C7C7D2"/>
                </a:solidFill>
              </a:rPr>
              <a:t>Episodic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environments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are</a:t>
            </a:r>
            <a:r>
              <a:rPr spc="-1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much</a:t>
            </a:r>
            <a:r>
              <a:rPr spc="-20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simpler</a:t>
            </a:r>
            <a:r>
              <a:rPr spc="-1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than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sequential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20" dirty="0">
                <a:solidFill>
                  <a:srgbClr val="C7C7D2"/>
                </a:solidFill>
              </a:rPr>
              <a:t>ones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No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need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to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think</a:t>
            </a:r>
            <a:r>
              <a:rPr sz="1000" spc="-10" dirty="0">
                <a:solidFill>
                  <a:srgbClr val="C7C7D2"/>
                </a:solidFill>
              </a:rPr>
              <a:t> ahead!</a:t>
            </a:r>
            <a:endParaRPr sz="10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97344"/>
            <a:ext cx="4349750" cy="2214880"/>
            <a:chOff x="129196" y="697344"/>
            <a:chExt cx="4349750" cy="2214880"/>
          </a:xfrm>
        </p:grpSpPr>
        <p:sp>
          <p:nvSpPr>
            <p:cNvPr id="4" name="object 4"/>
            <p:cNvSpPr/>
            <p:nvPr/>
          </p:nvSpPr>
          <p:spPr>
            <a:xfrm>
              <a:off x="129196" y="69734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7596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920231"/>
              <a:ext cx="4349750" cy="1991995"/>
            </a:xfrm>
            <a:custGeom>
              <a:avLst/>
              <a:gdLst/>
              <a:ahLst/>
              <a:cxnLst/>
              <a:rect l="l" t="t" r="r" b="b"/>
              <a:pathLst>
                <a:path w="4349750" h="1991995">
                  <a:moveTo>
                    <a:pt x="4349657" y="0"/>
                  </a:moveTo>
                  <a:lnTo>
                    <a:pt x="0" y="0"/>
                  </a:lnTo>
                  <a:lnTo>
                    <a:pt x="0" y="1941090"/>
                  </a:lnTo>
                  <a:lnTo>
                    <a:pt x="4008" y="1960815"/>
                  </a:lnTo>
                  <a:lnTo>
                    <a:pt x="14922" y="1976968"/>
                  </a:lnTo>
                  <a:lnTo>
                    <a:pt x="31075" y="1987882"/>
                  </a:lnTo>
                  <a:lnTo>
                    <a:pt x="50800" y="1991891"/>
                  </a:lnTo>
                  <a:lnTo>
                    <a:pt x="4298856" y="1991891"/>
                  </a:lnTo>
                  <a:lnTo>
                    <a:pt x="4318581" y="1987882"/>
                  </a:lnTo>
                  <a:lnTo>
                    <a:pt x="4334734" y="1976968"/>
                  </a:lnTo>
                  <a:lnTo>
                    <a:pt x="4345648" y="1960815"/>
                  </a:lnTo>
                  <a:lnTo>
                    <a:pt x="4349657" y="19410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79654"/>
              <a:ext cx="0" cy="2101215"/>
            </a:xfrm>
            <a:custGeom>
              <a:avLst/>
              <a:gdLst/>
              <a:ahLst/>
              <a:cxnLst/>
              <a:rect l="l" t="t" r="r" b="b"/>
              <a:pathLst>
                <a:path h="2101215">
                  <a:moveTo>
                    <a:pt x="0" y="2100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669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542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415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649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700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0883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91615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091004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434907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609761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80183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0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>
                <a:solidFill>
                  <a:srgbClr val="3333B2"/>
                </a:solidFill>
              </a:rPr>
              <a:t>Episodic</a:t>
            </a:r>
            <a:r>
              <a:rPr spc="-2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sequential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episodic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agent’s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experience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divided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into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atomic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 marR="508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00"/>
                </a:solidFill>
              </a:rPr>
              <a:t>in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each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episode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receives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percept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50" dirty="0">
                <a:solidFill>
                  <a:srgbClr val="000000"/>
                </a:solidFill>
              </a:rPr>
              <a:t>a </a:t>
            </a:r>
            <a:r>
              <a:rPr sz="1000" dirty="0">
                <a:solidFill>
                  <a:srgbClr val="000000"/>
                </a:solidFill>
              </a:rPr>
              <a:t>single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action</a:t>
            </a:r>
            <a:endParaRPr sz="1000"/>
          </a:p>
          <a:p>
            <a:pPr marR="233679" algn="ctr">
              <a:lnSpc>
                <a:spcPts val="1150"/>
              </a:lnSpc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4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depend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on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actions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taken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</a:t>
            </a:r>
            <a:r>
              <a:rPr sz="1000" spc="-10" dirty="0">
                <a:solidFill>
                  <a:srgbClr val="C92626"/>
                </a:solidFill>
              </a:rPr>
              <a:t> previous</a:t>
            </a:r>
            <a:endParaRPr sz="1000">
              <a:latin typeface="Source Sans 3"/>
              <a:cs typeface="Source Sans 3"/>
            </a:endParaRPr>
          </a:p>
          <a:p>
            <a:pPr marR="231140" algn="ctr">
              <a:lnSpc>
                <a:spcPts val="1195"/>
              </a:lnSpc>
            </a:pP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they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influence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future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6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agent that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has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to spot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defective</a:t>
            </a:r>
            <a:r>
              <a:rPr sz="1000" dirty="0">
                <a:solidFill>
                  <a:srgbClr val="006300"/>
                </a:solidFill>
              </a:rPr>
              <a:t> parts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on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 assembly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line</a:t>
            </a:r>
            <a:r>
              <a:rPr sz="1000" spc="-10" dirty="0">
                <a:solidFill>
                  <a:srgbClr val="000000"/>
                </a:solidFill>
              </a:rPr>
              <a:t>,</a:t>
            </a:r>
            <a:endParaRPr sz="1000"/>
          </a:p>
          <a:p>
            <a:pPr marL="289560" marR="10033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sequential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current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decision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could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affect </a:t>
            </a:r>
            <a:r>
              <a:rPr dirty="0">
                <a:solidFill>
                  <a:srgbClr val="000000"/>
                </a:solidFill>
              </a:rPr>
              <a:t>future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decisions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105" dirty="0">
                <a:solidFill>
                  <a:srgbClr val="000000"/>
                </a:solidFill>
                <a:latin typeface="Lucida Sans Unicode"/>
                <a:cs typeface="Lucida Sans Unicode"/>
              </a:rPr>
              <a:t>=</a:t>
            </a:r>
            <a:r>
              <a:rPr i="1" spc="105" dirty="0">
                <a:solidFill>
                  <a:srgbClr val="000000"/>
                </a:solidFill>
                <a:latin typeface="Source Sans 3"/>
                <a:cs typeface="Source Sans 3"/>
              </a:rPr>
              <a:t>⇒</a:t>
            </a:r>
            <a:r>
              <a:rPr i="1" spc="6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dirty="0">
                <a:solidFill>
                  <a:srgbClr val="000000"/>
                </a:solidFill>
              </a:rPr>
              <a:t>actions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have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long-</a:t>
            </a:r>
            <a:r>
              <a:rPr dirty="0">
                <a:solidFill>
                  <a:srgbClr val="000000"/>
                </a:solidFill>
              </a:rPr>
              <a:t>term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consequences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chess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driving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25" dirty="0">
                <a:solidFill>
                  <a:srgbClr val="000000"/>
                </a:solidFill>
              </a:rPr>
              <a:t>...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pc="-10" dirty="0">
                <a:solidFill>
                  <a:srgbClr val="C7C7D2"/>
                </a:solidFill>
              </a:rPr>
              <a:t>Episodic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environments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are</a:t>
            </a:r>
            <a:r>
              <a:rPr spc="-1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much</a:t>
            </a:r>
            <a:r>
              <a:rPr spc="-20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simpler</a:t>
            </a:r>
            <a:r>
              <a:rPr spc="-1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than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sequential</a:t>
            </a:r>
            <a:r>
              <a:rPr spc="-15" dirty="0">
                <a:solidFill>
                  <a:srgbClr val="C7C7D2"/>
                </a:solidFill>
              </a:rPr>
              <a:t> </a:t>
            </a:r>
            <a:r>
              <a:rPr spc="-20" dirty="0">
                <a:solidFill>
                  <a:srgbClr val="C7C7D2"/>
                </a:solidFill>
              </a:rPr>
              <a:t>ones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</a:rPr>
              <a:t>No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need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to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think</a:t>
            </a:r>
            <a:r>
              <a:rPr sz="1000" spc="-10" dirty="0">
                <a:solidFill>
                  <a:srgbClr val="C7C7D2"/>
                </a:solidFill>
              </a:rPr>
              <a:t> ahead!</a:t>
            </a: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97344"/>
            <a:ext cx="4349750" cy="2214880"/>
            <a:chOff x="129196" y="697344"/>
            <a:chExt cx="4349750" cy="2214880"/>
          </a:xfrm>
        </p:grpSpPr>
        <p:sp>
          <p:nvSpPr>
            <p:cNvPr id="4" name="object 4"/>
            <p:cNvSpPr/>
            <p:nvPr/>
          </p:nvSpPr>
          <p:spPr>
            <a:xfrm>
              <a:off x="129196" y="697344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6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75969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920231"/>
              <a:ext cx="4349750" cy="1991995"/>
            </a:xfrm>
            <a:custGeom>
              <a:avLst/>
              <a:gdLst/>
              <a:ahLst/>
              <a:cxnLst/>
              <a:rect l="l" t="t" r="r" b="b"/>
              <a:pathLst>
                <a:path w="4349750" h="1991995">
                  <a:moveTo>
                    <a:pt x="4349657" y="0"/>
                  </a:moveTo>
                  <a:lnTo>
                    <a:pt x="0" y="0"/>
                  </a:lnTo>
                  <a:lnTo>
                    <a:pt x="0" y="1941090"/>
                  </a:lnTo>
                  <a:lnTo>
                    <a:pt x="4008" y="1960815"/>
                  </a:lnTo>
                  <a:lnTo>
                    <a:pt x="14922" y="1976968"/>
                  </a:lnTo>
                  <a:lnTo>
                    <a:pt x="31075" y="1987882"/>
                  </a:lnTo>
                  <a:lnTo>
                    <a:pt x="50800" y="1991891"/>
                  </a:lnTo>
                  <a:lnTo>
                    <a:pt x="4298856" y="1991891"/>
                  </a:lnTo>
                  <a:lnTo>
                    <a:pt x="4318581" y="1987882"/>
                  </a:lnTo>
                  <a:lnTo>
                    <a:pt x="4334734" y="1976968"/>
                  </a:lnTo>
                  <a:lnTo>
                    <a:pt x="4345648" y="1960815"/>
                  </a:lnTo>
                  <a:lnTo>
                    <a:pt x="4349657" y="194109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79654"/>
              <a:ext cx="0" cy="2101215"/>
            </a:xfrm>
            <a:custGeom>
              <a:avLst/>
              <a:gdLst/>
              <a:ahLst/>
              <a:cxnLst/>
              <a:rect l="l" t="t" r="r" b="b"/>
              <a:pathLst>
                <a:path h="2101215">
                  <a:moveTo>
                    <a:pt x="0" y="2100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669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542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415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64933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700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308836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91615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091004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434907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609761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801836"/>
              <a:ext cx="61874" cy="6187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0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>
                <a:solidFill>
                  <a:srgbClr val="3333B2"/>
                </a:solidFill>
              </a:rPr>
              <a:t>Episodic</a:t>
            </a:r>
            <a:r>
              <a:rPr spc="-2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45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sequential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episodic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agent’s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experience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divided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into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atomic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 marR="508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00"/>
                </a:solidFill>
              </a:rPr>
              <a:t>in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each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episode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receives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percept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then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performs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50" dirty="0">
                <a:solidFill>
                  <a:srgbClr val="000000"/>
                </a:solidFill>
              </a:rPr>
              <a:t>a </a:t>
            </a:r>
            <a:r>
              <a:rPr sz="1000" dirty="0">
                <a:solidFill>
                  <a:srgbClr val="000000"/>
                </a:solidFill>
              </a:rPr>
              <a:t>single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action</a:t>
            </a:r>
            <a:endParaRPr sz="1000"/>
          </a:p>
          <a:p>
            <a:pPr marR="233679" algn="ctr">
              <a:lnSpc>
                <a:spcPts val="1150"/>
              </a:lnSpc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4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depend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on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actions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taken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</a:t>
            </a:r>
            <a:r>
              <a:rPr sz="1000" spc="-10" dirty="0">
                <a:solidFill>
                  <a:srgbClr val="C92626"/>
                </a:solidFill>
              </a:rPr>
              <a:t> previous</a:t>
            </a:r>
            <a:endParaRPr sz="1000">
              <a:latin typeface="Source Sans 3"/>
              <a:cs typeface="Source Sans 3"/>
            </a:endParaRPr>
          </a:p>
          <a:p>
            <a:pPr marR="231140" algn="ctr">
              <a:lnSpc>
                <a:spcPts val="1195"/>
              </a:lnSpc>
            </a:pPr>
            <a:r>
              <a:rPr sz="1000" dirty="0">
                <a:solidFill>
                  <a:srgbClr val="C92626"/>
                </a:solidFill>
              </a:rPr>
              <a:t>episodes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they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do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not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influence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future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episodes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6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agent that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has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to spot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defective</a:t>
            </a:r>
            <a:r>
              <a:rPr sz="1000" dirty="0">
                <a:solidFill>
                  <a:srgbClr val="006300"/>
                </a:solidFill>
              </a:rPr>
              <a:t> parts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on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an assembly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line</a:t>
            </a:r>
            <a:r>
              <a:rPr sz="1000" spc="-10" dirty="0">
                <a:solidFill>
                  <a:srgbClr val="000000"/>
                </a:solidFill>
              </a:rPr>
              <a:t>,</a:t>
            </a:r>
            <a:endParaRPr sz="1000"/>
          </a:p>
          <a:p>
            <a:pPr marL="289560" marR="10033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sequential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current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decision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could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affect </a:t>
            </a:r>
            <a:r>
              <a:rPr dirty="0">
                <a:solidFill>
                  <a:srgbClr val="000000"/>
                </a:solidFill>
              </a:rPr>
              <a:t>future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decisions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105" dirty="0">
                <a:solidFill>
                  <a:srgbClr val="000000"/>
                </a:solidFill>
                <a:latin typeface="Lucida Sans Unicode"/>
                <a:cs typeface="Lucida Sans Unicode"/>
              </a:rPr>
              <a:t>=</a:t>
            </a:r>
            <a:r>
              <a:rPr i="1" spc="105" dirty="0">
                <a:solidFill>
                  <a:srgbClr val="000000"/>
                </a:solidFill>
                <a:latin typeface="Source Sans 3"/>
                <a:cs typeface="Source Sans 3"/>
              </a:rPr>
              <a:t>⇒</a:t>
            </a:r>
            <a:r>
              <a:rPr i="1" spc="6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dirty="0">
                <a:solidFill>
                  <a:srgbClr val="000000"/>
                </a:solidFill>
              </a:rPr>
              <a:t>actions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have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long-</a:t>
            </a:r>
            <a:r>
              <a:rPr dirty="0">
                <a:solidFill>
                  <a:srgbClr val="000000"/>
                </a:solidFill>
              </a:rPr>
              <a:t>term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consequences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chess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driving</a:t>
            </a:r>
            <a:r>
              <a:rPr sz="1000" dirty="0">
                <a:solidFill>
                  <a:srgbClr val="000000"/>
                </a:solidFill>
              </a:rPr>
              <a:t>,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25" dirty="0">
                <a:solidFill>
                  <a:srgbClr val="000000"/>
                </a:solidFill>
              </a:rPr>
              <a:t>...</a:t>
            </a:r>
            <a:endParaRPr sz="1000"/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spc="-10" dirty="0">
                <a:solidFill>
                  <a:srgbClr val="000000"/>
                </a:solidFill>
              </a:rPr>
              <a:t>Episodic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are</a:t>
            </a:r>
            <a:r>
              <a:rPr spc="-1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much</a:t>
            </a:r>
            <a:r>
              <a:rPr spc="-20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simpler</a:t>
            </a:r>
            <a:r>
              <a:rPr spc="-1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than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sequential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ones</a:t>
            </a: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00"/>
                </a:solidFill>
              </a:rPr>
              <a:t>No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need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to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think</a:t>
            </a:r>
            <a:r>
              <a:rPr sz="1000" spc="-10" dirty="0">
                <a:solidFill>
                  <a:srgbClr val="000000"/>
                </a:solidFill>
              </a:rPr>
              <a:t> ahead!</a:t>
            </a:r>
            <a:endParaRPr sz="100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28661"/>
            <a:ext cx="4349750" cy="1637030"/>
            <a:chOff x="129196" y="928661"/>
            <a:chExt cx="4349750" cy="1637030"/>
          </a:xfrm>
        </p:grpSpPr>
        <p:sp>
          <p:nvSpPr>
            <p:cNvPr id="4" name="object 4"/>
            <p:cNvSpPr/>
            <p:nvPr/>
          </p:nvSpPr>
          <p:spPr>
            <a:xfrm>
              <a:off x="129196" y="92866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1047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54737"/>
              <a:ext cx="4349750" cy="1410970"/>
            </a:xfrm>
            <a:custGeom>
              <a:avLst/>
              <a:gdLst/>
              <a:ahLst/>
              <a:cxnLst/>
              <a:rect l="l" t="t" r="r" b="b"/>
              <a:pathLst>
                <a:path w="4349750" h="1410970">
                  <a:moveTo>
                    <a:pt x="4349657" y="0"/>
                  </a:moveTo>
                  <a:lnTo>
                    <a:pt x="0" y="0"/>
                  </a:lnTo>
                  <a:lnTo>
                    <a:pt x="0" y="1359595"/>
                  </a:lnTo>
                  <a:lnTo>
                    <a:pt x="4008" y="1379320"/>
                  </a:lnTo>
                  <a:lnTo>
                    <a:pt x="14922" y="1395473"/>
                  </a:lnTo>
                  <a:lnTo>
                    <a:pt x="31075" y="1406387"/>
                  </a:lnTo>
                  <a:lnTo>
                    <a:pt x="50800" y="1410396"/>
                  </a:lnTo>
                  <a:lnTo>
                    <a:pt x="4298856" y="1410396"/>
                  </a:lnTo>
                  <a:lnTo>
                    <a:pt x="4318581" y="1406387"/>
                  </a:lnTo>
                  <a:lnTo>
                    <a:pt x="4334734" y="1395473"/>
                  </a:lnTo>
                  <a:lnTo>
                    <a:pt x="4345648" y="1379320"/>
                  </a:lnTo>
                  <a:lnTo>
                    <a:pt x="4349657" y="135959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10973"/>
              <a:ext cx="0" cy="1522730"/>
            </a:xfrm>
            <a:custGeom>
              <a:avLst/>
              <a:gdLst/>
              <a:ahLst/>
              <a:cxnLst/>
              <a:rect l="l" t="t" r="r" b="b"/>
              <a:pathLst>
                <a:path h="1522730">
                  <a:moveTo>
                    <a:pt x="0" y="15224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98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85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72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02626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9835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73212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171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412212"/>
              <a:ext cx="76809" cy="7680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2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Static</a:t>
            </a:r>
            <a:r>
              <a:rPr spc="-3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30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dynamic</a:t>
            </a:r>
          </a:p>
          <a:p>
            <a:pPr marL="289560" marR="35941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C7C7D2"/>
                </a:solidFill>
              </a:rPr>
              <a:t>The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task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is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F8"/>
                </a:solidFill>
              </a:rPr>
              <a:t>dynamic</a:t>
            </a:r>
            <a:r>
              <a:rPr spc="-25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iff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it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can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change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while</a:t>
            </a:r>
            <a:r>
              <a:rPr spc="-25" dirty="0">
                <a:solidFill>
                  <a:srgbClr val="E5CDD7"/>
                </a:solidFill>
              </a:rPr>
              <a:t> the </a:t>
            </a:r>
            <a:r>
              <a:rPr dirty="0">
                <a:solidFill>
                  <a:srgbClr val="E5CDD7"/>
                </a:solidFill>
              </a:rPr>
              <a:t>agent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is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10" dirty="0">
                <a:solidFill>
                  <a:srgbClr val="E5CDD7"/>
                </a:solidFill>
              </a:rPr>
              <a:t>choosing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an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action</a:t>
            </a:r>
            <a:r>
              <a:rPr dirty="0">
                <a:solidFill>
                  <a:srgbClr val="C7C7D2"/>
                </a:solidFill>
              </a:rPr>
              <a:t>,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F8"/>
                </a:solidFill>
              </a:rPr>
              <a:t>static</a:t>
            </a:r>
            <a:r>
              <a:rPr spc="-25" dirty="0">
                <a:solidFill>
                  <a:srgbClr val="C7C7F8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otherwise</a:t>
            </a:r>
          </a:p>
          <a:p>
            <a:pPr marL="566420" marR="191135" indent="-273685">
              <a:lnSpc>
                <a:spcPct val="100000"/>
              </a:lnSpc>
              <a:spcBef>
                <a:spcPts val="150"/>
              </a:spcBef>
            </a:pPr>
            <a:r>
              <a:rPr sz="1000" spc="9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E5CDD7"/>
                </a:solidFill>
              </a:rPr>
              <a:t>agent</a:t>
            </a:r>
            <a:r>
              <a:rPr sz="1000" spc="-5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needs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keep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looking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at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the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world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while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deciding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an</a:t>
            </a:r>
            <a:r>
              <a:rPr sz="1000" spc="-10" dirty="0">
                <a:solidFill>
                  <a:srgbClr val="E5CDD7"/>
                </a:solidFill>
              </a:rPr>
              <a:t> action </a:t>
            </a:r>
            <a:r>
              <a:rPr sz="1000" dirty="0">
                <a:solidFill>
                  <a:srgbClr val="C7C7D2"/>
                </a:solidFill>
              </a:rPr>
              <a:t>Ex:</a:t>
            </a:r>
            <a:r>
              <a:rPr sz="1000" spc="5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D6D2"/>
                </a:solidFill>
              </a:rPr>
              <a:t>crossword </a:t>
            </a:r>
            <a:r>
              <a:rPr sz="1000" dirty="0">
                <a:solidFill>
                  <a:srgbClr val="C7D6D2"/>
                </a:solidFill>
              </a:rPr>
              <a:t>puzzles</a:t>
            </a:r>
            <a:r>
              <a:rPr sz="1000" spc="-5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are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static,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taxi</a:t>
            </a:r>
            <a:r>
              <a:rPr sz="1000" spc="-10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driving</a:t>
            </a:r>
            <a:r>
              <a:rPr sz="1000" spc="-5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is</a:t>
            </a:r>
            <a:r>
              <a:rPr sz="1000" spc="-10" dirty="0">
                <a:solidFill>
                  <a:srgbClr val="C7C7D2"/>
                </a:solidFill>
              </a:rPr>
              <a:t> dynamic</a:t>
            </a:r>
            <a:endParaRPr sz="1000">
              <a:latin typeface="Source Sans 3"/>
              <a:cs typeface="Source Sans 3"/>
            </a:endParaRPr>
          </a:p>
          <a:p>
            <a:pPr marL="289560" marR="5080">
              <a:lnSpc>
                <a:spcPts val="1200"/>
              </a:lnSpc>
              <a:spcBef>
                <a:spcPts val="330"/>
              </a:spcBef>
            </a:pPr>
            <a:r>
              <a:rPr dirty="0">
                <a:solidFill>
                  <a:srgbClr val="C7C7D2"/>
                </a:solidFill>
              </a:rPr>
              <a:t>The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5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is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semidynamic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if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the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itself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does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not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change </a:t>
            </a:r>
            <a:r>
              <a:rPr dirty="0">
                <a:solidFill>
                  <a:srgbClr val="C7C7D2"/>
                </a:solidFill>
              </a:rPr>
              <a:t>with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time,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but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the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10" dirty="0">
                <a:solidFill>
                  <a:srgbClr val="E5CDD7"/>
                </a:solidFill>
              </a:rPr>
              <a:t>agent’s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10" dirty="0">
                <a:solidFill>
                  <a:srgbClr val="E5CDD7"/>
                </a:solidFill>
              </a:rPr>
              <a:t>performance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score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20" dirty="0">
                <a:solidFill>
                  <a:srgbClr val="E5CDD7"/>
                </a:solidFill>
              </a:rPr>
              <a:t>does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C7C7D2"/>
                </a:solidFill>
              </a:rPr>
              <a:t>Ex: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chess</a:t>
            </a:r>
            <a:r>
              <a:rPr sz="1000" spc="-5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with</a:t>
            </a:r>
            <a:r>
              <a:rPr sz="1000" spc="-10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a</a:t>
            </a:r>
            <a:r>
              <a:rPr sz="1000" spc="-10" dirty="0">
                <a:solidFill>
                  <a:srgbClr val="C7D6D2"/>
                </a:solidFill>
              </a:rPr>
              <a:t> </a:t>
            </a:r>
            <a:r>
              <a:rPr sz="1000" spc="-20" dirty="0">
                <a:solidFill>
                  <a:srgbClr val="C7D6D2"/>
                </a:solidFill>
              </a:rPr>
              <a:t>clock</a:t>
            </a:r>
            <a:endParaRPr sz="1000"/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7C7D2"/>
                </a:solidFill>
              </a:rPr>
              <a:t>Static</a:t>
            </a:r>
            <a:r>
              <a:rPr spc="-10" dirty="0">
                <a:solidFill>
                  <a:srgbClr val="C7C7D2"/>
                </a:solidFill>
              </a:rPr>
              <a:t> environments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are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easier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to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deal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wrt.</a:t>
            </a:r>
            <a:r>
              <a:rPr spc="6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[semi]dynamic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spc="-20" dirty="0">
                <a:solidFill>
                  <a:srgbClr val="C7C7D2"/>
                </a:solidFill>
              </a:rPr>
              <a:t>ones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28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28661"/>
            <a:ext cx="4349750" cy="1637030"/>
            <a:chOff x="129196" y="928661"/>
            <a:chExt cx="4349750" cy="1637030"/>
          </a:xfrm>
        </p:grpSpPr>
        <p:sp>
          <p:nvSpPr>
            <p:cNvPr id="4" name="object 4"/>
            <p:cNvSpPr/>
            <p:nvPr/>
          </p:nvSpPr>
          <p:spPr>
            <a:xfrm>
              <a:off x="129196" y="92866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1047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54737"/>
              <a:ext cx="4349750" cy="1410970"/>
            </a:xfrm>
            <a:custGeom>
              <a:avLst/>
              <a:gdLst/>
              <a:ahLst/>
              <a:cxnLst/>
              <a:rect l="l" t="t" r="r" b="b"/>
              <a:pathLst>
                <a:path w="4349750" h="1410970">
                  <a:moveTo>
                    <a:pt x="4349657" y="0"/>
                  </a:moveTo>
                  <a:lnTo>
                    <a:pt x="0" y="0"/>
                  </a:lnTo>
                  <a:lnTo>
                    <a:pt x="0" y="1359595"/>
                  </a:lnTo>
                  <a:lnTo>
                    <a:pt x="4008" y="1379320"/>
                  </a:lnTo>
                  <a:lnTo>
                    <a:pt x="14922" y="1395473"/>
                  </a:lnTo>
                  <a:lnTo>
                    <a:pt x="31075" y="1406387"/>
                  </a:lnTo>
                  <a:lnTo>
                    <a:pt x="50800" y="1410396"/>
                  </a:lnTo>
                  <a:lnTo>
                    <a:pt x="4298856" y="1410396"/>
                  </a:lnTo>
                  <a:lnTo>
                    <a:pt x="4318581" y="1406387"/>
                  </a:lnTo>
                  <a:lnTo>
                    <a:pt x="4334734" y="1395473"/>
                  </a:lnTo>
                  <a:lnTo>
                    <a:pt x="4345648" y="1379320"/>
                  </a:lnTo>
                  <a:lnTo>
                    <a:pt x="4349657" y="135959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10973"/>
              <a:ext cx="0" cy="1522730"/>
            </a:xfrm>
            <a:custGeom>
              <a:avLst/>
              <a:gdLst/>
              <a:ahLst/>
              <a:cxnLst/>
              <a:rect l="l" t="t" r="r" b="b"/>
              <a:pathLst>
                <a:path h="1522730">
                  <a:moveTo>
                    <a:pt x="0" y="15224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98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85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72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02626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9835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73212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171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412212"/>
              <a:ext cx="76809" cy="7680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2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Static</a:t>
            </a:r>
            <a:r>
              <a:rPr spc="-3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30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dynamic</a:t>
            </a:r>
          </a:p>
          <a:p>
            <a:pPr marL="289560" marR="35941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dynamic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change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while</a:t>
            </a:r>
            <a:r>
              <a:rPr spc="-25" dirty="0">
                <a:solidFill>
                  <a:srgbClr val="C92626"/>
                </a:solidFill>
              </a:rPr>
              <a:t> the </a:t>
            </a:r>
            <a:r>
              <a:rPr dirty="0">
                <a:solidFill>
                  <a:srgbClr val="C92626"/>
                </a:solidFill>
              </a:rPr>
              <a:t>agent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choosing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action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static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otherwise</a:t>
            </a:r>
          </a:p>
          <a:p>
            <a:pPr marL="566420" marR="191135" indent="-273685">
              <a:lnSpc>
                <a:spcPct val="100000"/>
              </a:lnSpc>
              <a:spcBef>
                <a:spcPts val="150"/>
              </a:spcBef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needs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keep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looking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world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while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deciding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an</a:t>
            </a:r>
            <a:r>
              <a:rPr sz="1000" spc="-10" dirty="0">
                <a:solidFill>
                  <a:srgbClr val="C92626"/>
                </a:solidFill>
              </a:rPr>
              <a:t> action </a:t>
            </a: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crossword </a:t>
            </a:r>
            <a:r>
              <a:rPr sz="1000" dirty="0">
                <a:solidFill>
                  <a:srgbClr val="006300"/>
                </a:solidFill>
              </a:rPr>
              <a:t>puzzles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are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static,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driving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10" dirty="0">
                <a:solidFill>
                  <a:srgbClr val="000000"/>
                </a:solidFill>
              </a:rPr>
              <a:t> dynamic</a:t>
            </a:r>
            <a:endParaRPr sz="1000">
              <a:latin typeface="Source Sans 3"/>
              <a:cs typeface="Source Sans 3"/>
            </a:endParaRPr>
          </a:p>
          <a:p>
            <a:pPr marL="289560" marR="5080">
              <a:lnSpc>
                <a:spcPts val="1200"/>
              </a:lnSpc>
              <a:spcBef>
                <a:spcPts val="330"/>
              </a:spcBef>
            </a:pPr>
            <a:r>
              <a:rPr dirty="0">
                <a:solidFill>
                  <a:srgbClr val="C7C7D2"/>
                </a:solidFill>
              </a:rPr>
              <a:t>The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t.e.</a:t>
            </a:r>
            <a:r>
              <a:rPr spc="5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is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F8"/>
                </a:solidFill>
              </a:rPr>
              <a:t>semidynamic</a:t>
            </a:r>
            <a:r>
              <a:rPr spc="-20" dirty="0">
                <a:solidFill>
                  <a:srgbClr val="C7C7F8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if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the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environment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itself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does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not</a:t>
            </a:r>
            <a:r>
              <a:rPr spc="-20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change </a:t>
            </a:r>
            <a:r>
              <a:rPr dirty="0">
                <a:solidFill>
                  <a:srgbClr val="C7C7D2"/>
                </a:solidFill>
              </a:rPr>
              <a:t>with</a:t>
            </a:r>
            <a:r>
              <a:rPr spc="-30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time,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but</a:t>
            </a:r>
            <a:r>
              <a:rPr spc="-2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the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10" dirty="0">
                <a:solidFill>
                  <a:srgbClr val="E5CDD7"/>
                </a:solidFill>
              </a:rPr>
              <a:t>agent’s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10" dirty="0">
                <a:solidFill>
                  <a:srgbClr val="E5CDD7"/>
                </a:solidFill>
              </a:rPr>
              <a:t>performance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dirty="0">
                <a:solidFill>
                  <a:srgbClr val="E5CDD7"/>
                </a:solidFill>
              </a:rPr>
              <a:t>score</a:t>
            </a:r>
            <a:r>
              <a:rPr spc="-25" dirty="0">
                <a:solidFill>
                  <a:srgbClr val="E5CDD7"/>
                </a:solidFill>
              </a:rPr>
              <a:t> </a:t>
            </a:r>
            <a:r>
              <a:rPr spc="-20" dirty="0">
                <a:solidFill>
                  <a:srgbClr val="E5CDD7"/>
                </a:solidFill>
              </a:rPr>
              <a:t>does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C7C7D2"/>
                </a:solidFill>
              </a:rPr>
              <a:t>Ex:</a:t>
            </a:r>
            <a:r>
              <a:rPr sz="1000" spc="5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chess</a:t>
            </a:r>
            <a:r>
              <a:rPr sz="1000" spc="-5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with</a:t>
            </a:r>
            <a:r>
              <a:rPr sz="1000" spc="-10" dirty="0">
                <a:solidFill>
                  <a:srgbClr val="C7D6D2"/>
                </a:solidFill>
              </a:rPr>
              <a:t> </a:t>
            </a:r>
            <a:r>
              <a:rPr sz="1000" dirty="0">
                <a:solidFill>
                  <a:srgbClr val="C7D6D2"/>
                </a:solidFill>
              </a:rPr>
              <a:t>a</a:t>
            </a:r>
            <a:r>
              <a:rPr sz="1000" spc="-10" dirty="0">
                <a:solidFill>
                  <a:srgbClr val="C7D6D2"/>
                </a:solidFill>
              </a:rPr>
              <a:t> </a:t>
            </a:r>
            <a:r>
              <a:rPr sz="1000" spc="-20" dirty="0">
                <a:solidFill>
                  <a:srgbClr val="C7D6D2"/>
                </a:solidFill>
              </a:rPr>
              <a:t>clock</a:t>
            </a:r>
            <a:endParaRPr sz="1000"/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7C7D2"/>
                </a:solidFill>
              </a:rPr>
              <a:t>Static</a:t>
            </a:r>
            <a:r>
              <a:rPr spc="-10" dirty="0">
                <a:solidFill>
                  <a:srgbClr val="C7C7D2"/>
                </a:solidFill>
              </a:rPr>
              <a:t> environments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are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easier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to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deal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wrt.</a:t>
            </a:r>
            <a:r>
              <a:rPr spc="6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[semi]dynamic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spc="-20" dirty="0">
                <a:solidFill>
                  <a:srgbClr val="C7C7D2"/>
                </a:solidFill>
              </a:rPr>
              <a:t>ones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28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28661"/>
            <a:ext cx="4349750" cy="1637030"/>
            <a:chOff x="129196" y="928661"/>
            <a:chExt cx="4349750" cy="1637030"/>
          </a:xfrm>
        </p:grpSpPr>
        <p:sp>
          <p:nvSpPr>
            <p:cNvPr id="4" name="object 4"/>
            <p:cNvSpPr/>
            <p:nvPr/>
          </p:nvSpPr>
          <p:spPr>
            <a:xfrm>
              <a:off x="129196" y="92866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1047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54737"/>
              <a:ext cx="4349750" cy="1410970"/>
            </a:xfrm>
            <a:custGeom>
              <a:avLst/>
              <a:gdLst/>
              <a:ahLst/>
              <a:cxnLst/>
              <a:rect l="l" t="t" r="r" b="b"/>
              <a:pathLst>
                <a:path w="4349750" h="1410970">
                  <a:moveTo>
                    <a:pt x="4349657" y="0"/>
                  </a:moveTo>
                  <a:lnTo>
                    <a:pt x="0" y="0"/>
                  </a:lnTo>
                  <a:lnTo>
                    <a:pt x="0" y="1359595"/>
                  </a:lnTo>
                  <a:lnTo>
                    <a:pt x="4008" y="1379320"/>
                  </a:lnTo>
                  <a:lnTo>
                    <a:pt x="14922" y="1395473"/>
                  </a:lnTo>
                  <a:lnTo>
                    <a:pt x="31075" y="1406387"/>
                  </a:lnTo>
                  <a:lnTo>
                    <a:pt x="50800" y="1410396"/>
                  </a:lnTo>
                  <a:lnTo>
                    <a:pt x="4298856" y="1410396"/>
                  </a:lnTo>
                  <a:lnTo>
                    <a:pt x="4318581" y="1406387"/>
                  </a:lnTo>
                  <a:lnTo>
                    <a:pt x="4334734" y="1395473"/>
                  </a:lnTo>
                  <a:lnTo>
                    <a:pt x="4345648" y="1379320"/>
                  </a:lnTo>
                  <a:lnTo>
                    <a:pt x="4349657" y="135959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10973"/>
              <a:ext cx="0" cy="1522730"/>
            </a:xfrm>
            <a:custGeom>
              <a:avLst/>
              <a:gdLst/>
              <a:ahLst/>
              <a:cxnLst/>
              <a:rect l="l" t="t" r="r" b="b"/>
              <a:pathLst>
                <a:path h="1522730">
                  <a:moveTo>
                    <a:pt x="0" y="15224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98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85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72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02626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9835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73212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171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412212"/>
              <a:ext cx="76809" cy="7680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2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Static</a:t>
            </a:r>
            <a:r>
              <a:rPr spc="-3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30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dynamic</a:t>
            </a:r>
          </a:p>
          <a:p>
            <a:pPr marL="289560" marR="35941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dynamic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change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while</a:t>
            </a:r>
            <a:r>
              <a:rPr spc="-25" dirty="0">
                <a:solidFill>
                  <a:srgbClr val="C92626"/>
                </a:solidFill>
              </a:rPr>
              <a:t> the </a:t>
            </a:r>
            <a:r>
              <a:rPr dirty="0">
                <a:solidFill>
                  <a:srgbClr val="C92626"/>
                </a:solidFill>
              </a:rPr>
              <a:t>agent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choosing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action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static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otherwise</a:t>
            </a:r>
          </a:p>
          <a:p>
            <a:pPr marL="566420" marR="191135" indent="-273685">
              <a:lnSpc>
                <a:spcPct val="100000"/>
              </a:lnSpc>
              <a:spcBef>
                <a:spcPts val="150"/>
              </a:spcBef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needs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keep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looking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world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while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deciding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an</a:t>
            </a:r>
            <a:r>
              <a:rPr sz="1000" spc="-10" dirty="0">
                <a:solidFill>
                  <a:srgbClr val="C92626"/>
                </a:solidFill>
              </a:rPr>
              <a:t> action </a:t>
            </a: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crossword </a:t>
            </a:r>
            <a:r>
              <a:rPr sz="1000" dirty="0">
                <a:solidFill>
                  <a:srgbClr val="006300"/>
                </a:solidFill>
              </a:rPr>
              <a:t>puzzles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are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static,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driving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10" dirty="0">
                <a:solidFill>
                  <a:srgbClr val="000000"/>
                </a:solidFill>
              </a:rPr>
              <a:t> dynamic</a:t>
            </a:r>
            <a:endParaRPr sz="1000">
              <a:latin typeface="Source Sans 3"/>
              <a:cs typeface="Source Sans 3"/>
            </a:endParaRPr>
          </a:p>
          <a:p>
            <a:pPr marL="289560" marR="5080">
              <a:lnSpc>
                <a:spcPts val="1200"/>
              </a:lnSpc>
              <a:spcBef>
                <a:spcPts val="33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t.e.</a:t>
            </a:r>
            <a:r>
              <a:rPr spc="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semidynamic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itself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does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not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change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time,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agent’s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performance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score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20" dirty="0">
                <a:solidFill>
                  <a:srgbClr val="C92626"/>
                </a:solidFill>
              </a:rPr>
              <a:t>does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chess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with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spc="-20" dirty="0">
                <a:solidFill>
                  <a:srgbClr val="006300"/>
                </a:solidFill>
              </a:rPr>
              <a:t>clock</a:t>
            </a:r>
            <a:endParaRPr sz="1000"/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7C7D2"/>
                </a:solidFill>
              </a:rPr>
              <a:t>Static</a:t>
            </a:r>
            <a:r>
              <a:rPr spc="-10" dirty="0">
                <a:solidFill>
                  <a:srgbClr val="C7C7D2"/>
                </a:solidFill>
              </a:rPr>
              <a:t> environments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are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easier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to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deal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dirty="0">
                <a:solidFill>
                  <a:srgbClr val="C7C7D2"/>
                </a:solidFill>
              </a:rPr>
              <a:t>wrt.</a:t>
            </a:r>
            <a:r>
              <a:rPr spc="65" dirty="0">
                <a:solidFill>
                  <a:srgbClr val="C7C7D2"/>
                </a:solidFill>
              </a:rPr>
              <a:t> </a:t>
            </a:r>
            <a:r>
              <a:rPr spc="-10" dirty="0">
                <a:solidFill>
                  <a:srgbClr val="C7C7D2"/>
                </a:solidFill>
              </a:rPr>
              <a:t>[semi]dynamic</a:t>
            </a:r>
            <a:r>
              <a:rPr spc="-5" dirty="0">
                <a:solidFill>
                  <a:srgbClr val="C7C7D2"/>
                </a:solidFill>
              </a:rPr>
              <a:t> </a:t>
            </a:r>
            <a:r>
              <a:rPr spc="-20" dirty="0">
                <a:solidFill>
                  <a:srgbClr val="C7C7D2"/>
                </a:solidFill>
              </a:rPr>
              <a:t>ones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28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28661"/>
            <a:ext cx="4349750" cy="1637030"/>
            <a:chOff x="129196" y="928661"/>
            <a:chExt cx="4349750" cy="1637030"/>
          </a:xfrm>
        </p:grpSpPr>
        <p:sp>
          <p:nvSpPr>
            <p:cNvPr id="4" name="object 4"/>
            <p:cNvSpPr/>
            <p:nvPr/>
          </p:nvSpPr>
          <p:spPr>
            <a:xfrm>
              <a:off x="129196" y="92866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1047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54737"/>
              <a:ext cx="4349750" cy="1410970"/>
            </a:xfrm>
            <a:custGeom>
              <a:avLst/>
              <a:gdLst/>
              <a:ahLst/>
              <a:cxnLst/>
              <a:rect l="l" t="t" r="r" b="b"/>
              <a:pathLst>
                <a:path w="4349750" h="1410970">
                  <a:moveTo>
                    <a:pt x="4349657" y="0"/>
                  </a:moveTo>
                  <a:lnTo>
                    <a:pt x="0" y="0"/>
                  </a:lnTo>
                  <a:lnTo>
                    <a:pt x="0" y="1359595"/>
                  </a:lnTo>
                  <a:lnTo>
                    <a:pt x="4008" y="1379320"/>
                  </a:lnTo>
                  <a:lnTo>
                    <a:pt x="14922" y="1395473"/>
                  </a:lnTo>
                  <a:lnTo>
                    <a:pt x="31075" y="1406387"/>
                  </a:lnTo>
                  <a:lnTo>
                    <a:pt x="50800" y="1410396"/>
                  </a:lnTo>
                  <a:lnTo>
                    <a:pt x="4298856" y="1410396"/>
                  </a:lnTo>
                  <a:lnTo>
                    <a:pt x="4318581" y="1406387"/>
                  </a:lnTo>
                  <a:lnTo>
                    <a:pt x="4334734" y="1395473"/>
                  </a:lnTo>
                  <a:lnTo>
                    <a:pt x="4345648" y="1379320"/>
                  </a:lnTo>
                  <a:lnTo>
                    <a:pt x="4349657" y="135959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10973"/>
              <a:ext cx="0" cy="1522730"/>
            </a:xfrm>
            <a:custGeom>
              <a:avLst/>
              <a:gdLst/>
              <a:ahLst/>
              <a:cxnLst/>
              <a:rect l="l" t="t" r="r" b="b"/>
              <a:pathLst>
                <a:path h="1522730">
                  <a:moveTo>
                    <a:pt x="0" y="15224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98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85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728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02626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9835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73212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1711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412212"/>
              <a:ext cx="76809" cy="7680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2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>
                <a:solidFill>
                  <a:srgbClr val="3333B2"/>
                </a:solidFill>
              </a:rPr>
              <a:t>Static</a:t>
            </a:r>
            <a:r>
              <a:rPr spc="-3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vs.</a:t>
            </a:r>
            <a:r>
              <a:rPr spc="30" dirty="0">
                <a:solidFill>
                  <a:srgbClr val="3333B2"/>
                </a:solidFill>
              </a:rPr>
              <a:t> </a:t>
            </a:r>
            <a:r>
              <a:rPr spc="-10" dirty="0">
                <a:solidFill>
                  <a:srgbClr val="3333B2"/>
                </a:solidFill>
              </a:rPr>
              <a:t>dynamic</a:t>
            </a:r>
          </a:p>
          <a:p>
            <a:pPr marL="289560" marR="359410">
              <a:lnSpc>
                <a:spcPts val="1200"/>
              </a:lnSpc>
              <a:spcBef>
                <a:spcPts val="5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dynamic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iff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change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while</a:t>
            </a:r>
            <a:r>
              <a:rPr spc="-25" dirty="0">
                <a:solidFill>
                  <a:srgbClr val="C92626"/>
                </a:solidFill>
              </a:rPr>
              <a:t> the </a:t>
            </a:r>
            <a:r>
              <a:rPr dirty="0">
                <a:solidFill>
                  <a:srgbClr val="C92626"/>
                </a:solidFill>
              </a:rPr>
              <a:t>agent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is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choosing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an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action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static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otherwise</a:t>
            </a:r>
          </a:p>
          <a:p>
            <a:pPr marL="566420" marR="191135" indent="-273685">
              <a:lnSpc>
                <a:spcPct val="100000"/>
              </a:lnSpc>
              <a:spcBef>
                <a:spcPts val="150"/>
              </a:spcBef>
            </a:pPr>
            <a:r>
              <a:rPr sz="1000" spc="9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0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needs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keep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looking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world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while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deciding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an</a:t>
            </a:r>
            <a:r>
              <a:rPr sz="1000" spc="-10" dirty="0">
                <a:solidFill>
                  <a:srgbClr val="C92626"/>
                </a:solidFill>
              </a:rPr>
              <a:t> action </a:t>
            </a: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crossword </a:t>
            </a:r>
            <a:r>
              <a:rPr sz="1000" dirty="0">
                <a:solidFill>
                  <a:srgbClr val="006300"/>
                </a:solidFill>
              </a:rPr>
              <a:t>puzzles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are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static,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driving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is</a:t>
            </a:r>
            <a:r>
              <a:rPr sz="1000" spc="-10" dirty="0">
                <a:solidFill>
                  <a:srgbClr val="000000"/>
                </a:solidFill>
              </a:rPr>
              <a:t> dynamic</a:t>
            </a:r>
            <a:endParaRPr sz="1000">
              <a:latin typeface="Source Sans 3"/>
              <a:cs typeface="Source Sans 3"/>
            </a:endParaRPr>
          </a:p>
          <a:p>
            <a:pPr marL="289560" marR="5080">
              <a:lnSpc>
                <a:spcPts val="1200"/>
              </a:lnSpc>
              <a:spcBef>
                <a:spcPts val="33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t.e.</a:t>
            </a:r>
            <a:r>
              <a:rPr spc="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semidynamic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itself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does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not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change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time,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the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agent’s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performance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dirty="0">
                <a:solidFill>
                  <a:srgbClr val="C92626"/>
                </a:solidFill>
              </a:rPr>
              <a:t>score</a:t>
            </a:r>
            <a:r>
              <a:rPr spc="-25" dirty="0">
                <a:solidFill>
                  <a:srgbClr val="C92626"/>
                </a:solidFill>
              </a:rPr>
              <a:t> </a:t>
            </a:r>
            <a:r>
              <a:rPr spc="-20" dirty="0">
                <a:solidFill>
                  <a:srgbClr val="C92626"/>
                </a:solidFill>
              </a:rPr>
              <a:t>does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chess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with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a</a:t>
            </a:r>
            <a:r>
              <a:rPr sz="1000" spc="-10" dirty="0">
                <a:solidFill>
                  <a:srgbClr val="006300"/>
                </a:solidFill>
              </a:rPr>
              <a:t> </a:t>
            </a:r>
            <a:r>
              <a:rPr sz="1000" spc="-20" dirty="0">
                <a:solidFill>
                  <a:srgbClr val="006300"/>
                </a:solidFill>
              </a:rPr>
              <a:t>clock</a:t>
            </a:r>
            <a:endParaRPr sz="1000"/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000000"/>
                </a:solidFill>
              </a:rPr>
              <a:t>Static</a:t>
            </a:r>
            <a:r>
              <a:rPr spc="-10" dirty="0">
                <a:solidFill>
                  <a:srgbClr val="000000"/>
                </a:solidFill>
              </a:rPr>
              <a:t> environments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easier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deal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wrt.</a:t>
            </a:r>
            <a:r>
              <a:rPr spc="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[semi]dynamic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ones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28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176464"/>
            <a:ext cx="4349750" cy="1017269"/>
            <a:chOff x="129196" y="1176464"/>
            <a:chExt cx="4349750" cy="1017269"/>
          </a:xfrm>
        </p:grpSpPr>
        <p:sp>
          <p:nvSpPr>
            <p:cNvPr id="4" name="object 4"/>
            <p:cNvSpPr/>
            <p:nvPr/>
          </p:nvSpPr>
          <p:spPr>
            <a:xfrm>
              <a:off x="129196" y="1176464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34490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389173"/>
              <a:ext cx="4349750" cy="804545"/>
            </a:xfrm>
            <a:custGeom>
              <a:avLst/>
              <a:gdLst/>
              <a:ahLst/>
              <a:cxnLst/>
              <a:rect l="l" t="t" r="r" b="b"/>
              <a:pathLst>
                <a:path w="4349750" h="804544">
                  <a:moveTo>
                    <a:pt x="4349657" y="0"/>
                  </a:moveTo>
                  <a:lnTo>
                    <a:pt x="0" y="0"/>
                  </a:lnTo>
                  <a:lnTo>
                    <a:pt x="0" y="753468"/>
                  </a:lnTo>
                  <a:lnTo>
                    <a:pt x="4008" y="773193"/>
                  </a:lnTo>
                  <a:lnTo>
                    <a:pt x="14922" y="789346"/>
                  </a:lnTo>
                  <a:lnTo>
                    <a:pt x="31075" y="800260"/>
                  </a:lnTo>
                  <a:lnTo>
                    <a:pt x="50800" y="804268"/>
                  </a:lnTo>
                  <a:lnTo>
                    <a:pt x="4298856" y="804268"/>
                  </a:lnTo>
                  <a:lnTo>
                    <a:pt x="4318581" y="800260"/>
                  </a:lnTo>
                  <a:lnTo>
                    <a:pt x="4334734" y="789346"/>
                  </a:lnTo>
                  <a:lnTo>
                    <a:pt x="4345648" y="773193"/>
                  </a:lnTo>
                  <a:lnTo>
                    <a:pt x="4349657" y="75346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258780"/>
              <a:ext cx="0" cy="902969"/>
            </a:xfrm>
            <a:custGeom>
              <a:avLst/>
              <a:gdLst/>
              <a:ahLst/>
              <a:cxnLst/>
              <a:rect l="l" t="t" r="r" b="b"/>
              <a:pathLst>
                <a:path h="902969">
                  <a:moveTo>
                    <a:pt x="0" y="9029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2460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233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2206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43705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78094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932787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084616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297" y="1125154"/>
            <a:ext cx="4117975" cy="10623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Discrete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endParaRPr sz="1100">
              <a:latin typeface="Arial"/>
              <a:cs typeface="Arial"/>
            </a:endParaRPr>
          </a:p>
          <a:p>
            <a:pPr marL="289560" marR="232410">
              <a:lnSpc>
                <a:spcPts val="1200"/>
              </a:lnSpc>
              <a:spcBef>
                <a:spcPts val="42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environment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time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handled,</a:t>
            </a:r>
            <a:r>
              <a:rPr sz="1100" spc="-25" dirty="0">
                <a:latin typeface="Arial"/>
                <a:cs typeface="Arial"/>
              </a:rPr>
              <a:t> and </a:t>
            </a:r>
            <a:r>
              <a:rPr sz="1100" dirty="0">
                <a:latin typeface="Arial"/>
                <a:cs typeface="Arial"/>
              </a:rPr>
              <a:t>agents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&amp;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discrete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continuous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Crossword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puzzles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discrete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&amp;</a:t>
            </a:r>
            <a:r>
              <a:rPr sz="1000" spc="-10" dirty="0">
                <a:latin typeface="Arial"/>
                <a:cs typeface="Arial"/>
              </a:rPr>
              <a:t> actions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driving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continuous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percepts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&amp;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actions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90"/>
              </a:lnSpc>
            </a:pPr>
            <a:r>
              <a:rPr sz="1000" spc="-25" dirty="0">
                <a:latin typeface="Arial"/>
                <a:cs typeface="Arial"/>
              </a:rPr>
              <a:t>...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29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79156"/>
            <a:ext cx="4349750" cy="1260475"/>
            <a:chOff x="129196" y="1079156"/>
            <a:chExt cx="4349750" cy="1260475"/>
          </a:xfrm>
        </p:grpSpPr>
        <p:sp>
          <p:nvSpPr>
            <p:cNvPr id="4" name="object 4"/>
            <p:cNvSpPr/>
            <p:nvPr/>
          </p:nvSpPr>
          <p:spPr>
            <a:xfrm>
              <a:off x="129196" y="107915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4761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91874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61481"/>
              <a:ext cx="0" cy="1146175"/>
            </a:xfrm>
            <a:custGeom>
              <a:avLst/>
              <a:gdLst/>
              <a:ahLst/>
              <a:cxnLst/>
              <a:rect l="l" t="t" r="r" b="b"/>
              <a:pathLst>
                <a:path h="1146175">
                  <a:moveTo>
                    <a:pt x="0" y="11461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487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360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123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3974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8365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5850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02408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9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20" dirty="0">
                <a:solidFill>
                  <a:srgbClr val="C92626"/>
                </a:solidFill>
              </a:rPr>
              <a:t>Note</a:t>
            </a:r>
          </a:p>
          <a:p>
            <a:pPr marL="289560" marR="258445">
              <a:lnSpc>
                <a:spcPts val="1200"/>
              </a:lnSpc>
              <a:spcBef>
                <a:spcPts val="420"/>
              </a:spcBef>
            </a:pPr>
            <a:r>
              <a:rPr dirty="0">
                <a:solidFill>
                  <a:srgbClr val="D4C6C6"/>
                </a:solidFill>
              </a:rPr>
              <a:t>The</a:t>
            </a:r>
            <a:r>
              <a:rPr spc="-1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simplest</a:t>
            </a:r>
            <a:r>
              <a:rPr spc="-1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C6"/>
                </a:solidFill>
              </a:rPr>
              <a:t>environment </a:t>
            </a:r>
            <a:r>
              <a:rPr dirty="0">
                <a:solidFill>
                  <a:srgbClr val="D4C6C6"/>
                </a:solidFill>
              </a:rPr>
              <a:t>is</a:t>
            </a:r>
            <a:r>
              <a:rPr spc="-1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fully</a:t>
            </a:r>
            <a:r>
              <a:rPr spc="-10" dirty="0">
                <a:solidFill>
                  <a:srgbClr val="D4C6EC"/>
                </a:solidFill>
              </a:rPr>
              <a:t> observable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-1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single-agent</a:t>
            </a:r>
            <a:r>
              <a:rPr spc="-10" dirty="0">
                <a:solidFill>
                  <a:srgbClr val="D4C6C6"/>
                </a:solidFill>
              </a:rPr>
              <a:t>, </a:t>
            </a:r>
            <a:r>
              <a:rPr spc="-10" dirty="0">
                <a:solidFill>
                  <a:srgbClr val="D4C6EC"/>
                </a:solidFill>
              </a:rPr>
              <a:t>deterministic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episodic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static</a:t>
            </a:r>
            <a:r>
              <a:rPr spc="5" dirty="0">
                <a:solidFill>
                  <a:srgbClr val="D4C6EC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and</a:t>
            </a:r>
            <a:r>
              <a:rPr spc="5" dirty="0">
                <a:solidFill>
                  <a:srgbClr val="D4C6EC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discrete</a:t>
            </a:r>
            <a:r>
              <a:rPr spc="-10" dirty="0">
                <a:solidFill>
                  <a:srgbClr val="D4C6C6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D4C6C6"/>
                </a:solidFill>
              </a:rPr>
              <a:t>Ex:</a:t>
            </a:r>
            <a:r>
              <a:rPr sz="1000" spc="35" dirty="0">
                <a:solidFill>
                  <a:srgbClr val="D4C6C6"/>
                </a:solidFill>
              </a:rPr>
              <a:t> </a:t>
            </a:r>
            <a:r>
              <a:rPr sz="1000" dirty="0">
                <a:solidFill>
                  <a:srgbClr val="D4D5C6"/>
                </a:solidFill>
              </a:rPr>
              <a:t>simple</a:t>
            </a:r>
            <a:r>
              <a:rPr sz="1000" spc="-25" dirty="0">
                <a:solidFill>
                  <a:srgbClr val="D4D5C6"/>
                </a:solidFill>
              </a:rPr>
              <a:t> </a:t>
            </a:r>
            <a:r>
              <a:rPr sz="1000" dirty="0">
                <a:solidFill>
                  <a:srgbClr val="D4D5C6"/>
                </a:solidFill>
              </a:rPr>
              <a:t>vacuum</a:t>
            </a:r>
            <a:r>
              <a:rPr sz="1000" spc="-20" dirty="0">
                <a:solidFill>
                  <a:srgbClr val="D4D5C6"/>
                </a:solidFill>
              </a:rPr>
              <a:t> </a:t>
            </a:r>
            <a:r>
              <a:rPr sz="1000" spc="-10" dirty="0">
                <a:solidFill>
                  <a:srgbClr val="D4D5C6"/>
                </a:solidFill>
              </a:rPr>
              <a:t>cleaner</a:t>
            </a:r>
            <a:endParaRPr sz="1000"/>
          </a:p>
          <a:p>
            <a:pPr marL="289560" marR="508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D4C6C6"/>
                </a:solidFill>
              </a:rPr>
              <a:t>Most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C6"/>
                </a:solidFill>
              </a:rPr>
              <a:t>real-</a:t>
            </a:r>
            <a:r>
              <a:rPr dirty="0">
                <a:solidFill>
                  <a:srgbClr val="D4C6C6"/>
                </a:solidFill>
              </a:rPr>
              <a:t>world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situations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are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partially</a:t>
            </a:r>
            <a:r>
              <a:rPr spc="-20" dirty="0">
                <a:solidFill>
                  <a:srgbClr val="D4C6EC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observable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multi-agent</a:t>
            </a:r>
            <a:r>
              <a:rPr spc="-10" dirty="0">
                <a:solidFill>
                  <a:srgbClr val="D4C6C6"/>
                </a:solidFill>
              </a:rPr>
              <a:t>, </a:t>
            </a:r>
            <a:r>
              <a:rPr dirty="0">
                <a:solidFill>
                  <a:srgbClr val="D4C6EC"/>
                </a:solidFill>
              </a:rPr>
              <a:t>stochastic</a:t>
            </a:r>
            <a:r>
              <a:rPr dirty="0">
                <a:solidFill>
                  <a:srgbClr val="D4C6C6"/>
                </a:solidFill>
              </a:rPr>
              <a:t>,</a:t>
            </a:r>
            <a:r>
              <a:rPr spc="-30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sequential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dynamic</a:t>
            </a:r>
            <a:r>
              <a:rPr dirty="0">
                <a:solidFill>
                  <a:srgbClr val="D4C6C6"/>
                </a:solidFill>
              </a:rPr>
              <a:t>,</a:t>
            </a:r>
            <a:r>
              <a:rPr spc="-3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and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continuous</a:t>
            </a:r>
            <a:r>
              <a:rPr spc="-10" dirty="0">
                <a:solidFill>
                  <a:srgbClr val="D4C6C6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D4C6C6"/>
                </a:solidFill>
              </a:rPr>
              <a:t>Ex:</a:t>
            </a:r>
            <a:r>
              <a:rPr sz="1000" spc="50" dirty="0">
                <a:solidFill>
                  <a:srgbClr val="D4C6C6"/>
                </a:solidFill>
              </a:rPr>
              <a:t> </a:t>
            </a:r>
            <a:r>
              <a:rPr sz="1000" dirty="0">
                <a:solidFill>
                  <a:srgbClr val="D4D5C6"/>
                </a:solidFill>
              </a:rPr>
              <a:t>taxi</a:t>
            </a:r>
            <a:r>
              <a:rPr sz="1000" spc="-5" dirty="0">
                <a:solidFill>
                  <a:srgbClr val="D4D5C6"/>
                </a:solidFill>
              </a:rPr>
              <a:t> </a:t>
            </a:r>
            <a:r>
              <a:rPr sz="1000" spc="-10" dirty="0">
                <a:solidFill>
                  <a:srgbClr val="D4D5C6"/>
                </a:solidFill>
              </a:rPr>
              <a:t>driving</a:t>
            </a: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79156"/>
            <a:ext cx="4349750" cy="1260475"/>
            <a:chOff x="129196" y="1079156"/>
            <a:chExt cx="4349750" cy="1260475"/>
          </a:xfrm>
        </p:grpSpPr>
        <p:sp>
          <p:nvSpPr>
            <p:cNvPr id="4" name="object 4"/>
            <p:cNvSpPr/>
            <p:nvPr/>
          </p:nvSpPr>
          <p:spPr>
            <a:xfrm>
              <a:off x="129196" y="107915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4761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91874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61481"/>
              <a:ext cx="0" cy="1146175"/>
            </a:xfrm>
            <a:custGeom>
              <a:avLst/>
              <a:gdLst/>
              <a:ahLst/>
              <a:cxnLst/>
              <a:rect l="l" t="t" r="r" b="b"/>
              <a:pathLst>
                <a:path h="1146175">
                  <a:moveTo>
                    <a:pt x="0" y="11461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487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360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123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3974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8365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5850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02408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9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20" dirty="0">
                <a:solidFill>
                  <a:srgbClr val="C92626"/>
                </a:solidFill>
              </a:rPr>
              <a:t>Note</a:t>
            </a:r>
          </a:p>
          <a:p>
            <a:pPr marL="289560" marR="258445">
              <a:lnSpc>
                <a:spcPts val="1200"/>
              </a:lnSpc>
              <a:spcBef>
                <a:spcPts val="42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simplest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single-agent</a:t>
            </a:r>
            <a:r>
              <a:rPr spc="-10" dirty="0">
                <a:solidFill>
                  <a:srgbClr val="000000"/>
                </a:solidFill>
              </a:rPr>
              <a:t>, </a:t>
            </a:r>
            <a:r>
              <a:rPr spc="-10" dirty="0">
                <a:solidFill>
                  <a:srgbClr val="0000FF"/>
                </a:solidFill>
              </a:rPr>
              <a:t>deterministic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episodic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static</a:t>
            </a:r>
            <a:r>
              <a:rPr spc="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discrete</a:t>
            </a:r>
            <a:r>
              <a:rPr spc="-10" dirty="0">
                <a:solidFill>
                  <a:srgbClr val="000000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3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simple</a:t>
            </a:r>
            <a:r>
              <a:rPr sz="1000" spc="-2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vacuum</a:t>
            </a:r>
            <a:r>
              <a:rPr sz="1000" spc="-20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cleaner</a:t>
            </a:r>
            <a:endParaRPr sz="1000"/>
          </a:p>
          <a:p>
            <a:pPr marL="289560" marR="508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D4C6C6"/>
                </a:solidFill>
              </a:rPr>
              <a:t>Most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C6"/>
                </a:solidFill>
              </a:rPr>
              <a:t>real-</a:t>
            </a:r>
            <a:r>
              <a:rPr dirty="0">
                <a:solidFill>
                  <a:srgbClr val="D4C6C6"/>
                </a:solidFill>
              </a:rPr>
              <a:t>world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situations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are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partially</a:t>
            </a:r>
            <a:r>
              <a:rPr spc="-20" dirty="0">
                <a:solidFill>
                  <a:srgbClr val="D4C6EC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observable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-20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multi-agent</a:t>
            </a:r>
            <a:r>
              <a:rPr spc="-10" dirty="0">
                <a:solidFill>
                  <a:srgbClr val="D4C6C6"/>
                </a:solidFill>
              </a:rPr>
              <a:t>, </a:t>
            </a:r>
            <a:r>
              <a:rPr dirty="0">
                <a:solidFill>
                  <a:srgbClr val="D4C6EC"/>
                </a:solidFill>
              </a:rPr>
              <a:t>stochastic</a:t>
            </a:r>
            <a:r>
              <a:rPr dirty="0">
                <a:solidFill>
                  <a:srgbClr val="D4C6C6"/>
                </a:solidFill>
              </a:rPr>
              <a:t>,</a:t>
            </a:r>
            <a:r>
              <a:rPr spc="-30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sequential</a:t>
            </a:r>
            <a:r>
              <a:rPr spc="-10" dirty="0">
                <a:solidFill>
                  <a:srgbClr val="D4C6C6"/>
                </a:solidFill>
              </a:rPr>
              <a:t>,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EC"/>
                </a:solidFill>
              </a:rPr>
              <a:t>dynamic</a:t>
            </a:r>
            <a:r>
              <a:rPr dirty="0">
                <a:solidFill>
                  <a:srgbClr val="D4C6C6"/>
                </a:solidFill>
              </a:rPr>
              <a:t>,</a:t>
            </a:r>
            <a:r>
              <a:rPr spc="-30" dirty="0">
                <a:solidFill>
                  <a:srgbClr val="D4C6C6"/>
                </a:solidFill>
              </a:rPr>
              <a:t> </a:t>
            </a:r>
            <a:r>
              <a:rPr dirty="0">
                <a:solidFill>
                  <a:srgbClr val="D4C6C6"/>
                </a:solidFill>
              </a:rPr>
              <a:t>and</a:t>
            </a:r>
            <a:r>
              <a:rPr spc="-25" dirty="0">
                <a:solidFill>
                  <a:srgbClr val="D4C6C6"/>
                </a:solidFill>
              </a:rPr>
              <a:t> </a:t>
            </a:r>
            <a:r>
              <a:rPr spc="-10" dirty="0">
                <a:solidFill>
                  <a:srgbClr val="D4C6EC"/>
                </a:solidFill>
              </a:rPr>
              <a:t>continuous</a:t>
            </a:r>
            <a:r>
              <a:rPr spc="-10" dirty="0">
                <a:solidFill>
                  <a:srgbClr val="D4C6C6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D4C6C6"/>
                </a:solidFill>
              </a:rPr>
              <a:t>Ex:</a:t>
            </a:r>
            <a:r>
              <a:rPr sz="1000" spc="50" dirty="0">
                <a:solidFill>
                  <a:srgbClr val="D4C6C6"/>
                </a:solidFill>
              </a:rPr>
              <a:t> </a:t>
            </a:r>
            <a:r>
              <a:rPr sz="1000" dirty="0">
                <a:solidFill>
                  <a:srgbClr val="D4D5C6"/>
                </a:solidFill>
              </a:rPr>
              <a:t>taxi</a:t>
            </a:r>
            <a:r>
              <a:rPr sz="1000" spc="-5" dirty="0">
                <a:solidFill>
                  <a:srgbClr val="D4D5C6"/>
                </a:solidFill>
              </a:rPr>
              <a:t> </a:t>
            </a:r>
            <a:r>
              <a:rPr sz="1000" spc="-10" dirty="0">
                <a:solidFill>
                  <a:srgbClr val="D4D5C6"/>
                </a:solidFill>
              </a:rPr>
              <a:t>driving</a:t>
            </a: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79156"/>
            <a:ext cx="4349750" cy="1260475"/>
            <a:chOff x="129196" y="1079156"/>
            <a:chExt cx="4349750" cy="1260475"/>
          </a:xfrm>
        </p:grpSpPr>
        <p:sp>
          <p:nvSpPr>
            <p:cNvPr id="4" name="object 4"/>
            <p:cNvSpPr/>
            <p:nvPr/>
          </p:nvSpPr>
          <p:spPr>
            <a:xfrm>
              <a:off x="129196" y="107915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4761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91874"/>
              <a:ext cx="4349750" cy="1047750"/>
            </a:xfrm>
            <a:custGeom>
              <a:avLst/>
              <a:gdLst/>
              <a:ahLst/>
              <a:cxnLst/>
              <a:rect l="l" t="t" r="r" b="b"/>
              <a:pathLst>
                <a:path w="4349750" h="1047750">
                  <a:moveTo>
                    <a:pt x="4349657" y="0"/>
                  </a:moveTo>
                  <a:lnTo>
                    <a:pt x="0" y="0"/>
                  </a:lnTo>
                  <a:lnTo>
                    <a:pt x="0" y="996716"/>
                  </a:lnTo>
                  <a:lnTo>
                    <a:pt x="4008" y="1016441"/>
                  </a:lnTo>
                  <a:lnTo>
                    <a:pt x="14922" y="1032594"/>
                  </a:lnTo>
                  <a:lnTo>
                    <a:pt x="31075" y="1043508"/>
                  </a:lnTo>
                  <a:lnTo>
                    <a:pt x="50800" y="1047517"/>
                  </a:lnTo>
                  <a:lnTo>
                    <a:pt x="4298856" y="1047517"/>
                  </a:lnTo>
                  <a:lnTo>
                    <a:pt x="4318581" y="1043508"/>
                  </a:lnTo>
                  <a:lnTo>
                    <a:pt x="4334734" y="1032594"/>
                  </a:lnTo>
                  <a:lnTo>
                    <a:pt x="4345648" y="1016441"/>
                  </a:lnTo>
                  <a:lnTo>
                    <a:pt x="4349657" y="99671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61481"/>
              <a:ext cx="0" cy="1146175"/>
            </a:xfrm>
            <a:custGeom>
              <a:avLst/>
              <a:gdLst/>
              <a:ahLst/>
              <a:cxnLst/>
              <a:rect l="l" t="t" r="r" b="b"/>
              <a:pathLst>
                <a:path h="1146175">
                  <a:moveTo>
                    <a:pt x="0" y="11461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487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360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123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3974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68365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85850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202408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9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20" dirty="0">
                <a:solidFill>
                  <a:srgbClr val="C92626"/>
                </a:solidFill>
              </a:rPr>
              <a:t>Note</a:t>
            </a:r>
          </a:p>
          <a:p>
            <a:pPr marL="289560" marR="258445">
              <a:lnSpc>
                <a:spcPts val="1200"/>
              </a:lnSpc>
              <a:spcBef>
                <a:spcPts val="42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simplest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environment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fully</a:t>
            </a:r>
            <a:r>
              <a:rPr spc="-10" dirty="0">
                <a:solidFill>
                  <a:srgbClr val="0000FF"/>
                </a:solidFill>
              </a:rPr>
              <a:t> observable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single-agent</a:t>
            </a:r>
            <a:r>
              <a:rPr spc="-10" dirty="0">
                <a:solidFill>
                  <a:srgbClr val="000000"/>
                </a:solidFill>
              </a:rPr>
              <a:t>, </a:t>
            </a:r>
            <a:r>
              <a:rPr spc="-10" dirty="0">
                <a:solidFill>
                  <a:srgbClr val="0000FF"/>
                </a:solidFill>
              </a:rPr>
              <a:t>deterministic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episodic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static</a:t>
            </a:r>
            <a:r>
              <a:rPr spc="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discrete</a:t>
            </a:r>
            <a:r>
              <a:rPr spc="-10" dirty="0">
                <a:solidFill>
                  <a:srgbClr val="000000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3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simple</a:t>
            </a:r>
            <a:r>
              <a:rPr sz="1000" spc="-25" dirty="0">
                <a:solidFill>
                  <a:srgbClr val="0063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vacuum</a:t>
            </a:r>
            <a:r>
              <a:rPr sz="1000" spc="-20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cleaner</a:t>
            </a:r>
            <a:endParaRPr sz="1000"/>
          </a:p>
          <a:p>
            <a:pPr marL="289560" marR="5080">
              <a:lnSpc>
                <a:spcPts val="1200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Most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real-</a:t>
            </a:r>
            <a:r>
              <a:rPr dirty="0">
                <a:solidFill>
                  <a:srgbClr val="000000"/>
                </a:solidFill>
              </a:rPr>
              <a:t>world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situations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partially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observable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multi-agent</a:t>
            </a:r>
            <a:r>
              <a:rPr spc="-10"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0000FF"/>
                </a:solidFill>
              </a:rPr>
              <a:t>stochastic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sequential</a:t>
            </a:r>
            <a:r>
              <a:rPr spc="-10" dirty="0">
                <a:solidFill>
                  <a:srgbClr val="000000"/>
                </a:solidFill>
              </a:rPr>
              <a:t>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dynamic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continuous</a:t>
            </a:r>
            <a:r>
              <a:rPr spc="-10" dirty="0">
                <a:solidFill>
                  <a:srgbClr val="000000"/>
                </a:solidFill>
              </a:rPr>
              <a:t>.</a:t>
            </a:r>
          </a:p>
          <a:p>
            <a:pPr marL="56642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000000"/>
                </a:solidFill>
              </a:rPr>
              <a:t>Ex:</a:t>
            </a:r>
            <a:r>
              <a:rPr sz="1000" spc="5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6300"/>
                </a:solidFill>
              </a:rPr>
              <a:t>taxi</a:t>
            </a:r>
            <a:r>
              <a:rPr sz="1000" spc="-5" dirty="0">
                <a:solidFill>
                  <a:srgbClr val="006300"/>
                </a:solidFill>
              </a:rPr>
              <a:t> </a:t>
            </a:r>
            <a:r>
              <a:rPr sz="1000" spc="-10" dirty="0">
                <a:solidFill>
                  <a:srgbClr val="006300"/>
                </a:solidFill>
              </a:rPr>
              <a:t>driving</a:t>
            </a: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30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Task</a:t>
            </a:r>
            <a:r>
              <a:rPr spc="75" dirty="0"/>
              <a:t> </a:t>
            </a:r>
            <a:r>
              <a:rPr dirty="0"/>
              <a:t>Environments</a:t>
            </a:r>
            <a:r>
              <a:rPr spc="75" dirty="0"/>
              <a:t> </a:t>
            </a:r>
            <a:r>
              <a:rPr spc="-10" dirty="0"/>
              <a:t>[cont.]</a:t>
            </a:r>
          </a:p>
        </p:txBody>
      </p:sp>
      <p:sp>
        <p:nvSpPr>
          <p:cNvPr id="3" name="object 3"/>
          <p:cNvSpPr/>
          <p:nvPr/>
        </p:nvSpPr>
        <p:spPr>
          <a:xfrm>
            <a:off x="129196" y="456920"/>
            <a:ext cx="4349750" cy="194945"/>
          </a:xfrm>
          <a:custGeom>
            <a:avLst/>
            <a:gdLst/>
            <a:ahLst/>
            <a:cxnLst/>
            <a:rect l="l" t="t" r="r" b="b"/>
            <a:pathLst>
              <a:path w="4349750" h="194945">
                <a:moveTo>
                  <a:pt x="429885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4469"/>
                </a:lnTo>
                <a:lnTo>
                  <a:pt x="4349657" y="194469"/>
                </a:lnTo>
                <a:lnTo>
                  <a:pt x="4349657" y="50800"/>
                </a:lnTo>
                <a:lnTo>
                  <a:pt x="4345648" y="31075"/>
                </a:lnTo>
                <a:lnTo>
                  <a:pt x="4334734" y="14922"/>
                </a:lnTo>
                <a:lnTo>
                  <a:pt x="4318581" y="4008"/>
                </a:lnTo>
                <a:lnTo>
                  <a:pt x="429885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297" y="445667"/>
            <a:ext cx="2553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properties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Environments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196" y="501123"/>
            <a:ext cx="4349750" cy="2230755"/>
            <a:chOff x="129196" y="501123"/>
            <a:chExt cx="4349750" cy="22307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38733"/>
              <a:ext cx="434965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196" y="682987"/>
              <a:ext cx="4349750" cy="2048510"/>
            </a:xfrm>
            <a:custGeom>
              <a:avLst/>
              <a:gdLst/>
              <a:ahLst/>
              <a:cxnLst/>
              <a:rect l="l" t="t" r="r" b="b"/>
              <a:pathLst>
                <a:path w="4349750" h="2048510">
                  <a:moveTo>
                    <a:pt x="4349657" y="0"/>
                  </a:moveTo>
                  <a:lnTo>
                    <a:pt x="0" y="0"/>
                  </a:lnTo>
                  <a:lnTo>
                    <a:pt x="0" y="1997563"/>
                  </a:lnTo>
                  <a:lnTo>
                    <a:pt x="4008" y="2017288"/>
                  </a:lnTo>
                  <a:lnTo>
                    <a:pt x="14922" y="2033441"/>
                  </a:lnTo>
                  <a:lnTo>
                    <a:pt x="31075" y="2044355"/>
                  </a:lnTo>
                  <a:lnTo>
                    <a:pt x="50800" y="2048364"/>
                  </a:lnTo>
                  <a:lnTo>
                    <a:pt x="4298856" y="2048364"/>
                  </a:lnTo>
                  <a:lnTo>
                    <a:pt x="4318581" y="2044355"/>
                  </a:lnTo>
                  <a:lnTo>
                    <a:pt x="4334734" y="2033441"/>
                  </a:lnTo>
                  <a:lnTo>
                    <a:pt x="4345648" y="2017288"/>
                  </a:lnTo>
                  <a:lnTo>
                    <a:pt x="4349657" y="199756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9223"/>
              <a:ext cx="0" cy="2160905"/>
            </a:xfrm>
            <a:custGeom>
              <a:avLst/>
              <a:gdLst/>
              <a:ahLst/>
              <a:cxnLst/>
              <a:rect l="l" t="t" r="r" b="b"/>
              <a:pathLst>
                <a:path h="2160905">
                  <a:moveTo>
                    <a:pt x="0" y="2160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265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138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8853" y="5011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997" y="708297"/>
              <a:ext cx="4247980" cy="18650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82610" y="2599981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196" y="2882556"/>
            <a:ext cx="4349750" cy="389890"/>
            <a:chOff x="129196" y="2882556"/>
            <a:chExt cx="4349750" cy="389890"/>
          </a:xfrm>
        </p:grpSpPr>
        <p:sp>
          <p:nvSpPr>
            <p:cNvPr id="15" name="object 15"/>
            <p:cNvSpPr/>
            <p:nvPr/>
          </p:nvSpPr>
          <p:spPr>
            <a:xfrm>
              <a:off x="129184" y="2882557"/>
              <a:ext cx="4349750" cy="389890"/>
            </a:xfrm>
            <a:custGeom>
              <a:avLst/>
              <a:gdLst/>
              <a:ahLst/>
              <a:cxnLst/>
              <a:rect l="l" t="t" r="r" b="b"/>
              <a:pathLst>
                <a:path w="4349750" h="389889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38937"/>
                  </a:lnTo>
                  <a:lnTo>
                    <a:pt x="4013" y="358660"/>
                  </a:lnTo>
                  <a:lnTo>
                    <a:pt x="14922" y="374815"/>
                  </a:lnTo>
                  <a:lnTo>
                    <a:pt x="31076" y="385724"/>
                  </a:lnTo>
                  <a:lnTo>
                    <a:pt x="50812" y="389737"/>
                  </a:lnTo>
                  <a:lnTo>
                    <a:pt x="4298861" y="389737"/>
                  </a:lnTo>
                  <a:lnTo>
                    <a:pt x="4318584" y="385724"/>
                  </a:lnTo>
                  <a:lnTo>
                    <a:pt x="4334738" y="374815"/>
                  </a:lnTo>
                  <a:lnTo>
                    <a:pt x="4345660" y="358660"/>
                  </a:lnTo>
                  <a:lnTo>
                    <a:pt x="4349661" y="338937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853" y="2971217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2693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958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9458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9331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7297" y="2902939"/>
            <a:ext cx="36410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Arial"/>
                <a:cs typeface="Arial"/>
              </a:rPr>
              <a:t>Several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answers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task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defined.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31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6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Agent’s</a:t>
            </a:r>
            <a:r>
              <a:rPr spc="60" dirty="0"/>
              <a:t> </a:t>
            </a:r>
            <a:r>
              <a:rPr dirty="0"/>
              <a:t>State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55446"/>
            <a:ext cx="4349750" cy="1409700"/>
            <a:chOff x="129196" y="555446"/>
            <a:chExt cx="4349750" cy="1409700"/>
          </a:xfrm>
        </p:grpSpPr>
        <p:sp>
          <p:nvSpPr>
            <p:cNvPr id="4" name="object 4"/>
            <p:cNvSpPr/>
            <p:nvPr/>
          </p:nvSpPr>
          <p:spPr>
            <a:xfrm>
              <a:off x="129196" y="5554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388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8159"/>
              <a:ext cx="4349750" cy="1196975"/>
            </a:xfrm>
            <a:custGeom>
              <a:avLst/>
              <a:gdLst/>
              <a:ahLst/>
              <a:cxnLst/>
              <a:rect l="l" t="t" r="r" b="b"/>
              <a:pathLst>
                <a:path w="4349750" h="1196975">
                  <a:moveTo>
                    <a:pt x="4349657" y="0"/>
                  </a:moveTo>
                  <a:lnTo>
                    <a:pt x="0" y="0"/>
                  </a:lnTo>
                  <a:lnTo>
                    <a:pt x="0" y="1146162"/>
                  </a:lnTo>
                  <a:lnTo>
                    <a:pt x="4008" y="1165887"/>
                  </a:lnTo>
                  <a:lnTo>
                    <a:pt x="14922" y="1182040"/>
                  </a:lnTo>
                  <a:lnTo>
                    <a:pt x="31075" y="1192954"/>
                  </a:lnTo>
                  <a:lnTo>
                    <a:pt x="50800" y="1196963"/>
                  </a:lnTo>
                  <a:lnTo>
                    <a:pt x="4298856" y="1196963"/>
                  </a:lnTo>
                  <a:lnTo>
                    <a:pt x="4318581" y="1192954"/>
                  </a:lnTo>
                  <a:lnTo>
                    <a:pt x="4334734" y="1182040"/>
                  </a:lnTo>
                  <a:lnTo>
                    <a:pt x="4345648" y="1165887"/>
                  </a:lnTo>
                  <a:lnTo>
                    <a:pt x="4349657" y="114616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37766"/>
              <a:ext cx="0" cy="1296035"/>
            </a:xfrm>
            <a:custGeom>
              <a:avLst/>
              <a:gdLst/>
              <a:ahLst/>
              <a:cxnLst/>
              <a:rect l="l" t="t" r="r" b="b"/>
              <a:pathLst>
                <a:path h="1296035">
                  <a:moveTo>
                    <a:pt x="0" y="12956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25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12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99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603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994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6359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810524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117051"/>
            <a:ext cx="4400550" cy="1059180"/>
            <a:chOff x="129196" y="2117051"/>
            <a:chExt cx="4400550" cy="1059180"/>
          </a:xfrm>
        </p:grpSpPr>
        <p:sp>
          <p:nvSpPr>
            <p:cNvPr id="16" name="object 16"/>
            <p:cNvSpPr/>
            <p:nvPr/>
          </p:nvSpPr>
          <p:spPr>
            <a:xfrm>
              <a:off x="129196" y="2117051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307416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3061461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167610"/>
              <a:ext cx="50800" cy="9065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161465"/>
              <a:ext cx="4349750" cy="963930"/>
            </a:xfrm>
            <a:custGeom>
              <a:avLst/>
              <a:gdLst/>
              <a:ahLst/>
              <a:cxnLst/>
              <a:rect l="l" t="t" r="r" b="b"/>
              <a:pathLst>
                <a:path w="4349750" h="963930">
                  <a:moveTo>
                    <a:pt x="4349657" y="0"/>
                  </a:moveTo>
                  <a:lnTo>
                    <a:pt x="0" y="0"/>
                  </a:lnTo>
                  <a:lnTo>
                    <a:pt x="0" y="912696"/>
                  </a:lnTo>
                  <a:lnTo>
                    <a:pt x="4008" y="932421"/>
                  </a:lnTo>
                  <a:lnTo>
                    <a:pt x="14922" y="948574"/>
                  </a:lnTo>
                  <a:lnTo>
                    <a:pt x="31075" y="959488"/>
                  </a:lnTo>
                  <a:lnTo>
                    <a:pt x="50800" y="963496"/>
                  </a:lnTo>
                  <a:lnTo>
                    <a:pt x="4298856" y="963496"/>
                  </a:lnTo>
                  <a:lnTo>
                    <a:pt x="4318581" y="959488"/>
                  </a:lnTo>
                  <a:lnTo>
                    <a:pt x="4334734" y="948574"/>
                  </a:lnTo>
                  <a:lnTo>
                    <a:pt x="4345648" y="932421"/>
                  </a:lnTo>
                  <a:lnTo>
                    <a:pt x="4349657" y="91269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205702"/>
              <a:ext cx="0" cy="887730"/>
            </a:xfrm>
            <a:custGeom>
              <a:avLst/>
              <a:gdLst/>
              <a:ahLst/>
              <a:cxnLst/>
              <a:rect l="l" t="t" r="r" b="b"/>
              <a:pathLst>
                <a:path h="887730">
                  <a:moveTo>
                    <a:pt x="0" y="8875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193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180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1676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416187"/>
              <a:ext cx="76809" cy="768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98292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504162"/>
            <a:ext cx="4125595" cy="25863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Known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unknown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ts val="1200"/>
              </a:lnSpc>
              <a:spcBef>
                <a:spcPts val="42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Describes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agent’s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(or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designer’s)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state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knowledge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about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“laws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physics”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 marR="20066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known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then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outcomes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(or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outcome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probabilities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if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stochastic)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all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actions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6420" marR="2667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if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environment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unknown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then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will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have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learn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how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it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works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order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make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good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decisions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Orthogonal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9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task-environment</a:t>
            </a:r>
            <a:r>
              <a:rPr sz="1100" spc="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properties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Known</a:t>
            </a:r>
            <a:r>
              <a:rPr sz="1100" spc="-6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i="1" spc="-204" dirty="0">
                <a:solidFill>
                  <a:srgbClr val="F6DEDE"/>
                </a:solidFill>
                <a:latin typeface="Source Sans 3"/>
                <a:cs typeface="Source Sans 3"/>
              </a:rPr>
              <a:t>/</a:t>
            </a:r>
            <a:r>
              <a:rPr sz="1100" spc="-204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F6DE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Fully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 marR="8255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known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solitaire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card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 games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289560" marR="831215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unknown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game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I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don’t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know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rules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6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Agent’s</a:t>
            </a:r>
            <a:r>
              <a:rPr spc="60" dirty="0"/>
              <a:t> </a:t>
            </a:r>
            <a:r>
              <a:rPr dirty="0"/>
              <a:t>State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55446"/>
            <a:ext cx="4349750" cy="1409700"/>
            <a:chOff x="129196" y="555446"/>
            <a:chExt cx="4349750" cy="1409700"/>
          </a:xfrm>
        </p:grpSpPr>
        <p:sp>
          <p:nvSpPr>
            <p:cNvPr id="4" name="object 4"/>
            <p:cNvSpPr/>
            <p:nvPr/>
          </p:nvSpPr>
          <p:spPr>
            <a:xfrm>
              <a:off x="129196" y="5554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388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8159"/>
              <a:ext cx="4349750" cy="1196975"/>
            </a:xfrm>
            <a:custGeom>
              <a:avLst/>
              <a:gdLst/>
              <a:ahLst/>
              <a:cxnLst/>
              <a:rect l="l" t="t" r="r" b="b"/>
              <a:pathLst>
                <a:path w="4349750" h="1196975">
                  <a:moveTo>
                    <a:pt x="4349657" y="0"/>
                  </a:moveTo>
                  <a:lnTo>
                    <a:pt x="0" y="0"/>
                  </a:lnTo>
                  <a:lnTo>
                    <a:pt x="0" y="1146162"/>
                  </a:lnTo>
                  <a:lnTo>
                    <a:pt x="4008" y="1165887"/>
                  </a:lnTo>
                  <a:lnTo>
                    <a:pt x="14922" y="1182040"/>
                  </a:lnTo>
                  <a:lnTo>
                    <a:pt x="31075" y="1192954"/>
                  </a:lnTo>
                  <a:lnTo>
                    <a:pt x="50800" y="1196963"/>
                  </a:lnTo>
                  <a:lnTo>
                    <a:pt x="4298856" y="1196963"/>
                  </a:lnTo>
                  <a:lnTo>
                    <a:pt x="4318581" y="1192954"/>
                  </a:lnTo>
                  <a:lnTo>
                    <a:pt x="4334734" y="1182040"/>
                  </a:lnTo>
                  <a:lnTo>
                    <a:pt x="4345648" y="1165887"/>
                  </a:lnTo>
                  <a:lnTo>
                    <a:pt x="4349657" y="114616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37766"/>
              <a:ext cx="0" cy="1296035"/>
            </a:xfrm>
            <a:custGeom>
              <a:avLst/>
              <a:gdLst/>
              <a:ahLst/>
              <a:cxnLst/>
              <a:rect l="l" t="t" r="r" b="b"/>
              <a:pathLst>
                <a:path h="1296035">
                  <a:moveTo>
                    <a:pt x="0" y="12956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25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12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99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603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994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6359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810524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117051"/>
            <a:ext cx="4400550" cy="1059180"/>
            <a:chOff x="129196" y="2117051"/>
            <a:chExt cx="4400550" cy="1059180"/>
          </a:xfrm>
        </p:grpSpPr>
        <p:sp>
          <p:nvSpPr>
            <p:cNvPr id="16" name="object 16"/>
            <p:cNvSpPr/>
            <p:nvPr/>
          </p:nvSpPr>
          <p:spPr>
            <a:xfrm>
              <a:off x="129196" y="2117051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307416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3061461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167610"/>
              <a:ext cx="50800" cy="9065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161465"/>
              <a:ext cx="4349750" cy="963930"/>
            </a:xfrm>
            <a:custGeom>
              <a:avLst/>
              <a:gdLst/>
              <a:ahLst/>
              <a:cxnLst/>
              <a:rect l="l" t="t" r="r" b="b"/>
              <a:pathLst>
                <a:path w="4349750" h="963930">
                  <a:moveTo>
                    <a:pt x="4349657" y="0"/>
                  </a:moveTo>
                  <a:lnTo>
                    <a:pt x="0" y="0"/>
                  </a:lnTo>
                  <a:lnTo>
                    <a:pt x="0" y="912696"/>
                  </a:lnTo>
                  <a:lnTo>
                    <a:pt x="4008" y="932421"/>
                  </a:lnTo>
                  <a:lnTo>
                    <a:pt x="14922" y="948574"/>
                  </a:lnTo>
                  <a:lnTo>
                    <a:pt x="31075" y="959488"/>
                  </a:lnTo>
                  <a:lnTo>
                    <a:pt x="50800" y="963496"/>
                  </a:lnTo>
                  <a:lnTo>
                    <a:pt x="4298856" y="963496"/>
                  </a:lnTo>
                  <a:lnTo>
                    <a:pt x="4318581" y="959488"/>
                  </a:lnTo>
                  <a:lnTo>
                    <a:pt x="4334734" y="948574"/>
                  </a:lnTo>
                  <a:lnTo>
                    <a:pt x="4345648" y="932421"/>
                  </a:lnTo>
                  <a:lnTo>
                    <a:pt x="4349657" y="91269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205702"/>
              <a:ext cx="0" cy="887730"/>
            </a:xfrm>
            <a:custGeom>
              <a:avLst/>
              <a:gdLst/>
              <a:ahLst/>
              <a:cxnLst/>
              <a:rect l="l" t="t" r="r" b="b"/>
              <a:pathLst>
                <a:path h="887730">
                  <a:moveTo>
                    <a:pt x="0" y="8875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193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180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1676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416187"/>
              <a:ext cx="76809" cy="768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98292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504162"/>
            <a:ext cx="4125595" cy="25863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Known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unknown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ts val="1200"/>
              </a:lnSpc>
              <a:spcBef>
                <a:spcPts val="420"/>
              </a:spcBef>
            </a:pPr>
            <a:r>
              <a:rPr sz="1100" dirty="0">
                <a:latin typeface="Arial"/>
                <a:cs typeface="Arial"/>
              </a:rPr>
              <a:t>Describes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designer’s)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knowledge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about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“laws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physics”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 marR="20066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outcomes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(or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outcome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stochastic)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6420" marR="2667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unknown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have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learn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works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make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good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decisions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Orthogonal</a:t>
            </a:r>
            <a:r>
              <a:rPr sz="1100" spc="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wrt.</a:t>
            </a:r>
            <a:r>
              <a:rPr sz="1100" spc="9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task-environment</a:t>
            </a:r>
            <a:r>
              <a:rPr sz="1100" spc="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properties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Known</a:t>
            </a:r>
            <a:r>
              <a:rPr sz="1100" spc="-6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i="1" spc="-204" dirty="0">
                <a:solidFill>
                  <a:srgbClr val="F6DEDE"/>
                </a:solidFill>
                <a:latin typeface="Source Sans 3"/>
                <a:cs typeface="Source Sans 3"/>
              </a:rPr>
              <a:t>/</a:t>
            </a:r>
            <a:r>
              <a:rPr sz="1100" spc="-204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F6DE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Fully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 marR="8255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known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solitaire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card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 games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289560" marR="831215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unknown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game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I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don’t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know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rules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32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6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Agent’s</a:t>
            </a:r>
            <a:r>
              <a:rPr spc="60" dirty="0"/>
              <a:t> </a:t>
            </a:r>
            <a:r>
              <a:rPr dirty="0"/>
              <a:t>State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55446"/>
            <a:ext cx="4349750" cy="1409700"/>
            <a:chOff x="129196" y="555446"/>
            <a:chExt cx="4349750" cy="1409700"/>
          </a:xfrm>
        </p:grpSpPr>
        <p:sp>
          <p:nvSpPr>
            <p:cNvPr id="4" name="object 4"/>
            <p:cNvSpPr/>
            <p:nvPr/>
          </p:nvSpPr>
          <p:spPr>
            <a:xfrm>
              <a:off x="129196" y="5554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388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8159"/>
              <a:ext cx="4349750" cy="1196975"/>
            </a:xfrm>
            <a:custGeom>
              <a:avLst/>
              <a:gdLst/>
              <a:ahLst/>
              <a:cxnLst/>
              <a:rect l="l" t="t" r="r" b="b"/>
              <a:pathLst>
                <a:path w="4349750" h="1196975">
                  <a:moveTo>
                    <a:pt x="4349657" y="0"/>
                  </a:moveTo>
                  <a:lnTo>
                    <a:pt x="0" y="0"/>
                  </a:lnTo>
                  <a:lnTo>
                    <a:pt x="0" y="1146162"/>
                  </a:lnTo>
                  <a:lnTo>
                    <a:pt x="4008" y="1165887"/>
                  </a:lnTo>
                  <a:lnTo>
                    <a:pt x="14922" y="1182040"/>
                  </a:lnTo>
                  <a:lnTo>
                    <a:pt x="31075" y="1192954"/>
                  </a:lnTo>
                  <a:lnTo>
                    <a:pt x="50800" y="1196963"/>
                  </a:lnTo>
                  <a:lnTo>
                    <a:pt x="4298856" y="1196963"/>
                  </a:lnTo>
                  <a:lnTo>
                    <a:pt x="4318581" y="1192954"/>
                  </a:lnTo>
                  <a:lnTo>
                    <a:pt x="4334734" y="1182040"/>
                  </a:lnTo>
                  <a:lnTo>
                    <a:pt x="4345648" y="1165887"/>
                  </a:lnTo>
                  <a:lnTo>
                    <a:pt x="4349657" y="114616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37766"/>
              <a:ext cx="0" cy="1296035"/>
            </a:xfrm>
            <a:custGeom>
              <a:avLst/>
              <a:gdLst/>
              <a:ahLst/>
              <a:cxnLst/>
              <a:rect l="l" t="t" r="r" b="b"/>
              <a:pathLst>
                <a:path h="1296035">
                  <a:moveTo>
                    <a:pt x="0" y="12956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25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12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99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603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994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6359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810524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117051"/>
            <a:ext cx="4400550" cy="1059180"/>
            <a:chOff x="129196" y="2117051"/>
            <a:chExt cx="4400550" cy="1059180"/>
          </a:xfrm>
        </p:grpSpPr>
        <p:sp>
          <p:nvSpPr>
            <p:cNvPr id="16" name="object 16"/>
            <p:cNvSpPr/>
            <p:nvPr/>
          </p:nvSpPr>
          <p:spPr>
            <a:xfrm>
              <a:off x="129196" y="2117051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307416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3061461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167610"/>
              <a:ext cx="50800" cy="9065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161465"/>
              <a:ext cx="4349750" cy="963930"/>
            </a:xfrm>
            <a:custGeom>
              <a:avLst/>
              <a:gdLst/>
              <a:ahLst/>
              <a:cxnLst/>
              <a:rect l="l" t="t" r="r" b="b"/>
              <a:pathLst>
                <a:path w="4349750" h="963930">
                  <a:moveTo>
                    <a:pt x="4349657" y="0"/>
                  </a:moveTo>
                  <a:lnTo>
                    <a:pt x="0" y="0"/>
                  </a:lnTo>
                  <a:lnTo>
                    <a:pt x="0" y="912696"/>
                  </a:lnTo>
                  <a:lnTo>
                    <a:pt x="4008" y="932421"/>
                  </a:lnTo>
                  <a:lnTo>
                    <a:pt x="14922" y="948574"/>
                  </a:lnTo>
                  <a:lnTo>
                    <a:pt x="31075" y="959488"/>
                  </a:lnTo>
                  <a:lnTo>
                    <a:pt x="50800" y="963496"/>
                  </a:lnTo>
                  <a:lnTo>
                    <a:pt x="4298856" y="963496"/>
                  </a:lnTo>
                  <a:lnTo>
                    <a:pt x="4318581" y="959488"/>
                  </a:lnTo>
                  <a:lnTo>
                    <a:pt x="4334734" y="948574"/>
                  </a:lnTo>
                  <a:lnTo>
                    <a:pt x="4345648" y="932421"/>
                  </a:lnTo>
                  <a:lnTo>
                    <a:pt x="4349657" y="91269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205702"/>
              <a:ext cx="0" cy="887730"/>
            </a:xfrm>
            <a:custGeom>
              <a:avLst/>
              <a:gdLst/>
              <a:ahLst/>
              <a:cxnLst/>
              <a:rect l="l" t="t" r="r" b="b"/>
              <a:pathLst>
                <a:path h="887730">
                  <a:moveTo>
                    <a:pt x="0" y="8875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193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180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1676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416187"/>
              <a:ext cx="76809" cy="768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98292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7297" y="504162"/>
            <a:ext cx="4125595" cy="25863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Known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unknown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ts val="1200"/>
              </a:lnSpc>
              <a:spcBef>
                <a:spcPts val="420"/>
              </a:spcBef>
            </a:pPr>
            <a:r>
              <a:rPr sz="1100" dirty="0">
                <a:latin typeface="Arial"/>
                <a:cs typeface="Arial"/>
              </a:rPr>
              <a:t>Describes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designer’s)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knowledge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about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“laws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physics”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 marR="20066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outcomes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(or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outcome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stochastic)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6420" marR="2667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unknown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have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learn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works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make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good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decisions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Orthogonal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wrt.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task-environment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properties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Known</a:t>
            </a:r>
            <a:r>
              <a:rPr sz="1100" spc="-6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i="1" spc="-204" dirty="0">
                <a:solidFill>
                  <a:srgbClr val="F6DEDE"/>
                </a:solidFill>
                <a:latin typeface="Source Sans 3"/>
                <a:cs typeface="Source Sans 3"/>
              </a:rPr>
              <a:t>/</a:t>
            </a:r>
            <a:r>
              <a:rPr sz="1100" spc="-204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F6DE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Fully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 marR="8255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known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partially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5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solitaire</a:t>
            </a:r>
            <a:r>
              <a:rPr sz="1100" spc="-1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card</a:t>
            </a:r>
            <a:r>
              <a:rPr sz="1100" spc="-10" dirty="0">
                <a:solidFill>
                  <a:srgbClr val="D8E7D8"/>
                </a:solidFill>
                <a:latin typeface="Arial"/>
                <a:cs typeface="Arial"/>
              </a:rPr>
              <a:t> games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289560" marR="831215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unknown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environment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1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fully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observable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(Ex:</a:t>
            </a:r>
            <a:r>
              <a:rPr sz="1100" spc="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game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I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don’t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know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E7D8"/>
                </a:solidFill>
                <a:latin typeface="Arial"/>
                <a:cs typeface="Arial"/>
              </a:rPr>
              <a:t>rules</a:t>
            </a:r>
            <a:r>
              <a:rPr sz="1100" spc="-25" dirty="0">
                <a:solidFill>
                  <a:srgbClr val="D8E7D8"/>
                </a:solidFill>
                <a:latin typeface="Arial"/>
                <a:cs typeface="Arial"/>
              </a:rPr>
              <a:t> of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32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Properties</a:t>
            </a:r>
            <a:r>
              <a:rPr spc="6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Agent’s</a:t>
            </a:r>
            <a:r>
              <a:rPr spc="60" dirty="0"/>
              <a:t> </a:t>
            </a:r>
            <a:r>
              <a:rPr dirty="0"/>
              <a:t>State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555446"/>
            <a:ext cx="4349750" cy="1409700"/>
            <a:chOff x="129196" y="555446"/>
            <a:chExt cx="4349750" cy="1409700"/>
          </a:xfrm>
        </p:grpSpPr>
        <p:sp>
          <p:nvSpPr>
            <p:cNvPr id="4" name="object 4"/>
            <p:cNvSpPr/>
            <p:nvPr/>
          </p:nvSpPr>
          <p:spPr>
            <a:xfrm>
              <a:off x="129196" y="5554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2388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68159"/>
              <a:ext cx="4349750" cy="1196975"/>
            </a:xfrm>
            <a:custGeom>
              <a:avLst/>
              <a:gdLst/>
              <a:ahLst/>
              <a:cxnLst/>
              <a:rect l="l" t="t" r="r" b="b"/>
              <a:pathLst>
                <a:path w="4349750" h="1196975">
                  <a:moveTo>
                    <a:pt x="4349657" y="0"/>
                  </a:moveTo>
                  <a:lnTo>
                    <a:pt x="0" y="0"/>
                  </a:lnTo>
                  <a:lnTo>
                    <a:pt x="0" y="1146162"/>
                  </a:lnTo>
                  <a:lnTo>
                    <a:pt x="4008" y="1165887"/>
                  </a:lnTo>
                  <a:lnTo>
                    <a:pt x="14922" y="1182040"/>
                  </a:lnTo>
                  <a:lnTo>
                    <a:pt x="31075" y="1192954"/>
                  </a:lnTo>
                  <a:lnTo>
                    <a:pt x="50800" y="1196963"/>
                  </a:lnTo>
                  <a:lnTo>
                    <a:pt x="4298856" y="1196963"/>
                  </a:lnTo>
                  <a:lnTo>
                    <a:pt x="4318581" y="1192954"/>
                  </a:lnTo>
                  <a:lnTo>
                    <a:pt x="4334734" y="1182040"/>
                  </a:lnTo>
                  <a:lnTo>
                    <a:pt x="4345648" y="1165887"/>
                  </a:lnTo>
                  <a:lnTo>
                    <a:pt x="4349657" y="1146162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37766"/>
              <a:ext cx="0" cy="1296035"/>
            </a:xfrm>
            <a:custGeom>
              <a:avLst/>
              <a:gdLst/>
              <a:ahLst/>
              <a:cxnLst/>
              <a:rect l="l" t="t" r="r" b="b"/>
              <a:pathLst>
                <a:path h="1296035">
                  <a:moveTo>
                    <a:pt x="0" y="12956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25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12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99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1603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59941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63598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810524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117051"/>
            <a:ext cx="4349750" cy="1008380"/>
            <a:chOff x="129196" y="2117051"/>
            <a:chExt cx="4349750" cy="1008380"/>
          </a:xfrm>
        </p:grpSpPr>
        <p:sp>
          <p:nvSpPr>
            <p:cNvPr id="16" name="object 16"/>
            <p:cNvSpPr/>
            <p:nvPr/>
          </p:nvSpPr>
          <p:spPr>
            <a:xfrm>
              <a:off x="129184" y="2117051"/>
              <a:ext cx="4349750" cy="1008380"/>
            </a:xfrm>
            <a:custGeom>
              <a:avLst/>
              <a:gdLst/>
              <a:ahLst/>
              <a:cxnLst/>
              <a:rect l="l" t="t" r="r" b="b"/>
              <a:pathLst>
                <a:path w="4349750" h="1008380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957110"/>
                  </a:lnTo>
                  <a:lnTo>
                    <a:pt x="4013" y="976845"/>
                  </a:lnTo>
                  <a:lnTo>
                    <a:pt x="14922" y="993000"/>
                  </a:lnTo>
                  <a:lnTo>
                    <a:pt x="31076" y="1003909"/>
                  </a:lnTo>
                  <a:lnTo>
                    <a:pt x="50812" y="1007922"/>
                  </a:lnTo>
                  <a:lnTo>
                    <a:pt x="4298861" y="1007922"/>
                  </a:lnTo>
                  <a:lnTo>
                    <a:pt x="4318584" y="1003909"/>
                  </a:lnTo>
                  <a:lnTo>
                    <a:pt x="4334738" y="993000"/>
                  </a:lnTo>
                  <a:lnTo>
                    <a:pt x="4345660" y="976845"/>
                  </a:lnTo>
                  <a:lnTo>
                    <a:pt x="4349661" y="95711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205702"/>
              <a:ext cx="0" cy="887730"/>
            </a:xfrm>
            <a:custGeom>
              <a:avLst/>
              <a:gdLst/>
              <a:ahLst/>
              <a:cxnLst/>
              <a:rect l="l" t="t" r="r" b="b"/>
              <a:pathLst>
                <a:path h="887730">
                  <a:moveTo>
                    <a:pt x="0" y="8875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193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180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1676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416187"/>
              <a:ext cx="76809" cy="768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798292"/>
              <a:ext cx="76809" cy="7680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67297" y="504162"/>
            <a:ext cx="4125595" cy="25863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Known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1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unknown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ts val="1200"/>
              </a:lnSpc>
              <a:spcBef>
                <a:spcPts val="420"/>
              </a:spcBef>
            </a:pPr>
            <a:r>
              <a:rPr sz="1100" dirty="0">
                <a:latin typeface="Arial"/>
                <a:cs typeface="Arial"/>
              </a:rPr>
              <a:t>Describes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designer’s)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knowledge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about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“laws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physics”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  <a:p>
            <a:pPr marL="566420" marR="200660">
              <a:lnSpc>
                <a:spcPct val="1000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outcomes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(or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outcome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probabilities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stochastic)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given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6420" marR="2667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unknown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will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have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learn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it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works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make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good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decisions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Orthogonal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wrt.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task-environment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properties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Known</a:t>
            </a:r>
            <a:r>
              <a:rPr sz="1100" spc="-6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i="1" spc="-204" dirty="0">
                <a:solidFill>
                  <a:srgbClr val="C92626"/>
                </a:solidFill>
                <a:latin typeface="Source Sans 3"/>
                <a:cs typeface="Source Sans 3"/>
              </a:rPr>
              <a:t>/</a:t>
            </a:r>
            <a:r>
              <a:rPr sz="1100" spc="-204" dirty="0">
                <a:solidFill>
                  <a:srgbClr val="C92626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C92626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Fully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 marR="8255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partially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observable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solitaire</a:t>
            </a:r>
            <a:r>
              <a:rPr sz="11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card</a:t>
            </a:r>
            <a:r>
              <a:rPr sz="1100" spc="-10" dirty="0">
                <a:solidFill>
                  <a:srgbClr val="006300"/>
                </a:solidFill>
                <a:latin typeface="Arial"/>
                <a:cs typeface="Arial"/>
              </a:rPr>
              <a:t> games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289560" marR="831215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unknown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fully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observable </a:t>
            </a:r>
            <a:r>
              <a:rPr sz="1100" dirty="0">
                <a:latin typeface="Arial"/>
                <a:cs typeface="Arial"/>
              </a:rPr>
              <a:t>(Ex: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game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I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don’t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know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6300"/>
                </a:solidFill>
                <a:latin typeface="Arial"/>
                <a:cs typeface="Arial"/>
              </a:rPr>
              <a:t>rules</a:t>
            </a:r>
            <a:r>
              <a:rPr sz="1100" spc="-25" dirty="0">
                <a:solidFill>
                  <a:srgbClr val="006300"/>
                </a:solidFill>
                <a:latin typeface="Arial"/>
                <a:cs typeface="Arial"/>
              </a:rPr>
              <a:t> of</a:t>
            </a:r>
            <a:r>
              <a:rPr sz="1100" spc="-25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Task-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spc="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33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1174"/>
            <a:ext cx="4349750" cy="1646555"/>
            <a:chOff x="129196" y="461174"/>
            <a:chExt cx="4349750" cy="1646555"/>
          </a:xfrm>
        </p:grpSpPr>
        <p:sp>
          <p:nvSpPr>
            <p:cNvPr id="4" name="object 4"/>
            <p:cNvSpPr/>
            <p:nvPr/>
          </p:nvSpPr>
          <p:spPr>
            <a:xfrm>
              <a:off x="129196" y="46117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4146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85739"/>
              <a:ext cx="4349750" cy="1421765"/>
            </a:xfrm>
            <a:custGeom>
              <a:avLst/>
              <a:gdLst/>
              <a:ahLst/>
              <a:cxnLst/>
              <a:rect l="l" t="t" r="r" b="b"/>
              <a:pathLst>
                <a:path w="4349750" h="1421764">
                  <a:moveTo>
                    <a:pt x="4349657" y="0"/>
                  </a:moveTo>
                  <a:lnTo>
                    <a:pt x="0" y="0"/>
                  </a:lnTo>
                  <a:lnTo>
                    <a:pt x="0" y="1370580"/>
                  </a:lnTo>
                  <a:lnTo>
                    <a:pt x="4008" y="1390305"/>
                  </a:lnTo>
                  <a:lnTo>
                    <a:pt x="14922" y="1406458"/>
                  </a:lnTo>
                  <a:lnTo>
                    <a:pt x="31075" y="1417372"/>
                  </a:lnTo>
                  <a:lnTo>
                    <a:pt x="50800" y="1421381"/>
                  </a:lnTo>
                  <a:lnTo>
                    <a:pt x="4298856" y="1421381"/>
                  </a:lnTo>
                  <a:lnTo>
                    <a:pt x="4318581" y="1417372"/>
                  </a:lnTo>
                  <a:lnTo>
                    <a:pt x="4334734" y="1406458"/>
                  </a:lnTo>
                  <a:lnTo>
                    <a:pt x="4345648" y="1390305"/>
                  </a:lnTo>
                  <a:lnTo>
                    <a:pt x="4349657" y="137058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43499"/>
              <a:ext cx="0" cy="1532255"/>
            </a:xfrm>
            <a:custGeom>
              <a:avLst/>
              <a:gdLst/>
              <a:ahLst/>
              <a:cxnLst/>
              <a:rect l="l" t="t" r="r" b="b"/>
              <a:pathLst>
                <a:path h="1532255">
                  <a:moveTo>
                    <a:pt x="0" y="1531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0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18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05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3042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1253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406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66468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818297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970138"/>
              <a:ext cx="61874" cy="61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259037"/>
            <a:ext cx="4400550" cy="1058545"/>
            <a:chOff x="129196" y="2259037"/>
            <a:chExt cx="4400550" cy="1058545"/>
          </a:xfrm>
        </p:grpSpPr>
        <p:sp>
          <p:nvSpPr>
            <p:cNvPr id="18" name="object 18"/>
            <p:cNvSpPr/>
            <p:nvPr/>
          </p:nvSpPr>
          <p:spPr>
            <a:xfrm>
              <a:off x="129196" y="225903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6" y="2427490"/>
              <a:ext cx="4349657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15563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02863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303272"/>
              <a:ext cx="50800" cy="9122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2471757"/>
              <a:ext cx="4349750" cy="795020"/>
            </a:xfrm>
            <a:custGeom>
              <a:avLst/>
              <a:gdLst/>
              <a:ahLst/>
              <a:cxnLst/>
              <a:rect l="l" t="t" r="r" b="b"/>
              <a:pathLst>
                <a:path w="4349750" h="795020">
                  <a:moveTo>
                    <a:pt x="4349657" y="0"/>
                  </a:moveTo>
                  <a:lnTo>
                    <a:pt x="0" y="0"/>
                  </a:lnTo>
                  <a:lnTo>
                    <a:pt x="0" y="743806"/>
                  </a:lnTo>
                  <a:lnTo>
                    <a:pt x="4008" y="763531"/>
                  </a:lnTo>
                  <a:lnTo>
                    <a:pt x="14922" y="779684"/>
                  </a:lnTo>
                  <a:lnTo>
                    <a:pt x="31075" y="790598"/>
                  </a:lnTo>
                  <a:lnTo>
                    <a:pt x="50800" y="794606"/>
                  </a:lnTo>
                  <a:lnTo>
                    <a:pt x="4298856" y="794606"/>
                  </a:lnTo>
                  <a:lnTo>
                    <a:pt x="4318581" y="790598"/>
                  </a:lnTo>
                  <a:lnTo>
                    <a:pt x="4334734" y="779684"/>
                  </a:lnTo>
                  <a:lnTo>
                    <a:pt x="4345648" y="763531"/>
                  </a:lnTo>
                  <a:lnTo>
                    <a:pt x="4349657" y="7438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341364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h="893444">
                  <a:moveTo>
                    <a:pt x="0" y="8932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3286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3159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3032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2519629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729661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1904" y="401229"/>
            <a:ext cx="4082415" cy="2830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+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04800" marR="273685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AI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Job:</a:t>
            </a:r>
            <a:r>
              <a:rPr sz="1100" spc="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design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implementing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304800" marR="316230">
              <a:lnSpc>
                <a:spcPct val="107900"/>
              </a:lnSpc>
              <a:spcBef>
                <a:spcPts val="229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runs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on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some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computing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device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with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physical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sensors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actuators:</a:t>
            </a:r>
            <a:r>
              <a:rPr sz="1100" spc="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architecture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All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same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skeleton:</a:t>
            </a:r>
            <a:endParaRPr sz="1100">
              <a:latin typeface="Arial"/>
              <a:cs typeface="Arial"/>
            </a:endParaRPr>
          </a:p>
          <a:p>
            <a:pPr marL="581660" marR="2217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current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percepts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  <a:p>
            <a:pPr marL="581660">
              <a:lnSpc>
                <a:spcPts val="1190"/>
              </a:lnSpc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Program: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manipulates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produce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output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304800" marR="209550">
              <a:lnSpc>
                <a:spcPts val="1650"/>
              </a:lnSpc>
              <a:spcBef>
                <a:spcPts val="6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history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only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current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304800" marR="5080" indent="-292735">
              <a:lnSpc>
                <a:spcPct val="102600"/>
              </a:lnSpc>
              <a:spcBef>
                <a:spcPts val="190"/>
              </a:spcBef>
            </a:pPr>
            <a:r>
              <a:rPr sz="1100" spc="105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6DEDE"/>
                </a:solidFill>
                <a:latin typeface="Source Sans 3"/>
                <a:cs typeface="Source Sans 3"/>
              </a:rPr>
              <a:t>⇒</a:t>
            </a:r>
            <a:r>
              <a:rPr sz="1100" i="1" spc="295" dirty="0">
                <a:solidFill>
                  <a:srgbClr val="F6DEDE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entire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sequence,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will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remember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percepts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1174"/>
            <a:ext cx="4349750" cy="1646555"/>
            <a:chOff x="129196" y="461174"/>
            <a:chExt cx="4349750" cy="1646555"/>
          </a:xfrm>
        </p:grpSpPr>
        <p:sp>
          <p:nvSpPr>
            <p:cNvPr id="4" name="object 4"/>
            <p:cNvSpPr/>
            <p:nvPr/>
          </p:nvSpPr>
          <p:spPr>
            <a:xfrm>
              <a:off x="129196" y="46117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4146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85739"/>
              <a:ext cx="4349750" cy="1421765"/>
            </a:xfrm>
            <a:custGeom>
              <a:avLst/>
              <a:gdLst/>
              <a:ahLst/>
              <a:cxnLst/>
              <a:rect l="l" t="t" r="r" b="b"/>
              <a:pathLst>
                <a:path w="4349750" h="1421764">
                  <a:moveTo>
                    <a:pt x="4349657" y="0"/>
                  </a:moveTo>
                  <a:lnTo>
                    <a:pt x="0" y="0"/>
                  </a:lnTo>
                  <a:lnTo>
                    <a:pt x="0" y="1370580"/>
                  </a:lnTo>
                  <a:lnTo>
                    <a:pt x="4008" y="1390305"/>
                  </a:lnTo>
                  <a:lnTo>
                    <a:pt x="14922" y="1406458"/>
                  </a:lnTo>
                  <a:lnTo>
                    <a:pt x="31075" y="1417372"/>
                  </a:lnTo>
                  <a:lnTo>
                    <a:pt x="50800" y="1421381"/>
                  </a:lnTo>
                  <a:lnTo>
                    <a:pt x="4298856" y="1421381"/>
                  </a:lnTo>
                  <a:lnTo>
                    <a:pt x="4318581" y="1417372"/>
                  </a:lnTo>
                  <a:lnTo>
                    <a:pt x="4334734" y="1406458"/>
                  </a:lnTo>
                  <a:lnTo>
                    <a:pt x="4345648" y="1390305"/>
                  </a:lnTo>
                  <a:lnTo>
                    <a:pt x="4349657" y="137058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43499"/>
              <a:ext cx="0" cy="1532255"/>
            </a:xfrm>
            <a:custGeom>
              <a:avLst/>
              <a:gdLst/>
              <a:ahLst/>
              <a:cxnLst/>
              <a:rect l="l" t="t" r="r" b="b"/>
              <a:pathLst>
                <a:path h="1532255">
                  <a:moveTo>
                    <a:pt x="0" y="1531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0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18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05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3042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1253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406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66468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818297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970138"/>
              <a:ext cx="61874" cy="61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259037"/>
            <a:ext cx="4400550" cy="1058545"/>
            <a:chOff x="129196" y="2259037"/>
            <a:chExt cx="4400550" cy="1058545"/>
          </a:xfrm>
        </p:grpSpPr>
        <p:sp>
          <p:nvSpPr>
            <p:cNvPr id="18" name="object 18"/>
            <p:cNvSpPr/>
            <p:nvPr/>
          </p:nvSpPr>
          <p:spPr>
            <a:xfrm>
              <a:off x="129196" y="225903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6" y="2427490"/>
              <a:ext cx="4349657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15563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02863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303272"/>
              <a:ext cx="50800" cy="9122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2471757"/>
              <a:ext cx="4349750" cy="795020"/>
            </a:xfrm>
            <a:custGeom>
              <a:avLst/>
              <a:gdLst/>
              <a:ahLst/>
              <a:cxnLst/>
              <a:rect l="l" t="t" r="r" b="b"/>
              <a:pathLst>
                <a:path w="4349750" h="795020">
                  <a:moveTo>
                    <a:pt x="4349657" y="0"/>
                  </a:moveTo>
                  <a:lnTo>
                    <a:pt x="0" y="0"/>
                  </a:lnTo>
                  <a:lnTo>
                    <a:pt x="0" y="743806"/>
                  </a:lnTo>
                  <a:lnTo>
                    <a:pt x="4008" y="763531"/>
                  </a:lnTo>
                  <a:lnTo>
                    <a:pt x="14922" y="779684"/>
                  </a:lnTo>
                  <a:lnTo>
                    <a:pt x="31075" y="790598"/>
                  </a:lnTo>
                  <a:lnTo>
                    <a:pt x="50800" y="794606"/>
                  </a:lnTo>
                  <a:lnTo>
                    <a:pt x="4298856" y="794606"/>
                  </a:lnTo>
                  <a:lnTo>
                    <a:pt x="4318581" y="790598"/>
                  </a:lnTo>
                  <a:lnTo>
                    <a:pt x="4334734" y="779684"/>
                  </a:lnTo>
                  <a:lnTo>
                    <a:pt x="4345648" y="763531"/>
                  </a:lnTo>
                  <a:lnTo>
                    <a:pt x="4349657" y="7438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341364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h="893444">
                  <a:moveTo>
                    <a:pt x="0" y="8932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3286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3159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3032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2519629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729661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1904" y="401229"/>
            <a:ext cx="4082415" cy="2830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+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04800" marR="273685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AI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design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implementing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304800" marR="316230">
              <a:lnSpc>
                <a:spcPct val="107900"/>
              </a:lnSpc>
              <a:spcBef>
                <a:spcPts val="229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runs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on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some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computing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device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with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physical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sensors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actuators:</a:t>
            </a:r>
            <a:r>
              <a:rPr sz="1100" spc="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architecture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All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same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skeleton:</a:t>
            </a:r>
            <a:endParaRPr sz="1100">
              <a:latin typeface="Arial"/>
              <a:cs typeface="Arial"/>
            </a:endParaRPr>
          </a:p>
          <a:p>
            <a:pPr marL="581660" marR="2217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current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percepts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  <a:p>
            <a:pPr marL="581660">
              <a:lnSpc>
                <a:spcPts val="1190"/>
              </a:lnSpc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Program: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manipulates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produce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output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304800" marR="209550">
              <a:lnSpc>
                <a:spcPts val="1650"/>
              </a:lnSpc>
              <a:spcBef>
                <a:spcPts val="6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history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only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current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304800" marR="5080" indent="-292735">
              <a:lnSpc>
                <a:spcPct val="102600"/>
              </a:lnSpc>
              <a:spcBef>
                <a:spcPts val="190"/>
              </a:spcBef>
            </a:pPr>
            <a:r>
              <a:rPr sz="1100" spc="105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6DEDE"/>
                </a:solidFill>
                <a:latin typeface="Source Sans 3"/>
                <a:cs typeface="Source Sans 3"/>
              </a:rPr>
              <a:t>⇒</a:t>
            </a:r>
            <a:r>
              <a:rPr sz="1100" i="1" spc="295" dirty="0">
                <a:solidFill>
                  <a:srgbClr val="F6DEDE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entire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sequence,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will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remember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percepts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1174"/>
            <a:ext cx="4349750" cy="1646555"/>
            <a:chOff x="129196" y="461174"/>
            <a:chExt cx="4349750" cy="1646555"/>
          </a:xfrm>
        </p:grpSpPr>
        <p:sp>
          <p:nvSpPr>
            <p:cNvPr id="4" name="object 4"/>
            <p:cNvSpPr/>
            <p:nvPr/>
          </p:nvSpPr>
          <p:spPr>
            <a:xfrm>
              <a:off x="129196" y="46117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4146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85739"/>
              <a:ext cx="4349750" cy="1421765"/>
            </a:xfrm>
            <a:custGeom>
              <a:avLst/>
              <a:gdLst/>
              <a:ahLst/>
              <a:cxnLst/>
              <a:rect l="l" t="t" r="r" b="b"/>
              <a:pathLst>
                <a:path w="4349750" h="1421764">
                  <a:moveTo>
                    <a:pt x="4349657" y="0"/>
                  </a:moveTo>
                  <a:lnTo>
                    <a:pt x="0" y="0"/>
                  </a:lnTo>
                  <a:lnTo>
                    <a:pt x="0" y="1370580"/>
                  </a:lnTo>
                  <a:lnTo>
                    <a:pt x="4008" y="1390305"/>
                  </a:lnTo>
                  <a:lnTo>
                    <a:pt x="14922" y="1406458"/>
                  </a:lnTo>
                  <a:lnTo>
                    <a:pt x="31075" y="1417372"/>
                  </a:lnTo>
                  <a:lnTo>
                    <a:pt x="50800" y="1421381"/>
                  </a:lnTo>
                  <a:lnTo>
                    <a:pt x="4298856" y="1421381"/>
                  </a:lnTo>
                  <a:lnTo>
                    <a:pt x="4318581" y="1417372"/>
                  </a:lnTo>
                  <a:lnTo>
                    <a:pt x="4334734" y="1406458"/>
                  </a:lnTo>
                  <a:lnTo>
                    <a:pt x="4345648" y="1390305"/>
                  </a:lnTo>
                  <a:lnTo>
                    <a:pt x="4349657" y="137058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43499"/>
              <a:ext cx="0" cy="1532255"/>
            </a:xfrm>
            <a:custGeom>
              <a:avLst/>
              <a:gdLst/>
              <a:ahLst/>
              <a:cxnLst/>
              <a:rect l="l" t="t" r="r" b="b"/>
              <a:pathLst>
                <a:path h="1532255">
                  <a:moveTo>
                    <a:pt x="0" y="1531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0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18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05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3042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1253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406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66468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818297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970138"/>
              <a:ext cx="61874" cy="61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259037"/>
            <a:ext cx="4400550" cy="1058545"/>
            <a:chOff x="129196" y="2259037"/>
            <a:chExt cx="4400550" cy="1058545"/>
          </a:xfrm>
        </p:grpSpPr>
        <p:sp>
          <p:nvSpPr>
            <p:cNvPr id="18" name="object 18"/>
            <p:cNvSpPr/>
            <p:nvPr/>
          </p:nvSpPr>
          <p:spPr>
            <a:xfrm>
              <a:off x="129196" y="225903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6" y="2427490"/>
              <a:ext cx="4349657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15563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02863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303272"/>
              <a:ext cx="50800" cy="9122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2471757"/>
              <a:ext cx="4349750" cy="795020"/>
            </a:xfrm>
            <a:custGeom>
              <a:avLst/>
              <a:gdLst/>
              <a:ahLst/>
              <a:cxnLst/>
              <a:rect l="l" t="t" r="r" b="b"/>
              <a:pathLst>
                <a:path w="4349750" h="795020">
                  <a:moveTo>
                    <a:pt x="4349657" y="0"/>
                  </a:moveTo>
                  <a:lnTo>
                    <a:pt x="0" y="0"/>
                  </a:lnTo>
                  <a:lnTo>
                    <a:pt x="0" y="743806"/>
                  </a:lnTo>
                  <a:lnTo>
                    <a:pt x="4008" y="763531"/>
                  </a:lnTo>
                  <a:lnTo>
                    <a:pt x="14922" y="779684"/>
                  </a:lnTo>
                  <a:lnTo>
                    <a:pt x="31075" y="790598"/>
                  </a:lnTo>
                  <a:lnTo>
                    <a:pt x="50800" y="794606"/>
                  </a:lnTo>
                  <a:lnTo>
                    <a:pt x="4298856" y="794606"/>
                  </a:lnTo>
                  <a:lnTo>
                    <a:pt x="4318581" y="790598"/>
                  </a:lnTo>
                  <a:lnTo>
                    <a:pt x="4334734" y="779684"/>
                  </a:lnTo>
                  <a:lnTo>
                    <a:pt x="4345648" y="763531"/>
                  </a:lnTo>
                  <a:lnTo>
                    <a:pt x="4349657" y="7438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341364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h="893444">
                  <a:moveTo>
                    <a:pt x="0" y="8932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3286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3159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3032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2519629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729661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1904" y="401229"/>
            <a:ext cx="4082415" cy="2830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+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04800" marR="273685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AI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design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implementing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304800" marR="316230">
              <a:lnSpc>
                <a:spcPct val="1079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device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actuators: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architecture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All</a:t>
            </a:r>
            <a:r>
              <a:rPr sz="1100" spc="-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same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skeleton:</a:t>
            </a:r>
            <a:endParaRPr sz="1100">
              <a:latin typeface="Arial"/>
              <a:cs typeface="Arial"/>
            </a:endParaRPr>
          </a:p>
          <a:p>
            <a:pPr marL="581660" marR="2217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current</a:t>
            </a:r>
            <a:r>
              <a:rPr sz="1000" spc="-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percepts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Output:</a:t>
            </a:r>
            <a:r>
              <a:rPr sz="1000" spc="6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  <a:p>
            <a:pPr marL="581660">
              <a:lnSpc>
                <a:spcPts val="1190"/>
              </a:lnSpc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Program: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manipulates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input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produce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output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304800" marR="209550">
              <a:lnSpc>
                <a:spcPts val="1650"/>
              </a:lnSpc>
              <a:spcBef>
                <a:spcPts val="6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history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only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current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304800" marR="5080" indent="-292735">
              <a:lnSpc>
                <a:spcPct val="102600"/>
              </a:lnSpc>
              <a:spcBef>
                <a:spcPts val="190"/>
              </a:spcBef>
            </a:pPr>
            <a:r>
              <a:rPr sz="1100" spc="105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6DEDE"/>
                </a:solidFill>
                <a:latin typeface="Source Sans 3"/>
                <a:cs typeface="Source Sans 3"/>
              </a:rPr>
              <a:t>⇒</a:t>
            </a:r>
            <a:r>
              <a:rPr sz="1100" i="1" spc="295" dirty="0">
                <a:solidFill>
                  <a:srgbClr val="F6DEDE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entire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sequence,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will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remember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percepts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1174"/>
            <a:ext cx="4349750" cy="1646555"/>
            <a:chOff x="129196" y="461174"/>
            <a:chExt cx="4349750" cy="1646555"/>
          </a:xfrm>
        </p:grpSpPr>
        <p:sp>
          <p:nvSpPr>
            <p:cNvPr id="4" name="object 4"/>
            <p:cNvSpPr/>
            <p:nvPr/>
          </p:nvSpPr>
          <p:spPr>
            <a:xfrm>
              <a:off x="129196" y="46117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4146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85739"/>
              <a:ext cx="4349750" cy="1421765"/>
            </a:xfrm>
            <a:custGeom>
              <a:avLst/>
              <a:gdLst/>
              <a:ahLst/>
              <a:cxnLst/>
              <a:rect l="l" t="t" r="r" b="b"/>
              <a:pathLst>
                <a:path w="4349750" h="1421764">
                  <a:moveTo>
                    <a:pt x="4349657" y="0"/>
                  </a:moveTo>
                  <a:lnTo>
                    <a:pt x="0" y="0"/>
                  </a:lnTo>
                  <a:lnTo>
                    <a:pt x="0" y="1370580"/>
                  </a:lnTo>
                  <a:lnTo>
                    <a:pt x="4008" y="1390305"/>
                  </a:lnTo>
                  <a:lnTo>
                    <a:pt x="14922" y="1406458"/>
                  </a:lnTo>
                  <a:lnTo>
                    <a:pt x="31075" y="1417372"/>
                  </a:lnTo>
                  <a:lnTo>
                    <a:pt x="50800" y="1421381"/>
                  </a:lnTo>
                  <a:lnTo>
                    <a:pt x="4298856" y="1421381"/>
                  </a:lnTo>
                  <a:lnTo>
                    <a:pt x="4318581" y="1417372"/>
                  </a:lnTo>
                  <a:lnTo>
                    <a:pt x="4334734" y="1406458"/>
                  </a:lnTo>
                  <a:lnTo>
                    <a:pt x="4345648" y="1390305"/>
                  </a:lnTo>
                  <a:lnTo>
                    <a:pt x="4349657" y="137058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43499"/>
              <a:ext cx="0" cy="1532255"/>
            </a:xfrm>
            <a:custGeom>
              <a:avLst/>
              <a:gdLst/>
              <a:ahLst/>
              <a:cxnLst/>
              <a:rect l="l" t="t" r="r" b="b"/>
              <a:pathLst>
                <a:path h="1532255">
                  <a:moveTo>
                    <a:pt x="0" y="1531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0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18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05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3042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1253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406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66468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818297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970138"/>
              <a:ext cx="61874" cy="61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259037"/>
            <a:ext cx="4400550" cy="1058545"/>
            <a:chOff x="129196" y="2259037"/>
            <a:chExt cx="4400550" cy="1058545"/>
          </a:xfrm>
        </p:grpSpPr>
        <p:sp>
          <p:nvSpPr>
            <p:cNvPr id="18" name="object 18"/>
            <p:cNvSpPr/>
            <p:nvPr/>
          </p:nvSpPr>
          <p:spPr>
            <a:xfrm>
              <a:off x="129196" y="225903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D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6" y="2427490"/>
              <a:ext cx="4349657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97" y="3215563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797" y="3202863"/>
              <a:ext cx="4298856" cy="1143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78853" y="2303272"/>
              <a:ext cx="50800" cy="9122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9196" y="2471757"/>
              <a:ext cx="4349750" cy="795020"/>
            </a:xfrm>
            <a:custGeom>
              <a:avLst/>
              <a:gdLst/>
              <a:ahLst/>
              <a:cxnLst/>
              <a:rect l="l" t="t" r="r" b="b"/>
              <a:pathLst>
                <a:path w="4349750" h="795020">
                  <a:moveTo>
                    <a:pt x="4349657" y="0"/>
                  </a:moveTo>
                  <a:lnTo>
                    <a:pt x="0" y="0"/>
                  </a:lnTo>
                  <a:lnTo>
                    <a:pt x="0" y="743806"/>
                  </a:lnTo>
                  <a:lnTo>
                    <a:pt x="4008" y="763531"/>
                  </a:lnTo>
                  <a:lnTo>
                    <a:pt x="14922" y="779684"/>
                  </a:lnTo>
                  <a:lnTo>
                    <a:pt x="31075" y="790598"/>
                  </a:lnTo>
                  <a:lnTo>
                    <a:pt x="50800" y="794606"/>
                  </a:lnTo>
                  <a:lnTo>
                    <a:pt x="4298856" y="794606"/>
                  </a:lnTo>
                  <a:lnTo>
                    <a:pt x="4318581" y="790598"/>
                  </a:lnTo>
                  <a:lnTo>
                    <a:pt x="4334734" y="779684"/>
                  </a:lnTo>
                  <a:lnTo>
                    <a:pt x="4345648" y="763531"/>
                  </a:lnTo>
                  <a:lnTo>
                    <a:pt x="4349657" y="7438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341364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h="893444">
                  <a:moveTo>
                    <a:pt x="0" y="8932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8853" y="23286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78853" y="23159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8853" y="23032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010" y="2519629"/>
              <a:ext cx="76809" cy="768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010" y="2729661"/>
              <a:ext cx="76809" cy="768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1904" y="401229"/>
            <a:ext cx="4082415" cy="2830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+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04800" marR="273685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AI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design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implementing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304800" marR="316230">
              <a:lnSpc>
                <a:spcPct val="1079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device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actuators: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architecture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skeleton:</a:t>
            </a:r>
            <a:endParaRPr sz="1100">
              <a:latin typeface="Arial"/>
              <a:cs typeface="Arial"/>
            </a:endParaRPr>
          </a:p>
          <a:p>
            <a:pPr marL="581660" marR="2217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Input: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percepts </a:t>
            </a:r>
            <a:r>
              <a:rPr sz="1000" dirty="0">
                <a:latin typeface="Arial"/>
                <a:cs typeface="Arial"/>
              </a:rPr>
              <a:t>Output: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  <a:p>
            <a:pPr marL="581660">
              <a:lnSpc>
                <a:spcPts val="1190"/>
              </a:lnSpc>
            </a:pPr>
            <a:r>
              <a:rPr sz="1000" dirty="0">
                <a:latin typeface="Arial"/>
                <a:cs typeface="Arial"/>
              </a:rPr>
              <a:t>Program: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manipulates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produce</a:t>
            </a:r>
            <a:r>
              <a:rPr sz="1000" spc="-10" dirty="0">
                <a:latin typeface="Arial"/>
                <a:cs typeface="Arial"/>
              </a:rPr>
              <a:t> output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304800" marR="209550">
              <a:lnSpc>
                <a:spcPts val="1650"/>
              </a:lnSpc>
              <a:spcBef>
                <a:spcPts val="60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history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D8D8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takes</a:t>
            </a:r>
            <a:r>
              <a:rPr sz="1100" spc="-4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only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current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percept</a:t>
            </a:r>
            <a:r>
              <a:rPr sz="1100" spc="-4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as</a:t>
            </a:r>
            <a:r>
              <a:rPr sz="1100" spc="-3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304800" marR="5080" indent="-292735">
              <a:lnSpc>
                <a:spcPct val="102600"/>
              </a:lnSpc>
              <a:spcBef>
                <a:spcPts val="190"/>
              </a:spcBef>
            </a:pPr>
            <a:r>
              <a:rPr sz="1100" spc="105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F6DEDE"/>
                </a:solidFill>
                <a:latin typeface="Source Sans 3"/>
                <a:cs typeface="Source Sans 3"/>
              </a:rPr>
              <a:t>⇒</a:t>
            </a:r>
            <a:r>
              <a:rPr sz="1100" i="1" spc="295" dirty="0">
                <a:solidFill>
                  <a:srgbClr val="F6DEDE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actions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need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depend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entire</a:t>
            </a: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percept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sequence,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will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remember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percepts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04131" y="3340524"/>
            <a:ext cx="240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34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61174"/>
            <a:ext cx="4349750" cy="1646555"/>
            <a:chOff x="129196" y="461174"/>
            <a:chExt cx="4349750" cy="1646555"/>
          </a:xfrm>
        </p:grpSpPr>
        <p:sp>
          <p:nvSpPr>
            <p:cNvPr id="4" name="object 4"/>
            <p:cNvSpPr/>
            <p:nvPr/>
          </p:nvSpPr>
          <p:spPr>
            <a:xfrm>
              <a:off x="129196" y="46117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4146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85739"/>
              <a:ext cx="4349750" cy="1421765"/>
            </a:xfrm>
            <a:custGeom>
              <a:avLst/>
              <a:gdLst/>
              <a:ahLst/>
              <a:cxnLst/>
              <a:rect l="l" t="t" r="r" b="b"/>
              <a:pathLst>
                <a:path w="4349750" h="1421764">
                  <a:moveTo>
                    <a:pt x="4349657" y="0"/>
                  </a:moveTo>
                  <a:lnTo>
                    <a:pt x="0" y="0"/>
                  </a:lnTo>
                  <a:lnTo>
                    <a:pt x="0" y="1370580"/>
                  </a:lnTo>
                  <a:lnTo>
                    <a:pt x="4008" y="1390305"/>
                  </a:lnTo>
                  <a:lnTo>
                    <a:pt x="14922" y="1406458"/>
                  </a:lnTo>
                  <a:lnTo>
                    <a:pt x="31075" y="1417372"/>
                  </a:lnTo>
                  <a:lnTo>
                    <a:pt x="50800" y="1421381"/>
                  </a:lnTo>
                  <a:lnTo>
                    <a:pt x="4298856" y="1421381"/>
                  </a:lnTo>
                  <a:lnTo>
                    <a:pt x="4318581" y="1417372"/>
                  </a:lnTo>
                  <a:lnTo>
                    <a:pt x="4334734" y="1406458"/>
                  </a:lnTo>
                  <a:lnTo>
                    <a:pt x="4345648" y="1390305"/>
                  </a:lnTo>
                  <a:lnTo>
                    <a:pt x="4349657" y="137058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43499"/>
              <a:ext cx="0" cy="1532255"/>
            </a:xfrm>
            <a:custGeom>
              <a:avLst/>
              <a:gdLst/>
              <a:ahLst/>
              <a:cxnLst/>
              <a:rect l="l" t="t" r="r" b="b"/>
              <a:pathLst>
                <a:path h="1532255">
                  <a:moveTo>
                    <a:pt x="0" y="1531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30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18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05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3042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1253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474406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666468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818297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970138"/>
              <a:ext cx="61874" cy="61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29196" y="2259037"/>
            <a:ext cx="4349750" cy="1007744"/>
            <a:chOff x="129196" y="2259037"/>
            <a:chExt cx="4349750" cy="1007744"/>
          </a:xfrm>
        </p:grpSpPr>
        <p:sp>
          <p:nvSpPr>
            <p:cNvPr id="18" name="object 18"/>
            <p:cNvSpPr/>
            <p:nvPr/>
          </p:nvSpPr>
          <p:spPr>
            <a:xfrm>
              <a:off x="129196" y="2259037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1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6" y="2427490"/>
              <a:ext cx="4349657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471757"/>
              <a:ext cx="4349750" cy="795020"/>
            </a:xfrm>
            <a:custGeom>
              <a:avLst/>
              <a:gdLst/>
              <a:ahLst/>
              <a:cxnLst/>
              <a:rect l="l" t="t" r="r" b="b"/>
              <a:pathLst>
                <a:path w="4349750" h="795020">
                  <a:moveTo>
                    <a:pt x="4349657" y="0"/>
                  </a:moveTo>
                  <a:lnTo>
                    <a:pt x="0" y="0"/>
                  </a:lnTo>
                  <a:lnTo>
                    <a:pt x="0" y="743806"/>
                  </a:lnTo>
                  <a:lnTo>
                    <a:pt x="4008" y="763531"/>
                  </a:lnTo>
                  <a:lnTo>
                    <a:pt x="14922" y="779684"/>
                  </a:lnTo>
                  <a:lnTo>
                    <a:pt x="31075" y="790598"/>
                  </a:lnTo>
                  <a:lnTo>
                    <a:pt x="50800" y="794606"/>
                  </a:lnTo>
                  <a:lnTo>
                    <a:pt x="4298856" y="794606"/>
                  </a:lnTo>
                  <a:lnTo>
                    <a:pt x="4318581" y="790598"/>
                  </a:lnTo>
                  <a:lnTo>
                    <a:pt x="4334734" y="779684"/>
                  </a:lnTo>
                  <a:lnTo>
                    <a:pt x="4345648" y="763531"/>
                  </a:lnTo>
                  <a:lnTo>
                    <a:pt x="4349657" y="74380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341364"/>
              <a:ext cx="0" cy="893444"/>
            </a:xfrm>
            <a:custGeom>
              <a:avLst/>
              <a:gdLst/>
              <a:ahLst/>
              <a:cxnLst/>
              <a:rect l="l" t="t" r="r" b="b"/>
              <a:pathLst>
                <a:path h="893444">
                  <a:moveTo>
                    <a:pt x="0" y="8932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3286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3159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3032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519629"/>
              <a:ext cx="76809" cy="768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729661"/>
              <a:ext cx="76809" cy="768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1904" y="401229"/>
            <a:ext cx="4082415" cy="2830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+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304800" marR="273685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latin typeface="Arial"/>
                <a:cs typeface="Arial"/>
              </a:rPr>
              <a:t>AI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Job: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design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implementing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 function</a:t>
            </a:r>
            <a:endParaRPr sz="1100">
              <a:latin typeface="Arial"/>
              <a:cs typeface="Arial"/>
            </a:endParaRPr>
          </a:p>
          <a:p>
            <a:pPr marL="304800" marR="316230">
              <a:lnSpc>
                <a:spcPct val="1079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device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actuators: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architecture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skeleton:</a:t>
            </a:r>
            <a:endParaRPr sz="1100">
              <a:latin typeface="Arial"/>
              <a:cs typeface="Arial"/>
            </a:endParaRPr>
          </a:p>
          <a:p>
            <a:pPr marL="581660" marR="2217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Input: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percepts </a:t>
            </a:r>
            <a:r>
              <a:rPr sz="1000" dirty="0">
                <a:latin typeface="Arial"/>
                <a:cs typeface="Arial"/>
              </a:rPr>
              <a:t>Output: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action</a:t>
            </a:r>
            <a:endParaRPr sz="1000">
              <a:latin typeface="Arial"/>
              <a:cs typeface="Arial"/>
            </a:endParaRPr>
          </a:p>
          <a:p>
            <a:pPr marL="581660">
              <a:lnSpc>
                <a:spcPts val="1190"/>
              </a:lnSpc>
            </a:pPr>
            <a:r>
              <a:rPr sz="1000" dirty="0">
                <a:latin typeface="Arial"/>
                <a:cs typeface="Arial"/>
              </a:rPr>
              <a:t>Program: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manipulates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produce</a:t>
            </a:r>
            <a:r>
              <a:rPr sz="1000" spc="-10" dirty="0">
                <a:latin typeface="Arial"/>
                <a:cs typeface="Arial"/>
              </a:rPr>
              <a:t> output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Remark</a:t>
            </a:r>
            <a:endParaRPr sz="1100">
              <a:latin typeface="Arial"/>
              <a:cs typeface="Arial"/>
            </a:endParaRPr>
          </a:p>
          <a:p>
            <a:pPr marL="304800" marR="209550">
              <a:lnSpc>
                <a:spcPts val="1650"/>
              </a:lnSpc>
              <a:spcBef>
                <a:spcPts val="6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entire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history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input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agent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program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only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304800" marR="5080" indent="-292735">
              <a:lnSpc>
                <a:spcPct val="102600"/>
              </a:lnSpc>
              <a:spcBef>
                <a:spcPts val="190"/>
              </a:spcBef>
            </a:pPr>
            <a:r>
              <a:rPr sz="1100" spc="105" dirty="0">
                <a:solidFill>
                  <a:srgbClr val="C92626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92626"/>
                </a:solidFill>
                <a:latin typeface="Source Sans 3"/>
                <a:cs typeface="Source Sans 3"/>
              </a:rPr>
              <a:t>⇒</a:t>
            </a:r>
            <a:r>
              <a:rPr sz="1100" i="1" spc="295" dirty="0">
                <a:solidFill>
                  <a:srgbClr val="C92626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percept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sequence,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will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have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remember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percepts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spc="65" dirty="0"/>
              <a:t> </a:t>
            </a:r>
            <a:r>
              <a:rPr dirty="0"/>
              <a:t>trivial</a:t>
            </a:r>
            <a:r>
              <a:rPr spc="65" dirty="0"/>
              <a:t> </a:t>
            </a:r>
            <a:r>
              <a:rPr dirty="0"/>
              <a:t>Agent</a:t>
            </a:r>
            <a:r>
              <a:rPr spc="70" dirty="0"/>
              <a:t> </a:t>
            </a:r>
            <a:r>
              <a:rPr spc="-10" dirty="0"/>
              <a:t>Program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74064"/>
            <a:ext cx="4349750" cy="1876425"/>
            <a:chOff x="129196" y="674064"/>
            <a:chExt cx="4349750" cy="1876425"/>
          </a:xfrm>
        </p:grpSpPr>
        <p:sp>
          <p:nvSpPr>
            <p:cNvPr id="4" name="object 4"/>
            <p:cNvSpPr/>
            <p:nvPr/>
          </p:nvSpPr>
          <p:spPr>
            <a:xfrm>
              <a:off x="129196" y="67406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5436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98624"/>
              <a:ext cx="4349750" cy="1651635"/>
            </a:xfrm>
            <a:custGeom>
              <a:avLst/>
              <a:gdLst/>
              <a:ahLst/>
              <a:cxnLst/>
              <a:rect l="l" t="t" r="r" b="b"/>
              <a:pathLst>
                <a:path w="4349750" h="1651635">
                  <a:moveTo>
                    <a:pt x="4349657" y="0"/>
                  </a:moveTo>
                  <a:lnTo>
                    <a:pt x="0" y="0"/>
                  </a:lnTo>
                  <a:lnTo>
                    <a:pt x="0" y="1600456"/>
                  </a:lnTo>
                  <a:lnTo>
                    <a:pt x="4008" y="1620181"/>
                  </a:lnTo>
                  <a:lnTo>
                    <a:pt x="14922" y="1636334"/>
                  </a:lnTo>
                  <a:lnTo>
                    <a:pt x="31075" y="1647248"/>
                  </a:lnTo>
                  <a:lnTo>
                    <a:pt x="50800" y="1651256"/>
                  </a:lnTo>
                  <a:lnTo>
                    <a:pt x="4298856" y="1651256"/>
                  </a:lnTo>
                  <a:lnTo>
                    <a:pt x="4318581" y="1647248"/>
                  </a:lnTo>
                  <a:lnTo>
                    <a:pt x="4334734" y="1636334"/>
                  </a:lnTo>
                  <a:lnTo>
                    <a:pt x="4345648" y="1620181"/>
                  </a:lnTo>
                  <a:lnTo>
                    <a:pt x="4349657" y="160045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56384"/>
              <a:ext cx="0" cy="1762125"/>
            </a:xfrm>
            <a:custGeom>
              <a:avLst/>
              <a:gdLst/>
              <a:ahLst/>
              <a:cxnLst/>
              <a:rect l="l" t="t" r="r" b="b"/>
              <a:pathLst>
                <a:path h="1762125">
                  <a:moveTo>
                    <a:pt x="0" y="176174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436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309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182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650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38580"/>
              <a:ext cx="61874" cy="618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610918"/>
            <a:ext cx="3268345" cy="6305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Table-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Driven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simple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vacuum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cleaner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997" y="1394107"/>
            <a:ext cx="4248037" cy="99775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29196" y="2701810"/>
            <a:ext cx="4400550" cy="296545"/>
            <a:chOff x="129196" y="2701810"/>
            <a:chExt cx="4400550" cy="296545"/>
          </a:xfrm>
        </p:grpSpPr>
        <p:sp>
          <p:nvSpPr>
            <p:cNvPr id="16" name="object 16"/>
            <p:cNvSpPr/>
            <p:nvPr/>
          </p:nvSpPr>
          <p:spPr>
            <a:xfrm>
              <a:off x="129196" y="270181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997" y="289622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797" y="2883522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8853" y="2752369"/>
              <a:ext cx="50800" cy="1438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746226"/>
              <a:ext cx="4349750" cy="201295"/>
            </a:xfrm>
            <a:custGeom>
              <a:avLst/>
              <a:gdLst/>
              <a:ahLst/>
              <a:cxnLst/>
              <a:rect l="l" t="t" r="r" b="b"/>
              <a:pathLst>
                <a:path w="4349750" h="201294">
                  <a:moveTo>
                    <a:pt x="4349657" y="0"/>
                  </a:moveTo>
                  <a:lnTo>
                    <a:pt x="0" y="0"/>
                  </a:lnTo>
                  <a:lnTo>
                    <a:pt x="0" y="149995"/>
                  </a:lnTo>
                  <a:lnTo>
                    <a:pt x="4008" y="169720"/>
                  </a:lnTo>
                  <a:lnTo>
                    <a:pt x="14922" y="185873"/>
                  </a:lnTo>
                  <a:lnTo>
                    <a:pt x="31075" y="196787"/>
                  </a:lnTo>
                  <a:lnTo>
                    <a:pt x="50800" y="200796"/>
                  </a:lnTo>
                  <a:lnTo>
                    <a:pt x="4298856" y="200796"/>
                  </a:lnTo>
                  <a:lnTo>
                    <a:pt x="4318581" y="196787"/>
                  </a:lnTo>
                  <a:lnTo>
                    <a:pt x="4334734" y="185873"/>
                  </a:lnTo>
                  <a:lnTo>
                    <a:pt x="4345648" y="169720"/>
                  </a:lnTo>
                  <a:lnTo>
                    <a:pt x="4349657" y="14999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790463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1248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7777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7650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7523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82610" y="2419536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297" y="2728704"/>
            <a:ext cx="2655570" cy="19748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Blow-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up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table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size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doomed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failure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spc="65" dirty="0"/>
              <a:t> </a:t>
            </a:r>
            <a:r>
              <a:rPr dirty="0"/>
              <a:t>trivial</a:t>
            </a:r>
            <a:r>
              <a:rPr spc="65" dirty="0"/>
              <a:t> </a:t>
            </a:r>
            <a:r>
              <a:rPr dirty="0"/>
              <a:t>Agent</a:t>
            </a:r>
            <a:r>
              <a:rPr spc="70" dirty="0"/>
              <a:t> </a:t>
            </a:r>
            <a:r>
              <a:rPr spc="-10" dirty="0"/>
              <a:t>Program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74064"/>
            <a:ext cx="4349750" cy="1876425"/>
            <a:chOff x="129196" y="674064"/>
            <a:chExt cx="4349750" cy="1876425"/>
          </a:xfrm>
        </p:grpSpPr>
        <p:sp>
          <p:nvSpPr>
            <p:cNvPr id="4" name="object 4"/>
            <p:cNvSpPr/>
            <p:nvPr/>
          </p:nvSpPr>
          <p:spPr>
            <a:xfrm>
              <a:off x="129196" y="67406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54367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98624"/>
              <a:ext cx="4349750" cy="1651635"/>
            </a:xfrm>
            <a:custGeom>
              <a:avLst/>
              <a:gdLst/>
              <a:ahLst/>
              <a:cxnLst/>
              <a:rect l="l" t="t" r="r" b="b"/>
              <a:pathLst>
                <a:path w="4349750" h="1651635">
                  <a:moveTo>
                    <a:pt x="4349657" y="0"/>
                  </a:moveTo>
                  <a:lnTo>
                    <a:pt x="0" y="0"/>
                  </a:lnTo>
                  <a:lnTo>
                    <a:pt x="0" y="1600456"/>
                  </a:lnTo>
                  <a:lnTo>
                    <a:pt x="4008" y="1620181"/>
                  </a:lnTo>
                  <a:lnTo>
                    <a:pt x="14922" y="1636334"/>
                  </a:lnTo>
                  <a:lnTo>
                    <a:pt x="31075" y="1647248"/>
                  </a:lnTo>
                  <a:lnTo>
                    <a:pt x="50800" y="1651256"/>
                  </a:lnTo>
                  <a:lnTo>
                    <a:pt x="4298856" y="1651256"/>
                  </a:lnTo>
                  <a:lnTo>
                    <a:pt x="4318581" y="1647248"/>
                  </a:lnTo>
                  <a:lnTo>
                    <a:pt x="4334734" y="1636334"/>
                  </a:lnTo>
                  <a:lnTo>
                    <a:pt x="4345648" y="1620181"/>
                  </a:lnTo>
                  <a:lnTo>
                    <a:pt x="4349657" y="160045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756384"/>
              <a:ext cx="0" cy="1762125"/>
            </a:xfrm>
            <a:custGeom>
              <a:avLst/>
              <a:gdLst/>
              <a:ahLst/>
              <a:cxnLst/>
              <a:rect l="l" t="t" r="r" b="b"/>
              <a:pathLst>
                <a:path h="1762125">
                  <a:moveTo>
                    <a:pt x="0" y="176174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436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309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182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4650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138580"/>
              <a:ext cx="61874" cy="618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610918"/>
            <a:ext cx="3268345" cy="6305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Table-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Driven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simple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vacuum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cleaner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997" y="1394107"/>
            <a:ext cx="4248037" cy="99775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29196" y="2701810"/>
            <a:ext cx="4349750" cy="245745"/>
            <a:chOff x="129196" y="2701810"/>
            <a:chExt cx="4349750" cy="245745"/>
          </a:xfrm>
        </p:grpSpPr>
        <p:sp>
          <p:nvSpPr>
            <p:cNvPr id="16" name="object 16"/>
            <p:cNvSpPr/>
            <p:nvPr/>
          </p:nvSpPr>
          <p:spPr>
            <a:xfrm>
              <a:off x="129184" y="2701810"/>
              <a:ext cx="4349750" cy="245745"/>
            </a:xfrm>
            <a:custGeom>
              <a:avLst/>
              <a:gdLst/>
              <a:ahLst/>
              <a:cxnLst/>
              <a:rect l="l" t="t" r="r" b="b"/>
              <a:pathLst>
                <a:path w="4349750" h="245744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4411"/>
                  </a:lnTo>
                  <a:lnTo>
                    <a:pt x="4013" y="214147"/>
                  </a:lnTo>
                  <a:lnTo>
                    <a:pt x="14922" y="230301"/>
                  </a:lnTo>
                  <a:lnTo>
                    <a:pt x="31076" y="241211"/>
                  </a:lnTo>
                  <a:lnTo>
                    <a:pt x="50812" y="245224"/>
                  </a:lnTo>
                  <a:lnTo>
                    <a:pt x="4298861" y="245224"/>
                  </a:lnTo>
                  <a:lnTo>
                    <a:pt x="4318584" y="241211"/>
                  </a:lnTo>
                  <a:lnTo>
                    <a:pt x="4334738" y="230301"/>
                  </a:lnTo>
                  <a:lnTo>
                    <a:pt x="4345660" y="214147"/>
                  </a:lnTo>
                  <a:lnTo>
                    <a:pt x="4349661" y="194411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790463"/>
              <a:ext cx="0" cy="125095"/>
            </a:xfrm>
            <a:custGeom>
              <a:avLst/>
              <a:gdLst/>
              <a:ahLst/>
              <a:cxnLst/>
              <a:rect l="l" t="t" r="r" b="b"/>
              <a:pathLst>
                <a:path h="125094">
                  <a:moveTo>
                    <a:pt x="0" y="1248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7777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7650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7523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82610" y="2419536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297" y="2728704"/>
            <a:ext cx="2655570" cy="19748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20" dirty="0">
                <a:solidFill>
                  <a:srgbClr val="D8D8D8"/>
                </a:solidFill>
                <a:latin typeface="Arial"/>
                <a:cs typeface="Arial"/>
              </a:rPr>
              <a:t>Blow-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up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table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size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105" dirty="0">
                <a:solidFill>
                  <a:srgbClr val="D8D8D8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D8D8D8"/>
                </a:solidFill>
                <a:latin typeface="Source Sans 3"/>
                <a:cs typeface="Source Sans 3"/>
              </a:rPr>
              <a:t>⇒</a:t>
            </a:r>
            <a:r>
              <a:rPr sz="1100" i="1" spc="55" dirty="0">
                <a:solidFill>
                  <a:srgbClr val="D8D8D8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doomed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failure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75" dirty="0"/>
              <a:t> </a:t>
            </a:r>
            <a:r>
              <a:rPr spc="-10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00873"/>
            <a:ext cx="4349750" cy="1060450"/>
            <a:chOff x="129196" y="1000873"/>
            <a:chExt cx="4349750" cy="1060450"/>
          </a:xfrm>
        </p:grpSpPr>
        <p:sp>
          <p:nvSpPr>
            <p:cNvPr id="4" name="object 4"/>
            <p:cNvSpPr/>
            <p:nvPr/>
          </p:nvSpPr>
          <p:spPr>
            <a:xfrm>
              <a:off x="129196" y="1000873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8435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2863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83205"/>
              <a:ext cx="0" cy="946785"/>
            </a:xfrm>
            <a:custGeom>
              <a:avLst/>
              <a:gdLst/>
              <a:ahLst/>
              <a:cxnLst/>
              <a:rect l="l" t="t" r="r" b="b"/>
              <a:pathLst>
                <a:path h="946785">
                  <a:moveTo>
                    <a:pt x="0" y="9462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0705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0578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451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7650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86535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696567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06600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213114"/>
            <a:ext cx="4400550" cy="294640"/>
            <a:chOff x="129196" y="2213114"/>
            <a:chExt cx="4400550" cy="294640"/>
          </a:xfrm>
        </p:grpSpPr>
        <p:sp>
          <p:nvSpPr>
            <p:cNvPr id="16" name="object 16"/>
            <p:cNvSpPr/>
            <p:nvPr/>
          </p:nvSpPr>
          <p:spPr>
            <a:xfrm>
              <a:off x="129196" y="2213114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97" y="2406015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797" y="2393314"/>
              <a:ext cx="4298856" cy="114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8853" y="2263686"/>
              <a:ext cx="50800" cy="1423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196" y="2257543"/>
              <a:ext cx="4349750" cy="199390"/>
            </a:xfrm>
            <a:custGeom>
              <a:avLst/>
              <a:gdLst/>
              <a:ahLst/>
              <a:cxnLst/>
              <a:rect l="l" t="t" r="r" b="b"/>
              <a:pathLst>
                <a:path w="4349750" h="199389">
                  <a:moveTo>
                    <a:pt x="4349657" y="0"/>
                  </a:moveTo>
                  <a:lnTo>
                    <a:pt x="0" y="0"/>
                  </a:lnTo>
                  <a:lnTo>
                    <a:pt x="0" y="148471"/>
                  </a:lnTo>
                  <a:lnTo>
                    <a:pt x="4008" y="168196"/>
                  </a:lnTo>
                  <a:lnTo>
                    <a:pt x="14922" y="184349"/>
                  </a:lnTo>
                  <a:lnTo>
                    <a:pt x="31075" y="195263"/>
                  </a:lnTo>
                  <a:lnTo>
                    <a:pt x="50800" y="199272"/>
                  </a:lnTo>
                  <a:lnTo>
                    <a:pt x="4298856" y="199272"/>
                  </a:lnTo>
                  <a:lnTo>
                    <a:pt x="4318581" y="195263"/>
                  </a:lnTo>
                  <a:lnTo>
                    <a:pt x="4334734" y="184349"/>
                  </a:lnTo>
                  <a:lnTo>
                    <a:pt x="4345648" y="168196"/>
                  </a:lnTo>
                  <a:lnTo>
                    <a:pt x="4349657" y="14847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301780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123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2890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276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78853" y="22636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7297" y="940928"/>
            <a:ext cx="2733675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48005" indent="-27749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programs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Simple-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reflex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807085">
              <a:lnSpc>
                <a:spcPct val="125299"/>
              </a:lnSpc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Model-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reflex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 Goal-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Utility-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All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these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can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be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turned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into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learning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agents.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75" dirty="0"/>
              <a:t> </a:t>
            </a:r>
            <a:r>
              <a:rPr spc="-10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00873"/>
            <a:ext cx="4349750" cy="1060450"/>
            <a:chOff x="129196" y="1000873"/>
            <a:chExt cx="4349750" cy="1060450"/>
          </a:xfrm>
        </p:grpSpPr>
        <p:sp>
          <p:nvSpPr>
            <p:cNvPr id="4" name="object 4"/>
            <p:cNvSpPr/>
            <p:nvPr/>
          </p:nvSpPr>
          <p:spPr>
            <a:xfrm>
              <a:off x="129196" y="1000873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18435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28632"/>
              <a:ext cx="4349750" cy="833119"/>
            </a:xfrm>
            <a:custGeom>
              <a:avLst/>
              <a:gdLst/>
              <a:ahLst/>
              <a:cxnLst/>
              <a:rect l="l" t="t" r="r" b="b"/>
              <a:pathLst>
                <a:path w="4349750" h="833119">
                  <a:moveTo>
                    <a:pt x="4349657" y="0"/>
                  </a:moveTo>
                  <a:lnTo>
                    <a:pt x="0" y="0"/>
                  </a:lnTo>
                  <a:lnTo>
                    <a:pt x="0" y="781764"/>
                  </a:lnTo>
                  <a:lnTo>
                    <a:pt x="4008" y="801489"/>
                  </a:lnTo>
                  <a:lnTo>
                    <a:pt x="14922" y="817642"/>
                  </a:lnTo>
                  <a:lnTo>
                    <a:pt x="31075" y="828556"/>
                  </a:lnTo>
                  <a:lnTo>
                    <a:pt x="50800" y="832565"/>
                  </a:lnTo>
                  <a:lnTo>
                    <a:pt x="4298856" y="832565"/>
                  </a:lnTo>
                  <a:lnTo>
                    <a:pt x="4318581" y="828556"/>
                  </a:lnTo>
                  <a:lnTo>
                    <a:pt x="4334734" y="817642"/>
                  </a:lnTo>
                  <a:lnTo>
                    <a:pt x="4345648" y="801489"/>
                  </a:lnTo>
                  <a:lnTo>
                    <a:pt x="4349657" y="78176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083205"/>
              <a:ext cx="0" cy="946785"/>
            </a:xfrm>
            <a:custGeom>
              <a:avLst/>
              <a:gdLst/>
              <a:ahLst/>
              <a:cxnLst/>
              <a:rect l="l" t="t" r="r" b="b"/>
              <a:pathLst>
                <a:path h="946785">
                  <a:moveTo>
                    <a:pt x="0" y="9462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0705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0578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451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27650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486535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696567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906600"/>
              <a:ext cx="76809" cy="7680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9196" y="2213114"/>
            <a:ext cx="4349750" cy="243840"/>
            <a:chOff x="129196" y="2213114"/>
            <a:chExt cx="4349750" cy="243840"/>
          </a:xfrm>
        </p:grpSpPr>
        <p:sp>
          <p:nvSpPr>
            <p:cNvPr id="16" name="object 16"/>
            <p:cNvSpPr/>
            <p:nvPr/>
          </p:nvSpPr>
          <p:spPr>
            <a:xfrm>
              <a:off x="129184" y="2213114"/>
              <a:ext cx="4349750" cy="243840"/>
            </a:xfrm>
            <a:custGeom>
              <a:avLst/>
              <a:gdLst/>
              <a:ahLst/>
              <a:cxnLst/>
              <a:rect l="l" t="t" r="r" b="b"/>
              <a:pathLst>
                <a:path w="4349750" h="243839">
                  <a:moveTo>
                    <a:pt x="4349661" y="44437"/>
                  </a:moveTo>
                  <a:lnTo>
                    <a:pt x="4348365" y="44437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82" y="44437"/>
                  </a:lnTo>
                  <a:lnTo>
                    <a:pt x="0" y="44437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192913"/>
                  </a:lnTo>
                  <a:lnTo>
                    <a:pt x="4013" y="212636"/>
                  </a:lnTo>
                  <a:lnTo>
                    <a:pt x="14922" y="228790"/>
                  </a:lnTo>
                  <a:lnTo>
                    <a:pt x="31076" y="239699"/>
                  </a:lnTo>
                  <a:lnTo>
                    <a:pt x="50812" y="243713"/>
                  </a:lnTo>
                  <a:lnTo>
                    <a:pt x="4298861" y="243713"/>
                  </a:lnTo>
                  <a:lnTo>
                    <a:pt x="4318584" y="239699"/>
                  </a:lnTo>
                  <a:lnTo>
                    <a:pt x="4334738" y="228790"/>
                  </a:lnTo>
                  <a:lnTo>
                    <a:pt x="4345660" y="212636"/>
                  </a:lnTo>
                  <a:lnTo>
                    <a:pt x="4349661" y="192913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37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301780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h="123825">
                  <a:moveTo>
                    <a:pt x="0" y="123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2890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2763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2636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7297" y="940928"/>
            <a:ext cx="2733675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48005" indent="-277495">
              <a:lnSpc>
                <a:spcPct val="128200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programs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Simple-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reflex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 marR="807085">
              <a:lnSpc>
                <a:spcPct val="125299"/>
              </a:lnSpc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Model-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reflex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 Goal-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Utility-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learning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35" dirty="0"/>
              <a:t> </a:t>
            </a:r>
            <a:r>
              <a:rPr dirty="0"/>
              <a:t>Types:</a:t>
            </a:r>
            <a:r>
              <a:rPr spc="140" dirty="0"/>
              <a:t> </a:t>
            </a:r>
            <a:r>
              <a:rPr dirty="0"/>
              <a:t>Simple-reflex</a:t>
            </a:r>
            <a:r>
              <a:rPr spc="4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24505"/>
            <a:chOff x="129196" y="432091"/>
            <a:chExt cx="4349750" cy="3024505"/>
          </a:xfrm>
        </p:grpSpPr>
        <p:sp>
          <p:nvSpPr>
            <p:cNvPr id="4" name="object 4"/>
            <p:cNvSpPr/>
            <p:nvPr/>
          </p:nvSpPr>
          <p:spPr>
            <a:xfrm>
              <a:off x="129184" y="432092"/>
              <a:ext cx="4349750" cy="3024505"/>
            </a:xfrm>
            <a:custGeom>
              <a:avLst/>
              <a:gdLst/>
              <a:ahLst/>
              <a:cxnLst/>
              <a:rect l="l" t="t" r="r" b="b"/>
              <a:pathLst>
                <a:path w="4349750" h="3024504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2979280"/>
                  </a:lnTo>
                  <a:lnTo>
                    <a:pt x="4013" y="2999016"/>
                  </a:lnTo>
                  <a:lnTo>
                    <a:pt x="14922" y="3015170"/>
                  </a:lnTo>
                  <a:lnTo>
                    <a:pt x="27876" y="3023908"/>
                  </a:lnTo>
                  <a:lnTo>
                    <a:pt x="4321784" y="3023908"/>
                  </a:lnTo>
                  <a:lnTo>
                    <a:pt x="4334738" y="3015170"/>
                  </a:lnTo>
                  <a:lnTo>
                    <a:pt x="4345660" y="2999016"/>
                  </a:lnTo>
                  <a:lnTo>
                    <a:pt x="4349661" y="2979280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520724"/>
              <a:ext cx="0" cy="2910205"/>
            </a:xfrm>
            <a:custGeom>
              <a:avLst/>
              <a:gdLst/>
              <a:ahLst/>
              <a:cxnLst/>
              <a:rect l="l" t="t" r="r" b="b"/>
              <a:pathLst>
                <a:path h="2910204">
                  <a:moveTo>
                    <a:pt x="0" y="29096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508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953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826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524383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16457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891311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8337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23521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430312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44385" y="427392"/>
            <a:ext cx="3634740" cy="12947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current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only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the simple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vacuum-</a:t>
            </a:r>
            <a:r>
              <a:rPr sz="1000" spc="-20" dirty="0">
                <a:solidFill>
                  <a:srgbClr val="006300"/>
                </a:solidFill>
                <a:latin typeface="Arial"/>
                <a:cs typeface="Arial"/>
              </a:rPr>
              <a:t>agent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condition-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action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  <a:p>
            <a:pPr marL="289560" marR="5537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8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</a:t>
            </a:r>
            <a:r>
              <a:rPr sz="1000" b="1" dirty="0">
                <a:solidFill>
                  <a:srgbClr val="006300"/>
                </a:solidFill>
                <a:latin typeface="Arial"/>
                <a:cs typeface="Arial"/>
              </a:rPr>
              <a:t>if</a:t>
            </a:r>
            <a:r>
              <a:rPr sz="1000" b="1" spc="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car-in-front-is-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braking</a:t>
            </a:r>
            <a:r>
              <a:rPr sz="1000" spc="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6300"/>
                </a:solidFill>
                <a:latin typeface="Arial"/>
                <a:cs typeface="Arial"/>
              </a:rPr>
              <a:t>then</a:t>
            </a:r>
            <a:r>
              <a:rPr sz="1000" b="1" spc="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initiate-braking</a:t>
            </a:r>
            <a:r>
              <a:rPr sz="1000" spc="-10" dirty="0">
                <a:latin typeface="Arial"/>
                <a:cs typeface="Arial"/>
              </a:rPr>
              <a:t>”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implemented,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e.g.,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Boolean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circuit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15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Large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reduction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possible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percept/action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situations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due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to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ignoring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percept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history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1493" y="1808985"/>
            <a:ext cx="2345066" cy="14951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682610" y="3331815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37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dirty="0"/>
              <a:t>Simple-reflex</a:t>
            </a:r>
            <a:r>
              <a:rPr spc="50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spc="-10" dirty="0"/>
              <a:t>[cont.]</a:t>
            </a:r>
          </a:p>
        </p:txBody>
      </p:sp>
      <p:sp>
        <p:nvSpPr>
          <p:cNvPr id="3" name="object 3"/>
          <p:cNvSpPr/>
          <p:nvPr/>
        </p:nvSpPr>
        <p:spPr>
          <a:xfrm>
            <a:off x="129196" y="661199"/>
            <a:ext cx="4349750" cy="196215"/>
          </a:xfrm>
          <a:custGeom>
            <a:avLst/>
            <a:gdLst/>
            <a:ahLst/>
            <a:cxnLst/>
            <a:rect l="l" t="t" r="r" b="b"/>
            <a:pathLst>
              <a:path w="4349750" h="196215">
                <a:moveTo>
                  <a:pt x="429885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133"/>
                </a:lnTo>
                <a:lnTo>
                  <a:pt x="4349657" y="196133"/>
                </a:lnTo>
                <a:lnTo>
                  <a:pt x="4349657" y="50800"/>
                </a:lnTo>
                <a:lnTo>
                  <a:pt x="4345648" y="31075"/>
                </a:lnTo>
                <a:lnTo>
                  <a:pt x="4334734" y="14922"/>
                </a:lnTo>
                <a:lnTo>
                  <a:pt x="4318581" y="4008"/>
                </a:lnTo>
                <a:lnTo>
                  <a:pt x="429885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297" y="649959"/>
            <a:ext cx="1766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Simple-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reflex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196" y="705418"/>
            <a:ext cx="4349750" cy="1351280"/>
            <a:chOff x="129196" y="705418"/>
            <a:chExt cx="4349750" cy="13512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44677"/>
              <a:ext cx="434965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196" y="888945"/>
              <a:ext cx="4349750" cy="1167765"/>
            </a:xfrm>
            <a:custGeom>
              <a:avLst/>
              <a:gdLst/>
              <a:ahLst/>
              <a:cxnLst/>
              <a:rect l="l" t="t" r="r" b="b"/>
              <a:pathLst>
                <a:path w="4349750" h="1167764">
                  <a:moveTo>
                    <a:pt x="4349657" y="0"/>
                  </a:moveTo>
                  <a:lnTo>
                    <a:pt x="0" y="0"/>
                  </a:lnTo>
                  <a:lnTo>
                    <a:pt x="0" y="1116396"/>
                  </a:lnTo>
                  <a:lnTo>
                    <a:pt x="4008" y="1136121"/>
                  </a:lnTo>
                  <a:lnTo>
                    <a:pt x="14922" y="1152274"/>
                  </a:lnTo>
                  <a:lnTo>
                    <a:pt x="31075" y="1163188"/>
                  </a:lnTo>
                  <a:lnTo>
                    <a:pt x="50800" y="1167197"/>
                  </a:lnTo>
                  <a:lnTo>
                    <a:pt x="4298856" y="1167197"/>
                  </a:lnTo>
                  <a:lnTo>
                    <a:pt x="4318581" y="1163188"/>
                  </a:lnTo>
                  <a:lnTo>
                    <a:pt x="4334734" y="1152274"/>
                  </a:lnTo>
                  <a:lnTo>
                    <a:pt x="4345648" y="1136121"/>
                  </a:lnTo>
                  <a:lnTo>
                    <a:pt x="4349657" y="111639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43518"/>
              <a:ext cx="0" cy="1281430"/>
            </a:xfrm>
            <a:custGeom>
              <a:avLst/>
              <a:gdLst/>
              <a:ahLst/>
              <a:cxnLst/>
              <a:rect l="l" t="t" r="r" b="b"/>
              <a:pathLst>
                <a:path h="1281430">
                  <a:moveTo>
                    <a:pt x="0" y="12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308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181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8853" y="7054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997" y="914264"/>
              <a:ext cx="4248159" cy="98386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82610" y="1924773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196" y="2208072"/>
            <a:ext cx="4400550" cy="809625"/>
            <a:chOff x="129196" y="2208072"/>
            <a:chExt cx="4400550" cy="809625"/>
          </a:xfrm>
        </p:grpSpPr>
        <p:sp>
          <p:nvSpPr>
            <p:cNvPr id="15" name="object 15"/>
            <p:cNvSpPr/>
            <p:nvPr/>
          </p:nvSpPr>
          <p:spPr>
            <a:xfrm>
              <a:off x="129196" y="2208072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997" y="2915526"/>
              <a:ext cx="101600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797" y="2902826"/>
              <a:ext cx="4298856" cy="1143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8853" y="2258631"/>
              <a:ext cx="50800" cy="65689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9196" y="2252486"/>
              <a:ext cx="4349750" cy="714375"/>
            </a:xfrm>
            <a:custGeom>
              <a:avLst/>
              <a:gdLst/>
              <a:ahLst/>
              <a:cxnLst/>
              <a:rect l="l" t="t" r="r" b="b"/>
              <a:pathLst>
                <a:path w="4349750" h="714375">
                  <a:moveTo>
                    <a:pt x="4349657" y="0"/>
                  </a:moveTo>
                  <a:lnTo>
                    <a:pt x="0" y="0"/>
                  </a:lnTo>
                  <a:lnTo>
                    <a:pt x="0" y="663039"/>
                  </a:lnTo>
                  <a:lnTo>
                    <a:pt x="4008" y="682764"/>
                  </a:lnTo>
                  <a:lnTo>
                    <a:pt x="14922" y="698917"/>
                  </a:lnTo>
                  <a:lnTo>
                    <a:pt x="31075" y="709831"/>
                  </a:lnTo>
                  <a:lnTo>
                    <a:pt x="50800" y="713840"/>
                  </a:lnTo>
                  <a:lnTo>
                    <a:pt x="4298856" y="713840"/>
                  </a:lnTo>
                  <a:lnTo>
                    <a:pt x="4318581" y="709831"/>
                  </a:lnTo>
                  <a:lnTo>
                    <a:pt x="4334734" y="698917"/>
                  </a:lnTo>
                  <a:lnTo>
                    <a:pt x="4345648" y="682764"/>
                  </a:lnTo>
                  <a:lnTo>
                    <a:pt x="4349657" y="66303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E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8853" y="2296723"/>
              <a:ext cx="0" cy="638175"/>
            </a:xfrm>
            <a:custGeom>
              <a:avLst/>
              <a:gdLst/>
              <a:ahLst/>
              <a:cxnLst/>
              <a:rect l="l" t="t" r="r" b="b"/>
              <a:pathLst>
                <a:path h="638175">
                  <a:moveTo>
                    <a:pt x="0" y="6378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8853" y="2284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8853" y="2271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8853" y="2258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297176"/>
              <a:ext cx="76809" cy="7680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486964"/>
              <a:ext cx="76809" cy="768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679027"/>
              <a:ext cx="61874" cy="618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44385" y="2201733"/>
            <a:ext cx="3181985" cy="7321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very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Arial"/>
                <a:cs typeface="Arial"/>
              </a:rPr>
              <a:t>simple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100" spc="-3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8D8D8"/>
                </a:solidFill>
                <a:latin typeface="Arial"/>
                <a:cs typeface="Arial"/>
              </a:rPr>
              <a:t>work</a:t>
            </a:r>
            <a:r>
              <a:rPr sz="11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only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6DEDE"/>
                </a:solidFill>
                <a:latin typeface="Arial"/>
                <a:cs typeface="Arial"/>
              </a:rPr>
              <a:t>fully</a:t>
            </a:r>
            <a:r>
              <a:rPr sz="1100" spc="-25" dirty="0">
                <a:solidFill>
                  <a:srgbClr val="F6DEDE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6DEDE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deadlocks</a:t>
            </a:r>
            <a:r>
              <a:rPr sz="10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or</a:t>
            </a:r>
            <a:r>
              <a:rPr sz="10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infinite</a:t>
            </a:r>
            <a:r>
              <a:rPr sz="10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loops</a:t>
            </a:r>
            <a:r>
              <a:rPr sz="1000" spc="-2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may</a:t>
            </a:r>
            <a:r>
              <a:rPr sz="10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occur</a:t>
            </a:r>
            <a:r>
              <a:rPr sz="1000" spc="-2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otherwise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ts val="1200"/>
              </a:lnSpc>
            </a:pPr>
            <a:r>
              <a:rPr sz="1000" spc="95" dirty="0">
                <a:solidFill>
                  <a:srgbClr val="F6DEDE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F6DEDE"/>
                </a:solidFill>
                <a:latin typeface="Source Sans 3"/>
                <a:cs typeface="Source Sans 3"/>
              </a:rPr>
              <a:t>⇒</a:t>
            </a:r>
            <a:r>
              <a:rPr sz="1000" i="1" spc="325" dirty="0">
                <a:solidFill>
                  <a:srgbClr val="F6DEDE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limited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 applicability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38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dirty="0"/>
              <a:t>Simple-reflex</a:t>
            </a:r>
            <a:r>
              <a:rPr spc="50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spc="-10" dirty="0"/>
              <a:t>[cont.]</a:t>
            </a:r>
          </a:p>
        </p:txBody>
      </p:sp>
      <p:sp>
        <p:nvSpPr>
          <p:cNvPr id="3" name="object 3"/>
          <p:cNvSpPr/>
          <p:nvPr/>
        </p:nvSpPr>
        <p:spPr>
          <a:xfrm>
            <a:off x="129196" y="661199"/>
            <a:ext cx="4349750" cy="196215"/>
          </a:xfrm>
          <a:custGeom>
            <a:avLst/>
            <a:gdLst/>
            <a:ahLst/>
            <a:cxnLst/>
            <a:rect l="l" t="t" r="r" b="b"/>
            <a:pathLst>
              <a:path w="4349750" h="196215">
                <a:moveTo>
                  <a:pt x="429885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133"/>
                </a:lnTo>
                <a:lnTo>
                  <a:pt x="4349657" y="196133"/>
                </a:lnTo>
                <a:lnTo>
                  <a:pt x="4349657" y="50800"/>
                </a:lnTo>
                <a:lnTo>
                  <a:pt x="4345648" y="31075"/>
                </a:lnTo>
                <a:lnTo>
                  <a:pt x="4334734" y="14922"/>
                </a:lnTo>
                <a:lnTo>
                  <a:pt x="4318581" y="4008"/>
                </a:lnTo>
                <a:lnTo>
                  <a:pt x="429885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297" y="649959"/>
            <a:ext cx="1766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Simple-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reflex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196" y="705418"/>
            <a:ext cx="4349750" cy="1351280"/>
            <a:chOff x="129196" y="705418"/>
            <a:chExt cx="4349750" cy="13512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844677"/>
              <a:ext cx="434965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196" y="888945"/>
              <a:ext cx="4349750" cy="1167765"/>
            </a:xfrm>
            <a:custGeom>
              <a:avLst/>
              <a:gdLst/>
              <a:ahLst/>
              <a:cxnLst/>
              <a:rect l="l" t="t" r="r" b="b"/>
              <a:pathLst>
                <a:path w="4349750" h="1167764">
                  <a:moveTo>
                    <a:pt x="4349657" y="0"/>
                  </a:moveTo>
                  <a:lnTo>
                    <a:pt x="0" y="0"/>
                  </a:lnTo>
                  <a:lnTo>
                    <a:pt x="0" y="1116396"/>
                  </a:lnTo>
                  <a:lnTo>
                    <a:pt x="4008" y="1136121"/>
                  </a:lnTo>
                  <a:lnTo>
                    <a:pt x="14922" y="1152274"/>
                  </a:lnTo>
                  <a:lnTo>
                    <a:pt x="31075" y="1163188"/>
                  </a:lnTo>
                  <a:lnTo>
                    <a:pt x="50800" y="1167197"/>
                  </a:lnTo>
                  <a:lnTo>
                    <a:pt x="4298856" y="1167197"/>
                  </a:lnTo>
                  <a:lnTo>
                    <a:pt x="4318581" y="1163188"/>
                  </a:lnTo>
                  <a:lnTo>
                    <a:pt x="4334734" y="1152274"/>
                  </a:lnTo>
                  <a:lnTo>
                    <a:pt x="4345648" y="1136121"/>
                  </a:lnTo>
                  <a:lnTo>
                    <a:pt x="4349657" y="111639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743518"/>
              <a:ext cx="0" cy="1281430"/>
            </a:xfrm>
            <a:custGeom>
              <a:avLst/>
              <a:gdLst/>
              <a:ahLst/>
              <a:cxnLst/>
              <a:rect l="l" t="t" r="r" b="b"/>
              <a:pathLst>
                <a:path h="1281430">
                  <a:moveTo>
                    <a:pt x="0" y="12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7308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7181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8853" y="7054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997" y="914264"/>
              <a:ext cx="4248159" cy="98386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82610" y="1924773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196" y="2208072"/>
            <a:ext cx="4349750" cy="758825"/>
            <a:chOff x="129196" y="2208072"/>
            <a:chExt cx="4349750" cy="758825"/>
          </a:xfrm>
        </p:grpSpPr>
        <p:sp>
          <p:nvSpPr>
            <p:cNvPr id="15" name="object 15"/>
            <p:cNvSpPr/>
            <p:nvPr/>
          </p:nvSpPr>
          <p:spPr>
            <a:xfrm>
              <a:off x="129184" y="2208072"/>
              <a:ext cx="4349750" cy="758825"/>
            </a:xfrm>
            <a:custGeom>
              <a:avLst/>
              <a:gdLst/>
              <a:ahLst/>
              <a:cxnLst/>
              <a:rect l="l" t="t" r="r" b="b"/>
              <a:pathLst>
                <a:path w="4349750" h="758825">
                  <a:moveTo>
                    <a:pt x="4349661" y="44424"/>
                  </a:moveTo>
                  <a:lnTo>
                    <a:pt x="4348365" y="44424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0" y="707453"/>
                  </a:lnTo>
                  <a:lnTo>
                    <a:pt x="4013" y="727189"/>
                  </a:lnTo>
                  <a:lnTo>
                    <a:pt x="14922" y="743343"/>
                  </a:lnTo>
                  <a:lnTo>
                    <a:pt x="31076" y="754253"/>
                  </a:lnTo>
                  <a:lnTo>
                    <a:pt x="50812" y="758266"/>
                  </a:lnTo>
                  <a:lnTo>
                    <a:pt x="4298861" y="758266"/>
                  </a:lnTo>
                  <a:lnTo>
                    <a:pt x="4318584" y="754253"/>
                  </a:lnTo>
                  <a:lnTo>
                    <a:pt x="4334738" y="743343"/>
                  </a:lnTo>
                  <a:lnTo>
                    <a:pt x="4345660" y="727189"/>
                  </a:lnTo>
                  <a:lnTo>
                    <a:pt x="4349661" y="707453"/>
                  </a:lnTo>
                  <a:lnTo>
                    <a:pt x="4349661" y="82384"/>
                  </a:lnTo>
                  <a:lnTo>
                    <a:pt x="4349661" y="50800"/>
                  </a:lnTo>
                  <a:lnTo>
                    <a:pt x="4349661" y="44424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853" y="2296723"/>
              <a:ext cx="0" cy="638175"/>
            </a:xfrm>
            <a:custGeom>
              <a:avLst/>
              <a:gdLst/>
              <a:ahLst/>
              <a:cxnLst/>
              <a:rect l="l" t="t" r="r" b="b"/>
              <a:pathLst>
                <a:path h="638175">
                  <a:moveTo>
                    <a:pt x="0" y="6378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853" y="2284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853" y="2271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8853" y="2258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2297176"/>
              <a:ext cx="76809" cy="768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2486964"/>
              <a:ext cx="76809" cy="768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2679027"/>
              <a:ext cx="61874" cy="618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44385" y="2201733"/>
            <a:ext cx="3181985" cy="7321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Arial"/>
                <a:cs typeface="Arial"/>
              </a:rPr>
              <a:t>very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simple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may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only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if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fully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observable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deadlocks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infinite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loops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occur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otherwise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ts val="1200"/>
              </a:lnSpc>
            </a:pPr>
            <a:r>
              <a:rPr sz="1000" spc="95" dirty="0">
                <a:solidFill>
                  <a:srgbClr val="C92626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92626"/>
                </a:solidFill>
                <a:latin typeface="Source Sans 3"/>
                <a:cs typeface="Source Sans 3"/>
              </a:rPr>
              <a:t>⇒</a:t>
            </a:r>
            <a:r>
              <a:rPr sz="1000" i="1" spc="325" dirty="0">
                <a:solidFill>
                  <a:srgbClr val="C92626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limited</a:t>
            </a:r>
            <a:r>
              <a:rPr sz="1000" spc="-10" dirty="0">
                <a:latin typeface="Arial"/>
                <a:cs typeface="Arial"/>
              </a:rPr>
              <a:t> applicability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38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50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Model-based</a:t>
            </a:r>
            <a:r>
              <a:rPr spc="55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73400"/>
            <a:chOff x="129196" y="360095"/>
            <a:chExt cx="4349750" cy="307340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73400"/>
            </a:xfrm>
            <a:custGeom>
              <a:avLst/>
              <a:gdLst/>
              <a:ahLst/>
              <a:cxnLst/>
              <a:rect l="l" t="t" r="r" b="b"/>
              <a:pathLst>
                <a:path w="4349750" h="3073400">
                  <a:moveTo>
                    <a:pt x="4349661" y="44386"/>
                  </a:moveTo>
                  <a:lnTo>
                    <a:pt x="4348353" y="44386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86"/>
                  </a:lnTo>
                  <a:lnTo>
                    <a:pt x="0" y="44386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22168"/>
                  </a:lnTo>
                  <a:lnTo>
                    <a:pt x="4013" y="3041891"/>
                  </a:lnTo>
                  <a:lnTo>
                    <a:pt x="14922" y="3058045"/>
                  </a:lnTo>
                  <a:lnTo>
                    <a:pt x="31076" y="3068955"/>
                  </a:lnTo>
                  <a:lnTo>
                    <a:pt x="50812" y="3072968"/>
                  </a:lnTo>
                  <a:lnTo>
                    <a:pt x="4298861" y="3072968"/>
                  </a:lnTo>
                  <a:lnTo>
                    <a:pt x="4318584" y="3068955"/>
                  </a:lnTo>
                  <a:lnTo>
                    <a:pt x="4334738" y="3058045"/>
                  </a:lnTo>
                  <a:lnTo>
                    <a:pt x="4345660" y="3041891"/>
                  </a:lnTo>
                  <a:lnTo>
                    <a:pt x="4349661" y="3022168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86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19"/>
              <a:ext cx="0" cy="2952750"/>
            </a:xfrm>
            <a:custGeom>
              <a:avLst/>
              <a:gdLst/>
              <a:ahLst/>
              <a:cxnLst/>
              <a:rect l="l" t="t" r="r" b="b"/>
              <a:pathLst>
                <a:path h="2952750">
                  <a:moveTo>
                    <a:pt x="0" y="29525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948118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2297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30238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122" y="14668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631353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0122" y="1795843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44385" y="380478"/>
            <a:ext cx="3964940" cy="15157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Idea: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tackle</a:t>
            </a:r>
            <a:r>
              <a:rPr sz="1100" spc="-10" dirty="0">
                <a:latin typeface="Arial"/>
                <a:cs typeface="Arial"/>
              </a:rPr>
              <a:t> partially-observable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keeps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track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of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world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can’t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now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Maintain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internal state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depending 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 percept </a:t>
            </a:r>
            <a:r>
              <a:rPr sz="1000" spc="-10" dirty="0">
                <a:latin typeface="Arial"/>
                <a:cs typeface="Arial"/>
              </a:rPr>
              <a:t>history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reflects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least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unobserved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aspects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10" dirty="0">
                <a:latin typeface="Arial"/>
                <a:cs typeface="Arial"/>
              </a:rPr>
              <a:t> state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8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update</a:t>
            </a:r>
            <a:r>
              <a:rPr sz="1100" spc="-4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internal</a:t>
            </a:r>
            <a:r>
              <a:rPr sz="11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state</a:t>
            </a:r>
            <a:r>
              <a:rPr sz="11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agent</a:t>
            </a:r>
            <a:r>
              <a:rPr sz="1100" spc="-2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needs</a:t>
            </a:r>
            <a:r>
              <a:rPr sz="11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model</a:t>
            </a:r>
            <a:r>
              <a:rPr sz="1100" spc="-2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world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5"/>
              </a:spcBef>
            </a:pP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how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world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evolves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independently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agent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900" spc="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overtaking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car</a:t>
            </a:r>
            <a:r>
              <a:rPr sz="9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will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soon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closer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behind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than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was</a:t>
            </a:r>
            <a:r>
              <a:rPr sz="900" spc="-2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before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agent’s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own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actions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affect</a:t>
            </a:r>
            <a:r>
              <a:rPr sz="1000" spc="-2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world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900" spc="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turn</a:t>
            </a:r>
            <a:r>
              <a:rPr sz="9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steering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wheel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clockwise</a:t>
            </a:r>
            <a:r>
              <a:rPr sz="9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C7D6D2"/>
                </a:solidFill>
                <a:latin typeface="Lucida Sans Unicode"/>
                <a:cs typeface="Lucida Sans Unicode"/>
              </a:rPr>
              <a:t>=</a:t>
            </a:r>
            <a:r>
              <a:rPr sz="900" i="1" spc="-70" dirty="0">
                <a:solidFill>
                  <a:srgbClr val="C7D6D2"/>
                </a:solidFill>
                <a:latin typeface="Meiryo UI"/>
                <a:cs typeface="Meiryo UI"/>
              </a:rPr>
              <a:t>⇒</a:t>
            </a:r>
            <a:r>
              <a:rPr sz="900" i="1" spc="-60" dirty="0">
                <a:solidFill>
                  <a:srgbClr val="C7D6D2"/>
                </a:solidFill>
                <a:latin typeface="Meiryo UI"/>
                <a:cs typeface="Meiryo UI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car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turns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7D6D2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7D6D2"/>
                </a:solidFill>
                <a:latin typeface="Arial"/>
                <a:cs typeface="Arial"/>
              </a:rPr>
              <a:t>right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7361" y="1945983"/>
            <a:ext cx="2133258" cy="132905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02707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50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Model-based</a:t>
            </a:r>
            <a:r>
              <a:rPr spc="55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73400"/>
            <a:chOff x="129196" y="360095"/>
            <a:chExt cx="4349750" cy="307340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73400"/>
            </a:xfrm>
            <a:custGeom>
              <a:avLst/>
              <a:gdLst/>
              <a:ahLst/>
              <a:cxnLst/>
              <a:rect l="l" t="t" r="r" b="b"/>
              <a:pathLst>
                <a:path w="4349750" h="3073400">
                  <a:moveTo>
                    <a:pt x="4349661" y="44386"/>
                  </a:moveTo>
                  <a:lnTo>
                    <a:pt x="4348353" y="44386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86"/>
                  </a:lnTo>
                  <a:lnTo>
                    <a:pt x="0" y="44386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22168"/>
                  </a:lnTo>
                  <a:lnTo>
                    <a:pt x="4013" y="3041891"/>
                  </a:lnTo>
                  <a:lnTo>
                    <a:pt x="14922" y="3058045"/>
                  </a:lnTo>
                  <a:lnTo>
                    <a:pt x="31076" y="3068955"/>
                  </a:lnTo>
                  <a:lnTo>
                    <a:pt x="50812" y="3072968"/>
                  </a:lnTo>
                  <a:lnTo>
                    <a:pt x="4298861" y="3072968"/>
                  </a:lnTo>
                  <a:lnTo>
                    <a:pt x="4318584" y="3068955"/>
                  </a:lnTo>
                  <a:lnTo>
                    <a:pt x="4334738" y="3058045"/>
                  </a:lnTo>
                  <a:lnTo>
                    <a:pt x="4345660" y="3041891"/>
                  </a:lnTo>
                  <a:lnTo>
                    <a:pt x="4349661" y="3022168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86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19"/>
              <a:ext cx="0" cy="2952750"/>
            </a:xfrm>
            <a:custGeom>
              <a:avLst/>
              <a:gdLst/>
              <a:ahLst/>
              <a:cxnLst/>
              <a:rect l="l" t="t" r="r" b="b"/>
              <a:pathLst>
                <a:path h="2952750">
                  <a:moveTo>
                    <a:pt x="0" y="29525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948118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122972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30238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122" y="1466875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631353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0122" y="1795843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44385" y="380478"/>
            <a:ext cx="3964940" cy="15157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sz="1100" dirty="0">
                <a:latin typeface="Arial"/>
                <a:cs typeface="Arial"/>
              </a:rPr>
              <a:t>Idea: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tackle</a:t>
            </a:r>
            <a:r>
              <a:rPr sz="1100" spc="-10" dirty="0">
                <a:latin typeface="Arial"/>
                <a:cs typeface="Arial"/>
              </a:rPr>
              <a:t> partially-observable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environments,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keeps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track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of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part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world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can’t</a:t>
            </a:r>
            <a:r>
              <a:rPr sz="11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now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50"/>
              </a:spcBef>
            </a:pPr>
            <a:r>
              <a:rPr sz="1000" dirty="0">
                <a:latin typeface="Arial"/>
                <a:cs typeface="Arial"/>
              </a:rPr>
              <a:t>Maintain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internal state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depending 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 percept </a:t>
            </a:r>
            <a:r>
              <a:rPr sz="1000" spc="-10" dirty="0">
                <a:latin typeface="Arial"/>
                <a:cs typeface="Arial"/>
              </a:rPr>
              <a:t>history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reflects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least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unobserved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aspects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10" dirty="0">
                <a:latin typeface="Arial"/>
                <a:cs typeface="Arial"/>
              </a:rPr>
              <a:t> state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8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update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model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world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5"/>
              </a:spcBef>
            </a:pP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world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evolves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independently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overtaking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car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will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soon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closer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behind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than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was</a:t>
            </a:r>
            <a:r>
              <a:rPr sz="900" spc="-2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before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agent’s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own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affect</a:t>
            </a:r>
            <a:r>
              <a:rPr sz="10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world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Ex: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turn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steering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wheel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clockwise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006300"/>
                </a:solidFill>
                <a:latin typeface="Lucida Sans Unicode"/>
                <a:cs typeface="Lucida Sans Unicode"/>
              </a:rPr>
              <a:t>=</a:t>
            </a:r>
            <a:r>
              <a:rPr sz="900" i="1" spc="-70" dirty="0">
                <a:solidFill>
                  <a:srgbClr val="006300"/>
                </a:solidFill>
                <a:latin typeface="Meiryo UI"/>
                <a:cs typeface="Meiryo UI"/>
              </a:rPr>
              <a:t>⇒</a:t>
            </a:r>
            <a:r>
              <a:rPr sz="900" i="1" spc="-60" dirty="0">
                <a:solidFill>
                  <a:srgbClr val="006300"/>
                </a:solidFill>
                <a:latin typeface="Meiryo UI"/>
                <a:cs typeface="Meiryo UI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car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turns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right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7361" y="1945983"/>
            <a:ext cx="2133258" cy="132905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02707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39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55" dirty="0"/>
              <a:t> </a:t>
            </a:r>
            <a:r>
              <a:rPr dirty="0"/>
              <a:t>Types:</a:t>
            </a:r>
            <a:r>
              <a:rPr spc="165" dirty="0"/>
              <a:t> </a:t>
            </a:r>
            <a:r>
              <a:rPr dirty="0"/>
              <a:t>Model-based</a:t>
            </a:r>
            <a:r>
              <a:rPr spc="60" dirty="0"/>
              <a:t> </a:t>
            </a:r>
            <a:r>
              <a:rPr dirty="0"/>
              <a:t>Agent</a:t>
            </a:r>
            <a:r>
              <a:rPr spc="55" dirty="0"/>
              <a:t> </a:t>
            </a:r>
            <a:r>
              <a:rPr spc="-10" dirty="0"/>
              <a:t>[cont.]</a:t>
            </a:r>
          </a:p>
        </p:txBody>
      </p:sp>
      <p:sp>
        <p:nvSpPr>
          <p:cNvPr id="3" name="object 3"/>
          <p:cNvSpPr/>
          <p:nvPr/>
        </p:nvSpPr>
        <p:spPr>
          <a:xfrm>
            <a:off x="129196" y="890206"/>
            <a:ext cx="4349750" cy="193040"/>
          </a:xfrm>
          <a:custGeom>
            <a:avLst/>
            <a:gdLst/>
            <a:ahLst/>
            <a:cxnLst/>
            <a:rect l="l" t="t" r="r" b="b"/>
            <a:pathLst>
              <a:path w="4349750" h="193040">
                <a:moveTo>
                  <a:pt x="429885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2946"/>
                </a:lnTo>
                <a:lnTo>
                  <a:pt x="4349657" y="192946"/>
                </a:lnTo>
                <a:lnTo>
                  <a:pt x="4349657" y="50800"/>
                </a:lnTo>
                <a:lnTo>
                  <a:pt x="4345648" y="31075"/>
                </a:lnTo>
                <a:lnTo>
                  <a:pt x="4334734" y="14922"/>
                </a:lnTo>
                <a:lnTo>
                  <a:pt x="4318581" y="4008"/>
                </a:lnTo>
                <a:lnTo>
                  <a:pt x="429885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297" y="875765"/>
            <a:ext cx="1778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Model-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196" y="934424"/>
            <a:ext cx="4349750" cy="1688464"/>
            <a:chOff x="129196" y="934424"/>
            <a:chExt cx="4349750" cy="168846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0495"/>
              <a:ext cx="434965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196" y="1114764"/>
              <a:ext cx="4349750" cy="1508125"/>
            </a:xfrm>
            <a:custGeom>
              <a:avLst/>
              <a:gdLst/>
              <a:ahLst/>
              <a:cxnLst/>
              <a:rect l="l" t="t" r="r" b="b"/>
              <a:pathLst>
                <a:path w="4349750" h="1508125">
                  <a:moveTo>
                    <a:pt x="4349657" y="0"/>
                  </a:moveTo>
                  <a:lnTo>
                    <a:pt x="0" y="0"/>
                  </a:lnTo>
                  <a:lnTo>
                    <a:pt x="0" y="1457265"/>
                  </a:lnTo>
                  <a:lnTo>
                    <a:pt x="4008" y="1476989"/>
                  </a:lnTo>
                  <a:lnTo>
                    <a:pt x="14922" y="1493142"/>
                  </a:lnTo>
                  <a:lnTo>
                    <a:pt x="31075" y="1504057"/>
                  </a:lnTo>
                  <a:lnTo>
                    <a:pt x="50800" y="1508065"/>
                  </a:lnTo>
                  <a:lnTo>
                    <a:pt x="4298856" y="1508065"/>
                  </a:lnTo>
                  <a:lnTo>
                    <a:pt x="4318581" y="1504057"/>
                  </a:lnTo>
                  <a:lnTo>
                    <a:pt x="4334734" y="1493142"/>
                  </a:lnTo>
                  <a:lnTo>
                    <a:pt x="4345648" y="1476989"/>
                  </a:lnTo>
                  <a:lnTo>
                    <a:pt x="4349657" y="1457265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72524"/>
              <a:ext cx="0" cy="1618615"/>
            </a:xfrm>
            <a:custGeom>
              <a:avLst/>
              <a:gdLst/>
              <a:ahLst/>
              <a:cxnLst/>
              <a:rect l="l" t="t" r="r" b="b"/>
              <a:pathLst>
                <a:path h="1618614">
                  <a:moveTo>
                    <a:pt x="0" y="1618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98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71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8853" y="934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997" y="1140074"/>
              <a:ext cx="4247880" cy="132474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82610" y="2491459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40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dirty="0"/>
              <a:t>Goal-based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2983230"/>
            <a:chOff x="129196" y="360095"/>
            <a:chExt cx="4349750" cy="298323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2983230"/>
            </a:xfrm>
            <a:custGeom>
              <a:avLst/>
              <a:gdLst/>
              <a:ahLst/>
              <a:cxnLst/>
              <a:rect l="l" t="t" r="r" b="b"/>
              <a:pathLst>
                <a:path w="4349750" h="2983229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2932341"/>
                  </a:lnTo>
                  <a:lnTo>
                    <a:pt x="4013" y="2952064"/>
                  </a:lnTo>
                  <a:lnTo>
                    <a:pt x="14922" y="2968218"/>
                  </a:lnTo>
                  <a:lnTo>
                    <a:pt x="31076" y="2979128"/>
                  </a:lnTo>
                  <a:lnTo>
                    <a:pt x="50812" y="2983141"/>
                  </a:lnTo>
                  <a:lnTo>
                    <a:pt x="4298861" y="2983141"/>
                  </a:lnTo>
                  <a:lnTo>
                    <a:pt x="4318584" y="2979128"/>
                  </a:lnTo>
                  <a:lnTo>
                    <a:pt x="4334738" y="2968218"/>
                  </a:lnTo>
                  <a:lnTo>
                    <a:pt x="4345660" y="2952064"/>
                  </a:lnTo>
                  <a:lnTo>
                    <a:pt x="4349661" y="2932341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20"/>
              <a:ext cx="0" cy="2863215"/>
            </a:xfrm>
            <a:custGeom>
              <a:avLst/>
              <a:gdLst/>
              <a:ahLst/>
              <a:cxnLst/>
              <a:rect l="l" t="t" r="r" b="b"/>
              <a:pathLst>
                <a:path h="2863215">
                  <a:moveTo>
                    <a:pt x="0" y="28627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644461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8395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049591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411452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603514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44385" y="355396"/>
            <a:ext cx="3911600" cy="13506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goal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information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desirable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situation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destination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for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006300"/>
                </a:solidFill>
                <a:latin typeface="Arial"/>
                <a:cs typeface="Arial"/>
              </a:rPr>
              <a:t>Taxi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driver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Arial"/>
                <a:cs typeface="Arial"/>
              </a:rPr>
              <a:t>Idea: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combine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goal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model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choose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Difficult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sequences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goal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60" dirty="0">
                <a:latin typeface="Source Sans 3"/>
                <a:cs typeface="Source Sans 3"/>
              </a:rPr>
              <a:t> </a:t>
            </a:r>
            <a:r>
              <a:rPr sz="1100" spc="-25" dirty="0">
                <a:latin typeface="Arial"/>
                <a:cs typeface="Arial"/>
              </a:rPr>
              <a:t>Typically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investigated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search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planning </a:t>
            </a:r>
            <a:r>
              <a:rPr sz="1100" spc="-10" dirty="0">
                <a:latin typeface="Arial"/>
                <a:cs typeface="Arial"/>
              </a:rPr>
              <a:t>research.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Major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difference: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future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taken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into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account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rules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simple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condition-action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pairs,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target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goal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4343" y="1756575"/>
            <a:ext cx="2259290" cy="142863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682610" y="3211854"/>
            <a:ext cx="93853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41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50" dirty="0"/>
              <a:t> </a:t>
            </a:r>
            <a:r>
              <a:rPr dirty="0"/>
              <a:t>Types:</a:t>
            </a:r>
            <a:r>
              <a:rPr spc="160" dirty="0"/>
              <a:t> </a:t>
            </a:r>
            <a:r>
              <a:rPr dirty="0"/>
              <a:t>Goal-based</a:t>
            </a:r>
            <a:r>
              <a:rPr spc="55" dirty="0"/>
              <a:t> </a:t>
            </a:r>
            <a:r>
              <a:rPr dirty="0"/>
              <a:t>Agent</a:t>
            </a:r>
            <a:r>
              <a:rPr spc="5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07897"/>
            <a:ext cx="4349750" cy="1938655"/>
            <a:chOff x="129196" y="807897"/>
            <a:chExt cx="4349750" cy="1938655"/>
          </a:xfrm>
        </p:grpSpPr>
        <p:sp>
          <p:nvSpPr>
            <p:cNvPr id="4" name="object 4"/>
            <p:cNvSpPr/>
            <p:nvPr/>
          </p:nvSpPr>
          <p:spPr>
            <a:xfrm>
              <a:off x="129196" y="807897"/>
              <a:ext cx="4349750" cy="196215"/>
            </a:xfrm>
            <a:custGeom>
              <a:avLst/>
              <a:gdLst/>
              <a:ahLst/>
              <a:cxnLst/>
              <a:rect l="l" t="t" r="r" b="b"/>
              <a:pathLst>
                <a:path w="4349750" h="19621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133"/>
                  </a:lnTo>
                  <a:lnTo>
                    <a:pt x="4349657" y="196133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9137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35635"/>
              <a:ext cx="4349750" cy="1710689"/>
            </a:xfrm>
            <a:custGeom>
              <a:avLst/>
              <a:gdLst/>
              <a:ahLst/>
              <a:cxnLst/>
              <a:rect l="l" t="t" r="r" b="b"/>
              <a:pathLst>
                <a:path w="4349750" h="1710689">
                  <a:moveTo>
                    <a:pt x="4349657" y="0"/>
                  </a:moveTo>
                  <a:lnTo>
                    <a:pt x="0" y="0"/>
                  </a:lnTo>
                  <a:lnTo>
                    <a:pt x="0" y="1659863"/>
                  </a:lnTo>
                  <a:lnTo>
                    <a:pt x="4008" y="1679587"/>
                  </a:lnTo>
                  <a:lnTo>
                    <a:pt x="14922" y="1695740"/>
                  </a:lnTo>
                  <a:lnTo>
                    <a:pt x="31075" y="1706654"/>
                  </a:lnTo>
                  <a:lnTo>
                    <a:pt x="50800" y="1710663"/>
                  </a:lnTo>
                  <a:lnTo>
                    <a:pt x="4298856" y="1710663"/>
                  </a:lnTo>
                  <a:lnTo>
                    <a:pt x="4318581" y="1706654"/>
                  </a:lnTo>
                  <a:lnTo>
                    <a:pt x="4334734" y="1695740"/>
                  </a:lnTo>
                  <a:lnTo>
                    <a:pt x="4345648" y="1679587"/>
                  </a:lnTo>
                  <a:lnTo>
                    <a:pt x="4349657" y="165986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90208"/>
              <a:ext cx="0" cy="1824355"/>
            </a:xfrm>
            <a:custGeom>
              <a:avLst/>
              <a:gdLst/>
              <a:ahLst/>
              <a:cxnLst/>
              <a:rect l="l" t="t" r="r" b="b"/>
              <a:pathLst>
                <a:path h="1824355">
                  <a:moveTo>
                    <a:pt x="0" y="182434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775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648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521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8352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558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414767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122" y="1718424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22094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122" y="2186571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10" y="2381669"/>
              <a:ext cx="76809" cy="7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591701"/>
              <a:ext cx="76809" cy="7680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7297" y="747926"/>
            <a:ext cx="4238625" cy="196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3031490" indent="-277495" algn="just">
              <a:lnSpc>
                <a:spcPct val="128200"/>
              </a:lnSpc>
              <a:spcBef>
                <a:spcPts val="10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Goal-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1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Agents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more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flexible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 marR="6985" algn="just">
              <a:lnSpc>
                <a:spcPts val="1100"/>
              </a:lnSpc>
              <a:spcBef>
                <a:spcPts val="29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knowledge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supports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decisions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represented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explicitly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such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knowledge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can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be</a:t>
            </a:r>
            <a:r>
              <a:rPr sz="10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modified</a:t>
            </a:r>
            <a:endParaRPr sz="1000">
              <a:latin typeface="Arial"/>
              <a:cs typeface="Arial"/>
            </a:endParaRPr>
          </a:p>
          <a:p>
            <a:pPr marL="843915" marR="5080" indent="-258445" algn="just">
              <a:lnSpc>
                <a:spcPct val="101499"/>
              </a:lnSpc>
              <a:spcBef>
                <a:spcPts val="155"/>
              </a:spcBef>
            </a:pPr>
            <a:r>
              <a:rPr sz="900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900" i="1" dirty="0">
                <a:solidFill>
                  <a:srgbClr val="3333B2"/>
                </a:solidFill>
                <a:latin typeface="Meiryo UI"/>
                <a:cs typeface="Meiryo UI"/>
              </a:rPr>
              <a:t>⇒</a:t>
            </a:r>
            <a:r>
              <a:rPr sz="900" i="1" spc="190" dirty="0">
                <a:solidFill>
                  <a:srgbClr val="3333B2"/>
                </a:solidFill>
                <a:latin typeface="Meiryo UI"/>
                <a:cs typeface="Meiryo UI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conditions </a:t>
            </a:r>
            <a:r>
              <a:rPr sz="900" dirty="0">
                <a:latin typeface="Arial"/>
                <a:cs typeface="Arial"/>
              </a:rPr>
              <a:t>Ex: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If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rains,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agent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update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its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knowledge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how</a:t>
            </a:r>
            <a:r>
              <a:rPr sz="900" spc="-2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effectively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its</a:t>
            </a:r>
            <a:r>
              <a:rPr sz="900" spc="-4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6300"/>
                </a:solidFill>
                <a:latin typeface="Arial"/>
                <a:cs typeface="Arial"/>
              </a:rPr>
              <a:t>brakes</a:t>
            </a:r>
            <a:r>
              <a:rPr sz="900" spc="-4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006300"/>
                </a:solidFill>
                <a:latin typeface="Arial"/>
                <a:cs typeface="Arial"/>
              </a:rPr>
              <a:t>operate</a:t>
            </a:r>
            <a:endParaRPr sz="900">
              <a:latin typeface="Arial"/>
              <a:cs typeface="Arial"/>
            </a:endParaRPr>
          </a:p>
          <a:p>
            <a:pPr marL="566420" algn="just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goal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can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be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modified/updated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70" dirty="0"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modify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0" dirty="0">
                <a:latin typeface="Arial"/>
                <a:cs typeface="Arial"/>
              </a:rPr>
              <a:t> behaviour</a:t>
            </a:r>
            <a:endParaRPr sz="1000">
              <a:latin typeface="Arial"/>
              <a:cs typeface="Arial"/>
            </a:endParaRPr>
          </a:p>
          <a:p>
            <a:pPr marL="843915" algn="just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scratch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complicate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implement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require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expensive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computation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(search,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planning)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42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Utility-based</a:t>
            </a:r>
            <a:r>
              <a:rPr spc="5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96260"/>
            <a:chOff x="129196" y="360095"/>
            <a:chExt cx="4349750" cy="309626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96260"/>
            </a:xfrm>
            <a:custGeom>
              <a:avLst/>
              <a:gdLst/>
              <a:ahLst/>
              <a:cxnLst/>
              <a:rect l="l" t="t" r="r" b="b"/>
              <a:pathLst>
                <a:path w="4349750" h="3096260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73196"/>
                  </a:lnTo>
                  <a:lnTo>
                    <a:pt x="4013" y="3092932"/>
                  </a:lnTo>
                  <a:lnTo>
                    <a:pt x="6032" y="3095904"/>
                  </a:lnTo>
                  <a:lnTo>
                    <a:pt x="4343641" y="3095904"/>
                  </a:lnTo>
                  <a:lnTo>
                    <a:pt x="4345660" y="3092932"/>
                  </a:lnTo>
                  <a:lnTo>
                    <a:pt x="4349661" y="3073196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22"/>
              <a:ext cx="0" cy="3004185"/>
            </a:xfrm>
            <a:custGeom>
              <a:avLst/>
              <a:gdLst/>
              <a:ahLst/>
              <a:cxnLst/>
              <a:rect l="l" t="t" r="r" b="b"/>
              <a:pathLst>
                <a:path h="3004185">
                  <a:moveTo>
                    <a:pt x="0" y="3003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644461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97114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6320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466875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904" y="355396"/>
            <a:ext cx="4256405" cy="14268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81660" marR="5080" indent="-277495" algn="just">
              <a:lnSpc>
                <a:spcPct val="106400"/>
              </a:lnSpc>
              <a:spcBef>
                <a:spcPts val="20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Goals</a:t>
            </a:r>
            <a:r>
              <a:rPr sz="1100" spc="-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alone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often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not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enough</a:t>
            </a:r>
            <a:r>
              <a:rPr sz="1100" spc="-5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generate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high-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quality</a:t>
            </a:r>
            <a:r>
              <a:rPr sz="1100" spc="-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behaviors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Certain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goals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can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be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reached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different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ways,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different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quality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Ex: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some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routes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 quicker,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safer,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cheaper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D6D2"/>
                </a:solidFill>
                <a:latin typeface="Arial"/>
                <a:cs typeface="Arial"/>
              </a:rPr>
              <a:t>than</a:t>
            </a:r>
            <a:r>
              <a:rPr sz="1000" spc="-15" dirty="0">
                <a:solidFill>
                  <a:srgbClr val="C7D6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D6D2"/>
                </a:solidFill>
                <a:latin typeface="Arial"/>
                <a:cs typeface="Arial"/>
              </a:rPr>
              <a:t>others</a:t>
            </a:r>
            <a:endParaRPr sz="100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Idea:</a:t>
            </a:r>
            <a:r>
              <a:rPr sz="1100" spc="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Add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utility</a:t>
            </a:r>
            <a:r>
              <a:rPr sz="1100" spc="-4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function(s)</a:t>
            </a:r>
            <a:r>
              <a:rPr sz="1100" spc="-4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drive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choice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81660" algn="just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maps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(sequence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of)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state(s)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onto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real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number</a:t>
            </a:r>
            <a:endParaRPr sz="1000">
              <a:latin typeface="Arial"/>
              <a:cs typeface="Arial"/>
            </a:endParaRPr>
          </a:p>
          <a:p>
            <a:pPr marL="581660" marR="426084" algn="just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solidFill>
                  <a:srgbClr val="C7C7D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7C7D2"/>
                </a:solidFill>
                <a:latin typeface="Source Sans 3"/>
                <a:cs typeface="Source Sans 3"/>
              </a:rPr>
              <a:t>⇒</a:t>
            </a:r>
            <a:r>
              <a:rPr sz="1000" i="1" spc="60" dirty="0">
                <a:solidFill>
                  <a:srgbClr val="C7C7D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actions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chosen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which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maximize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utility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function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under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uncertainty,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maximize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expected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utility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function</a:t>
            </a:r>
            <a:endParaRPr sz="1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0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utility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function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internalization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272" y="1831008"/>
            <a:ext cx="2325398" cy="14950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2610" y="3353738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Utility-based</a:t>
            </a:r>
            <a:r>
              <a:rPr spc="5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96260"/>
            <a:chOff x="129196" y="360095"/>
            <a:chExt cx="4349750" cy="309626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96260"/>
            </a:xfrm>
            <a:custGeom>
              <a:avLst/>
              <a:gdLst/>
              <a:ahLst/>
              <a:cxnLst/>
              <a:rect l="l" t="t" r="r" b="b"/>
              <a:pathLst>
                <a:path w="4349750" h="3096260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73196"/>
                  </a:lnTo>
                  <a:lnTo>
                    <a:pt x="4013" y="3092932"/>
                  </a:lnTo>
                  <a:lnTo>
                    <a:pt x="6032" y="3095904"/>
                  </a:lnTo>
                  <a:lnTo>
                    <a:pt x="4343641" y="3095904"/>
                  </a:lnTo>
                  <a:lnTo>
                    <a:pt x="4345660" y="3092932"/>
                  </a:lnTo>
                  <a:lnTo>
                    <a:pt x="4349661" y="3073196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22"/>
              <a:ext cx="0" cy="3004185"/>
            </a:xfrm>
            <a:custGeom>
              <a:avLst/>
              <a:gdLst/>
              <a:ahLst/>
              <a:cxnLst/>
              <a:rect l="l" t="t" r="r" b="b"/>
              <a:pathLst>
                <a:path h="3004185">
                  <a:moveTo>
                    <a:pt x="0" y="3003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644461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97114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6320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466875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904" y="355396"/>
            <a:ext cx="4256405" cy="14268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81660" marR="5080" indent="-277495" algn="just">
              <a:lnSpc>
                <a:spcPct val="106400"/>
              </a:lnSpc>
              <a:spcBef>
                <a:spcPts val="200"/>
              </a:spcBef>
            </a:pPr>
            <a:r>
              <a:rPr sz="1100" dirty="0">
                <a:latin typeface="Arial"/>
                <a:cs typeface="Arial"/>
              </a:rPr>
              <a:t>Goals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alone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often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enough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</a:t>
            </a:r>
            <a:r>
              <a:rPr sz="1100" dirty="0">
                <a:latin typeface="Arial"/>
                <a:cs typeface="Arial"/>
              </a:rPr>
              <a:t>quality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behaviors </a:t>
            </a:r>
            <a:r>
              <a:rPr sz="1000" dirty="0">
                <a:latin typeface="Arial"/>
                <a:cs typeface="Arial"/>
              </a:rPr>
              <a:t>Certain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ways,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quality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some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routes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quicker,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safer,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cheaper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than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others</a:t>
            </a:r>
            <a:endParaRPr sz="100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Idea:</a:t>
            </a:r>
            <a:r>
              <a:rPr sz="1100" spc="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Add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utility</a:t>
            </a:r>
            <a:r>
              <a:rPr sz="1100" spc="-4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function(s)</a:t>
            </a:r>
            <a:r>
              <a:rPr sz="1100" spc="-4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drive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choice</a:t>
            </a:r>
            <a:r>
              <a:rPr sz="1100" spc="-4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81660" algn="just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maps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(sequence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of)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state(s)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onto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real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number</a:t>
            </a:r>
            <a:endParaRPr sz="1000">
              <a:latin typeface="Arial"/>
              <a:cs typeface="Arial"/>
            </a:endParaRPr>
          </a:p>
          <a:p>
            <a:pPr marL="581660" marR="426084" algn="just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solidFill>
                  <a:srgbClr val="C7C7D2"/>
                </a:solidFill>
                <a:latin typeface="Lucida Sans Unicode"/>
                <a:cs typeface="Lucida Sans Unicode"/>
              </a:rPr>
              <a:t>=</a:t>
            </a:r>
            <a:r>
              <a:rPr sz="1000" i="1" spc="95" dirty="0">
                <a:solidFill>
                  <a:srgbClr val="C7C7D2"/>
                </a:solidFill>
                <a:latin typeface="Source Sans 3"/>
                <a:cs typeface="Source Sans 3"/>
              </a:rPr>
              <a:t>⇒</a:t>
            </a:r>
            <a:r>
              <a:rPr sz="1000" i="1" spc="60" dirty="0">
                <a:solidFill>
                  <a:srgbClr val="C7C7D2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actions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chosen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which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maximize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utility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function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under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uncertainty,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maximize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expected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utility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function</a:t>
            </a:r>
            <a:endParaRPr sz="1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0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utility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function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internalization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272" y="1831008"/>
            <a:ext cx="2325398" cy="14950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2610" y="3353738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Utility-based</a:t>
            </a:r>
            <a:r>
              <a:rPr spc="5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96260"/>
            <a:chOff x="129196" y="360095"/>
            <a:chExt cx="4349750" cy="309626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96260"/>
            </a:xfrm>
            <a:custGeom>
              <a:avLst/>
              <a:gdLst/>
              <a:ahLst/>
              <a:cxnLst/>
              <a:rect l="l" t="t" r="r" b="b"/>
              <a:pathLst>
                <a:path w="4349750" h="3096260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73196"/>
                  </a:lnTo>
                  <a:lnTo>
                    <a:pt x="4013" y="3092932"/>
                  </a:lnTo>
                  <a:lnTo>
                    <a:pt x="6032" y="3095904"/>
                  </a:lnTo>
                  <a:lnTo>
                    <a:pt x="4343641" y="3095904"/>
                  </a:lnTo>
                  <a:lnTo>
                    <a:pt x="4345660" y="3092932"/>
                  </a:lnTo>
                  <a:lnTo>
                    <a:pt x="4349661" y="3073196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22"/>
              <a:ext cx="0" cy="3004185"/>
            </a:xfrm>
            <a:custGeom>
              <a:avLst/>
              <a:gdLst/>
              <a:ahLst/>
              <a:cxnLst/>
              <a:rect l="l" t="t" r="r" b="b"/>
              <a:pathLst>
                <a:path h="3004185">
                  <a:moveTo>
                    <a:pt x="0" y="3003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644461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97114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6320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466875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904" y="355396"/>
            <a:ext cx="4256405" cy="14268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81660" marR="5080" indent="-277495" algn="just">
              <a:lnSpc>
                <a:spcPct val="106400"/>
              </a:lnSpc>
              <a:spcBef>
                <a:spcPts val="200"/>
              </a:spcBef>
            </a:pPr>
            <a:r>
              <a:rPr sz="1100" dirty="0">
                <a:latin typeface="Arial"/>
                <a:cs typeface="Arial"/>
              </a:rPr>
              <a:t>Goals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alone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often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enough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</a:t>
            </a:r>
            <a:r>
              <a:rPr sz="1100" dirty="0">
                <a:latin typeface="Arial"/>
                <a:cs typeface="Arial"/>
              </a:rPr>
              <a:t>quality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behaviors </a:t>
            </a:r>
            <a:r>
              <a:rPr sz="1000" dirty="0">
                <a:latin typeface="Arial"/>
                <a:cs typeface="Arial"/>
              </a:rPr>
              <a:t>Certain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ways,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quality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some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routes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quicker,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safer,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cheaper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than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others</a:t>
            </a:r>
            <a:endParaRPr sz="100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Idea: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Add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utility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function(s)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drive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choice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81660" algn="just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maps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(sequence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state(s)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number</a:t>
            </a:r>
            <a:endParaRPr sz="1000">
              <a:latin typeface="Arial"/>
              <a:cs typeface="Arial"/>
            </a:endParaRPr>
          </a:p>
          <a:p>
            <a:pPr marL="581660" marR="426084" algn="just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60" dirty="0"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chosen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maximize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utility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function </a:t>
            </a:r>
            <a:r>
              <a:rPr sz="1000" dirty="0">
                <a:latin typeface="Arial"/>
                <a:cs typeface="Arial"/>
              </a:rPr>
              <a:t>under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uncertainty,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maximize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expected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utility</a:t>
            </a:r>
            <a:r>
              <a:rPr sz="1000" spc="-10" dirty="0">
                <a:latin typeface="Arial"/>
                <a:cs typeface="Arial"/>
              </a:rPr>
              <a:t> function</a:t>
            </a:r>
            <a:endParaRPr sz="1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0"/>
              </a:spcBef>
            </a:pPr>
            <a:r>
              <a:rPr sz="1100" spc="105" dirty="0">
                <a:solidFill>
                  <a:srgbClr val="CFCFED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CFCFED"/>
                </a:solidFill>
                <a:latin typeface="Source Sans 3"/>
                <a:cs typeface="Source Sans 3"/>
              </a:rPr>
              <a:t>⇒</a:t>
            </a:r>
            <a:r>
              <a:rPr sz="1100" i="1" spc="330" dirty="0">
                <a:solidFill>
                  <a:srgbClr val="CFCFED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utility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function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internalization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performance</a:t>
            </a:r>
            <a:r>
              <a:rPr sz="1100" spc="-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measure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272" y="1831008"/>
            <a:ext cx="2325398" cy="14950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2610" y="3353738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5" dirty="0"/>
              <a:t> </a:t>
            </a:r>
            <a:r>
              <a:rPr dirty="0"/>
              <a:t>Utility-based</a:t>
            </a:r>
            <a:r>
              <a:rPr spc="5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96260"/>
            <a:chOff x="129196" y="360095"/>
            <a:chExt cx="4349750" cy="3096260"/>
          </a:xfrm>
        </p:grpSpPr>
        <p:sp>
          <p:nvSpPr>
            <p:cNvPr id="4" name="object 4"/>
            <p:cNvSpPr/>
            <p:nvPr/>
          </p:nvSpPr>
          <p:spPr>
            <a:xfrm>
              <a:off x="129184" y="360095"/>
              <a:ext cx="4349750" cy="3096260"/>
            </a:xfrm>
            <a:custGeom>
              <a:avLst/>
              <a:gdLst/>
              <a:ahLst/>
              <a:cxnLst/>
              <a:rect l="l" t="t" r="r" b="b"/>
              <a:pathLst>
                <a:path w="4349750" h="3096260">
                  <a:moveTo>
                    <a:pt x="4349661" y="44399"/>
                  </a:moveTo>
                  <a:lnTo>
                    <a:pt x="4348353" y="44399"/>
                  </a:lnTo>
                  <a:lnTo>
                    <a:pt x="4345660" y="31076"/>
                  </a:lnTo>
                  <a:lnTo>
                    <a:pt x="4334738" y="14922"/>
                  </a:lnTo>
                  <a:lnTo>
                    <a:pt x="4318584" y="4013"/>
                  </a:lnTo>
                  <a:lnTo>
                    <a:pt x="4298861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399"/>
                  </a:lnTo>
                  <a:lnTo>
                    <a:pt x="0" y="44399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3073196"/>
                  </a:lnTo>
                  <a:lnTo>
                    <a:pt x="4013" y="3092932"/>
                  </a:lnTo>
                  <a:lnTo>
                    <a:pt x="6032" y="3095904"/>
                  </a:lnTo>
                  <a:lnTo>
                    <a:pt x="4343641" y="3095904"/>
                  </a:lnTo>
                  <a:lnTo>
                    <a:pt x="4345660" y="3092932"/>
                  </a:lnTo>
                  <a:lnTo>
                    <a:pt x="4349661" y="3073196"/>
                  </a:lnTo>
                  <a:lnTo>
                    <a:pt x="4349661" y="82384"/>
                  </a:lnTo>
                  <a:lnTo>
                    <a:pt x="4349661" y="50812"/>
                  </a:lnTo>
                  <a:lnTo>
                    <a:pt x="4349661" y="44399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8853" y="448722"/>
              <a:ext cx="0" cy="3004185"/>
            </a:xfrm>
            <a:custGeom>
              <a:avLst/>
              <a:gdLst/>
              <a:ahLst/>
              <a:cxnLst/>
              <a:rect l="l" t="t" r="r" b="b"/>
              <a:pathLst>
                <a:path h="3004185">
                  <a:moveTo>
                    <a:pt x="0" y="3003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8853" y="4360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23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10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010" y="45238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" y="644461"/>
              <a:ext cx="61874" cy="61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796290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971143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63205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1466875"/>
              <a:ext cx="61874" cy="61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1904" y="355396"/>
            <a:ext cx="4256405" cy="14268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81660" marR="5080" indent="-277495" algn="just">
              <a:lnSpc>
                <a:spcPct val="106400"/>
              </a:lnSpc>
              <a:spcBef>
                <a:spcPts val="200"/>
              </a:spcBef>
            </a:pPr>
            <a:r>
              <a:rPr sz="1100" dirty="0">
                <a:latin typeface="Arial"/>
                <a:cs typeface="Arial"/>
              </a:rPr>
              <a:t>Goals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alone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often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enough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high-</a:t>
            </a:r>
            <a:r>
              <a:rPr sz="1100" dirty="0">
                <a:latin typeface="Arial"/>
                <a:cs typeface="Arial"/>
              </a:rPr>
              <a:t>quality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behaviors </a:t>
            </a:r>
            <a:r>
              <a:rPr sz="1000" dirty="0">
                <a:latin typeface="Arial"/>
                <a:cs typeface="Arial"/>
              </a:rPr>
              <a:t>Certain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ways,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10" dirty="0">
                <a:latin typeface="Arial"/>
                <a:cs typeface="Arial"/>
              </a:rPr>
              <a:t> quality </a:t>
            </a:r>
            <a:r>
              <a:rPr sz="1000" dirty="0">
                <a:latin typeface="Arial"/>
                <a:cs typeface="Arial"/>
              </a:rPr>
              <a:t>Ex: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some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routes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are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 quicker,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safer,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cheaper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than</a:t>
            </a:r>
            <a:r>
              <a:rPr sz="1000" spc="-1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others</a:t>
            </a:r>
            <a:endParaRPr sz="1000">
              <a:latin typeface="Arial"/>
              <a:cs typeface="Arial"/>
            </a:endParaRPr>
          </a:p>
          <a:p>
            <a:pPr marL="304800" algn="just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Idea: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Add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utility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function(s)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drive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choice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endParaRPr sz="1100">
              <a:latin typeface="Arial"/>
              <a:cs typeface="Arial"/>
            </a:endParaRPr>
          </a:p>
          <a:p>
            <a:pPr marL="581660" algn="just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maps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(sequence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state(s)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number</a:t>
            </a:r>
            <a:endParaRPr sz="1000">
              <a:latin typeface="Arial"/>
              <a:cs typeface="Arial"/>
            </a:endParaRPr>
          </a:p>
          <a:p>
            <a:pPr marL="581660" marR="426084" algn="just">
              <a:lnSpc>
                <a:spcPts val="1200"/>
              </a:lnSpc>
              <a:spcBef>
                <a:spcPts val="40"/>
              </a:spcBef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60" dirty="0"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chosen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maximize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utility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function </a:t>
            </a:r>
            <a:r>
              <a:rPr sz="1000" dirty="0">
                <a:latin typeface="Arial"/>
                <a:cs typeface="Arial"/>
              </a:rPr>
              <a:t>under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uncertainty,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maximize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expected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utility</a:t>
            </a:r>
            <a:r>
              <a:rPr sz="1000" spc="-10" dirty="0">
                <a:latin typeface="Arial"/>
                <a:cs typeface="Arial"/>
              </a:rPr>
              <a:t> function</a:t>
            </a:r>
            <a:endParaRPr sz="1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0"/>
              </a:spcBef>
            </a:pPr>
            <a:r>
              <a:rPr sz="1100" spc="105" dirty="0">
                <a:solidFill>
                  <a:srgbClr val="3333B2"/>
                </a:solidFill>
                <a:latin typeface="Lucida Sans Unicode"/>
                <a:cs typeface="Lucida Sans Unicode"/>
              </a:rPr>
              <a:t>=</a:t>
            </a:r>
            <a:r>
              <a:rPr sz="1100" i="1" spc="105" dirty="0">
                <a:solidFill>
                  <a:srgbClr val="3333B2"/>
                </a:solidFill>
                <a:latin typeface="Source Sans 3"/>
                <a:cs typeface="Source Sans 3"/>
              </a:rPr>
              <a:t>⇒</a:t>
            </a:r>
            <a:r>
              <a:rPr sz="1100" i="1" spc="330" dirty="0">
                <a:solidFill>
                  <a:srgbClr val="3333B2"/>
                </a:solidFill>
                <a:latin typeface="Source Sans 3"/>
                <a:cs typeface="Source Sans 3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utility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function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internalization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measure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272" y="1831008"/>
            <a:ext cx="2325398" cy="14950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43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2610" y="3353738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</a:t>
            </a:r>
            <a:r>
              <a:rPr spc="55" dirty="0"/>
              <a:t> </a:t>
            </a:r>
            <a:r>
              <a:rPr dirty="0"/>
              <a:t>Types:</a:t>
            </a:r>
            <a:r>
              <a:rPr spc="160" dirty="0"/>
              <a:t> </a:t>
            </a:r>
            <a:r>
              <a:rPr dirty="0"/>
              <a:t>Utility-based</a:t>
            </a:r>
            <a:r>
              <a:rPr spc="60" dirty="0"/>
              <a:t> </a:t>
            </a:r>
            <a:r>
              <a:rPr dirty="0"/>
              <a:t>Agent</a:t>
            </a:r>
            <a:r>
              <a:rPr spc="55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909294"/>
            <a:ext cx="4349750" cy="1685289"/>
            <a:chOff x="129196" y="909294"/>
            <a:chExt cx="4349750" cy="1685289"/>
          </a:xfrm>
        </p:grpSpPr>
        <p:sp>
          <p:nvSpPr>
            <p:cNvPr id="4" name="object 4"/>
            <p:cNvSpPr/>
            <p:nvPr/>
          </p:nvSpPr>
          <p:spPr>
            <a:xfrm>
              <a:off x="129196" y="909294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F4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89583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33853"/>
              <a:ext cx="4349750" cy="1460500"/>
            </a:xfrm>
            <a:custGeom>
              <a:avLst/>
              <a:gdLst/>
              <a:ahLst/>
              <a:cxnLst/>
              <a:rect l="l" t="t" r="r" b="b"/>
              <a:pathLst>
                <a:path w="4349750" h="1460500">
                  <a:moveTo>
                    <a:pt x="4349657" y="0"/>
                  </a:moveTo>
                  <a:lnTo>
                    <a:pt x="0" y="0"/>
                  </a:lnTo>
                  <a:lnTo>
                    <a:pt x="0" y="1409550"/>
                  </a:lnTo>
                  <a:lnTo>
                    <a:pt x="4008" y="1429274"/>
                  </a:lnTo>
                  <a:lnTo>
                    <a:pt x="14922" y="1445427"/>
                  </a:lnTo>
                  <a:lnTo>
                    <a:pt x="31075" y="1456341"/>
                  </a:lnTo>
                  <a:lnTo>
                    <a:pt x="50800" y="1460350"/>
                  </a:lnTo>
                  <a:lnTo>
                    <a:pt x="4298856" y="1460350"/>
                  </a:lnTo>
                  <a:lnTo>
                    <a:pt x="4318581" y="1456341"/>
                  </a:lnTo>
                  <a:lnTo>
                    <a:pt x="4334734" y="1445427"/>
                  </a:lnTo>
                  <a:lnTo>
                    <a:pt x="4345648" y="1429274"/>
                  </a:lnTo>
                  <a:lnTo>
                    <a:pt x="4349657" y="1409550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F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91613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157084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789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662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535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7854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370609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522450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021205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2231237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441270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849323"/>
            <a:ext cx="4156075" cy="17119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Utility-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based</a:t>
            </a:r>
            <a:r>
              <a:rPr sz="1100" spc="-5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Agents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45"/>
              </a:spcBef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advantages</a:t>
            </a:r>
            <a:r>
              <a:rPr sz="1100" spc="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wrt.</a:t>
            </a:r>
            <a:r>
              <a:rPr sz="1100" spc="10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goal-based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56642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conflicting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goals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utility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specifies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appropriate</a:t>
            </a:r>
            <a:r>
              <a:rPr sz="1000" spc="-10" dirty="0">
                <a:latin typeface="Arial"/>
                <a:cs typeface="Arial"/>
              </a:rPr>
              <a:t> tradeoff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several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goals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none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which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be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achieved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certainty</a:t>
            </a:r>
            <a:r>
              <a:rPr sz="1000" spc="-10" dirty="0">
                <a:latin typeface="Arial"/>
                <a:cs typeface="Arial"/>
              </a:rPr>
              <a:t>, </a:t>
            </a:r>
            <a:r>
              <a:rPr sz="1000" dirty="0">
                <a:latin typeface="Arial"/>
                <a:cs typeface="Arial"/>
              </a:rPr>
              <a:t>utility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selects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proper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tradeoff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importance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likelihood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success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40"/>
              </a:spcBef>
            </a:pPr>
            <a:r>
              <a:rPr sz="1100" dirty="0">
                <a:latin typeface="Arial"/>
                <a:cs typeface="Arial"/>
              </a:rPr>
              <a:t>still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complicate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implement</a:t>
            </a:r>
            <a:endParaRPr sz="1100">
              <a:latin typeface="Arial"/>
              <a:cs typeface="Arial"/>
            </a:endParaRPr>
          </a:p>
          <a:p>
            <a:pPr marL="289560" marR="366395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require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sophisticated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perception,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reasoning,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learning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may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require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expensive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computation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44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44346"/>
            <a:ext cx="4349750" cy="1347470"/>
            <a:chOff x="129196" y="1044346"/>
            <a:chExt cx="4349750" cy="1347470"/>
          </a:xfrm>
        </p:grpSpPr>
        <p:sp>
          <p:nvSpPr>
            <p:cNvPr id="4" name="object 4"/>
            <p:cNvSpPr/>
            <p:nvPr/>
          </p:nvSpPr>
          <p:spPr>
            <a:xfrm>
              <a:off x="129196" y="10443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1278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57059"/>
              <a:ext cx="4349750" cy="1134745"/>
            </a:xfrm>
            <a:custGeom>
              <a:avLst/>
              <a:gdLst/>
              <a:ahLst/>
              <a:cxnLst/>
              <a:rect l="l" t="t" r="r" b="b"/>
              <a:pathLst>
                <a:path w="4349750" h="1134745">
                  <a:moveTo>
                    <a:pt x="4349657" y="0"/>
                  </a:moveTo>
                  <a:lnTo>
                    <a:pt x="0" y="0"/>
                  </a:lnTo>
                  <a:lnTo>
                    <a:pt x="0" y="1083766"/>
                  </a:lnTo>
                  <a:lnTo>
                    <a:pt x="4008" y="1103491"/>
                  </a:lnTo>
                  <a:lnTo>
                    <a:pt x="14922" y="1119644"/>
                  </a:lnTo>
                  <a:lnTo>
                    <a:pt x="31075" y="1130558"/>
                  </a:lnTo>
                  <a:lnTo>
                    <a:pt x="50800" y="1134567"/>
                  </a:lnTo>
                  <a:lnTo>
                    <a:pt x="4298856" y="1134567"/>
                  </a:lnTo>
                  <a:lnTo>
                    <a:pt x="4318581" y="1130558"/>
                  </a:lnTo>
                  <a:lnTo>
                    <a:pt x="4334734" y="1119644"/>
                  </a:lnTo>
                  <a:lnTo>
                    <a:pt x="4345648" y="1103491"/>
                  </a:lnTo>
                  <a:lnTo>
                    <a:pt x="4349657" y="108376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26666"/>
              <a:ext cx="0" cy="1233805"/>
            </a:xfrm>
            <a:custGeom>
              <a:avLst/>
              <a:gdLst/>
              <a:ahLst/>
              <a:cxnLst/>
              <a:rect l="l" t="t" r="r" b="b"/>
              <a:pathLst>
                <a:path h="1233805">
                  <a:moveTo>
                    <a:pt x="0" y="12332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13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01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88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0493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497000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48841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80066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326"/>
              <a:ext cx="61874" cy="618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5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3333B2"/>
                </a:solidFill>
              </a:rPr>
              <a:t>Problem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000000"/>
                </a:solidFill>
              </a:rPr>
              <a:t>Previous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agent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programs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describe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methods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selecting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actions</a:t>
            </a:r>
          </a:p>
          <a:p>
            <a:pPr marL="566420" marR="9715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E5CDD7"/>
                </a:solidFill>
              </a:rPr>
              <a:t>How</a:t>
            </a:r>
            <a:r>
              <a:rPr sz="1000" spc="-25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are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these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agent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programs</a:t>
            </a:r>
            <a:r>
              <a:rPr sz="1000" spc="-25" dirty="0">
                <a:solidFill>
                  <a:srgbClr val="E5CDD7"/>
                </a:solidFill>
              </a:rPr>
              <a:t> </a:t>
            </a:r>
            <a:r>
              <a:rPr sz="1000" spc="-10" dirty="0">
                <a:solidFill>
                  <a:srgbClr val="E5CDD7"/>
                </a:solidFill>
              </a:rPr>
              <a:t>programmed? </a:t>
            </a:r>
            <a:r>
              <a:rPr sz="1000" dirty="0">
                <a:solidFill>
                  <a:srgbClr val="C7C7D2"/>
                </a:solidFill>
              </a:rPr>
              <a:t>Programming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by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hand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inefficient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E5CDD7"/>
                </a:solidFill>
              </a:rPr>
              <a:t>ineffective!</a:t>
            </a:r>
            <a:endParaRPr sz="1000"/>
          </a:p>
          <a:p>
            <a:pPr marL="566420" marR="19939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</a:rPr>
              <a:t>Solution:</a:t>
            </a:r>
            <a:r>
              <a:rPr sz="1000" spc="5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build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learning</a:t>
            </a:r>
            <a:r>
              <a:rPr sz="1000" spc="-10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machines</a:t>
            </a:r>
            <a:r>
              <a:rPr sz="1000" spc="-5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then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teach</a:t>
            </a:r>
            <a:r>
              <a:rPr sz="1000" spc="-5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them</a:t>
            </a:r>
            <a:r>
              <a:rPr sz="1000" spc="-10" dirty="0">
                <a:solidFill>
                  <a:srgbClr val="C7C7D2"/>
                </a:solidFill>
              </a:rPr>
              <a:t> (rather </a:t>
            </a:r>
            <a:r>
              <a:rPr sz="1000" dirty="0">
                <a:solidFill>
                  <a:srgbClr val="C7C7D2"/>
                </a:solidFill>
              </a:rPr>
              <a:t>than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instruct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them)</a:t>
            </a:r>
            <a:endParaRPr sz="1000"/>
          </a:p>
          <a:p>
            <a:pPr marL="566420">
              <a:lnSpc>
                <a:spcPts val="1150"/>
              </a:lnSpc>
            </a:pPr>
            <a:r>
              <a:rPr sz="1000" dirty="0">
                <a:solidFill>
                  <a:srgbClr val="C7C7D2"/>
                </a:solidFill>
              </a:rPr>
              <a:t>Advantage:</a:t>
            </a:r>
            <a:r>
              <a:rPr sz="1000" spc="4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robustness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agent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program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toward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C7C7D2"/>
                </a:solidFill>
              </a:rPr>
              <a:t>initially-</a:t>
            </a:r>
            <a:r>
              <a:rPr sz="1000" dirty="0">
                <a:solidFill>
                  <a:srgbClr val="C7C7D2"/>
                </a:solidFill>
              </a:rPr>
              <a:t>unknown</a:t>
            </a:r>
            <a:r>
              <a:rPr sz="1000" spc="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environments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44346"/>
            <a:ext cx="4349750" cy="1347470"/>
            <a:chOff x="129196" y="1044346"/>
            <a:chExt cx="4349750" cy="1347470"/>
          </a:xfrm>
        </p:grpSpPr>
        <p:sp>
          <p:nvSpPr>
            <p:cNvPr id="4" name="object 4"/>
            <p:cNvSpPr/>
            <p:nvPr/>
          </p:nvSpPr>
          <p:spPr>
            <a:xfrm>
              <a:off x="129196" y="10443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1278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57059"/>
              <a:ext cx="4349750" cy="1134745"/>
            </a:xfrm>
            <a:custGeom>
              <a:avLst/>
              <a:gdLst/>
              <a:ahLst/>
              <a:cxnLst/>
              <a:rect l="l" t="t" r="r" b="b"/>
              <a:pathLst>
                <a:path w="4349750" h="1134745">
                  <a:moveTo>
                    <a:pt x="4349657" y="0"/>
                  </a:moveTo>
                  <a:lnTo>
                    <a:pt x="0" y="0"/>
                  </a:lnTo>
                  <a:lnTo>
                    <a:pt x="0" y="1083766"/>
                  </a:lnTo>
                  <a:lnTo>
                    <a:pt x="4008" y="1103491"/>
                  </a:lnTo>
                  <a:lnTo>
                    <a:pt x="14922" y="1119644"/>
                  </a:lnTo>
                  <a:lnTo>
                    <a:pt x="31075" y="1130558"/>
                  </a:lnTo>
                  <a:lnTo>
                    <a:pt x="50800" y="1134567"/>
                  </a:lnTo>
                  <a:lnTo>
                    <a:pt x="4298856" y="1134567"/>
                  </a:lnTo>
                  <a:lnTo>
                    <a:pt x="4318581" y="1130558"/>
                  </a:lnTo>
                  <a:lnTo>
                    <a:pt x="4334734" y="1119644"/>
                  </a:lnTo>
                  <a:lnTo>
                    <a:pt x="4345648" y="1103491"/>
                  </a:lnTo>
                  <a:lnTo>
                    <a:pt x="4349657" y="108376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26666"/>
              <a:ext cx="0" cy="1233805"/>
            </a:xfrm>
            <a:custGeom>
              <a:avLst/>
              <a:gdLst/>
              <a:ahLst/>
              <a:cxnLst/>
              <a:rect l="l" t="t" r="r" b="b"/>
              <a:pathLst>
                <a:path h="1233805">
                  <a:moveTo>
                    <a:pt x="0" y="12332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13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01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88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0493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497000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48841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80066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326"/>
              <a:ext cx="61874" cy="618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5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3333B2"/>
                </a:solidFill>
              </a:rPr>
              <a:t>Problem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000000"/>
                </a:solidFill>
              </a:rPr>
              <a:t>Previous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agent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programs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describe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methods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selecting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actions</a:t>
            </a:r>
          </a:p>
          <a:p>
            <a:pPr marL="566420" marR="9715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92626"/>
                </a:solidFill>
              </a:rPr>
              <a:t>How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are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these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programs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programmed? </a:t>
            </a:r>
            <a:r>
              <a:rPr sz="1000" dirty="0">
                <a:solidFill>
                  <a:srgbClr val="C7C7D2"/>
                </a:solidFill>
              </a:rPr>
              <a:t>Programming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by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hand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inefficient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2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E5CDD7"/>
                </a:solidFill>
              </a:rPr>
              <a:t>ineffective!</a:t>
            </a:r>
            <a:endParaRPr sz="1000"/>
          </a:p>
          <a:p>
            <a:pPr marL="566420" marR="19939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</a:rPr>
              <a:t>Solution:</a:t>
            </a:r>
            <a:r>
              <a:rPr sz="1000" spc="5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build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learning</a:t>
            </a:r>
            <a:r>
              <a:rPr sz="1000" spc="-10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machines</a:t>
            </a:r>
            <a:r>
              <a:rPr sz="1000" spc="-5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then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teach</a:t>
            </a:r>
            <a:r>
              <a:rPr sz="1000" spc="-5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them</a:t>
            </a:r>
            <a:r>
              <a:rPr sz="1000" spc="-10" dirty="0">
                <a:solidFill>
                  <a:srgbClr val="C7C7D2"/>
                </a:solidFill>
              </a:rPr>
              <a:t> (rather </a:t>
            </a:r>
            <a:r>
              <a:rPr sz="1000" dirty="0">
                <a:solidFill>
                  <a:srgbClr val="C7C7D2"/>
                </a:solidFill>
              </a:rPr>
              <a:t>than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instruct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them)</a:t>
            </a:r>
            <a:endParaRPr sz="1000"/>
          </a:p>
          <a:p>
            <a:pPr marL="566420">
              <a:lnSpc>
                <a:spcPts val="1150"/>
              </a:lnSpc>
            </a:pPr>
            <a:r>
              <a:rPr sz="1000" dirty="0">
                <a:solidFill>
                  <a:srgbClr val="C7C7D2"/>
                </a:solidFill>
              </a:rPr>
              <a:t>Advantage:</a:t>
            </a:r>
            <a:r>
              <a:rPr sz="1000" spc="4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robustness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agent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program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toward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C7C7D2"/>
                </a:solidFill>
              </a:rPr>
              <a:t>initially-</a:t>
            </a:r>
            <a:r>
              <a:rPr sz="1000" dirty="0">
                <a:solidFill>
                  <a:srgbClr val="C7C7D2"/>
                </a:solidFill>
              </a:rPr>
              <a:t>unknown</a:t>
            </a:r>
            <a:r>
              <a:rPr sz="1000" spc="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environments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44346"/>
            <a:ext cx="4349750" cy="1347470"/>
            <a:chOff x="129196" y="1044346"/>
            <a:chExt cx="4349750" cy="1347470"/>
          </a:xfrm>
        </p:grpSpPr>
        <p:sp>
          <p:nvSpPr>
            <p:cNvPr id="4" name="object 4"/>
            <p:cNvSpPr/>
            <p:nvPr/>
          </p:nvSpPr>
          <p:spPr>
            <a:xfrm>
              <a:off x="129196" y="10443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1278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57059"/>
              <a:ext cx="4349750" cy="1134745"/>
            </a:xfrm>
            <a:custGeom>
              <a:avLst/>
              <a:gdLst/>
              <a:ahLst/>
              <a:cxnLst/>
              <a:rect l="l" t="t" r="r" b="b"/>
              <a:pathLst>
                <a:path w="4349750" h="1134745">
                  <a:moveTo>
                    <a:pt x="4349657" y="0"/>
                  </a:moveTo>
                  <a:lnTo>
                    <a:pt x="0" y="0"/>
                  </a:lnTo>
                  <a:lnTo>
                    <a:pt x="0" y="1083766"/>
                  </a:lnTo>
                  <a:lnTo>
                    <a:pt x="4008" y="1103491"/>
                  </a:lnTo>
                  <a:lnTo>
                    <a:pt x="14922" y="1119644"/>
                  </a:lnTo>
                  <a:lnTo>
                    <a:pt x="31075" y="1130558"/>
                  </a:lnTo>
                  <a:lnTo>
                    <a:pt x="50800" y="1134567"/>
                  </a:lnTo>
                  <a:lnTo>
                    <a:pt x="4298856" y="1134567"/>
                  </a:lnTo>
                  <a:lnTo>
                    <a:pt x="4318581" y="1130558"/>
                  </a:lnTo>
                  <a:lnTo>
                    <a:pt x="4334734" y="1119644"/>
                  </a:lnTo>
                  <a:lnTo>
                    <a:pt x="4345648" y="1103491"/>
                  </a:lnTo>
                  <a:lnTo>
                    <a:pt x="4349657" y="108376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26666"/>
              <a:ext cx="0" cy="1233805"/>
            </a:xfrm>
            <a:custGeom>
              <a:avLst/>
              <a:gdLst/>
              <a:ahLst/>
              <a:cxnLst/>
              <a:rect l="l" t="t" r="r" b="b"/>
              <a:pathLst>
                <a:path h="1233805">
                  <a:moveTo>
                    <a:pt x="0" y="12332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13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01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88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0493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497000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48841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80066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326"/>
              <a:ext cx="61874" cy="618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5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3333B2"/>
                </a:solidFill>
              </a:rPr>
              <a:t>Problem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000000"/>
                </a:solidFill>
              </a:rPr>
              <a:t>Previous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agent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programs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describe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methods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selecting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actions</a:t>
            </a:r>
          </a:p>
          <a:p>
            <a:pPr marL="566420" marR="9715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92626"/>
                </a:solidFill>
              </a:rPr>
              <a:t>How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are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these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programs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programmed? </a:t>
            </a:r>
            <a:r>
              <a:rPr sz="1000" dirty="0">
                <a:solidFill>
                  <a:srgbClr val="000000"/>
                </a:solidFill>
              </a:rPr>
              <a:t>Programming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by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hand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inefficient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ineffective!</a:t>
            </a:r>
            <a:endParaRPr sz="1000"/>
          </a:p>
          <a:p>
            <a:pPr marL="566420" marR="19939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C7C7D2"/>
                </a:solidFill>
              </a:rPr>
              <a:t>Solution:</a:t>
            </a:r>
            <a:r>
              <a:rPr sz="1000" spc="5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build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learning</a:t>
            </a:r>
            <a:r>
              <a:rPr sz="1000" spc="-10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F8"/>
                </a:solidFill>
              </a:rPr>
              <a:t>machines</a:t>
            </a:r>
            <a:r>
              <a:rPr sz="1000" spc="-5" dirty="0">
                <a:solidFill>
                  <a:srgbClr val="C7C7F8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and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then</a:t>
            </a:r>
            <a:r>
              <a:rPr sz="1000" spc="-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teach</a:t>
            </a:r>
            <a:r>
              <a:rPr sz="1000" spc="-5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them</a:t>
            </a:r>
            <a:r>
              <a:rPr sz="1000" spc="-10" dirty="0">
                <a:solidFill>
                  <a:srgbClr val="C7C7D2"/>
                </a:solidFill>
              </a:rPr>
              <a:t> (rather </a:t>
            </a:r>
            <a:r>
              <a:rPr sz="1000" dirty="0">
                <a:solidFill>
                  <a:srgbClr val="C7C7D2"/>
                </a:solidFill>
              </a:rPr>
              <a:t>than</a:t>
            </a:r>
            <a:r>
              <a:rPr sz="1000" spc="-1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instruct</a:t>
            </a:r>
            <a:r>
              <a:rPr sz="1000" spc="-10" dirty="0">
                <a:solidFill>
                  <a:srgbClr val="E5CDD7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them)</a:t>
            </a:r>
            <a:endParaRPr sz="1000"/>
          </a:p>
          <a:p>
            <a:pPr marL="566420">
              <a:lnSpc>
                <a:spcPts val="1150"/>
              </a:lnSpc>
            </a:pPr>
            <a:r>
              <a:rPr sz="1000" dirty="0">
                <a:solidFill>
                  <a:srgbClr val="C7C7D2"/>
                </a:solidFill>
              </a:rPr>
              <a:t>Advantage:</a:t>
            </a:r>
            <a:r>
              <a:rPr sz="1000" spc="4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robustness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agent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program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toward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C7C7D2"/>
                </a:solidFill>
              </a:rPr>
              <a:t>initially-</a:t>
            </a:r>
            <a:r>
              <a:rPr sz="1000" dirty="0">
                <a:solidFill>
                  <a:srgbClr val="C7C7D2"/>
                </a:solidFill>
              </a:rPr>
              <a:t>unknown</a:t>
            </a:r>
            <a:r>
              <a:rPr sz="1000" spc="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environments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44346"/>
            <a:ext cx="4349750" cy="1347470"/>
            <a:chOff x="129196" y="1044346"/>
            <a:chExt cx="4349750" cy="1347470"/>
          </a:xfrm>
        </p:grpSpPr>
        <p:sp>
          <p:nvSpPr>
            <p:cNvPr id="4" name="object 4"/>
            <p:cNvSpPr/>
            <p:nvPr/>
          </p:nvSpPr>
          <p:spPr>
            <a:xfrm>
              <a:off x="129196" y="10443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1278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57059"/>
              <a:ext cx="4349750" cy="1134745"/>
            </a:xfrm>
            <a:custGeom>
              <a:avLst/>
              <a:gdLst/>
              <a:ahLst/>
              <a:cxnLst/>
              <a:rect l="l" t="t" r="r" b="b"/>
              <a:pathLst>
                <a:path w="4349750" h="1134745">
                  <a:moveTo>
                    <a:pt x="4349657" y="0"/>
                  </a:moveTo>
                  <a:lnTo>
                    <a:pt x="0" y="0"/>
                  </a:lnTo>
                  <a:lnTo>
                    <a:pt x="0" y="1083766"/>
                  </a:lnTo>
                  <a:lnTo>
                    <a:pt x="4008" y="1103491"/>
                  </a:lnTo>
                  <a:lnTo>
                    <a:pt x="14922" y="1119644"/>
                  </a:lnTo>
                  <a:lnTo>
                    <a:pt x="31075" y="1130558"/>
                  </a:lnTo>
                  <a:lnTo>
                    <a:pt x="50800" y="1134567"/>
                  </a:lnTo>
                  <a:lnTo>
                    <a:pt x="4298856" y="1134567"/>
                  </a:lnTo>
                  <a:lnTo>
                    <a:pt x="4318581" y="1130558"/>
                  </a:lnTo>
                  <a:lnTo>
                    <a:pt x="4334734" y="1119644"/>
                  </a:lnTo>
                  <a:lnTo>
                    <a:pt x="4345648" y="1103491"/>
                  </a:lnTo>
                  <a:lnTo>
                    <a:pt x="4349657" y="108376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26666"/>
              <a:ext cx="0" cy="1233805"/>
            </a:xfrm>
            <a:custGeom>
              <a:avLst/>
              <a:gdLst/>
              <a:ahLst/>
              <a:cxnLst/>
              <a:rect l="l" t="t" r="r" b="b"/>
              <a:pathLst>
                <a:path h="1233805">
                  <a:moveTo>
                    <a:pt x="0" y="12332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13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01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88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0493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497000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48841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80066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326"/>
              <a:ext cx="61874" cy="618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5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3333B2"/>
                </a:solidFill>
              </a:rPr>
              <a:t>Problem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000000"/>
                </a:solidFill>
              </a:rPr>
              <a:t>Previous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agent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programs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describe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methods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selecting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actions</a:t>
            </a:r>
          </a:p>
          <a:p>
            <a:pPr marL="566420" marR="9715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92626"/>
                </a:solidFill>
              </a:rPr>
              <a:t>How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are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these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programs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programmed? </a:t>
            </a:r>
            <a:r>
              <a:rPr sz="1000" dirty="0">
                <a:solidFill>
                  <a:srgbClr val="000000"/>
                </a:solidFill>
              </a:rPr>
              <a:t>Programming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by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hand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inefficient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ineffective!</a:t>
            </a:r>
            <a:endParaRPr sz="1000"/>
          </a:p>
          <a:p>
            <a:pPr marL="566420" marR="19939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000000"/>
                </a:solidFill>
              </a:rPr>
              <a:t>Solution: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build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FF"/>
                </a:solidFill>
              </a:rPr>
              <a:t>learning</a:t>
            </a:r>
            <a:r>
              <a:rPr sz="1000" spc="-10" dirty="0">
                <a:solidFill>
                  <a:srgbClr val="0000FF"/>
                </a:solidFill>
              </a:rPr>
              <a:t> </a:t>
            </a:r>
            <a:r>
              <a:rPr sz="1000" dirty="0">
                <a:solidFill>
                  <a:srgbClr val="0000FF"/>
                </a:solidFill>
              </a:rPr>
              <a:t>machines</a:t>
            </a:r>
            <a:r>
              <a:rPr sz="1000" spc="-5" dirty="0">
                <a:solidFill>
                  <a:srgbClr val="0000FF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then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teach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them</a:t>
            </a:r>
            <a:r>
              <a:rPr sz="1000" spc="-10" dirty="0">
                <a:solidFill>
                  <a:srgbClr val="000000"/>
                </a:solidFill>
              </a:rPr>
              <a:t> (rather </a:t>
            </a:r>
            <a:r>
              <a:rPr sz="1000" dirty="0">
                <a:solidFill>
                  <a:srgbClr val="000000"/>
                </a:solidFill>
              </a:rPr>
              <a:t>than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instruct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them)</a:t>
            </a:r>
            <a:endParaRPr sz="1000"/>
          </a:p>
          <a:p>
            <a:pPr marL="566420">
              <a:lnSpc>
                <a:spcPts val="1150"/>
              </a:lnSpc>
            </a:pPr>
            <a:r>
              <a:rPr sz="1000" dirty="0">
                <a:solidFill>
                  <a:srgbClr val="C7C7D2"/>
                </a:solidFill>
              </a:rPr>
              <a:t>Advantage:</a:t>
            </a:r>
            <a:r>
              <a:rPr sz="1000" spc="4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E5CDD7"/>
                </a:solidFill>
              </a:rPr>
              <a:t>robustness</a:t>
            </a:r>
            <a:r>
              <a:rPr sz="1000" spc="-20" dirty="0">
                <a:solidFill>
                  <a:srgbClr val="E5CDD7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of</a:t>
            </a:r>
            <a:r>
              <a:rPr sz="1000" spc="-15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the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agent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dirty="0">
                <a:solidFill>
                  <a:srgbClr val="C7C7D2"/>
                </a:solidFill>
              </a:rPr>
              <a:t>program</a:t>
            </a:r>
            <a:r>
              <a:rPr sz="1000" spc="-20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toward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C7C7D2"/>
                </a:solidFill>
              </a:rPr>
              <a:t>initially-</a:t>
            </a:r>
            <a:r>
              <a:rPr sz="1000" dirty="0">
                <a:solidFill>
                  <a:srgbClr val="C7C7D2"/>
                </a:solidFill>
              </a:rPr>
              <a:t>unknown</a:t>
            </a:r>
            <a:r>
              <a:rPr sz="1000" spc="5" dirty="0">
                <a:solidFill>
                  <a:srgbClr val="C7C7D2"/>
                </a:solidFill>
              </a:rPr>
              <a:t> </a:t>
            </a:r>
            <a:r>
              <a:rPr sz="1000" spc="-10" dirty="0">
                <a:solidFill>
                  <a:srgbClr val="C7C7D2"/>
                </a:solidFill>
              </a:rPr>
              <a:t>environments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1044346"/>
            <a:ext cx="4349750" cy="1347470"/>
            <a:chOff x="129196" y="1044346"/>
            <a:chExt cx="4349750" cy="1347470"/>
          </a:xfrm>
        </p:grpSpPr>
        <p:sp>
          <p:nvSpPr>
            <p:cNvPr id="4" name="object 4"/>
            <p:cNvSpPr/>
            <p:nvPr/>
          </p:nvSpPr>
          <p:spPr>
            <a:xfrm>
              <a:off x="129196" y="1044346"/>
              <a:ext cx="4349750" cy="181610"/>
            </a:xfrm>
            <a:custGeom>
              <a:avLst/>
              <a:gdLst/>
              <a:ahLst/>
              <a:cxnLst/>
              <a:rect l="l" t="t" r="r" b="b"/>
              <a:pathLst>
                <a:path w="4349750" h="181609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098"/>
                  </a:lnTo>
                  <a:lnTo>
                    <a:pt x="4349657" y="181098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212786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257059"/>
              <a:ext cx="4349750" cy="1134745"/>
            </a:xfrm>
            <a:custGeom>
              <a:avLst/>
              <a:gdLst/>
              <a:ahLst/>
              <a:cxnLst/>
              <a:rect l="l" t="t" r="r" b="b"/>
              <a:pathLst>
                <a:path w="4349750" h="1134745">
                  <a:moveTo>
                    <a:pt x="4349657" y="0"/>
                  </a:moveTo>
                  <a:lnTo>
                    <a:pt x="0" y="0"/>
                  </a:lnTo>
                  <a:lnTo>
                    <a:pt x="0" y="1083766"/>
                  </a:lnTo>
                  <a:lnTo>
                    <a:pt x="4008" y="1103491"/>
                  </a:lnTo>
                  <a:lnTo>
                    <a:pt x="14922" y="1119644"/>
                  </a:lnTo>
                  <a:lnTo>
                    <a:pt x="31075" y="1130558"/>
                  </a:lnTo>
                  <a:lnTo>
                    <a:pt x="50800" y="1134567"/>
                  </a:lnTo>
                  <a:lnTo>
                    <a:pt x="4298856" y="1134567"/>
                  </a:lnTo>
                  <a:lnTo>
                    <a:pt x="4318581" y="1130558"/>
                  </a:lnTo>
                  <a:lnTo>
                    <a:pt x="4334734" y="1119644"/>
                  </a:lnTo>
                  <a:lnTo>
                    <a:pt x="4345648" y="1103491"/>
                  </a:lnTo>
                  <a:lnTo>
                    <a:pt x="4349657" y="108376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1126666"/>
              <a:ext cx="0" cy="1233805"/>
            </a:xfrm>
            <a:custGeom>
              <a:avLst/>
              <a:gdLst/>
              <a:ahLst/>
              <a:cxnLst/>
              <a:rect l="l" t="t" r="r" b="b"/>
              <a:pathLst>
                <a:path h="1233805">
                  <a:moveTo>
                    <a:pt x="0" y="12332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1113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1101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1088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304937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497000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648841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80066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104326"/>
              <a:ext cx="61874" cy="6187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5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>
                <a:solidFill>
                  <a:srgbClr val="3333B2"/>
                </a:solidFill>
              </a:rPr>
              <a:t>Problem</a:t>
            </a: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000000"/>
                </a:solidFill>
              </a:rPr>
              <a:t>Previous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agent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programs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describe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methods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selecting</a:t>
            </a:r>
            <a:r>
              <a:rPr spc="-30" dirty="0">
                <a:solidFill>
                  <a:srgbClr val="C92626"/>
                </a:solidFill>
              </a:rPr>
              <a:t> </a:t>
            </a:r>
            <a:r>
              <a:rPr spc="-10" dirty="0">
                <a:solidFill>
                  <a:srgbClr val="C92626"/>
                </a:solidFill>
              </a:rPr>
              <a:t>actions</a:t>
            </a:r>
          </a:p>
          <a:p>
            <a:pPr marL="566420" marR="9715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C92626"/>
                </a:solidFill>
              </a:rPr>
              <a:t>How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are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these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agent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programs</a:t>
            </a:r>
            <a:r>
              <a:rPr sz="1000" spc="-25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programmed? </a:t>
            </a:r>
            <a:r>
              <a:rPr sz="1000" dirty="0">
                <a:solidFill>
                  <a:srgbClr val="000000"/>
                </a:solidFill>
              </a:rPr>
              <a:t>Programming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by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hand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inefficient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C92626"/>
                </a:solidFill>
              </a:rPr>
              <a:t>ineffective!</a:t>
            </a:r>
            <a:endParaRPr sz="1000"/>
          </a:p>
          <a:p>
            <a:pPr marL="566420" marR="19939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solidFill>
                  <a:srgbClr val="000000"/>
                </a:solidFill>
              </a:rPr>
              <a:t>Solution: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build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FF"/>
                </a:solidFill>
              </a:rPr>
              <a:t>learning</a:t>
            </a:r>
            <a:r>
              <a:rPr sz="1000" spc="-10" dirty="0">
                <a:solidFill>
                  <a:srgbClr val="0000FF"/>
                </a:solidFill>
              </a:rPr>
              <a:t> </a:t>
            </a:r>
            <a:r>
              <a:rPr sz="1000" dirty="0">
                <a:solidFill>
                  <a:srgbClr val="0000FF"/>
                </a:solidFill>
              </a:rPr>
              <a:t>machines</a:t>
            </a:r>
            <a:r>
              <a:rPr sz="1000" spc="-5" dirty="0">
                <a:solidFill>
                  <a:srgbClr val="0000FF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then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teach</a:t>
            </a:r>
            <a:r>
              <a:rPr sz="1000" spc="-5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them</a:t>
            </a:r>
            <a:r>
              <a:rPr sz="1000" spc="-10" dirty="0">
                <a:solidFill>
                  <a:srgbClr val="000000"/>
                </a:solidFill>
              </a:rPr>
              <a:t> (rather </a:t>
            </a:r>
            <a:r>
              <a:rPr sz="1000" dirty="0">
                <a:solidFill>
                  <a:srgbClr val="000000"/>
                </a:solidFill>
              </a:rPr>
              <a:t>than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instruct</a:t>
            </a:r>
            <a:r>
              <a:rPr sz="1000" spc="-10" dirty="0">
                <a:solidFill>
                  <a:srgbClr val="C92626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them)</a:t>
            </a:r>
            <a:endParaRPr sz="1000"/>
          </a:p>
          <a:p>
            <a:pPr marL="566420">
              <a:lnSpc>
                <a:spcPts val="1150"/>
              </a:lnSpc>
            </a:pPr>
            <a:r>
              <a:rPr sz="1000" dirty="0">
                <a:solidFill>
                  <a:srgbClr val="000000"/>
                </a:solidFill>
              </a:rPr>
              <a:t>Advantage:</a:t>
            </a:r>
            <a:r>
              <a:rPr sz="1000" spc="4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C92626"/>
                </a:solidFill>
              </a:rPr>
              <a:t>robustness</a:t>
            </a:r>
            <a:r>
              <a:rPr sz="1000" spc="-20" dirty="0">
                <a:solidFill>
                  <a:srgbClr val="C92626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of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agent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program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toward</a:t>
            </a:r>
            <a:endParaRPr sz="1000"/>
          </a:p>
          <a:p>
            <a:pPr marL="566420">
              <a:lnSpc>
                <a:spcPts val="1200"/>
              </a:lnSpc>
            </a:pPr>
            <a:r>
              <a:rPr sz="1000" spc="-10" dirty="0">
                <a:solidFill>
                  <a:srgbClr val="000000"/>
                </a:solidFill>
              </a:rPr>
              <a:t>initially-</a:t>
            </a:r>
            <a:r>
              <a:rPr sz="1000" dirty="0">
                <a:solidFill>
                  <a:srgbClr val="000000"/>
                </a:solidFill>
              </a:rPr>
              <a:t>unknown</a:t>
            </a:r>
            <a:r>
              <a:rPr sz="1000" spc="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environments</a:t>
            </a: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45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5058"/>
            <a:ext cx="4349750" cy="2720975"/>
            <a:chOff x="129196" y="495058"/>
            <a:chExt cx="4349750" cy="2720975"/>
          </a:xfrm>
        </p:grpSpPr>
        <p:sp>
          <p:nvSpPr>
            <p:cNvPr id="4" name="object 4"/>
            <p:cNvSpPr/>
            <p:nvPr/>
          </p:nvSpPr>
          <p:spPr>
            <a:xfrm>
              <a:off x="129196" y="495058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75348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19600"/>
              <a:ext cx="4349750" cy="2496185"/>
            </a:xfrm>
            <a:custGeom>
              <a:avLst/>
              <a:gdLst/>
              <a:ahLst/>
              <a:cxnLst/>
              <a:rect l="l" t="t" r="r" b="b"/>
              <a:pathLst>
                <a:path w="4349750" h="2496185">
                  <a:moveTo>
                    <a:pt x="4349657" y="0"/>
                  </a:moveTo>
                  <a:lnTo>
                    <a:pt x="0" y="0"/>
                  </a:lnTo>
                  <a:lnTo>
                    <a:pt x="0" y="2445138"/>
                  </a:lnTo>
                  <a:lnTo>
                    <a:pt x="4008" y="2464863"/>
                  </a:lnTo>
                  <a:lnTo>
                    <a:pt x="14922" y="2481016"/>
                  </a:lnTo>
                  <a:lnTo>
                    <a:pt x="31075" y="2491930"/>
                  </a:lnTo>
                  <a:lnTo>
                    <a:pt x="50800" y="2495938"/>
                  </a:lnTo>
                  <a:lnTo>
                    <a:pt x="4298856" y="2495938"/>
                  </a:lnTo>
                  <a:lnTo>
                    <a:pt x="4318581" y="2491930"/>
                  </a:lnTo>
                  <a:lnTo>
                    <a:pt x="4334734" y="2481016"/>
                  </a:lnTo>
                  <a:lnTo>
                    <a:pt x="4345648" y="2464863"/>
                  </a:lnTo>
                  <a:lnTo>
                    <a:pt x="4349657" y="24451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77359"/>
              <a:ext cx="0" cy="2606675"/>
            </a:xfrm>
            <a:custGeom>
              <a:avLst/>
              <a:gdLst/>
              <a:ahLst/>
              <a:cxnLst/>
              <a:rect l="l" t="t" r="r" b="b"/>
              <a:pathLst>
                <a:path h="2606675">
                  <a:moveTo>
                    <a:pt x="0" y="26064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646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19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392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77531"/>
              <a:ext cx="76809" cy="7680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7297" y="431924"/>
            <a:ext cx="3515360" cy="6654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Learning</a:t>
            </a:r>
            <a:r>
              <a:rPr sz="11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Types: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5299"/>
              </a:lnSpc>
              <a:spcBef>
                <a:spcPts val="35"/>
              </a:spcBef>
            </a:pP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Performance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element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selects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based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percepts </a:t>
            </a:r>
            <a:r>
              <a:rPr sz="1100" dirty="0">
                <a:latin typeface="Arial"/>
                <a:cs typeface="Arial"/>
              </a:rPr>
              <a:t>Corresponds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previous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447" y="1396235"/>
            <a:ext cx="2381181" cy="166128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82610" y="3100129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9389"/>
            <a:ext cx="4349750" cy="2710180"/>
            <a:chOff x="129196" y="499389"/>
            <a:chExt cx="4349750" cy="2710180"/>
          </a:xfrm>
        </p:grpSpPr>
        <p:sp>
          <p:nvSpPr>
            <p:cNvPr id="4" name="object 4"/>
            <p:cNvSpPr/>
            <p:nvPr/>
          </p:nvSpPr>
          <p:spPr>
            <a:xfrm>
              <a:off x="129196" y="499389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79678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23925"/>
              <a:ext cx="4349750" cy="2485390"/>
            </a:xfrm>
            <a:custGeom>
              <a:avLst/>
              <a:gdLst/>
              <a:ahLst/>
              <a:cxnLst/>
              <a:rect l="l" t="t" r="r" b="b"/>
              <a:pathLst>
                <a:path w="4349750" h="2485390">
                  <a:moveTo>
                    <a:pt x="4349657" y="0"/>
                  </a:moveTo>
                  <a:lnTo>
                    <a:pt x="0" y="0"/>
                  </a:lnTo>
                  <a:lnTo>
                    <a:pt x="0" y="2434323"/>
                  </a:lnTo>
                  <a:lnTo>
                    <a:pt x="4008" y="2454048"/>
                  </a:lnTo>
                  <a:lnTo>
                    <a:pt x="14922" y="2470201"/>
                  </a:lnTo>
                  <a:lnTo>
                    <a:pt x="31075" y="2481115"/>
                  </a:lnTo>
                  <a:lnTo>
                    <a:pt x="50800" y="2485124"/>
                  </a:lnTo>
                  <a:lnTo>
                    <a:pt x="4298856" y="2485124"/>
                  </a:lnTo>
                  <a:lnTo>
                    <a:pt x="4318581" y="2481115"/>
                  </a:lnTo>
                  <a:lnTo>
                    <a:pt x="4334734" y="2470201"/>
                  </a:lnTo>
                  <a:lnTo>
                    <a:pt x="4345648" y="2454048"/>
                  </a:lnTo>
                  <a:lnTo>
                    <a:pt x="4349657" y="243432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81684"/>
              <a:ext cx="0" cy="2595880"/>
            </a:xfrm>
            <a:custGeom>
              <a:avLst/>
              <a:gdLst/>
              <a:ahLst/>
              <a:cxnLst/>
              <a:rect l="l" t="t" r="r" b="b"/>
              <a:pathLst>
                <a:path h="2595880">
                  <a:moveTo>
                    <a:pt x="0" y="2595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689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562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435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978674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188707"/>
              <a:ext cx="76809" cy="768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7297" y="439417"/>
            <a:ext cx="3676650" cy="86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3769">
              <a:lnSpc>
                <a:spcPct val="126299"/>
              </a:lnSpc>
              <a:spcBef>
                <a:spcPts val="10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Learning</a:t>
            </a:r>
            <a:r>
              <a:rPr sz="11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Types: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components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r>
              <a:rPr sz="11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element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introduces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improvements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uses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feedback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critic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doing </a:t>
            </a:r>
            <a:r>
              <a:rPr sz="1100" dirty="0">
                <a:latin typeface="Arial"/>
                <a:cs typeface="Arial"/>
              </a:rPr>
              <a:t>determines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improvements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performance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element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3447" y="1389745"/>
            <a:ext cx="2381181" cy="166128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82610" y="3100129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92670"/>
            <a:ext cx="4349750" cy="2726690"/>
            <a:chOff x="129196" y="492670"/>
            <a:chExt cx="4349750" cy="2726690"/>
          </a:xfrm>
        </p:grpSpPr>
        <p:sp>
          <p:nvSpPr>
            <p:cNvPr id="4" name="object 4"/>
            <p:cNvSpPr/>
            <p:nvPr/>
          </p:nvSpPr>
          <p:spPr>
            <a:xfrm>
              <a:off x="129196" y="492670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72960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17211"/>
              <a:ext cx="4349750" cy="2502535"/>
            </a:xfrm>
            <a:custGeom>
              <a:avLst/>
              <a:gdLst/>
              <a:ahLst/>
              <a:cxnLst/>
              <a:rect l="l" t="t" r="r" b="b"/>
              <a:pathLst>
                <a:path w="4349750" h="2502535">
                  <a:moveTo>
                    <a:pt x="4349657" y="0"/>
                  </a:moveTo>
                  <a:lnTo>
                    <a:pt x="0" y="0"/>
                  </a:lnTo>
                  <a:lnTo>
                    <a:pt x="0" y="2451108"/>
                  </a:lnTo>
                  <a:lnTo>
                    <a:pt x="4008" y="2470832"/>
                  </a:lnTo>
                  <a:lnTo>
                    <a:pt x="14922" y="2486985"/>
                  </a:lnTo>
                  <a:lnTo>
                    <a:pt x="31075" y="2497899"/>
                  </a:lnTo>
                  <a:lnTo>
                    <a:pt x="50800" y="2501908"/>
                  </a:lnTo>
                  <a:lnTo>
                    <a:pt x="4298856" y="2501908"/>
                  </a:lnTo>
                  <a:lnTo>
                    <a:pt x="4318581" y="2497899"/>
                  </a:lnTo>
                  <a:lnTo>
                    <a:pt x="4334734" y="2486985"/>
                  </a:lnTo>
                  <a:lnTo>
                    <a:pt x="4345648" y="2470832"/>
                  </a:lnTo>
                  <a:lnTo>
                    <a:pt x="4349657" y="245110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74971"/>
              <a:ext cx="0" cy="2613025"/>
            </a:xfrm>
            <a:custGeom>
              <a:avLst/>
              <a:gdLst/>
              <a:ahLst/>
              <a:cxnLst/>
              <a:rect l="l" t="t" r="r" b="b"/>
              <a:pathLst>
                <a:path h="2613025">
                  <a:moveTo>
                    <a:pt x="0" y="26123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622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49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368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7297" y="429537"/>
            <a:ext cx="3720465" cy="4559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Learning</a:t>
            </a:r>
            <a:r>
              <a:rPr sz="11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Types: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Critic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tells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how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agent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doing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wrt.</a:t>
            </a:r>
            <a:r>
              <a:rPr sz="1100" spc="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performance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standard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3447" y="1399816"/>
            <a:ext cx="2381181" cy="166128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82610" y="3100129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Agent Types:</a:t>
            </a:r>
            <a:r>
              <a:rPr spc="9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85101"/>
            <a:ext cx="4349750" cy="2745740"/>
            <a:chOff x="129196" y="485101"/>
            <a:chExt cx="4349750" cy="2745740"/>
          </a:xfrm>
        </p:grpSpPr>
        <p:sp>
          <p:nvSpPr>
            <p:cNvPr id="4" name="object 4"/>
            <p:cNvSpPr/>
            <p:nvPr/>
          </p:nvSpPr>
          <p:spPr>
            <a:xfrm>
              <a:off x="129196" y="485101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6539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709644"/>
              <a:ext cx="4349750" cy="2520950"/>
            </a:xfrm>
            <a:custGeom>
              <a:avLst/>
              <a:gdLst/>
              <a:ahLst/>
              <a:cxnLst/>
              <a:rect l="l" t="t" r="r" b="b"/>
              <a:pathLst>
                <a:path w="4349750" h="2520950">
                  <a:moveTo>
                    <a:pt x="4349657" y="0"/>
                  </a:moveTo>
                  <a:lnTo>
                    <a:pt x="0" y="0"/>
                  </a:lnTo>
                  <a:lnTo>
                    <a:pt x="0" y="2470028"/>
                  </a:lnTo>
                  <a:lnTo>
                    <a:pt x="4008" y="2489753"/>
                  </a:lnTo>
                  <a:lnTo>
                    <a:pt x="14922" y="2505906"/>
                  </a:lnTo>
                  <a:lnTo>
                    <a:pt x="31075" y="2516820"/>
                  </a:lnTo>
                  <a:lnTo>
                    <a:pt x="50800" y="2520829"/>
                  </a:lnTo>
                  <a:lnTo>
                    <a:pt x="4298856" y="2520829"/>
                  </a:lnTo>
                  <a:lnTo>
                    <a:pt x="4318581" y="2516820"/>
                  </a:lnTo>
                  <a:lnTo>
                    <a:pt x="4334734" y="2505906"/>
                  </a:lnTo>
                  <a:lnTo>
                    <a:pt x="4345648" y="2489753"/>
                  </a:lnTo>
                  <a:lnTo>
                    <a:pt x="4349657" y="247002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67404"/>
              <a:ext cx="0" cy="2631440"/>
            </a:xfrm>
            <a:custGeom>
              <a:avLst/>
              <a:gdLst/>
              <a:ahLst/>
              <a:cxnLst/>
              <a:rect l="l" t="t" r="r" b="b"/>
              <a:pathLst>
                <a:path h="2631440">
                  <a:moveTo>
                    <a:pt x="0" y="26313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54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542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529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36459"/>
              <a:ext cx="76809" cy="7680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7297" y="425155"/>
            <a:ext cx="3801110" cy="8312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Learning</a:t>
            </a:r>
            <a:r>
              <a:rPr sz="11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Agent</a:t>
            </a:r>
            <a:r>
              <a:rPr sz="11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Types: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310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r>
              <a:rPr sz="11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generator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suggests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actions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that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will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lead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to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new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informative</a:t>
            </a:r>
            <a:r>
              <a:rPr sz="1100" spc="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experiences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forces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exploration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stimulating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scenarios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447" y="1411170"/>
            <a:ext cx="2381181" cy="166128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82610" y="3100129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46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772"/>
            <a:ext cx="4349750" cy="1716405"/>
            <a:chOff x="129196" y="896772"/>
            <a:chExt cx="4349750" cy="1716405"/>
          </a:xfrm>
        </p:grpSpPr>
        <p:sp>
          <p:nvSpPr>
            <p:cNvPr id="4" name="object 4"/>
            <p:cNvSpPr/>
            <p:nvPr/>
          </p:nvSpPr>
          <p:spPr>
            <a:xfrm>
              <a:off x="129196" y="896772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706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21335"/>
              <a:ext cx="4349750" cy="1492250"/>
            </a:xfrm>
            <a:custGeom>
              <a:avLst/>
              <a:gdLst/>
              <a:ahLst/>
              <a:cxnLst/>
              <a:rect l="l" t="t" r="r" b="b"/>
              <a:pathLst>
                <a:path w="4349750" h="1492250">
                  <a:moveTo>
                    <a:pt x="4349657" y="0"/>
                  </a:moveTo>
                  <a:lnTo>
                    <a:pt x="0" y="0"/>
                  </a:lnTo>
                  <a:lnTo>
                    <a:pt x="0" y="1440838"/>
                  </a:lnTo>
                  <a:lnTo>
                    <a:pt x="4008" y="1460563"/>
                  </a:lnTo>
                  <a:lnTo>
                    <a:pt x="14922" y="1476716"/>
                  </a:lnTo>
                  <a:lnTo>
                    <a:pt x="31075" y="1487630"/>
                  </a:lnTo>
                  <a:lnTo>
                    <a:pt x="50800" y="1491639"/>
                  </a:lnTo>
                  <a:lnTo>
                    <a:pt x="4298856" y="1491639"/>
                  </a:lnTo>
                  <a:lnTo>
                    <a:pt x="4318581" y="1487630"/>
                  </a:lnTo>
                  <a:lnTo>
                    <a:pt x="4334734" y="1476716"/>
                  </a:lnTo>
                  <a:lnTo>
                    <a:pt x="4345648" y="1460563"/>
                  </a:lnTo>
                  <a:lnTo>
                    <a:pt x="4349657" y="14408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095"/>
              <a:ext cx="0" cy="1602740"/>
            </a:xfrm>
            <a:custGeom>
              <a:avLst/>
              <a:gdLst/>
              <a:ahLst/>
              <a:cxnLst/>
              <a:rect l="l" t="t" r="r" b="b"/>
              <a:pathLst>
                <a:path h="1602739">
                  <a:moveTo>
                    <a:pt x="0" y="1602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3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6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0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6921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55131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3343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43468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45" dirty="0"/>
              <a:t>Taxi</a:t>
            </a:r>
            <a:r>
              <a:rPr spc="-5" dirty="0"/>
              <a:t> </a:t>
            </a:r>
            <a:r>
              <a:rPr spc="-10" dirty="0"/>
              <a:t>Driving</a:t>
            </a:r>
          </a:p>
          <a:p>
            <a:pPr marL="289560" marR="12065">
              <a:lnSpc>
                <a:spcPct val="102699"/>
              </a:lnSpc>
              <a:spcBef>
                <a:spcPts val="335"/>
              </a:spcBef>
            </a:pPr>
            <a:r>
              <a:rPr dirty="0">
                <a:solidFill>
                  <a:srgbClr val="C3CDC3"/>
                </a:solidFill>
              </a:rPr>
              <a:t>After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taxi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makes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quick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left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turn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across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three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lanes,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E9"/>
                </a:solidFill>
              </a:rPr>
              <a:t>critic </a:t>
            </a:r>
            <a:r>
              <a:rPr dirty="0">
                <a:solidFill>
                  <a:srgbClr val="C3CDC3"/>
                </a:solidFill>
              </a:rPr>
              <a:t>observes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shocking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language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used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by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other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drivers.</a:t>
            </a:r>
          </a:p>
          <a:p>
            <a:pPr marL="289560" marR="286385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solidFill>
                  <a:srgbClr val="C3CDC3"/>
                </a:solidFill>
              </a:rPr>
              <a:t>From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this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experience,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learning</a:t>
            </a:r>
            <a:r>
              <a:rPr spc="-2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element</a:t>
            </a:r>
            <a:r>
              <a:rPr spc="-25" dirty="0">
                <a:solidFill>
                  <a:srgbClr val="C3CDE9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formulates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20" dirty="0">
                <a:solidFill>
                  <a:srgbClr val="C3CDC3"/>
                </a:solidFill>
              </a:rPr>
              <a:t>rule </a:t>
            </a:r>
            <a:r>
              <a:rPr spc="-10" dirty="0">
                <a:solidFill>
                  <a:srgbClr val="C3CDC3"/>
                </a:solidFill>
              </a:rPr>
              <a:t>saying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this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was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bad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action.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E9"/>
                </a:solidFill>
              </a:rPr>
              <a:t>performance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element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is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modified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by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adding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new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rule.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problem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generator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might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identify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certain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areas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behavior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in </a:t>
            </a:r>
            <a:r>
              <a:rPr dirty="0">
                <a:solidFill>
                  <a:srgbClr val="C3CDC3"/>
                </a:solidFill>
              </a:rPr>
              <a:t>need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improvement,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and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suggest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trying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out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brakes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on </a:t>
            </a:r>
            <a:r>
              <a:rPr spc="-10" dirty="0">
                <a:solidFill>
                  <a:srgbClr val="C3CDC3"/>
                </a:solidFill>
              </a:rPr>
              <a:t>different </a:t>
            </a:r>
            <a:r>
              <a:rPr dirty="0">
                <a:solidFill>
                  <a:srgbClr val="C3CDC3"/>
                </a:solidFill>
              </a:rPr>
              <a:t>road</a:t>
            </a:r>
            <a:r>
              <a:rPr spc="-10" dirty="0">
                <a:solidFill>
                  <a:srgbClr val="C3CDC3"/>
                </a:solidFill>
              </a:rPr>
              <a:t> surfaces</a:t>
            </a:r>
            <a:r>
              <a:rPr spc="-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under</a:t>
            </a:r>
            <a:r>
              <a:rPr spc="-10" dirty="0">
                <a:solidFill>
                  <a:srgbClr val="C3CDC3"/>
                </a:solidFill>
              </a:rPr>
              <a:t> different conditions.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772"/>
            <a:ext cx="4349750" cy="1716405"/>
            <a:chOff x="129196" y="896772"/>
            <a:chExt cx="4349750" cy="1716405"/>
          </a:xfrm>
        </p:grpSpPr>
        <p:sp>
          <p:nvSpPr>
            <p:cNvPr id="4" name="object 4"/>
            <p:cNvSpPr/>
            <p:nvPr/>
          </p:nvSpPr>
          <p:spPr>
            <a:xfrm>
              <a:off x="129196" y="896772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706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21335"/>
              <a:ext cx="4349750" cy="1492250"/>
            </a:xfrm>
            <a:custGeom>
              <a:avLst/>
              <a:gdLst/>
              <a:ahLst/>
              <a:cxnLst/>
              <a:rect l="l" t="t" r="r" b="b"/>
              <a:pathLst>
                <a:path w="4349750" h="1492250">
                  <a:moveTo>
                    <a:pt x="4349657" y="0"/>
                  </a:moveTo>
                  <a:lnTo>
                    <a:pt x="0" y="0"/>
                  </a:lnTo>
                  <a:lnTo>
                    <a:pt x="0" y="1440838"/>
                  </a:lnTo>
                  <a:lnTo>
                    <a:pt x="4008" y="1460563"/>
                  </a:lnTo>
                  <a:lnTo>
                    <a:pt x="14922" y="1476716"/>
                  </a:lnTo>
                  <a:lnTo>
                    <a:pt x="31075" y="1487630"/>
                  </a:lnTo>
                  <a:lnTo>
                    <a:pt x="50800" y="1491639"/>
                  </a:lnTo>
                  <a:lnTo>
                    <a:pt x="4298856" y="1491639"/>
                  </a:lnTo>
                  <a:lnTo>
                    <a:pt x="4318581" y="1487630"/>
                  </a:lnTo>
                  <a:lnTo>
                    <a:pt x="4334734" y="1476716"/>
                  </a:lnTo>
                  <a:lnTo>
                    <a:pt x="4345648" y="1460563"/>
                  </a:lnTo>
                  <a:lnTo>
                    <a:pt x="4349657" y="14408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095"/>
              <a:ext cx="0" cy="1602740"/>
            </a:xfrm>
            <a:custGeom>
              <a:avLst/>
              <a:gdLst/>
              <a:ahLst/>
              <a:cxnLst/>
              <a:rect l="l" t="t" r="r" b="b"/>
              <a:pathLst>
                <a:path h="1602739">
                  <a:moveTo>
                    <a:pt x="0" y="1602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3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6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0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6921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55131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3343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43468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45" dirty="0"/>
              <a:t>Taxi</a:t>
            </a:r>
            <a:r>
              <a:rPr spc="-5" dirty="0"/>
              <a:t> </a:t>
            </a:r>
            <a:r>
              <a:rPr spc="-10" dirty="0"/>
              <a:t>Driving</a:t>
            </a:r>
          </a:p>
          <a:p>
            <a:pPr marL="289560" marR="12065">
              <a:lnSpc>
                <a:spcPct val="102699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After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taxi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makes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quick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turn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across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three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lanes,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critic </a:t>
            </a:r>
            <a:r>
              <a:rPr dirty="0">
                <a:solidFill>
                  <a:srgbClr val="000000"/>
                </a:solidFill>
              </a:rPr>
              <a:t>observes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shocking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language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other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drivers.</a:t>
            </a:r>
          </a:p>
          <a:p>
            <a:pPr marL="289560" marR="286385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solidFill>
                  <a:srgbClr val="C3CDC3"/>
                </a:solidFill>
              </a:rPr>
              <a:t>From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this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experience,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learning</a:t>
            </a:r>
            <a:r>
              <a:rPr spc="-2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element</a:t>
            </a:r>
            <a:r>
              <a:rPr spc="-25" dirty="0">
                <a:solidFill>
                  <a:srgbClr val="C3CDE9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formulates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20" dirty="0">
                <a:solidFill>
                  <a:srgbClr val="C3CDC3"/>
                </a:solidFill>
              </a:rPr>
              <a:t>rule </a:t>
            </a:r>
            <a:r>
              <a:rPr spc="-10" dirty="0">
                <a:solidFill>
                  <a:srgbClr val="C3CDC3"/>
                </a:solidFill>
              </a:rPr>
              <a:t>saying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this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was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bad</a:t>
            </a:r>
            <a:r>
              <a:rPr spc="-3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action.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E9"/>
                </a:solidFill>
              </a:rPr>
              <a:t>performance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element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is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modified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by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adding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new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rule.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problem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generator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might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identify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certain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areas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behavior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in </a:t>
            </a:r>
            <a:r>
              <a:rPr dirty="0">
                <a:solidFill>
                  <a:srgbClr val="C3CDC3"/>
                </a:solidFill>
              </a:rPr>
              <a:t>need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improvement,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and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suggest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trying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out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brakes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on </a:t>
            </a:r>
            <a:r>
              <a:rPr spc="-10" dirty="0">
                <a:solidFill>
                  <a:srgbClr val="C3CDC3"/>
                </a:solidFill>
              </a:rPr>
              <a:t>different </a:t>
            </a:r>
            <a:r>
              <a:rPr dirty="0">
                <a:solidFill>
                  <a:srgbClr val="C3CDC3"/>
                </a:solidFill>
              </a:rPr>
              <a:t>road</a:t>
            </a:r>
            <a:r>
              <a:rPr spc="-10" dirty="0">
                <a:solidFill>
                  <a:srgbClr val="C3CDC3"/>
                </a:solidFill>
              </a:rPr>
              <a:t> surfaces</a:t>
            </a:r>
            <a:r>
              <a:rPr spc="-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under</a:t>
            </a:r>
            <a:r>
              <a:rPr spc="-10" dirty="0">
                <a:solidFill>
                  <a:srgbClr val="C3CDC3"/>
                </a:solidFill>
              </a:rPr>
              <a:t> different conditions.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772"/>
            <a:ext cx="4349750" cy="1716405"/>
            <a:chOff x="129196" y="896772"/>
            <a:chExt cx="4349750" cy="1716405"/>
          </a:xfrm>
        </p:grpSpPr>
        <p:sp>
          <p:nvSpPr>
            <p:cNvPr id="4" name="object 4"/>
            <p:cNvSpPr/>
            <p:nvPr/>
          </p:nvSpPr>
          <p:spPr>
            <a:xfrm>
              <a:off x="129196" y="896772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706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21335"/>
              <a:ext cx="4349750" cy="1492250"/>
            </a:xfrm>
            <a:custGeom>
              <a:avLst/>
              <a:gdLst/>
              <a:ahLst/>
              <a:cxnLst/>
              <a:rect l="l" t="t" r="r" b="b"/>
              <a:pathLst>
                <a:path w="4349750" h="1492250">
                  <a:moveTo>
                    <a:pt x="4349657" y="0"/>
                  </a:moveTo>
                  <a:lnTo>
                    <a:pt x="0" y="0"/>
                  </a:lnTo>
                  <a:lnTo>
                    <a:pt x="0" y="1440838"/>
                  </a:lnTo>
                  <a:lnTo>
                    <a:pt x="4008" y="1460563"/>
                  </a:lnTo>
                  <a:lnTo>
                    <a:pt x="14922" y="1476716"/>
                  </a:lnTo>
                  <a:lnTo>
                    <a:pt x="31075" y="1487630"/>
                  </a:lnTo>
                  <a:lnTo>
                    <a:pt x="50800" y="1491639"/>
                  </a:lnTo>
                  <a:lnTo>
                    <a:pt x="4298856" y="1491639"/>
                  </a:lnTo>
                  <a:lnTo>
                    <a:pt x="4318581" y="1487630"/>
                  </a:lnTo>
                  <a:lnTo>
                    <a:pt x="4334734" y="1476716"/>
                  </a:lnTo>
                  <a:lnTo>
                    <a:pt x="4345648" y="1460563"/>
                  </a:lnTo>
                  <a:lnTo>
                    <a:pt x="4349657" y="14408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095"/>
              <a:ext cx="0" cy="1602740"/>
            </a:xfrm>
            <a:custGeom>
              <a:avLst/>
              <a:gdLst/>
              <a:ahLst/>
              <a:cxnLst/>
              <a:rect l="l" t="t" r="r" b="b"/>
              <a:pathLst>
                <a:path h="1602739">
                  <a:moveTo>
                    <a:pt x="0" y="1602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3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6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0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6921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55131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3343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43468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45" dirty="0"/>
              <a:t>Taxi</a:t>
            </a:r>
            <a:r>
              <a:rPr spc="-5" dirty="0"/>
              <a:t> </a:t>
            </a:r>
            <a:r>
              <a:rPr spc="-10" dirty="0"/>
              <a:t>Driving</a:t>
            </a:r>
          </a:p>
          <a:p>
            <a:pPr marL="289560" marR="12065">
              <a:lnSpc>
                <a:spcPct val="102699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After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taxi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makes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quick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turn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across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three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lanes,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critic </a:t>
            </a:r>
            <a:r>
              <a:rPr dirty="0">
                <a:solidFill>
                  <a:srgbClr val="000000"/>
                </a:solidFill>
              </a:rPr>
              <a:t>observes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shocking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language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other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drivers.</a:t>
            </a:r>
          </a:p>
          <a:p>
            <a:pPr marL="289560" marR="286385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solidFill>
                  <a:srgbClr val="000000"/>
                </a:solidFill>
              </a:rPr>
              <a:t>From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experience,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learning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element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formulates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rule </a:t>
            </a:r>
            <a:r>
              <a:rPr spc="-10" dirty="0">
                <a:solidFill>
                  <a:srgbClr val="000000"/>
                </a:solidFill>
              </a:rPr>
              <a:t>saying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action.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E9"/>
                </a:solidFill>
              </a:rPr>
              <a:t>performance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element</a:t>
            </a:r>
            <a:r>
              <a:rPr spc="-35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is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modified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by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adding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new</a:t>
            </a:r>
            <a:r>
              <a:rPr spc="-3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rule.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problem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generator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might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identify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certain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areas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behavior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in </a:t>
            </a:r>
            <a:r>
              <a:rPr dirty="0">
                <a:solidFill>
                  <a:srgbClr val="C3CDC3"/>
                </a:solidFill>
              </a:rPr>
              <a:t>need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improvement,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and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suggest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trying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out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brakes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on </a:t>
            </a:r>
            <a:r>
              <a:rPr spc="-10" dirty="0">
                <a:solidFill>
                  <a:srgbClr val="C3CDC3"/>
                </a:solidFill>
              </a:rPr>
              <a:t>different </a:t>
            </a:r>
            <a:r>
              <a:rPr dirty="0">
                <a:solidFill>
                  <a:srgbClr val="C3CDC3"/>
                </a:solidFill>
              </a:rPr>
              <a:t>road</a:t>
            </a:r>
            <a:r>
              <a:rPr spc="-10" dirty="0">
                <a:solidFill>
                  <a:srgbClr val="C3CDC3"/>
                </a:solidFill>
              </a:rPr>
              <a:t> surfaces</a:t>
            </a:r>
            <a:r>
              <a:rPr spc="-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under</a:t>
            </a:r>
            <a:r>
              <a:rPr spc="-10" dirty="0">
                <a:solidFill>
                  <a:srgbClr val="C3CDC3"/>
                </a:solidFill>
              </a:rPr>
              <a:t> different conditions.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772"/>
            <a:ext cx="4349750" cy="1716405"/>
            <a:chOff x="129196" y="896772"/>
            <a:chExt cx="4349750" cy="1716405"/>
          </a:xfrm>
        </p:grpSpPr>
        <p:sp>
          <p:nvSpPr>
            <p:cNvPr id="4" name="object 4"/>
            <p:cNvSpPr/>
            <p:nvPr/>
          </p:nvSpPr>
          <p:spPr>
            <a:xfrm>
              <a:off x="129196" y="896772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706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21335"/>
              <a:ext cx="4349750" cy="1492250"/>
            </a:xfrm>
            <a:custGeom>
              <a:avLst/>
              <a:gdLst/>
              <a:ahLst/>
              <a:cxnLst/>
              <a:rect l="l" t="t" r="r" b="b"/>
              <a:pathLst>
                <a:path w="4349750" h="1492250">
                  <a:moveTo>
                    <a:pt x="4349657" y="0"/>
                  </a:moveTo>
                  <a:lnTo>
                    <a:pt x="0" y="0"/>
                  </a:lnTo>
                  <a:lnTo>
                    <a:pt x="0" y="1440838"/>
                  </a:lnTo>
                  <a:lnTo>
                    <a:pt x="4008" y="1460563"/>
                  </a:lnTo>
                  <a:lnTo>
                    <a:pt x="14922" y="1476716"/>
                  </a:lnTo>
                  <a:lnTo>
                    <a:pt x="31075" y="1487630"/>
                  </a:lnTo>
                  <a:lnTo>
                    <a:pt x="50800" y="1491639"/>
                  </a:lnTo>
                  <a:lnTo>
                    <a:pt x="4298856" y="1491639"/>
                  </a:lnTo>
                  <a:lnTo>
                    <a:pt x="4318581" y="1487630"/>
                  </a:lnTo>
                  <a:lnTo>
                    <a:pt x="4334734" y="1476716"/>
                  </a:lnTo>
                  <a:lnTo>
                    <a:pt x="4345648" y="1460563"/>
                  </a:lnTo>
                  <a:lnTo>
                    <a:pt x="4349657" y="14408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095"/>
              <a:ext cx="0" cy="1602740"/>
            </a:xfrm>
            <a:custGeom>
              <a:avLst/>
              <a:gdLst/>
              <a:ahLst/>
              <a:cxnLst/>
              <a:rect l="l" t="t" r="r" b="b"/>
              <a:pathLst>
                <a:path h="1602739">
                  <a:moveTo>
                    <a:pt x="0" y="1602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3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6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0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6921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55131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3343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43468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45" dirty="0"/>
              <a:t>Taxi</a:t>
            </a:r>
            <a:r>
              <a:rPr spc="-5" dirty="0"/>
              <a:t> </a:t>
            </a:r>
            <a:r>
              <a:rPr spc="-10" dirty="0"/>
              <a:t>Driving</a:t>
            </a:r>
          </a:p>
          <a:p>
            <a:pPr marL="289560" marR="12065">
              <a:lnSpc>
                <a:spcPct val="102699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After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taxi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makes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quick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turn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across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three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lanes,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critic </a:t>
            </a:r>
            <a:r>
              <a:rPr dirty="0">
                <a:solidFill>
                  <a:srgbClr val="000000"/>
                </a:solidFill>
              </a:rPr>
              <a:t>observes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shocking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language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other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drivers.</a:t>
            </a:r>
          </a:p>
          <a:p>
            <a:pPr marL="289560" marR="286385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solidFill>
                  <a:srgbClr val="000000"/>
                </a:solidFill>
              </a:rPr>
              <a:t>From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experience,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learning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element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formulates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rule </a:t>
            </a:r>
            <a:r>
              <a:rPr spc="-10" dirty="0">
                <a:solidFill>
                  <a:srgbClr val="000000"/>
                </a:solidFill>
              </a:rPr>
              <a:t>saying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action.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performance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element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modified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adding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new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rule.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>
                <a:solidFill>
                  <a:srgbClr val="C3CDC3"/>
                </a:solidFill>
              </a:rPr>
              <a:t>The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problem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E9"/>
                </a:solidFill>
              </a:rPr>
              <a:t>generator</a:t>
            </a:r>
            <a:r>
              <a:rPr spc="-40" dirty="0">
                <a:solidFill>
                  <a:srgbClr val="C3CDE9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might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identify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certain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areas</a:t>
            </a:r>
            <a:r>
              <a:rPr spc="-4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behavior</a:t>
            </a:r>
            <a:r>
              <a:rPr spc="-4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in </a:t>
            </a:r>
            <a:r>
              <a:rPr dirty="0">
                <a:solidFill>
                  <a:srgbClr val="C3CDC3"/>
                </a:solidFill>
              </a:rPr>
              <a:t>need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of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improvement,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and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suggest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trying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out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the</a:t>
            </a:r>
            <a:r>
              <a:rPr spc="-25" dirty="0">
                <a:solidFill>
                  <a:srgbClr val="C3CDC3"/>
                </a:solidFill>
              </a:rPr>
              <a:t> </a:t>
            </a:r>
            <a:r>
              <a:rPr spc="-10" dirty="0">
                <a:solidFill>
                  <a:srgbClr val="C3CDC3"/>
                </a:solidFill>
              </a:rPr>
              <a:t>brakes</a:t>
            </a:r>
            <a:r>
              <a:rPr spc="-20" dirty="0">
                <a:solidFill>
                  <a:srgbClr val="C3CDC3"/>
                </a:solidFill>
              </a:rPr>
              <a:t> </a:t>
            </a:r>
            <a:r>
              <a:rPr spc="-25" dirty="0">
                <a:solidFill>
                  <a:srgbClr val="C3CDC3"/>
                </a:solidFill>
              </a:rPr>
              <a:t>on </a:t>
            </a:r>
            <a:r>
              <a:rPr spc="-10" dirty="0">
                <a:solidFill>
                  <a:srgbClr val="C3CDC3"/>
                </a:solidFill>
              </a:rPr>
              <a:t>different </a:t>
            </a:r>
            <a:r>
              <a:rPr dirty="0">
                <a:solidFill>
                  <a:srgbClr val="C3CDC3"/>
                </a:solidFill>
              </a:rPr>
              <a:t>road</a:t>
            </a:r>
            <a:r>
              <a:rPr spc="-10" dirty="0">
                <a:solidFill>
                  <a:srgbClr val="C3CDC3"/>
                </a:solidFill>
              </a:rPr>
              <a:t> surfaces</a:t>
            </a:r>
            <a:r>
              <a:rPr spc="-5" dirty="0">
                <a:solidFill>
                  <a:srgbClr val="C3CDC3"/>
                </a:solidFill>
              </a:rPr>
              <a:t> </a:t>
            </a:r>
            <a:r>
              <a:rPr dirty="0">
                <a:solidFill>
                  <a:srgbClr val="C3CDC3"/>
                </a:solidFill>
              </a:rPr>
              <a:t>under</a:t>
            </a:r>
            <a:r>
              <a:rPr spc="-10" dirty="0">
                <a:solidFill>
                  <a:srgbClr val="C3CDC3"/>
                </a:solidFill>
              </a:rPr>
              <a:t> different conditions.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Agent</a:t>
            </a:r>
            <a:r>
              <a:rPr spc="45" dirty="0"/>
              <a:t> </a:t>
            </a:r>
            <a:r>
              <a:rPr dirty="0"/>
              <a:t>Types:</a:t>
            </a:r>
            <a:r>
              <a:rPr spc="15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96772"/>
            <a:ext cx="4349750" cy="1716405"/>
            <a:chOff x="129196" y="896772"/>
            <a:chExt cx="4349750" cy="1716405"/>
          </a:xfrm>
        </p:grpSpPr>
        <p:sp>
          <p:nvSpPr>
            <p:cNvPr id="4" name="object 4"/>
            <p:cNvSpPr/>
            <p:nvPr/>
          </p:nvSpPr>
          <p:spPr>
            <a:xfrm>
              <a:off x="129196" y="896772"/>
              <a:ext cx="4349750" cy="193040"/>
            </a:xfrm>
            <a:custGeom>
              <a:avLst/>
              <a:gdLst/>
              <a:ahLst/>
              <a:cxnLst/>
              <a:rect l="l" t="t" r="r" b="b"/>
              <a:pathLst>
                <a:path w="4349750" h="19304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946"/>
                  </a:lnTo>
                  <a:lnTo>
                    <a:pt x="4349657" y="192946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107706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121335"/>
              <a:ext cx="4349750" cy="1492250"/>
            </a:xfrm>
            <a:custGeom>
              <a:avLst/>
              <a:gdLst/>
              <a:ahLst/>
              <a:cxnLst/>
              <a:rect l="l" t="t" r="r" b="b"/>
              <a:pathLst>
                <a:path w="4349750" h="1492250">
                  <a:moveTo>
                    <a:pt x="4349657" y="0"/>
                  </a:moveTo>
                  <a:lnTo>
                    <a:pt x="0" y="0"/>
                  </a:lnTo>
                  <a:lnTo>
                    <a:pt x="0" y="1440838"/>
                  </a:lnTo>
                  <a:lnTo>
                    <a:pt x="4008" y="1460563"/>
                  </a:lnTo>
                  <a:lnTo>
                    <a:pt x="14922" y="1476716"/>
                  </a:lnTo>
                  <a:lnTo>
                    <a:pt x="31075" y="1487630"/>
                  </a:lnTo>
                  <a:lnTo>
                    <a:pt x="50800" y="1491639"/>
                  </a:lnTo>
                  <a:lnTo>
                    <a:pt x="4298856" y="1491639"/>
                  </a:lnTo>
                  <a:lnTo>
                    <a:pt x="4318581" y="1487630"/>
                  </a:lnTo>
                  <a:lnTo>
                    <a:pt x="4334734" y="1476716"/>
                  </a:lnTo>
                  <a:lnTo>
                    <a:pt x="4345648" y="1460563"/>
                  </a:lnTo>
                  <a:lnTo>
                    <a:pt x="4349657" y="1440838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979095"/>
              <a:ext cx="0" cy="1602740"/>
            </a:xfrm>
            <a:custGeom>
              <a:avLst/>
              <a:gdLst/>
              <a:ahLst/>
              <a:cxnLst/>
              <a:rect l="l" t="t" r="r" b="b"/>
              <a:pathLst>
                <a:path h="1602739">
                  <a:moveTo>
                    <a:pt x="0" y="1602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9663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9536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940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16921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0" y="1551317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933435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2143468"/>
              <a:ext cx="76809" cy="76809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45" dirty="0"/>
              <a:t>Taxi</a:t>
            </a:r>
            <a:r>
              <a:rPr spc="-5" dirty="0"/>
              <a:t> </a:t>
            </a:r>
            <a:r>
              <a:rPr spc="-10" dirty="0"/>
              <a:t>Driving</a:t>
            </a:r>
          </a:p>
          <a:p>
            <a:pPr marL="289560" marR="12065">
              <a:lnSpc>
                <a:spcPct val="102699"/>
              </a:lnSpc>
              <a:spcBef>
                <a:spcPts val="335"/>
              </a:spcBef>
            </a:pPr>
            <a:r>
              <a:rPr dirty="0">
                <a:solidFill>
                  <a:srgbClr val="000000"/>
                </a:solidFill>
              </a:rPr>
              <a:t>After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taxi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makes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quick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turn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across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three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lanes,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critic </a:t>
            </a:r>
            <a:r>
              <a:rPr dirty="0">
                <a:solidFill>
                  <a:srgbClr val="000000"/>
                </a:solidFill>
              </a:rPr>
              <a:t>observes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shocking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language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other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drivers.</a:t>
            </a:r>
          </a:p>
          <a:p>
            <a:pPr marL="289560" marR="286385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solidFill>
                  <a:srgbClr val="000000"/>
                </a:solidFill>
              </a:rPr>
              <a:t>From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experience,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learning</a:t>
            </a:r>
            <a:r>
              <a:rPr spc="-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element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formulates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rule </a:t>
            </a:r>
            <a:r>
              <a:rPr spc="-10" dirty="0">
                <a:solidFill>
                  <a:srgbClr val="000000"/>
                </a:solidFill>
              </a:rPr>
              <a:t>saying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this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action.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performance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element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modified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adding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new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rule.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problem</a:t>
            </a:r>
            <a:r>
              <a:rPr spc="-4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generator</a:t>
            </a:r>
            <a:r>
              <a:rPr spc="-4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might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identify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certain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areas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behavior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in </a:t>
            </a:r>
            <a:r>
              <a:rPr dirty="0">
                <a:solidFill>
                  <a:srgbClr val="000000"/>
                </a:solidFill>
              </a:rPr>
              <a:t>need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improvement,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suggest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trying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out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brakes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on </a:t>
            </a:r>
            <a:r>
              <a:rPr spc="-10" dirty="0">
                <a:solidFill>
                  <a:srgbClr val="000000"/>
                </a:solidFill>
              </a:rPr>
              <a:t>different </a:t>
            </a:r>
            <a:r>
              <a:rPr dirty="0">
                <a:solidFill>
                  <a:srgbClr val="000000"/>
                </a:solidFill>
              </a:rPr>
              <a:t>road</a:t>
            </a:r>
            <a:r>
              <a:rPr spc="-10" dirty="0">
                <a:solidFill>
                  <a:srgbClr val="000000"/>
                </a:solidFill>
              </a:rPr>
              <a:t> surfaces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under</a:t>
            </a:r>
            <a:r>
              <a:rPr spc="-10" dirty="0">
                <a:solidFill>
                  <a:srgbClr val="000000"/>
                </a:solidFill>
              </a:rPr>
              <a:t> different conditions.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47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34" y="735190"/>
            <a:ext cx="188391" cy="188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7" y="7515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60" y="728851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4" y="1117841"/>
            <a:ext cx="188391" cy="188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387" y="113417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60" y="1111515"/>
            <a:ext cx="100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Rational Agents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34" y="1500505"/>
            <a:ext cx="188391" cy="1883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5387" y="15157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560" y="1494166"/>
            <a:ext cx="1191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034" y="1883156"/>
            <a:ext cx="188391" cy="188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87" y="18994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560" y="1876830"/>
            <a:ext cx="1529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Task-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Environment</a:t>
            </a:r>
            <a:r>
              <a:rPr sz="1100" spc="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034" y="2265819"/>
            <a:ext cx="188391" cy="188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387" y="22793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560" y="2259493"/>
            <a:ext cx="786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Agent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034" y="2648483"/>
            <a:ext cx="188391" cy="188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75387" y="26637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48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6560" y="2642144"/>
            <a:ext cx="1231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Environment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Three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ways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states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transitions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between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atomic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:</a:t>
            </a:r>
            <a:r>
              <a:rPr sz="1000" spc="4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state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factored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consists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structured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E9E6F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9E6F2"/>
                </a:solidFill>
                <a:latin typeface="Arial"/>
                <a:cs typeface="Arial"/>
              </a:rPr>
              <a:t>objects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,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each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which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may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E5E5F1"/>
                </a:solidFill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its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own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well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7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E5E5F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E5E5F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E5F1"/>
                </a:solidFill>
                <a:latin typeface="Arial"/>
                <a:cs typeface="Arial"/>
              </a:rPr>
              <a:t>other</a:t>
            </a:r>
            <a:r>
              <a:rPr sz="1000" spc="-10" dirty="0">
                <a:solidFill>
                  <a:srgbClr val="E5E5F1"/>
                </a:solidFill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increasing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atomic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factored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consists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structured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objects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each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which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own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well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other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increasing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atomic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factored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consists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structured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objects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each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which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own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well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other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increasing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atomic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factored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consists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structured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:</a:t>
            </a:r>
            <a:r>
              <a:rPr sz="1000" spc="4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state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5CDD7"/>
                </a:solidFill>
                <a:latin typeface="Arial"/>
                <a:cs typeface="Arial"/>
              </a:rPr>
              <a:t>objects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,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each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which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may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7C7D2"/>
                </a:solidFill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of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its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own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well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as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F8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7C7D2"/>
                </a:solidFill>
                <a:latin typeface="Arial"/>
                <a:cs typeface="Arial"/>
              </a:rPr>
              <a:t>other</a:t>
            </a:r>
            <a:r>
              <a:rPr sz="1000" spc="-10" dirty="0">
                <a:solidFill>
                  <a:srgbClr val="C7C7D2"/>
                </a:solidFill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increasing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atomic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factored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consists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structured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objects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10" dirty="0"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solidFill>
                  <a:srgbClr val="C7C7D2"/>
                </a:solidFill>
                <a:latin typeface="Arial"/>
                <a:cs typeface="Arial"/>
              </a:rPr>
              <a:t>increasing</a:t>
            </a:r>
            <a:r>
              <a:rPr sz="1100" spc="-35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F8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C7C7F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7C7F8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atomic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factored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consists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structured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objects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10" dirty="0"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latin typeface="Arial"/>
                <a:cs typeface="Arial"/>
              </a:rPr>
              <a:t>increasing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complexity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reality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represented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7C7D2"/>
                </a:solidFill>
                <a:latin typeface="Arial"/>
                <a:cs typeface="Arial"/>
              </a:rPr>
              <a:t>at</a:t>
            </a:r>
            <a:r>
              <a:rPr sz="1100" spc="-30" dirty="0">
                <a:solidFill>
                  <a:srgbClr val="C7C7D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E5CDD7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E5CDD7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E5CDD7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Representations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432091"/>
            <a:ext cx="4349750" cy="3011805"/>
            <a:chOff x="129196" y="432091"/>
            <a:chExt cx="4349750" cy="3011805"/>
          </a:xfrm>
        </p:grpSpPr>
        <p:sp>
          <p:nvSpPr>
            <p:cNvPr id="4" name="object 4"/>
            <p:cNvSpPr/>
            <p:nvPr/>
          </p:nvSpPr>
          <p:spPr>
            <a:xfrm>
              <a:off x="129196" y="432091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5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613905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658161"/>
              <a:ext cx="4349750" cy="2785745"/>
            </a:xfrm>
            <a:custGeom>
              <a:avLst/>
              <a:gdLst/>
              <a:ahLst/>
              <a:cxnLst/>
              <a:rect l="l" t="t" r="r" b="b"/>
              <a:pathLst>
                <a:path w="4349750" h="2785745">
                  <a:moveTo>
                    <a:pt x="4349657" y="0"/>
                  </a:moveTo>
                  <a:lnTo>
                    <a:pt x="0" y="0"/>
                  </a:lnTo>
                  <a:lnTo>
                    <a:pt x="0" y="2734846"/>
                  </a:lnTo>
                  <a:lnTo>
                    <a:pt x="4008" y="2754571"/>
                  </a:lnTo>
                  <a:lnTo>
                    <a:pt x="14922" y="2770724"/>
                  </a:lnTo>
                  <a:lnTo>
                    <a:pt x="31075" y="2781638"/>
                  </a:lnTo>
                  <a:lnTo>
                    <a:pt x="50800" y="2785646"/>
                  </a:lnTo>
                  <a:lnTo>
                    <a:pt x="4298856" y="2785646"/>
                  </a:lnTo>
                  <a:lnTo>
                    <a:pt x="4318581" y="2781638"/>
                  </a:lnTo>
                  <a:lnTo>
                    <a:pt x="4334734" y="2770724"/>
                  </a:lnTo>
                  <a:lnTo>
                    <a:pt x="4345648" y="2754571"/>
                  </a:lnTo>
                  <a:lnTo>
                    <a:pt x="4349657" y="2734846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514397"/>
              <a:ext cx="0" cy="2898140"/>
            </a:xfrm>
            <a:custGeom>
              <a:avLst/>
              <a:gdLst/>
              <a:ahLst/>
              <a:cxnLst/>
              <a:rect l="l" t="t" r="r" b="b"/>
              <a:pathLst>
                <a:path h="2898140">
                  <a:moveTo>
                    <a:pt x="0" y="28976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5016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889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762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70286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94943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34" y="1046772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98600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54552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1755559"/>
              <a:ext cx="76809" cy="768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7297" y="376997"/>
            <a:ext cx="408241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of states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transitions</a:t>
            </a:r>
            <a:endParaRPr sz="1100">
              <a:latin typeface="Arial"/>
              <a:cs typeface="Arial"/>
            </a:endParaRPr>
          </a:p>
          <a:p>
            <a:pPr marL="566420" marR="5080" indent="-277495">
              <a:lnSpc>
                <a:spcPct val="106400"/>
              </a:lnSpc>
              <a:spcBef>
                <a:spcPts val="250"/>
              </a:spcBef>
            </a:pP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transitions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them: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atomic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black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box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no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internal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structure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factored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consists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vector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0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 marR="130810">
              <a:lnSpc>
                <a:spcPts val="1200"/>
              </a:lnSpc>
              <a:spcBef>
                <a:spcPts val="3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structured</a:t>
            </a:r>
            <a:r>
              <a:rPr sz="1000" dirty="0">
                <a:latin typeface="Arial"/>
                <a:cs typeface="Arial"/>
              </a:rPr>
              <a:t>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includes</a:t>
            </a:r>
            <a:r>
              <a:rPr sz="1000" spc="-1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92626"/>
                </a:solidFill>
                <a:latin typeface="Arial"/>
                <a:cs typeface="Arial"/>
              </a:rPr>
              <a:t>objects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have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relationships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10" dirty="0">
                <a:latin typeface="Arial"/>
                <a:cs typeface="Arial"/>
              </a:rPr>
              <a:t> objects</a:t>
            </a:r>
            <a:endParaRPr sz="1000">
              <a:latin typeface="Arial"/>
              <a:cs typeface="Arial"/>
            </a:endParaRPr>
          </a:p>
          <a:p>
            <a:pPr marL="289560" marR="188595">
              <a:lnSpc>
                <a:spcPts val="1650"/>
              </a:lnSpc>
              <a:spcBef>
                <a:spcPts val="80"/>
              </a:spcBef>
            </a:pPr>
            <a:r>
              <a:rPr sz="1100" spc="-10" dirty="0">
                <a:latin typeface="Arial"/>
                <a:cs typeface="Arial"/>
              </a:rPr>
              <a:t>increasing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expressive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power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computational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complexity </a:t>
            </a:r>
            <a:r>
              <a:rPr sz="1100" dirty="0">
                <a:latin typeface="Arial"/>
                <a:cs typeface="Arial"/>
              </a:rPr>
              <a:t>reality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different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levels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9" y="1996474"/>
            <a:ext cx="3610616" cy="128932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2610" y="3313453"/>
            <a:ext cx="938530" cy="102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(</a:t>
            </a:r>
            <a:r>
              <a:rPr sz="450" i="1" spc="-25" dirty="0">
                <a:solidFill>
                  <a:srgbClr val="9300D3"/>
                </a:solidFill>
                <a:latin typeface="Arial"/>
                <a:cs typeface="Arial"/>
              </a:rPr>
              <a:t>O</a:t>
            </a:r>
            <a:r>
              <a:rPr sz="450" spc="-25" dirty="0">
                <a:solidFill>
                  <a:srgbClr val="9300D3"/>
                </a:solidFill>
                <a:latin typeface="Arial"/>
                <a:cs typeface="Arial"/>
              </a:rPr>
              <a:t>c</a:t>
            </a:r>
            <a:r>
              <a:rPr sz="450" spc="2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S.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Russell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&amp;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9300D3"/>
                </a:solidFill>
                <a:latin typeface="Arial"/>
                <a:cs typeface="Arial"/>
              </a:rPr>
              <a:t>P.</a:t>
            </a:r>
            <a:r>
              <a:rPr sz="450" spc="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300D3"/>
                </a:solidFill>
                <a:latin typeface="Arial"/>
                <a:cs typeface="Arial"/>
              </a:rPr>
              <a:t>Norwig,</a:t>
            </a:r>
            <a:r>
              <a:rPr sz="450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9300D3"/>
                </a:solidFill>
                <a:latin typeface="Arial"/>
                <a:cs typeface="Arial"/>
              </a:rPr>
              <a:t>AIMA</a:t>
            </a:r>
            <a:r>
              <a:rPr sz="450" spc="-20" dirty="0"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131" y="3344092"/>
            <a:ext cx="240665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</a:rPr>
              <a:t>49</a:t>
            </a:r>
            <a:r>
              <a:rPr sz="600" spc="-70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0000"/>
                </a:solidFill>
                <a:latin typeface="Arial"/>
                <a:cs typeface="Arial"/>
              </a:rPr>
              <a:t>/</a:t>
            </a:r>
            <a:r>
              <a:rPr sz="600" spc="-65" dirty="0">
                <a:solidFill>
                  <a:srgbClr val="8E0000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</a:rPr>
              <a:t>52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Representations</a:t>
            </a:r>
            <a:r>
              <a:rPr spc="204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617168"/>
            <a:ext cx="4349750" cy="2415540"/>
            <a:chOff x="129196" y="617168"/>
            <a:chExt cx="4349750" cy="2415540"/>
          </a:xfrm>
        </p:grpSpPr>
        <p:sp>
          <p:nvSpPr>
            <p:cNvPr id="4" name="object 4"/>
            <p:cNvSpPr/>
            <p:nvPr/>
          </p:nvSpPr>
          <p:spPr>
            <a:xfrm>
              <a:off x="129196" y="617168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7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795794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840045"/>
              <a:ext cx="4349750" cy="2192655"/>
            </a:xfrm>
            <a:custGeom>
              <a:avLst/>
              <a:gdLst/>
              <a:ahLst/>
              <a:cxnLst/>
              <a:rect l="l" t="t" r="r" b="b"/>
              <a:pathLst>
                <a:path w="4349750" h="2192655">
                  <a:moveTo>
                    <a:pt x="4349657" y="0"/>
                  </a:moveTo>
                  <a:lnTo>
                    <a:pt x="0" y="0"/>
                  </a:lnTo>
                  <a:lnTo>
                    <a:pt x="0" y="2141533"/>
                  </a:lnTo>
                  <a:lnTo>
                    <a:pt x="4008" y="2161258"/>
                  </a:lnTo>
                  <a:lnTo>
                    <a:pt x="14922" y="2177411"/>
                  </a:lnTo>
                  <a:lnTo>
                    <a:pt x="31075" y="2188325"/>
                  </a:lnTo>
                  <a:lnTo>
                    <a:pt x="50800" y="2192334"/>
                  </a:lnTo>
                  <a:lnTo>
                    <a:pt x="4298856" y="2192334"/>
                  </a:lnTo>
                  <a:lnTo>
                    <a:pt x="4318581" y="2188325"/>
                  </a:lnTo>
                  <a:lnTo>
                    <a:pt x="4334734" y="2177411"/>
                  </a:lnTo>
                  <a:lnTo>
                    <a:pt x="4345648" y="2161258"/>
                  </a:lnTo>
                  <a:lnTo>
                    <a:pt x="4349657" y="2141533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699468"/>
              <a:ext cx="0" cy="2301240"/>
            </a:xfrm>
            <a:custGeom>
              <a:avLst/>
              <a:gdLst/>
              <a:ahLst/>
              <a:cxnLst/>
              <a:rect l="l" t="t" r="r" b="b"/>
              <a:pathLst>
                <a:path h="2301240">
                  <a:moveTo>
                    <a:pt x="0" y="230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6867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6740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6613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887945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080008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254861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446936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839417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010" y="2201278"/>
              <a:ext cx="76809" cy="768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93353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545181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034" y="2697010"/>
              <a:ext cx="61874" cy="618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67297" y="555673"/>
            <a:ext cx="4171315" cy="24441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Atomic</a:t>
            </a: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indivisible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no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internal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structure</a:t>
            </a:r>
            <a:endParaRPr sz="1000">
              <a:latin typeface="Arial"/>
              <a:cs typeface="Arial"/>
            </a:endParaRPr>
          </a:p>
          <a:p>
            <a:pPr marR="610235" algn="r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state: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collection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discrete</a:t>
            </a:r>
            <a:r>
              <a:rPr sz="1100" spc="-2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state</a:t>
            </a:r>
            <a:r>
              <a:rPr sz="1100" spc="-2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R="626110" algn="r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10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find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driving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routes:</a:t>
            </a:r>
            <a:r>
              <a:rPr sz="1000" spc="100" dirty="0"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6300"/>
                </a:solidFill>
                <a:latin typeface="Source Sans 3"/>
                <a:cs typeface="Source Sans 3"/>
              </a:rPr>
              <a:t>{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Trento,</a:t>
            </a:r>
            <a:r>
              <a:rPr sz="1000" i="1" spc="-9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Rovereto,</a:t>
            </a:r>
            <a:r>
              <a:rPr sz="1000" i="1" spc="-9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006300"/>
                </a:solidFill>
                <a:latin typeface="Arial"/>
                <a:cs typeface="Arial"/>
              </a:rPr>
              <a:t>Verona,</a:t>
            </a:r>
            <a:r>
              <a:rPr sz="1000" i="1" spc="-9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006300"/>
                </a:solidFill>
                <a:latin typeface="Arial"/>
                <a:cs typeface="Arial"/>
              </a:rPr>
              <a:t>...</a:t>
            </a:r>
            <a:r>
              <a:rPr sz="1000" i="1" spc="30" dirty="0">
                <a:solidFill>
                  <a:srgbClr val="006300"/>
                </a:solidFill>
                <a:latin typeface="Source Sans 3"/>
                <a:cs typeface="Source Sans 3"/>
              </a:rPr>
              <a:t>}</a:t>
            </a:r>
            <a:endParaRPr sz="1000">
              <a:latin typeface="Source Sans 3"/>
              <a:cs typeface="Source Sans 3"/>
            </a:endParaRPr>
          </a:p>
          <a:p>
            <a:pPr marL="289560" marR="5080">
              <a:lnSpc>
                <a:spcPts val="1650"/>
              </a:lnSpc>
              <a:spcBef>
                <a:spcPts val="35"/>
              </a:spcBef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70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property: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identical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another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very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high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level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abstraction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50"/>
              </a:lnSpc>
            </a:pP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55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lots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details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ignored</a:t>
            </a:r>
            <a:endParaRPr sz="1100">
              <a:latin typeface="Arial"/>
              <a:cs typeface="Arial"/>
            </a:endParaRPr>
          </a:p>
          <a:p>
            <a:pPr marL="566420" marR="2072639" indent="-277495">
              <a:lnSpc>
                <a:spcPct val="104200"/>
              </a:lnSpc>
              <a:spcBef>
                <a:spcPts val="114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underlying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search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game-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playing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hidden</a:t>
            </a:r>
            <a:r>
              <a:rPr sz="1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Markov</a:t>
            </a:r>
            <a:r>
              <a:rPr sz="10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models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Markov</a:t>
            </a:r>
            <a:r>
              <a:rPr sz="1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decision</a:t>
            </a:r>
            <a:r>
              <a:rPr sz="10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processes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54"/>
              </a:spcBef>
            </a:pP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atomic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representations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treat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such)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50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Representations</a:t>
            </a:r>
            <a:r>
              <a:rPr spc="204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360095"/>
            <a:ext cx="4349750" cy="3052445"/>
            <a:chOff x="129196" y="360095"/>
            <a:chExt cx="4349750" cy="3052445"/>
          </a:xfrm>
        </p:grpSpPr>
        <p:sp>
          <p:nvSpPr>
            <p:cNvPr id="4" name="object 4"/>
            <p:cNvSpPr/>
            <p:nvPr/>
          </p:nvSpPr>
          <p:spPr>
            <a:xfrm>
              <a:off x="129196" y="360095"/>
              <a:ext cx="4349750" cy="191770"/>
            </a:xfrm>
            <a:custGeom>
              <a:avLst/>
              <a:gdLst/>
              <a:ahLst/>
              <a:cxnLst/>
              <a:rect l="l" t="t" r="r" b="b"/>
              <a:pathLst>
                <a:path w="4349750" h="19177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4349657" y="191282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538721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582975"/>
              <a:ext cx="4349750" cy="2829560"/>
            </a:xfrm>
            <a:custGeom>
              <a:avLst/>
              <a:gdLst/>
              <a:ahLst/>
              <a:cxnLst/>
              <a:rect l="l" t="t" r="r" b="b"/>
              <a:pathLst>
                <a:path w="4349750" h="2829560">
                  <a:moveTo>
                    <a:pt x="4349657" y="0"/>
                  </a:moveTo>
                  <a:lnTo>
                    <a:pt x="0" y="0"/>
                  </a:lnTo>
                  <a:lnTo>
                    <a:pt x="0" y="2778219"/>
                  </a:lnTo>
                  <a:lnTo>
                    <a:pt x="4008" y="2797944"/>
                  </a:lnTo>
                  <a:lnTo>
                    <a:pt x="14922" y="2814097"/>
                  </a:lnTo>
                  <a:lnTo>
                    <a:pt x="31075" y="2825011"/>
                  </a:lnTo>
                  <a:lnTo>
                    <a:pt x="50800" y="2829019"/>
                  </a:lnTo>
                  <a:lnTo>
                    <a:pt x="4298856" y="2829019"/>
                  </a:lnTo>
                  <a:lnTo>
                    <a:pt x="4318581" y="2825011"/>
                  </a:lnTo>
                  <a:lnTo>
                    <a:pt x="4334734" y="2814097"/>
                  </a:lnTo>
                  <a:lnTo>
                    <a:pt x="4345648" y="2797944"/>
                  </a:lnTo>
                  <a:lnTo>
                    <a:pt x="4349657" y="277821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442398"/>
              <a:ext cx="0" cy="2938145"/>
            </a:xfrm>
            <a:custGeom>
              <a:avLst/>
              <a:gdLst/>
              <a:ahLst/>
              <a:cxnLst/>
              <a:rect l="l" t="t" r="r" b="b"/>
              <a:pathLst>
                <a:path h="2938145">
                  <a:moveTo>
                    <a:pt x="0" y="293784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4296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4169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4042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630872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822947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997801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34" y="1189862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0" y="1364716"/>
              <a:ext cx="76809" cy="768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1556791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1708619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1010" y="2055545"/>
              <a:ext cx="76809" cy="768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010" y="2437650"/>
              <a:ext cx="76809" cy="76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1010" y="2627439"/>
              <a:ext cx="76809" cy="768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3034" y="2819514"/>
              <a:ext cx="61874" cy="618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3034" y="2971342"/>
              <a:ext cx="61874" cy="61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3034" y="3123171"/>
              <a:ext cx="61874" cy="618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3034" y="3275012"/>
              <a:ext cx="61874" cy="618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67297" y="298625"/>
            <a:ext cx="4170679" cy="30791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2619375" algn="ctr">
              <a:lnSpc>
                <a:spcPct val="100000"/>
              </a:lnSpc>
              <a:spcBef>
                <a:spcPts val="459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Factored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</a:t>
            </a:r>
            <a:endParaRPr sz="1100">
              <a:latin typeface="Arial"/>
              <a:cs typeface="Arial"/>
            </a:endParaRPr>
          </a:p>
          <a:p>
            <a:pPr marL="185420" algn="ctr">
              <a:lnSpc>
                <a:spcPct val="100000"/>
              </a:lnSpc>
              <a:spcBef>
                <a:spcPts val="360"/>
              </a:spcBef>
            </a:pP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vector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R="779780" algn="ctr">
              <a:lnSpc>
                <a:spcPct val="100000"/>
              </a:lnSpc>
              <a:spcBef>
                <a:spcPts val="175"/>
              </a:spcBef>
            </a:pPr>
            <a:r>
              <a:rPr sz="1000" spc="10" dirty="0">
                <a:latin typeface="Arial"/>
                <a:cs typeface="Arial"/>
              </a:rPr>
              <a:t>Ex:</a:t>
            </a:r>
            <a:r>
              <a:rPr sz="1000" spc="145" dirty="0"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spc="10" dirty="0">
                <a:solidFill>
                  <a:srgbClr val="006300"/>
                </a:solidFill>
                <a:latin typeface="Arial"/>
                <a:cs typeface="Arial"/>
              </a:rPr>
              <a:t>zone,</a:t>
            </a:r>
            <a:r>
              <a:rPr sz="1000" i="1" spc="-7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006300"/>
                </a:solidFill>
                <a:latin typeface="Source Sans 3"/>
                <a:cs typeface="Source Sans 3"/>
              </a:rPr>
              <a:t>{</a:t>
            </a:r>
            <a:r>
              <a:rPr sz="1000" i="1" spc="45" dirty="0">
                <a:solidFill>
                  <a:srgbClr val="006300"/>
                </a:solidFill>
                <a:latin typeface="Arial"/>
                <a:cs typeface="Arial"/>
              </a:rPr>
              <a:t>dirty,</a:t>
            </a:r>
            <a:r>
              <a:rPr sz="1000" i="1" spc="-7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6300"/>
                </a:solidFill>
                <a:latin typeface="Arial"/>
                <a:cs typeface="Arial"/>
              </a:rPr>
              <a:t>clean</a:t>
            </a:r>
            <a:r>
              <a:rPr sz="1000" i="1" spc="10" dirty="0">
                <a:solidFill>
                  <a:srgbClr val="006300"/>
                </a:solidFill>
                <a:latin typeface="Source Sans 3"/>
                <a:cs typeface="Source Sans 3"/>
              </a:rPr>
              <a:t>})</a:t>
            </a:r>
            <a:r>
              <a:rPr sz="1000" spc="10" dirty="0">
                <a:latin typeface="Arial"/>
                <a:cs typeface="Arial"/>
              </a:rPr>
              <a:t>,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spc="10" dirty="0">
                <a:solidFill>
                  <a:srgbClr val="006300"/>
                </a:solidFill>
                <a:latin typeface="Arial"/>
                <a:cs typeface="Arial"/>
              </a:rPr>
              <a:t>town,</a:t>
            </a:r>
            <a:r>
              <a:rPr sz="1000" i="1" spc="-7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speed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)</a:t>
            </a:r>
            <a:endParaRPr sz="1000">
              <a:latin typeface="Source Sans 3"/>
              <a:cs typeface="Source Sans 3"/>
            </a:endParaRPr>
          </a:p>
          <a:p>
            <a:pPr marR="1298575" algn="ctr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State: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combination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attribute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R="1345565" algn="ctr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200" dirty="0"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A,</a:t>
            </a:r>
            <a:r>
              <a:rPr sz="1000" i="1" spc="-4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dirty</a:t>
            </a:r>
            <a:r>
              <a:rPr sz="1000" i="1" dirty="0">
                <a:solidFill>
                  <a:srgbClr val="006300"/>
                </a:solidFill>
                <a:latin typeface="Source Sans 3"/>
                <a:cs typeface="Source Sans 3"/>
              </a:rPr>
              <a:t>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110" dirty="0"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Trento,</a:t>
            </a:r>
            <a:r>
              <a:rPr sz="1000" i="1" spc="-4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40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kmh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)</a:t>
            </a:r>
            <a:endParaRPr sz="1000">
              <a:latin typeface="Source Sans 3"/>
              <a:cs typeface="Source Sans 3"/>
            </a:endParaRPr>
          </a:p>
          <a:p>
            <a:pPr marR="303530" algn="ctr">
              <a:lnSpc>
                <a:spcPct val="100000"/>
              </a:lnSpc>
              <a:spcBef>
                <a:spcPts val="195"/>
              </a:spcBef>
            </a:pPr>
            <a:r>
              <a:rPr sz="1100" spc="-10" dirty="0">
                <a:latin typeface="Arial"/>
                <a:cs typeface="Arial"/>
              </a:rPr>
              <a:t>Distinct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attribute</a:t>
            </a:r>
            <a:endParaRPr sz="1100">
              <a:latin typeface="Arial"/>
              <a:cs typeface="Arial"/>
            </a:endParaRPr>
          </a:p>
          <a:p>
            <a:pPr marL="566420" marR="1087755">
              <a:lnSpc>
                <a:spcPct val="100000"/>
              </a:lnSpc>
              <a:spcBef>
                <a:spcPts val="170"/>
              </a:spcBef>
            </a:pPr>
            <a:r>
              <a:rPr sz="1000" dirty="0">
                <a:latin typeface="Arial"/>
                <a:cs typeface="Arial"/>
              </a:rPr>
              <a:t>Ex: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Trento,</a:t>
            </a:r>
            <a:r>
              <a:rPr sz="1000" i="1" spc="-8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40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kmh</a:t>
            </a:r>
            <a:r>
              <a:rPr sz="1000" i="1" dirty="0">
                <a:solidFill>
                  <a:srgbClr val="006300"/>
                </a:solidFill>
                <a:latin typeface="Source Sans 3"/>
                <a:cs typeface="Source Sans 3"/>
              </a:rPr>
              <a:t>)</a:t>
            </a:r>
            <a:r>
              <a:rPr sz="1000" i="1" spc="130" dirty="0">
                <a:solidFill>
                  <a:srgbClr val="006300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(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Trento,</a:t>
            </a:r>
            <a:r>
              <a:rPr sz="1000" i="1" spc="-8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6300"/>
                </a:solidFill>
                <a:latin typeface="Arial"/>
                <a:cs typeface="Arial"/>
              </a:rPr>
              <a:t>47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kmh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)</a:t>
            </a:r>
            <a:r>
              <a:rPr sz="1000" i="1" spc="500" dirty="0">
                <a:solidFill>
                  <a:srgbClr val="006300"/>
                </a:solidFill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identical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attribute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90"/>
              </a:lnSpc>
            </a:pPr>
            <a:r>
              <a:rPr sz="1000" spc="95" dirty="0">
                <a:latin typeface="Lucida Sans Unicode"/>
                <a:cs typeface="Lucida Sans Unicode"/>
              </a:rPr>
              <a:t>=</a:t>
            </a:r>
            <a:r>
              <a:rPr sz="1000" i="1" spc="95" dirty="0">
                <a:latin typeface="Source Sans 3"/>
                <a:cs typeface="Source Sans 3"/>
              </a:rPr>
              <a:t>⇒</a:t>
            </a:r>
            <a:r>
              <a:rPr sz="1000" i="1" spc="60" dirty="0">
                <a:latin typeface="Source Sans 3"/>
                <a:cs typeface="Source Sans 3"/>
              </a:rPr>
              <a:t> </a:t>
            </a:r>
            <a:r>
              <a:rPr sz="1000" dirty="0">
                <a:latin typeface="Arial"/>
                <a:cs typeface="Arial"/>
              </a:rPr>
              <a:t>must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different</a:t>
            </a:r>
            <a:endParaRPr sz="1000">
              <a:latin typeface="Arial"/>
              <a:cs typeface="Arial"/>
            </a:endParaRPr>
          </a:p>
          <a:p>
            <a:pPr marL="289560" marR="5080">
              <a:lnSpc>
                <a:spcPct val="102699"/>
              </a:lnSpc>
              <a:spcBef>
                <a:spcPts val="320"/>
              </a:spcBef>
            </a:pP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Can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represent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uncertainty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(e.g.,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ignorance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about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amount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gas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tank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leaving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blank)</a:t>
            </a:r>
            <a:endParaRPr sz="1100">
              <a:latin typeface="Arial"/>
              <a:cs typeface="Arial"/>
            </a:endParaRPr>
          </a:p>
          <a:p>
            <a:pPr marL="289560" marR="698500">
              <a:lnSpc>
                <a:spcPct val="113199"/>
              </a:lnSpc>
              <a:spcBef>
                <a:spcPts val="160"/>
              </a:spcBef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Lower</a:t>
            </a:r>
            <a:r>
              <a:rPr sz="1100" spc="-4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level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abstraction</a:t>
            </a:r>
            <a:r>
              <a:rPr sz="1100" spc="-4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40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less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details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ignored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Ai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factored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representations</a:t>
            </a:r>
            <a:endParaRPr sz="1100">
              <a:latin typeface="Arial"/>
              <a:cs typeface="Arial"/>
            </a:endParaRPr>
          </a:p>
          <a:p>
            <a:pPr marL="566420" marR="1090295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satisfaction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propositional</a:t>
            </a:r>
            <a:r>
              <a:rPr sz="1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logic planning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190"/>
              </a:lnSpc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Bayesian</a:t>
            </a:r>
            <a:r>
              <a:rPr sz="1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networks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(most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machine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learning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51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Representations</a:t>
            </a:r>
            <a:r>
              <a:rPr spc="204" dirty="0"/>
              <a:t> </a:t>
            </a:r>
            <a:r>
              <a:rPr spc="-10" dirty="0"/>
              <a:t>[cont.]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196" y="807605"/>
            <a:ext cx="4349750" cy="1939289"/>
            <a:chOff x="129196" y="807605"/>
            <a:chExt cx="4349750" cy="1939289"/>
          </a:xfrm>
        </p:grpSpPr>
        <p:sp>
          <p:nvSpPr>
            <p:cNvPr id="4" name="object 4"/>
            <p:cNvSpPr/>
            <p:nvPr/>
          </p:nvSpPr>
          <p:spPr>
            <a:xfrm>
              <a:off x="129196" y="807605"/>
              <a:ext cx="4349750" cy="194945"/>
            </a:xfrm>
            <a:custGeom>
              <a:avLst/>
              <a:gdLst/>
              <a:ahLst/>
              <a:cxnLst/>
              <a:rect l="l" t="t" r="r" b="b"/>
              <a:pathLst>
                <a:path w="4349750" h="194944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469"/>
                  </a:lnTo>
                  <a:lnTo>
                    <a:pt x="4349657" y="194469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196" y="989418"/>
              <a:ext cx="4349657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196" y="1033681"/>
              <a:ext cx="4349750" cy="1713230"/>
            </a:xfrm>
            <a:custGeom>
              <a:avLst/>
              <a:gdLst/>
              <a:ahLst/>
              <a:cxnLst/>
              <a:rect l="l" t="t" r="r" b="b"/>
              <a:pathLst>
                <a:path w="4349750" h="1713230">
                  <a:moveTo>
                    <a:pt x="4349657" y="0"/>
                  </a:moveTo>
                  <a:lnTo>
                    <a:pt x="0" y="0"/>
                  </a:lnTo>
                  <a:lnTo>
                    <a:pt x="0" y="1662249"/>
                  </a:lnTo>
                  <a:lnTo>
                    <a:pt x="4008" y="1681974"/>
                  </a:lnTo>
                  <a:lnTo>
                    <a:pt x="14922" y="1698127"/>
                  </a:lnTo>
                  <a:lnTo>
                    <a:pt x="31075" y="1709041"/>
                  </a:lnTo>
                  <a:lnTo>
                    <a:pt x="50800" y="1713050"/>
                  </a:lnTo>
                  <a:lnTo>
                    <a:pt x="4298856" y="1713050"/>
                  </a:lnTo>
                  <a:lnTo>
                    <a:pt x="4318581" y="1709041"/>
                  </a:lnTo>
                  <a:lnTo>
                    <a:pt x="4334734" y="1698127"/>
                  </a:lnTo>
                  <a:lnTo>
                    <a:pt x="4345648" y="1681974"/>
                  </a:lnTo>
                  <a:lnTo>
                    <a:pt x="4349657" y="166224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8853" y="889916"/>
              <a:ext cx="0" cy="1825625"/>
            </a:xfrm>
            <a:custGeom>
              <a:avLst/>
              <a:gdLst/>
              <a:ahLst/>
              <a:cxnLst/>
              <a:rect l="l" t="t" r="r" b="b"/>
              <a:pathLst>
                <a:path h="1825625">
                  <a:moveTo>
                    <a:pt x="0" y="1825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8853" y="8772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8853" y="8645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8853" y="8518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10" y="1081570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34" y="1273632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10" y="1620570"/>
              <a:ext cx="76809" cy="768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010" y="1810359"/>
              <a:ext cx="76809" cy="768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034" y="200242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034" y="2154250"/>
              <a:ext cx="61874" cy="61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3034" y="2306091"/>
              <a:ext cx="61874" cy="61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034" y="2457919"/>
              <a:ext cx="61874" cy="61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034" y="2609748"/>
              <a:ext cx="61874" cy="618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67297" y="749298"/>
            <a:ext cx="4063365" cy="19634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Structured</a:t>
            </a:r>
            <a:r>
              <a:rPr sz="11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Representation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1100" dirty="0">
                <a:latin typeface="Arial"/>
                <a:cs typeface="Arial"/>
              </a:rPr>
              <a:t>States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objects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relations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them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sz="1000" spc="20" dirty="0">
                <a:latin typeface="Arial"/>
                <a:cs typeface="Arial"/>
              </a:rPr>
              <a:t>Ex </a:t>
            </a:r>
            <a:r>
              <a:rPr sz="1000" i="1" spc="20" dirty="0">
                <a:solidFill>
                  <a:srgbClr val="006300"/>
                </a:solidFill>
                <a:latin typeface="Source Sans 3"/>
                <a:cs typeface="Source Sans 3"/>
              </a:rPr>
              <a:t>∀</a:t>
            </a:r>
            <a:r>
              <a:rPr sz="1000" i="1" spc="20" dirty="0">
                <a:solidFill>
                  <a:srgbClr val="006300"/>
                </a:solidFill>
                <a:latin typeface="Arial"/>
                <a:cs typeface="Arial"/>
              </a:rPr>
              <a:t>x.</a:t>
            </a:r>
            <a:r>
              <a:rPr sz="1000" spc="20" dirty="0">
                <a:solidFill>
                  <a:srgbClr val="006300"/>
                </a:solidFill>
                <a:latin typeface="Lucida Sans Unicode"/>
                <a:cs typeface="Lucida Sans Unicode"/>
              </a:rPr>
              <a:t>(</a:t>
            </a:r>
            <a:r>
              <a:rPr sz="1000" i="1" spc="20" dirty="0">
                <a:solidFill>
                  <a:srgbClr val="006300"/>
                </a:solidFill>
                <a:latin typeface="Arial"/>
                <a:cs typeface="Arial"/>
              </a:rPr>
              <a:t>Men</a:t>
            </a:r>
            <a:r>
              <a:rPr sz="1000" spc="20" dirty="0">
                <a:solidFill>
                  <a:srgbClr val="006300"/>
                </a:solidFill>
                <a:latin typeface="Lucida Sans Unicode"/>
                <a:cs typeface="Lucida Sans Unicode"/>
              </a:rPr>
              <a:t>(</a:t>
            </a:r>
            <a:r>
              <a:rPr sz="1000" i="1" spc="20" dirty="0">
                <a:solidFill>
                  <a:srgbClr val="006300"/>
                </a:solidFill>
                <a:latin typeface="Arial"/>
                <a:cs typeface="Arial"/>
              </a:rPr>
              <a:t>x</a:t>
            </a:r>
            <a:r>
              <a:rPr sz="1000" i="1" spc="-17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006300"/>
                </a:solidFill>
                <a:latin typeface="Lucida Sans Unicode"/>
                <a:cs typeface="Lucida Sans Unicode"/>
              </a:rPr>
              <a:t>)</a:t>
            </a:r>
            <a:r>
              <a:rPr sz="1000" spc="-10" dirty="0">
                <a:solidFill>
                  <a:srgbClr val="006300"/>
                </a:solidFill>
                <a:latin typeface="Lucida Sans Unicode"/>
                <a:cs typeface="Lucida Sans Unicode"/>
              </a:rPr>
              <a:t> </a:t>
            </a:r>
            <a:r>
              <a:rPr sz="1000" i="1" spc="405" dirty="0">
                <a:solidFill>
                  <a:srgbClr val="006300"/>
                </a:solidFill>
                <a:latin typeface="Source Sans 3"/>
                <a:cs typeface="Source Sans 3"/>
              </a:rPr>
              <a:t>→</a:t>
            </a:r>
            <a:r>
              <a:rPr sz="1000" i="1" spc="105" dirty="0">
                <a:solidFill>
                  <a:srgbClr val="006300"/>
                </a:solidFill>
                <a:latin typeface="Source Sans 3"/>
                <a:cs typeface="Source Sans 3"/>
              </a:rPr>
              <a:t> </a:t>
            </a:r>
            <a:r>
              <a:rPr sz="1000" i="1" spc="10" dirty="0">
                <a:solidFill>
                  <a:srgbClr val="006300"/>
                </a:solidFill>
                <a:latin typeface="Arial"/>
                <a:cs typeface="Arial"/>
              </a:rPr>
              <a:t>Mortal</a:t>
            </a:r>
            <a:r>
              <a:rPr sz="1000" spc="10" dirty="0">
                <a:solidFill>
                  <a:srgbClr val="006300"/>
                </a:solidFill>
                <a:latin typeface="Lucida Sans Unicode"/>
                <a:cs typeface="Lucida Sans Unicode"/>
              </a:rPr>
              <a:t>(</a:t>
            </a:r>
            <a:r>
              <a:rPr sz="1000" i="1" spc="10" dirty="0">
                <a:solidFill>
                  <a:srgbClr val="006300"/>
                </a:solidFill>
                <a:latin typeface="Arial"/>
                <a:cs typeface="Arial"/>
              </a:rPr>
              <a:t>x</a:t>
            </a:r>
            <a:r>
              <a:rPr sz="1000" i="1" spc="-175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006300"/>
                </a:solidFill>
                <a:latin typeface="Lucida Sans Unicode"/>
                <a:cs typeface="Lucida Sans Unicode"/>
              </a:rPr>
              <a:t>))</a:t>
            </a:r>
            <a:r>
              <a:rPr sz="1000" spc="-25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ts val="1200"/>
              </a:lnSpc>
            </a:pP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Woman</a:t>
            </a:r>
            <a:r>
              <a:rPr sz="1000" dirty="0">
                <a:solidFill>
                  <a:srgbClr val="006300"/>
                </a:solidFill>
                <a:latin typeface="Lucida Sans Unicode"/>
                <a:cs typeface="Lucida Sans Unicode"/>
              </a:rPr>
              <a:t>(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Maria</a:t>
            </a:r>
            <a:r>
              <a:rPr sz="1000" dirty="0">
                <a:solidFill>
                  <a:srgbClr val="006300"/>
                </a:solidFill>
                <a:latin typeface="Lucida Sans Unicode"/>
                <a:cs typeface="Lucida Sans Unicode"/>
              </a:rPr>
              <a:t>)</a:t>
            </a:r>
            <a:r>
              <a:rPr sz="1000" dirty="0">
                <a:solidFill>
                  <a:srgbClr val="006300"/>
                </a:solidFill>
                <a:latin typeface="Arial"/>
                <a:cs typeface="Arial"/>
              </a:rPr>
              <a:t>,</a:t>
            </a:r>
            <a:r>
              <a:rPr sz="1000" spc="1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6300"/>
                </a:solidFill>
                <a:latin typeface="Arial"/>
                <a:cs typeface="Arial"/>
              </a:rPr>
              <a:t>Mother</a:t>
            </a:r>
            <a:r>
              <a:rPr sz="1000" i="1" spc="1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290" dirty="0">
                <a:solidFill>
                  <a:srgbClr val="006300"/>
                </a:solidFill>
                <a:latin typeface="Source Sans 3"/>
                <a:cs typeface="Source Sans 3"/>
              </a:rPr>
              <a:t>≡</a:t>
            </a:r>
            <a:r>
              <a:rPr sz="1000" i="1" spc="90" dirty="0">
                <a:solidFill>
                  <a:srgbClr val="006300"/>
                </a:solidFill>
                <a:latin typeface="Source Sans 3"/>
                <a:cs typeface="Source Sans 3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Woman</a:t>
            </a:r>
            <a:r>
              <a:rPr sz="1000" i="1" spc="-30" dirty="0">
                <a:solidFill>
                  <a:srgbClr val="006300"/>
                </a:solidFill>
                <a:latin typeface="Arial"/>
                <a:cs typeface="Arial"/>
              </a:rPr>
              <a:t> </a:t>
            </a:r>
            <a:r>
              <a:rPr sz="1000" i="1" spc="185" dirty="0">
                <a:solidFill>
                  <a:srgbClr val="006300"/>
                </a:solidFill>
                <a:latin typeface="Source Sans 3"/>
                <a:cs typeface="Source Sans 3"/>
              </a:rPr>
              <a:t>∩</a:t>
            </a:r>
            <a:r>
              <a:rPr sz="1000" i="1" spc="35" dirty="0">
                <a:solidFill>
                  <a:srgbClr val="006300"/>
                </a:solidFill>
                <a:latin typeface="Source Sans 3"/>
                <a:cs typeface="Source Sans 3"/>
              </a:rPr>
              <a:t> </a:t>
            </a:r>
            <a:r>
              <a:rPr sz="1000" i="1" spc="-10" dirty="0">
                <a:solidFill>
                  <a:srgbClr val="006300"/>
                </a:solidFill>
                <a:latin typeface="Source Sans 3"/>
                <a:cs typeface="Source Sans 3"/>
              </a:rPr>
              <a:t>∃</a:t>
            </a:r>
            <a:r>
              <a:rPr sz="1000" i="1" spc="-10" dirty="0">
                <a:solidFill>
                  <a:srgbClr val="006300"/>
                </a:solidFill>
                <a:latin typeface="Arial"/>
                <a:cs typeface="Arial"/>
              </a:rPr>
              <a:t>hasChild.Person</a:t>
            </a:r>
            <a:endParaRPr sz="1000">
              <a:latin typeface="Arial"/>
              <a:cs typeface="Arial"/>
            </a:endParaRPr>
          </a:p>
          <a:p>
            <a:pPr marL="289560" marR="5080">
              <a:lnSpc>
                <a:spcPct val="113199"/>
              </a:lnSpc>
              <a:spcBef>
                <a:spcPts val="180"/>
              </a:spcBef>
            </a:pP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Lowest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92626"/>
                </a:solidFill>
                <a:latin typeface="Arial"/>
                <a:cs typeface="Arial"/>
              </a:rPr>
              <a:t>level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92626"/>
                </a:solidFill>
                <a:latin typeface="Arial"/>
                <a:cs typeface="Arial"/>
              </a:rPr>
              <a:t>abstraction</a:t>
            </a:r>
            <a:r>
              <a:rPr sz="1100" spc="-35" dirty="0">
                <a:solidFill>
                  <a:srgbClr val="C92626"/>
                </a:solidFill>
                <a:latin typeface="Arial"/>
                <a:cs typeface="Arial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=</a:t>
            </a:r>
            <a:r>
              <a:rPr sz="1100" i="1" spc="105" dirty="0">
                <a:latin typeface="Source Sans 3"/>
                <a:cs typeface="Source Sans 3"/>
              </a:rPr>
              <a:t>⇒</a:t>
            </a:r>
            <a:r>
              <a:rPr sz="1100" i="1" spc="50" dirty="0">
                <a:latin typeface="Source Sans 3"/>
                <a:cs typeface="Source Sans 3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reality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details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Ai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factored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representations</a:t>
            </a:r>
            <a:endParaRPr sz="1100">
              <a:latin typeface="Arial"/>
              <a:cs typeface="Arial"/>
            </a:endParaRPr>
          </a:p>
          <a:p>
            <a:pPr marL="566420" marR="235585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relational</a:t>
            </a:r>
            <a:r>
              <a:rPr sz="1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databases first-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order</a:t>
            </a:r>
            <a:r>
              <a:rPr sz="10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logic</a:t>
            </a:r>
            <a:endParaRPr sz="1000">
              <a:latin typeface="Arial"/>
              <a:cs typeface="Arial"/>
            </a:endParaRPr>
          </a:p>
          <a:p>
            <a:pPr marL="566420" marR="171005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first-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order probability</a:t>
            </a:r>
            <a:r>
              <a:rPr sz="10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models knowledge-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000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learning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natural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language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 understanding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52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13889</Words>
  <Application>Microsoft Office PowerPoint</Application>
  <PresentationFormat>Custom</PresentationFormat>
  <Paragraphs>1459</Paragraphs>
  <Slides>147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3" baseType="lpstr">
      <vt:lpstr>Meiryo UI</vt:lpstr>
      <vt:lpstr>Arial</vt:lpstr>
      <vt:lpstr>Lucida Sans Unicode</vt:lpstr>
      <vt:lpstr>Source Sans 3</vt:lpstr>
      <vt:lpstr>Trebuchet MS</vt:lpstr>
      <vt:lpstr>Office Theme</vt:lpstr>
      <vt:lpstr>PowerPoint Presentation</vt:lpstr>
      <vt:lpstr>Outline</vt:lpstr>
      <vt:lpstr>Outline</vt:lpstr>
      <vt:lpstr>Agents and Environments</vt:lpstr>
      <vt:lpstr>Agents and Environments</vt:lpstr>
      <vt:lpstr>Agents and Environments</vt:lpstr>
      <vt:lpstr>Agents and Environments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Agents and Environments [cont.]</vt:lpstr>
      <vt:lpstr>Key concepts</vt:lpstr>
      <vt:lpstr>Key concepts</vt:lpstr>
      <vt:lpstr>Key concepts</vt:lpstr>
      <vt:lpstr>Key concepts [cont.]</vt:lpstr>
      <vt:lpstr>Key concepts [cont.]</vt:lpstr>
      <vt:lpstr>Key concepts [cont.]</vt:lpstr>
      <vt:lpstr>Example</vt:lpstr>
      <vt:lpstr>Example [cont.]</vt:lpstr>
      <vt:lpstr>Example [cont.]</vt:lpstr>
      <vt:lpstr>PowerPoint Presentation</vt:lpstr>
      <vt:lpstr>Outline</vt:lpstr>
      <vt:lpstr>PowerPoint Presentation</vt:lpstr>
      <vt:lpstr>Rational Agents</vt:lpstr>
      <vt:lpstr>Rational Agents</vt:lpstr>
      <vt:lpstr>Rational Agents</vt:lpstr>
      <vt:lpstr>Rational Agents</vt:lpstr>
      <vt:lpstr>Rational Agents</vt:lpstr>
      <vt:lpstr>Rational Agents</vt:lpstr>
      <vt:lpstr>Rational Agents</vt:lpstr>
      <vt:lpstr>Rational Agents</vt:lpstr>
      <vt:lpstr>Rational Agents</vt:lpstr>
      <vt:lpstr>Rational Agents</vt:lpstr>
      <vt:lpstr>Rational Agents [cont.]</vt:lpstr>
      <vt:lpstr>Rational Agents [cont.]</vt:lpstr>
      <vt:lpstr>Rational Agents: Example</vt:lpstr>
      <vt:lpstr>Rational Agents: Example</vt:lpstr>
      <vt:lpstr>Rational Agents: Example</vt:lpstr>
      <vt:lpstr>Rational Agents: Example</vt:lpstr>
      <vt:lpstr>Rationality vs. Omniscience vs. Perfection</vt:lpstr>
      <vt:lpstr>Information Gathering, Learning, Autonomy</vt:lpstr>
      <vt:lpstr>Information Gathering, Learning, Autonomy</vt:lpstr>
      <vt:lpstr>Information Gathering, Learning, Autonomy</vt:lpstr>
      <vt:lpstr>Information Gathering, Learning, Autonomy</vt:lpstr>
      <vt:lpstr>Outline</vt:lpstr>
      <vt:lpstr>Task Environments</vt:lpstr>
      <vt:lpstr>Task Environments</vt:lpstr>
      <vt:lpstr>Task Environments</vt:lpstr>
      <vt:lpstr>Task Environments [cont.]</vt:lpstr>
      <vt:lpstr>Task Environments [cont.]</vt:lpstr>
      <vt:lpstr>Task Environments [cont.]</vt:lpstr>
      <vt:lpstr>Task Environments [cont.]</vt:lpstr>
      <vt:lpstr>Task Environments [cont.]</vt:lpstr>
      <vt:lpstr>Task Environments [cont.]</vt:lpstr>
      <vt:lpstr>PowerPoint Presentation</vt:lpstr>
      <vt:lpstr>Outline</vt:lpstr>
      <vt:lpstr>Properties of Task Environments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Task Environments [cont.]</vt:lpstr>
      <vt:lpstr>Properties of the Agent’s State of Knowledge</vt:lpstr>
      <vt:lpstr>Properties of the Agent’s State of Knowledge</vt:lpstr>
      <vt:lpstr>Properties of the Agent’s State of Knowledge</vt:lpstr>
      <vt:lpstr>Properties of the Agent’s State of Knowledge</vt:lpstr>
      <vt:lpstr>Outline</vt:lpstr>
      <vt:lpstr>Agents</vt:lpstr>
      <vt:lpstr>Agents</vt:lpstr>
      <vt:lpstr>Agents</vt:lpstr>
      <vt:lpstr>Agents</vt:lpstr>
      <vt:lpstr>Agents</vt:lpstr>
      <vt:lpstr>A trivial Agent Program</vt:lpstr>
      <vt:lpstr>A trivial Agent Program</vt:lpstr>
      <vt:lpstr>Agent Types</vt:lpstr>
      <vt:lpstr>Agent Types</vt:lpstr>
      <vt:lpstr>Agent Types: Simple-reflex agent</vt:lpstr>
      <vt:lpstr>Agent Types: Simple-reflex agent [cont.]</vt:lpstr>
      <vt:lpstr>Agent Types: Simple-reflex agent [cont.]</vt:lpstr>
      <vt:lpstr>Agent Types: Model-based agent</vt:lpstr>
      <vt:lpstr>Agent Types: Model-based agent</vt:lpstr>
      <vt:lpstr>Agent Types: Model-based Agent [cont.]</vt:lpstr>
      <vt:lpstr>Agent Types: Goal-based agent</vt:lpstr>
      <vt:lpstr>Agent Types: Goal-based Agent [cont.]</vt:lpstr>
      <vt:lpstr>Agent Types: Utility-based agent</vt:lpstr>
      <vt:lpstr>Agent Types: Utility-based agent</vt:lpstr>
      <vt:lpstr>Agent Types: Utility-based agent</vt:lpstr>
      <vt:lpstr>Agent Types: Utility-based agent</vt:lpstr>
      <vt:lpstr>Agent Types: Utility-based Agent [cont.]</vt:lpstr>
      <vt:lpstr>Agent Types: Learning</vt:lpstr>
      <vt:lpstr>Agent Types: Learning</vt:lpstr>
      <vt:lpstr>Agent Types: Learning</vt:lpstr>
      <vt:lpstr>Agent Types: Learning</vt:lpstr>
      <vt:lpstr>Agent Types: Learning</vt:lpstr>
      <vt:lpstr>Agent Types: Learning</vt:lpstr>
      <vt:lpstr>Agent Types: Learning</vt:lpstr>
      <vt:lpstr>Agent Types: Learning</vt:lpstr>
      <vt:lpstr>Agent Types: Learning</vt:lpstr>
      <vt:lpstr>Learning Agent Types: Example</vt:lpstr>
      <vt:lpstr>Learning Agent Types: Example</vt:lpstr>
      <vt:lpstr>Learning Agent Types: Example</vt:lpstr>
      <vt:lpstr>Learning Agent Types: Example</vt:lpstr>
      <vt:lpstr>Learning Agent Types: Example</vt:lpstr>
      <vt:lpstr>Outline</vt:lpstr>
      <vt:lpstr>Representations</vt:lpstr>
      <vt:lpstr>Representations</vt:lpstr>
      <vt:lpstr>Representations</vt:lpstr>
      <vt:lpstr>Representations</vt:lpstr>
      <vt:lpstr>Representations</vt:lpstr>
      <vt:lpstr>Representations</vt:lpstr>
      <vt:lpstr>Representations</vt:lpstr>
      <vt:lpstr>Representations [cont.]</vt:lpstr>
      <vt:lpstr>Representations [cont.]</vt:lpstr>
      <vt:lpstr>Representations [cont.]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Artificial Intelligence  Chapter 02: Intelligent Agents</dc:title>
  <dc:creator>Roberto Sebastiani</dc:creator>
  <cp:lastModifiedBy>Tarachand Amgoth</cp:lastModifiedBy>
  <cp:revision>2</cp:revision>
  <dcterms:created xsi:type="dcterms:W3CDTF">2025-07-17T03:47:08Z</dcterms:created>
  <dcterms:modified xsi:type="dcterms:W3CDTF">2025-07-17T05:32:57Z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2020-12-08T00:00:00Z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2025-07-17T00:00:00Z</vt:filetime>
  </property>
  <property fmtid="{D5CDD505-2E9C-101B-9397-08002B2CF9AE}" pid="5" name="PTEX.Fullbanner">
    <vt:lpwstr>This is pdfTeX, Version 3.14159265-2.6-1.40.18 (TeX Live 2017/Debian) kpathsea version 6.2.3</vt:lpwstr>
  </property>
  <property fmtid="{D5CDD505-2E9C-101B-9397-08002B2CF9AE}" pid="6" name="Producer">
    <vt:lpwstr>pdfTeX-1.40.18</vt:lpwstr>
  </property>
</Properties>
</file>