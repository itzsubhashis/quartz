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57" r:id="rId3"/>
    <p:sldId id="258" r:id="rId4"/>
    <p:sldId id="259" r:id="rId5"/>
    <p:sldId id="261" r:id="rId6"/>
    <p:sldId id="273" r:id="rId7"/>
    <p:sldId id="274" r:id="rId8"/>
    <p:sldId id="275" r:id="rId9"/>
    <p:sldId id="262" r:id="rId10"/>
    <p:sldId id="279" r:id="rId11"/>
    <p:sldId id="263" r:id="rId12"/>
    <p:sldId id="264" r:id="rId13"/>
    <p:sldId id="265" r:id="rId14"/>
    <p:sldId id="266" r:id="rId15"/>
    <p:sldId id="267" r:id="rId16"/>
    <p:sldId id="268" r:id="rId17"/>
    <p:sldId id="269" r:id="rId18"/>
    <p:sldId id="270" r:id="rId19"/>
    <p:sldId id="280" r:id="rId20"/>
    <p:sldId id="281" r:id="rId21"/>
    <p:sldId id="282" r:id="rId22"/>
    <p:sldId id="271" r:id="rId23"/>
    <p:sldId id="284" r:id="rId24"/>
    <p:sldId id="285" r:id="rId25"/>
    <p:sldId id="272" r:id="rId26"/>
    <p:sldId id="276" r:id="rId27"/>
    <p:sldId id="277" r:id="rId28"/>
    <p:sldId id="278" r:id="rId29"/>
    <p:sldId id="283" r:id="rId30"/>
    <p:sldId id="286" r:id="rId31"/>
    <p:sldId id="287" r:id="rId32"/>
    <p:sldId id="288" r:id="rId33"/>
    <p:sldId id="289" r:id="rId34"/>
    <p:sldId id="290" r:id="rId35"/>
    <p:sldId id="291" r:id="rId36"/>
    <p:sldId id="292" r:id="rId37"/>
    <p:sldId id="293"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29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433" autoAdjust="0"/>
  </p:normalViewPr>
  <p:slideViewPr>
    <p:cSldViewPr snapToGrid="0">
      <p:cViewPr varScale="1">
        <p:scale>
          <a:sx n="112" d="100"/>
          <a:sy n="112" d="100"/>
        </p:scale>
        <p:origin x="492" y="108"/>
      </p:cViewPr>
      <p:guideLst/>
    </p:cSldViewPr>
  </p:slideViewPr>
  <p:outlineViewPr>
    <p:cViewPr>
      <p:scale>
        <a:sx n="33" d="100"/>
        <a:sy n="33" d="100"/>
      </p:scale>
      <p:origin x="0" y="-2811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85ED0F-169F-4A24-AEA0-7247B9B563B4}" type="datetimeFigureOut">
              <a:rPr lang="en-IN" smtClean="0"/>
              <a:t>23-08-2022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BEB87-8EC7-419F-BC62-8AEFC060B849}" type="slidenum">
              <a:rPr lang="en-IN" smtClean="0"/>
              <a:t>‹#›</a:t>
            </a:fld>
            <a:endParaRPr lang="en-IN"/>
          </a:p>
        </p:txBody>
      </p:sp>
    </p:spTree>
    <p:extLst>
      <p:ext uri="{BB962C8B-B14F-4D97-AF65-F5344CB8AC3E}">
        <p14:creationId xmlns:p14="http://schemas.microsoft.com/office/powerpoint/2010/main" val="1122194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9DBEB87-8EC7-419F-BC62-8AEFC060B849}" type="slidenum">
              <a:rPr lang="en-IN" smtClean="0"/>
              <a:t>35</a:t>
            </a:fld>
            <a:endParaRPr lang="en-IN"/>
          </a:p>
        </p:txBody>
      </p:sp>
    </p:spTree>
    <p:extLst>
      <p:ext uri="{BB962C8B-B14F-4D97-AF65-F5344CB8AC3E}">
        <p14:creationId xmlns:p14="http://schemas.microsoft.com/office/powerpoint/2010/main" val="2858813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4C6281B-59A0-4FFB-988C-51E58B1DC7C6}" type="datetimeFigureOut">
              <a:rPr lang="en-IN" smtClean="0"/>
              <a:t>23-08-2022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1014564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4C6281B-59A0-4FFB-988C-51E58B1DC7C6}" type="datetimeFigureOut">
              <a:rPr lang="en-IN" smtClean="0"/>
              <a:t>23-08-2022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1597263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C6281B-59A0-4FFB-988C-51E58B1DC7C6}" type="datetimeFigureOut">
              <a:rPr lang="en-IN" smtClean="0"/>
              <a:t>23-08-2022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3999885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4C6281B-59A0-4FFB-988C-51E58B1DC7C6}" type="datetimeFigureOut">
              <a:rPr lang="en-IN" smtClean="0"/>
              <a:t>23-08-2022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141850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4C6281B-59A0-4FFB-988C-51E58B1DC7C6}" type="datetimeFigureOut">
              <a:rPr lang="en-IN" smtClean="0"/>
              <a:t>23-08-2022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3736590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4C6281B-59A0-4FFB-988C-51E58B1DC7C6}" type="datetimeFigureOut">
              <a:rPr lang="en-IN" smtClean="0"/>
              <a:t>23-08-2022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3639840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C6281B-59A0-4FFB-988C-51E58B1DC7C6}" type="datetimeFigureOut">
              <a:rPr lang="en-IN" smtClean="0"/>
              <a:t>23-08-2022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2270549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C6281B-59A0-4FFB-988C-51E58B1DC7C6}" type="datetimeFigureOut">
              <a:rPr lang="en-IN" smtClean="0"/>
              <a:t>23-08-2022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188910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C6281B-59A0-4FFB-988C-51E58B1DC7C6}" type="datetimeFigureOut">
              <a:rPr lang="en-IN" smtClean="0"/>
              <a:t>23-08-2022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307586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4C6281B-59A0-4FFB-988C-51E58B1DC7C6}" type="datetimeFigureOut">
              <a:rPr lang="en-IN" smtClean="0"/>
              <a:t>23-08-2022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1655044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4C6281B-59A0-4FFB-988C-51E58B1DC7C6}" type="datetimeFigureOut">
              <a:rPr lang="en-IN" smtClean="0"/>
              <a:t>23-08-2022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58D0DF-2088-4D09-A9F4-441A304C4370}" type="slidenum">
              <a:rPr lang="en-IN" smtClean="0"/>
              <a:t>‹#›</a:t>
            </a:fld>
            <a:endParaRPr lang="en-IN"/>
          </a:p>
        </p:txBody>
      </p:sp>
    </p:spTree>
    <p:extLst>
      <p:ext uri="{BB962C8B-B14F-4D97-AF65-F5344CB8AC3E}">
        <p14:creationId xmlns:p14="http://schemas.microsoft.com/office/powerpoint/2010/main" val="4050427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C6281B-59A0-4FFB-988C-51E58B1DC7C6}" type="datetimeFigureOut">
              <a:rPr lang="en-IN" smtClean="0"/>
              <a:t>23-08-2022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58D0DF-2088-4D09-A9F4-441A304C4370}" type="slidenum">
              <a:rPr lang="en-IN" smtClean="0"/>
              <a:t>‹#›</a:t>
            </a:fld>
            <a:endParaRPr lang="en-IN"/>
          </a:p>
        </p:txBody>
      </p:sp>
    </p:spTree>
    <p:extLst>
      <p:ext uri="{BB962C8B-B14F-4D97-AF65-F5344CB8AC3E}">
        <p14:creationId xmlns:p14="http://schemas.microsoft.com/office/powerpoint/2010/main" val="3502942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t>Common Errors in Writing</a:t>
            </a:r>
            <a:endParaRPr lang="en-IN" b="1" dirty="0"/>
          </a:p>
        </p:txBody>
      </p:sp>
      <p:sp>
        <p:nvSpPr>
          <p:cNvPr id="3" name="Subtitle 2"/>
          <p:cNvSpPr>
            <a:spLocks noGrp="1"/>
          </p:cNvSpPr>
          <p:nvPr>
            <p:ph type="subTitle" idx="1"/>
          </p:nvPr>
        </p:nvSpPr>
        <p:spPr/>
        <p:txBody>
          <a:bodyPr/>
          <a:lstStyle/>
          <a:p>
            <a:endParaRPr lang="en-IN" dirty="0" smtClean="0"/>
          </a:p>
          <a:p>
            <a:r>
              <a:rPr lang="en-IN" smtClean="0"/>
              <a:t>Md. </a:t>
            </a:r>
            <a:r>
              <a:rPr lang="en-IN" dirty="0" smtClean="0"/>
              <a:t>Mojibur Rahman</a:t>
            </a:r>
          </a:p>
          <a:p>
            <a:r>
              <a:rPr lang="en-IN" dirty="0" smtClean="0"/>
              <a:t>mrahmanelt@iitism.ac.in</a:t>
            </a:r>
            <a:endParaRPr lang="en-IN" dirty="0"/>
          </a:p>
        </p:txBody>
      </p:sp>
    </p:spTree>
    <p:extLst>
      <p:ext uri="{BB962C8B-B14F-4D97-AF65-F5344CB8AC3E}">
        <p14:creationId xmlns:p14="http://schemas.microsoft.com/office/powerpoint/2010/main" val="953641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Sentence </a:t>
            </a:r>
            <a:r>
              <a:rPr lang="en-IN" b="1" dirty="0" smtClean="0"/>
              <a:t>Fragments</a:t>
            </a:r>
            <a:endParaRPr lang="en-IN" dirty="0"/>
          </a:p>
        </p:txBody>
      </p:sp>
      <p:sp>
        <p:nvSpPr>
          <p:cNvPr id="3" name="Content Placeholder 2"/>
          <p:cNvSpPr>
            <a:spLocks noGrp="1"/>
          </p:cNvSpPr>
          <p:nvPr>
            <p:ph idx="1"/>
          </p:nvPr>
        </p:nvSpPr>
        <p:spPr/>
        <p:txBody>
          <a:bodyPr/>
          <a:lstStyle/>
          <a:p>
            <a:r>
              <a:rPr lang="en-IN" dirty="0" smtClean="0"/>
              <a:t>A sentence fragment comprises an incomplete thought. Usually, they lack either a subject or a predicate.</a:t>
            </a:r>
          </a:p>
          <a:p>
            <a:pPr marL="0" indent="0">
              <a:buNone/>
            </a:pPr>
            <a:r>
              <a:rPr lang="en-IN" dirty="0" smtClean="0">
                <a:solidFill>
                  <a:srgbClr val="FF0000"/>
                </a:solidFill>
              </a:rPr>
              <a:t>The old rocking chair wobbled and creaked. Making the woman’s grandson wonder if it was stable. </a:t>
            </a:r>
          </a:p>
          <a:p>
            <a:r>
              <a:rPr lang="en-IN" dirty="0" smtClean="0"/>
              <a:t>In this example, one thought is broken into two pieces so that only one of the pieces can stand as its own thought. The second sentence does not have a subject. Complete the sentence to fix the fragment. </a:t>
            </a:r>
          </a:p>
          <a:p>
            <a:pPr marL="0" indent="0">
              <a:buNone/>
            </a:pPr>
            <a:r>
              <a:rPr lang="en-IN" dirty="0" smtClean="0">
                <a:solidFill>
                  <a:srgbClr val="00B050"/>
                </a:solidFill>
              </a:rPr>
              <a:t>The old rocking chair wobbled and creaked, making the woman’s grandson wonder if it was stable. </a:t>
            </a:r>
            <a:endParaRPr lang="en-IN" dirty="0">
              <a:solidFill>
                <a:srgbClr val="00B050"/>
              </a:solidFill>
            </a:endParaRPr>
          </a:p>
        </p:txBody>
      </p:sp>
    </p:spTree>
    <p:extLst>
      <p:ext uri="{BB962C8B-B14F-4D97-AF65-F5344CB8AC3E}">
        <p14:creationId xmlns:p14="http://schemas.microsoft.com/office/powerpoint/2010/main" val="3030086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Run-on Sentences</a:t>
            </a:r>
            <a:endParaRPr lang="en-IN" b="1" dirty="0"/>
          </a:p>
        </p:txBody>
      </p:sp>
      <p:sp>
        <p:nvSpPr>
          <p:cNvPr id="3" name="Content Placeholder 2"/>
          <p:cNvSpPr>
            <a:spLocks noGrp="1"/>
          </p:cNvSpPr>
          <p:nvPr>
            <p:ph idx="1"/>
          </p:nvPr>
        </p:nvSpPr>
        <p:spPr/>
        <p:txBody>
          <a:bodyPr/>
          <a:lstStyle/>
          <a:p>
            <a:r>
              <a:rPr lang="en-IN" dirty="0" smtClean="0"/>
              <a:t>Run-on sentences do just the opposite—they combine too many thoughts, one after another.</a:t>
            </a:r>
          </a:p>
          <a:p>
            <a:pPr marL="0" indent="0">
              <a:buNone/>
            </a:pPr>
            <a:r>
              <a:rPr lang="en-IN" dirty="0" smtClean="0">
                <a:solidFill>
                  <a:srgbClr val="FF0000"/>
                </a:solidFill>
              </a:rPr>
              <a:t>My </a:t>
            </a:r>
            <a:r>
              <a:rPr lang="en-IN" dirty="0" err="1" smtClean="0">
                <a:solidFill>
                  <a:srgbClr val="FF0000"/>
                </a:solidFill>
              </a:rPr>
              <a:t>favorite</a:t>
            </a:r>
            <a:r>
              <a:rPr lang="en-IN" dirty="0" smtClean="0">
                <a:solidFill>
                  <a:srgbClr val="FF0000"/>
                </a:solidFill>
              </a:rPr>
              <a:t> book is </a:t>
            </a:r>
            <a:r>
              <a:rPr lang="en-IN" i="1" dirty="0" smtClean="0">
                <a:solidFill>
                  <a:srgbClr val="FF0000"/>
                </a:solidFill>
              </a:rPr>
              <a:t>The Fellowship of the Ring</a:t>
            </a:r>
            <a:r>
              <a:rPr lang="en-IN" dirty="0" smtClean="0">
                <a:solidFill>
                  <a:srgbClr val="FF0000"/>
                </a:solidFill>
              </a:rPr>
              <a:t> and Legolas is the best character ever. </a:t>
            </a:r>
          </a:p>
          <a:p>
            <a:r>
              <a:rPr lang="en-IN" dirty="0" smtClean="0"/>
              <a:t>In this sentence, there are two thoughts: what the speaker’s </a:t>
            </a:r>
            <a:r>
              <a:rPr lang="en-IN" dirty="0" err="1" smtClean="0"/>
              <a:t>favorite</a:t>
            </a:r>
            <a:r>
              <a:rPr lang="en-IN" dirty="0" smtClean="0"/>
              <a:t> book is and who his/her </a:t>
            </a:r>
            <a:r>
              <a:rPr lang="en-IN" dirty="0" err="1" smtClean="0"/>
              <a:t>favorite</a:t>
            </a:r>
            <a:r>
              <a:rPr lang="en-IN" dirty="0" smtClean="0"/>
              <a:t> character is. However, these thoughts are connected with only a conjunction. To fix this, separate the thoughts with </a:t>
            </a:r>
            <a:r>
              <a:rPr lang="en-IN" dirty="0" smtClean="0">
                <a:solidFill>
                  <a:srgbClr val="00B0F0"/>
                </a:solidFill>
              </a:rPr>
              <a:t>1) a comma/coordinating conjunction combination</a:t>
            </a:r>
            <a:r>
              <a:rPr lang="en-IN" dirty="0" smtClean="0"/>
              <a:t>, </a:t>
            </a:r>
            <a:r>
              <a:rPr lang="en-IN" dirty="0" smtClean="0">
                <a:solidFill>
                  <a:srgbClr val="002060"/>
                </a:solidFill>
              </a:rPr>
              <a:t>2) a semicolon</a:t>
            </a:r>
            <a:r>
              <a:rPr lang="en-IN" dirty="0" smtClean="0"/>
              <a:t>, or </a:t>
            </a:r>
            <a:r>
              <a:rPr lang="en-IN" dirty="0" smtClean="0">
                <a:solidFill>
                  <a:srgbClr val="7030A0"/>
                </a:solidFill>
              </a:rPr>
              <a:t>3) a period</a:t>
            </a:r>
            <a:r>
              <a:rPr lang="en-IN" dirty="0" smtClean="0"/>
              <a:t>.</a:t>
            </a:r>
            <a:endParaRPr lang="en-IN" dirty="0"/>
          </a:p>
        </p:txBody>
      </p:sp>
    </p:spTree>
    <p:extLst>
      <p:ext uri="{BB962C8B-B14F-4D97-AF65-F5344CB8AC3E}">
        <p14:creationId xmlns:p14="http://schemas.microsoft.com/office/powerpoint/2010/main" val="1453916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514350" indent="-514350">
              <a:buAutoNum type="arabicParenR"/>
            </a:pPr>
            <a:r>
              <a:rPr lang="en-IN" dirty="0" smtClean="0">
                <a:solidFill>
                  <a:srgbClr val="00B050"/>
                </a:solidFill>
              </a:rPr>
              <a:t>My </a:t>
            </a:r>
            <a:r>
              <a:rPr lang="en-IN" dirty="0" err="1" smtClean="0">
                <a:solidFill>
                  <a:srgbClr val="00B050"/>
                </a:solidFill>
              </a:rPr>
              <a:t>favorite</a:t>
            </a:r>
            <a:r>
              <a:rPr lang="en-IN" dirty="0" smtClean="0">
                <a:solidFill>
                  <a:srgbClr val="00B050"/>
                </a:solidFill>
              </a:rPr>
              <a:t> book is </a:t>
            </a:r>
            <a:r>
              <a:rPr lang="en-IN" i="1" dirty="0" smtClean="0">
                <a:solidFill>
                  <a:srgbClr val="00B050"/>
                </a:solidFill>
              </a:rPr>
              <a:t>The Fellowship of the Ring</a:t>
            </a:r>
            <a:r>
              <a:rPr lang="en-IN" dirty="0" smtClean="0">
                <a:solidFill>
                  <a:srgbClr val="00B050"/>
                </a:solidFill>
              </a:rPr>
              <a:t>, and Legolas is the best character ever. </a:t>
            </a:r>
          </a:p>
          <a:p>
            <a:pPr marL="514350" indent="-514350">
              <a:buAutoNum type="arabicParenR"/>
            </a:pPr>
            <a:r>
              <a:rPr lang="en-IN" dirty="0" smtClean="0">
                <a:solidFill>
                  <a:srgbClr val="00B050"/>
                </a:solidFill>
              </a:rPr>
              <a:t>My </a:t>
            </a:r>
            <a:r>
              <a:rPr lang="en-IN" dirty="0" err="1" smtClean="0">
                <a:solidFill>
                  <a:srgbClr val="00B050"/>
                </a:solidFill>
              </a:rPr>
              <a:t>favorite</a:t>
            </a:r>
            <a:r>
              <a:rPr lang="en-IN" dirty="0" smtClean="0">
                <a:solidFill>
                  <a:srgbClr val="00B050"/>
                </a:solidFill>
              </a:rPr>
              <a:t> book is </a:t>
            </a:r>
            <a:r>
              <a:rPr lang="en-IN" i="1" dirty="0" smtClean="0">
                <a:solidFill>
                  <a:srgbClr val="00B050"/>
                </a:solidFill>
              </a:rPr>
              <a:t>The Fellowship of the Ring</a:t>
            </a:r>
            <a:r>
              <a:rPr lang="en-IN" dirty="0" smtClean="0">
                <a:solidFill>
                  <a:srgbClr val="00B050"/>
                </a:solidFill>
              </a:rPr>
              <a:t>; Legolas is the best character ever. </a:t>
            </a:r>
          </a:p>
          <a:p>
            <a:pPr marL="514350" indent="-514350">
              <a:buAutoNum type="arabicParenR"/>
            </a:pPr>
            <a:r>
              <a:rPr lang="en-IN" dirty="0" smtClean="0">
                <a:solidFill>
                  <a:srgbClr val="00B050"/>
                </a:solidFill>
              </a:rPr>
              <a:t>My </a:t>
            </a:r>
            <a:r>
              <a:rPr lang="en-IN" dirty="0" err="1" smtClean="0">
                <a:solidFill>
                  <a:srgbClr val="00B050"/>
                </a:solidFill>
              </a:rPr>
              <a:t>favorite</a:t>
            </a:r>
            <a:r>
              <a:rPr lang="en-IN" dirty="0" smtClean="0">
                <a:solidFill>
                  <a:srgbClr val="00B050"/>
                </a:solidFill>
              </a:rPr>
              <a:t> book is </a:t>
            </a:r>
            <a:r>
              <a:rPr lang="en-IN" i="1" dirty="0" smtClean="0">
                <a:solidFill>
                  <a:srgbClr val="00B050"/>
                </a:solidFill>
              </a:rPr>
              <a:t>The Fellowship of the Ring</a:t>
            </a:r>
            <a:r>
              <a:rPr lang="en-IN" dirty="0" smtClean="0">
                <a:solidFill>
                  <a:srgbClr val="00B050"/>
                </a:solidFill>
              </a:rPr>
              <a:t>. Legolas is the best character ever. </a:t>
            </a:r>
            <a:endParaRPr lang="en-IN" dirty="0">
              <a:solidFill>
                <a:srgbClr val="00B050"/>
              </a:solidFill>
            </a:endParaRPr>
          </a:p>
        </p:txBody>
      </p:sp>
    </p:spTree>
    <p:extLst>
      <p:ext uri="{BB962C8B-B14F-4D97-AF65-F5344CB8AC3E}">
        <p14:creationId xmlns:p14="http://schemas.microsoft.com/office/powerpoint/2010/main" val="3352458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Sentence </a:t>
            </a:r>
            <a:r>
              <a:rPr lang="en-IN" b="1" dirty="0" smtClean="0"/>
              <a:t>Sprawl</a:t>
            </a:r>
            <a:endParaRPr lang="en-IN" dirty="0"/>
          </a:p>
        </p:txBody>
      </p:sp>
      <p:sp>
        <p:nvSpPr>
          <p:cNvPr id="3" name="Content Placeholder 2"/>
          <p:cNvSpPr>
            <a:spLocks noGrp="1"/>
          </p:cNvSpPr>
          <p:nvPr>
            <p:ph idx="1"/>
          </p:nvPr>
        </p:nvSpPr>
        <p:spPr/>
        <p:txBody>
          <a:bodyPr>
            <a:normAutofit/>
          </a:bodyPr>
          <a:lstStyle/>
          <a:p>
            <a:pPr fontAlgn="base"/>
            <a:r>
              <a:rPr lang="en-IN" dirty="0"/>
              <a:t>Too many equally weighted phrases and clauses produce tiresome sentences.</a:t>
            </a:r>
          </a:p>
          <a:p>
            <a:pPr marL="0" indent="0" fontAlgn="base">
              <a:buNone/>
            </a:pPr>
            <a:r>
              <a:rPr lang="en-IN" i="1" dirty="0" smtClean="0">
                <a:solidFill>
                  <a:srgbClr val="FF0000"/>
                </a:solidFill>
              </a:rPr>
              <a:t>The </a:t>
            </a:r>
            <a:r>
              <a:rPr lang="en-IN" i="1" dirty="0">
                <a:solidFill>
                  <a:srgbClr val="FF0000"/>
                </a:solidFill>
              </a:rPr>
              <a:t>hearing was planned for Monday, December 2, but not all of the witnesses could be available, so it was rescheduled for the following Friday, and then all the witnesses could attend</a:t>
            </a:r>
            <a:r>
              <a:rPr lang="en-IN" i="1" dirty="0" smtClean="0">
                <a:solidFill>
                  <a:srgbClr val="FF0000"/>
                </a:solidFill>
              </a:rPr>
              <a:t>.</a:t>
            </a:r>
          </a:p>
          <a:p>
            <a:pPr fontAlgn="base"/>
            <a:r>
              <a:rPr lang="en-IN" dirty="0" smtClean="0"/>
              <a:t>There </a:t>
            </a:r>
            <a:r>
              <a:rPr lang="en-IN" dirty="0"/>
              <a:t>are no grammatical errors here, but the sprawling sentence does not communicate clearly and concisely</a:t>
            </a:r>
            <a:r>
              <a:rPr lang="en-IN" dirty="0" smtClean="0"/>
              <a:t>.</a:t>
            </a:r>
            <a:endParaRPr lang="en-IN" dirty="0"/>
          </a:p>
          <a:p>
            <a:pPr marL="0" indent="0" fontAlgn="base">
              <a:buNone/>
            </a:pPr>
            <a:r>
              <a:rPr lang="en-IN" i="1" dirty="0" smtClean="0">
                <a:solidFill>
                  <a:srgbClr val="00B050"/>
                </a:solidFill>
              </a:rPr>
              <a:t>The </a:t>
            </a:r>
            <a:r>
              <a:rPr lang="en-IN" i="1" dirty="0">
                <a:solidFill>
                  <a:srgbClr val="00B050"/>
                </a:solidFill>
              </a:rPr>
              <a:t>hearing, which had been planned for Monday, December 2, was rescheduled for the following Friday so that all witnesses would be able to attend.</a:t>
            </a:r>
            <a:endParaRPr lang="en-IN" dirty="0">
              <a:solidFill>
                <a:srgbClr val="00B050"/>
              </a:solidFill>
            </a:endParaRPr>
          </a:p>
          <a:p>
            <a:endParaRPr lang="en-IN" dirty="0"/>
          </a:p>
        </p:txBody>
      </p:sp>
    </p:spTree>
    <p:extLst>
      <p:ext uri="{BB962C8B-B14F-4D97-AF65-F5344CB8AC3E}">
        <p14:creationId xmlns:p14="http://schemas.microsoft.com/office/powerpoint/2010/main" val="3548275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Faulty Sentence Structure</a:t>
            </a:r>
            <a:endParaRPr lang="en-IN" dirty="0"/>
          </a:p>
        </p:txBody>
      </p:sp>
      <p:sp>
        <p:nvSpPr>
          <p:cNvPr id="3" name="Content Placeholder 2"/>
          <p:cNvSpPr>
            <a:spLocks noGrp="1"/>
          </p:cNvSpPr>
          <p:nvPr>
            <p:ph idx="1"/>
          </p:nvPr>
        </p:nvSpPr>
        <p:spPr/>
        <p:txBody>
          <a:bodyPr>
            <a:normAutofit/>
          </a:bodyPr>
          <a:lstStyle/>
          <a:p>
            <a:r>
              <a:rPr lang="en-IN" dirty="0"/>
              <a:t>If a sentence starts out with one kind of structure and then changes to another kind, it will confuse readers.</a:t>
            </a:r>
          </a:p>
          <a:p>
            <a:pPr marL="0" indent="0">
              <a:buNone/>
            </a:pPr>
            <a:r>
              <a:rPr lang="en-IN" i="1" dirty="0">
                <a:solidFill>
                  <a:srgbClr val="FF0000"/>
                </a:solidFill>
              </a:rPr>
              <a:t>The information that families have access to is what financial aid is available and thinking about the classes available, and how to register.</a:t>
            </a:r>
            <a:endParaRPr lang="en-IN" dirty="0">
              <a:solidFill>
                <a:srgbClr val="FF0000"/>
              </a:solidFill>
            </a:endParaRPr>
          </a:p>
          <a:p>
            <a:r>
              <a:rPr lang="en-IN" dirty="0"/>
              <a:t>Maintain the grammatical pattern within a sentence.  Each sentence must have a subject and a verb, and the subjects and predicates must make sense together.  </a:t>
            </a:r>
            <a:endParaRPr lang="en-IN" dirty="0" smtClean="0"/>
          </a:p>
          <a:p>
            <a:pPr marL="0" indent="0">
              <a:buNone/>
            </a:pPr>
            <a:r>
              <a:rPr lang="en-IN" i="1" dirty="0" smtClean="0">
                <a:solidFill>
                  <a:srgbClr val="00B050"/>
                </a:solidFill>
              </a:rPr>
              <a:t>Families </a:t>
            </a:r>
            <a:r>
              <a:rPr lang="en-IN" i="1" dirty="0">
                <a:solidFill>
                  <a:srgbClr val="00B050"/>
                </a:solidFill>
              </a:rPr>
              <a:t>have access to information about financial aid, class availability, and registration.</a:t>
            </a:r>
            <a:endParaRPr lang="en-IN" dirty="0">
              <a:solidFill>
                <a:srgbClr val="00B050"/>
              </a:solidFill>
            </a:endParaRPr>
          </a:p>
          <a:p>
            <a:endParaRPr lang="en-IN" dirty="0"/>
          </a:p>
        </p:txBody>
      </p:sp>
    </p:spTree>
    <p:extLst>
      <p:ext uri="{BB962C8B-B14F-4D97-AF65-F5344CB8AC3E}">
        <p14:creationId xmlns:p14="http://schemas.microsoft.com/office/powerpoint/2010/main" val="606535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Unnecessary Shift in Verb </a:t>
            </a:r>
            <a:r>
              <a:rPr lang="en-IN" b="1" dirty="0" smtClean="0"/>
              <a:t>Tense</a:t>
            </a:r>
            <a:endParaRPr lang="en-IN" dirty="0"/>
          </a:p>
        </p:txBody>
      </p:sp>
      <p:sp>
        <p:nvSpPr>
          <p:cNvPr id="3" name="Content Placeholder 2"/>
          <p:cNvSpPr>
            <a:spLocks noGrp="1"/>
          </p:cNvSpPr>
          <p:nvPr>
            <p:ph idx="1"/>
          </p:nvPr>
        </p:nvSpPr>
        <p:spPr/>
        <p:txBody>
          <a:bodyPr/>
          <a:lstStyle/>
          <a:p>
            <a:r>
              <a:rPr lang="en-IN" dirty="0"/>
              <a:t>Verbs that shift from one tense to another with no clear reason can confuse readers.</a:t>
            </a:r>
          </a:p>
          <a:p>
            <a:pPr marL="0" indent="0">
              <a:buNone/>
            </a:pPr>
            <a:r>
              <a:rPr lang="en-IN" i="1" dirty="0" smtClean="0"/>
              <a:t>Example: Martin </a:t>
            </a:r>
            <a:r>
              <a:rPr lang="en-IN" i="1" dirty="0">
                <a:solidFill>
                  <a:schemeClr val="accent2">
                    <a:lumMod val="75000"/>
                  </a:schemeClr>
                </a:solidFill>
              </a:rPr>
              <a:t>searched</a:t>
            </a:r>
            <a:r>
              <a:rPr lang="en-IN" i="1" dirty="0"/>
              <a:t> for a great horned owl.  He </a:t>
            </a:r>
            <a:r>
              <a:rPr lang="en-IN" i="1" dirty="0">
                <a:solidFill>
                  <a:schemeClr val="accent2">
                    <a:lumMod val="75000"/>
                  </a:schemeClr>
                </a:solidFill>
              </a:rPr>
              <a:t>takes</a:t>
            </a:r>
            <a:r>
              <a:rPr lang="en-IN" i="1" dirty="0"/>
              <a:t> photographs of all the birds he </a:t>
            </a:r>
            <a:r>
              <a:rPr lang="en-IN" i="1" dirty="0">
                <a:solidFill>
                  <a:schemeClr val="accent2">
                    <a:lumMod val="75000"/>
                  </a:schemeClr>
                </a:solidFill>
              </a:rPr>
              <a:t>sights</a:t>
            </a:r>
            <a:r>
              <a:rPr lang="en-IN" i="1" dirty="0"/>
              <a:t>.</a:t>
            </a:r>
            <a:endParaRPr lang="en-IN" dirty="0"/>
          </a:p>
          <a:p>
            <a:endParaRPr lang="en-IN" dirty="0"/>
          </a:p>
        </p:txBody>
      </p:sp>
    </p:spTree>
    <p:extLst>
      <p:ext uri="{BB962C8B-B14F-4D97-AF65-F5344CB8AC3E}">
        <p14:creationId xmlns:p14="http://schemas.microsoft.com/office/powerpoint/2010/main" val="154869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Present/Past Tense</a:t>
            </a:r>
            <a:endParaRPr lang="en-IN" b="1" dirty="0"/>
          </a:p>
        </p:txBody>
      </p:sp>
      <p:sp>
        <p:nvSpPr>
          <p:cNvPr id="3" name="Content Placeholder 2"/>
          <p:cNvSpPr>
            <a:spLocks noGrp="1"/>
          </p:cNvSpPr>
          <p:nvPr>
            <p:ph idx="1"/>
          </p:nvPr>
        </p:nvSpPr>
        <p:spPr/>
        <p:txBody>
          <a:bodyPr/>
          <a:lstStyle/>
          <a:p>
            <a:r>
              <a:rPr lang="en-IN" dirty="0" smtClean="0"/>
              <a:t>Most academic writing is done in the present tense. Watch out for accidental slips into past tense, especially when discussing other writings. </a:t>
            </a:r>
          </a:p>
          <a:p>
            <a:pPr marL="0" indent="0">
              <a:buNone/>
            </a:pPr>
            <a:endParaRPr lang="en-IN" dirty="0" smtClean="0"/>
          </a:p>
          <a:p>
            <a:pPr marL="0" indent="0">
              <a:buNone/>
            </a:pPr>
            <a:r>
              <a:rPr lang="en-IN" dirty="0" smtClean="0"/>
              <a:t>Instead of: </a:t>
            </a:r>
            <a:r>
              <a:rPr lang="en-IN" dirty="0" smtClean="0">
                <a:solidFill>
                  <a:srgbClr val="FF0000"/>
                </a:solidFill>
              </a:rPr>
              <a:t>C. S. Lewis’s character Susan was not able to stay in Narnia because she represented those who fall away from belief in Christ.</a:t>
            </a:r>
            <a:r>
              <a:rPr lang="en-IN" dirty="0" smtClean="0"/>
              <a:t> </a:t>
            </a:r>
          </a:p>
          <a:p>
            <a:pPr marL="0" indent="0">
              <a:buNone/>
            </a:pPr>
            <a:endParaRPr lang="en-IN" dirty="0" smtClean="0"/>
          </a:p>
          <a:p>
            <a:pPr marL="0" indent="0">
              <a:buNone/>
            </a:pPr>
            <a:r>
              <a:rPr lang="en-IN" dirty="0" smtClean="0"/>
              <a:t>Try: </a:t>
            </a:r>
            <a:r>
              <a:rPr lang="en-IN" dirty="0" smtClean="0">
                <a:solidFill>
                  <a:srgbClr val="00B050"/>
                </a:solidFill>
              </a:rPr>
              <a:t>C. S. Lewis’s character Susan is not able to stay in Narnia because she represents those who fall away from belief in Christ. </a:t>
            </a:r>
            <a:endParaRPr lang="en-IN" dirty="0">
              <a:solidFill>
                <a:srgbClr val="00B050"/>
              </a:solidFill>
            </a:endParaRPr>
          </a:p>
        </p:txBody>
      </p:sp>
    </p:spTree>
    <p:extLst>
      <p:ext uri="{BB962C8B-B14F-4D97-AF65-F5344CB8AC3E}">
        <p14:creationId xmlns:p14="http://schemas.microsoft.com/office/powerpoint/2010/main" val="162449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Misplaced and D</a:t>
            </a:r>
            <a:r>
              <a:rPr lang="en-IN" b="1" dirty="0" smtClean="0"/>
              <a:t>angling Modifiers</a:t>
            </a:r>
            <a:endParaRPr lang="en-IN" dirty="0"/>
          </a:p>
        </p:txBody>
      </p:sp>
      <p:sp>
        <p:nvSpPr>
          <p:cNvPr id="3" name="Content Placeholder 2"/>
          <p:cNvSpPr>
            <a:spLocks noGrp="1"/>
          </p:cNvSpPr>
          <p:nvPr>
            <p:ph idx="1"/>
          </p:nvPr>
        </p:nvSpPr>
        <p:spPr/>
        <p:txBody>
          <a:bodyPr>
            <a:normAutofit lnSpcReduction="10000"/>
          </a:bodyPr>
          <a:lstStyle/>
          <a:p>
            <a:pPr fontAlgn="base"/>
            <a:r>
              <a:rPr lang="en-IN" dirty="0"/>
              <a:t>Place modifiers near the words they describe; be sure the modified words actually appear in the sentence.</a:t>
            </a:r>
          </a:p>
          <a:p>
            <a:pPr fontAlgn="base"/>
            <a:r>
              <a:rPr lang="en-IN" dirty="0" smtClean="0"/>
              <a:t>Too </a:t>
            </a:r>
            <a:r>
              <a:rPr lang="en-IN" dirty="0"/>
              <a:t>many equally weighted phrases and clauses produce tiresome sentences.</a:t>
            </a:r>
          </a:p>
          <a:p>
            <a:pPr marL="0" indent="0" fontAlgn="base">
              <a:buNone/>
            </a:pPr>
            <a:r>
              <a:rPr lang="en-IN" i="1" dirty="0" smtClean="0">
                <a:solidFill>
                  <a:srgbClr val="FF0000"/>
                </a:solidFill>
              </a:rPr>
              <a:t>When </a:t>
            </a:r>
            <a:r>
              <a:rPr lang="en-IN" i="1" dirty="0">
                <a:solidFill>
                  <a:srgbClr val="FF0000"/>
                </a:solidFill>
              </a:rPr>
              <a:t>writing a proposal, an original task is set for research.</a:t>
            </a:r>
            <a:endParaRPr lang="en-IN" dirty="0">
              <a:solidFill>
                <a:srgbClr val="FF0000"/>
              </a:solidFill>
            </a:endParaRPr>
          </a:p>
          <a:p>
            <a:pPr marL="0" indent="0" fontAlgn="base">
              <a:buNone/>
            </a:pPr>
            <a:r>
              <a:rPr lang="en-IN" i="1" dirty="0" smtClean="0">
                <a:solidFill>
                  <a:srgbClr val="00B050"/>
                </a:solidFill>
              </a:rPr>
              <a:t>When </a:t>
            </a:r>
            <a:r>
              <a:rPr lang="en-IN" i="1" dirty="0">
                <a:solidFill>
                  <a:srgbClr val="00B050"/>
                </a:solidFill>
              </a:rPr>
              <a:t>writing a proposal, a scholar sets an original task for research.</a:t>
            </a:r>
            <a:endParaRPr lang="en-IN" dirty="0">
              <a:solidFill>
                <a:srgbClr val="00B050"/>
              </a:solidFill>
            </a:endParaRPr>
          </a:p>
          <a:p>
            <a:pPr marL="0" indent="0" fontAlgn="base">
              <a:buNone/>
            </a:pPr>
            <a:r>
              <a:rPr lang="en-IN" i="1" dirty="0" smtClean="0">
                <a:solidFill>
                  <a:srgbClr val="FF0000"/>
                </a:solidFill>
              </a:rPr>
              <a:t>Many </a:t>
            </a:r>
            <a:r>
              <a:rPr lang="en-IN" i="1" dirty="0">
                <a:solidFill>
                  <a:srgbClr val="FF0000"/>
                </a:solidFill>
              </a:rPr>
              <a:t>tourists visit Arlington National Cemetery, where veterans and military personnel are buried every day from 9:00 a.m. until 5:00 p.m.</a:t>
            </a:r>
            <a:endParaRPr lang="en-IN" dirty="0">
              <a:solidFill>
                <a:srgbClr val="FF0000"/>
              </a:solidFill>
            </a:endParaRPr>
          </a:p>
          <a:p>
            <a:pPr marL="0" indent="0" fontAlgn="base">
              <a:buNone/>
            </a:pPr>
            <a:r>
              <a:rPr lang="en-IN" i="1" dirty="0" smtClean="0">
                <a:solidFill>
                  <a:srgbClr val="00B050"/>
                </a:solidFill>
              </a:rPr>
              <a:t>Every </a:t>
            </a:r>
            <a:r>
              <a:rPr lang="en-IN" i="1" dirty="0">
                <a:solidFill>
                  <a:srgbClr val="00B050"/>
                </a:solidFill>
              </a:rPr>
              <a:t>day from 9:00 a.m. until 5:00 p.m., many tourists visit Arlington National Cemetery, where veterans and military personnel are buried.</a:t>
            </a:r>
            <a:endParaRPr lang="en-IN" dirty="0">
              <a:solidFill>
                <a:srgbClr val="00B050"/>
              </a:solidFill>
            </a:endParaRPr>
          </a:p>
          <a:p>
            <a:endParaRPr lang="en-IN" dirty="0"/>
          </a:p>
        </p:txBody>
      </p:sp>
    </p:spTree>
    <p:extLst>
      <p:ext uri="{BB962C8B-B14F-4D97-AF65-F5344CB8AC3E}">
        <p14:creationId xmlns:p14="http://schemas.microsoft.com/office/powerpoint/2010/main" val="2088836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Squinting </a:t>
            </a:r>
            <a:r>
              <a:rPr lang="en-IN" b="1" dirty="0" smtClean="0"/>
              <a:t>Modifiers</a:t>
            </a:r>
            <a:endParaRPr lang="en-IN" dirty="0"/>
          </a:p>
        </p:txBody>
      </p:sp>
      <p:sp>
        <p:nvSpPr>
          <p:cNvPr id="3" name="Content Placeholder 2"/>
          <p:cNvSpPr>
            <a:spLocks noGrp="1"/>
          </p:cNvSpPr>
          <p:nvPr>
            <p:ph idx="1"/>
          </p:nvPr>
        </p:nvSpPr>
        <p:spPr/>
        <p:txBody>
          <a:bodyPr>
            <a:normAutofit/>
          </a:bodyPr>
          <a:lstStyle/>
          <a:p>
            <a:r>
              <a:rPr lang="en-IN" dirty="0"/>
              <a:t>A squinting modifier is a word, phrase, or clause that could modify the word before it or the word after it.</a:t>
            </a:r>
          </a:p>
          <a:p>
            <a:pPr marL="0" indent="0">
              <a:buNone/>
            </a:pPr>
            <a:r>
              <a:rPr lang="en-IN" dirty="0">
                <a:solidFill>
                  <a:srgbClr val="FF0000"/>
                </a:solidFill>
              </a:rPr>
              <a:t>Students who study rarely get bad grades.</a:t>
            </a:r>
          </a:p>
          <a:p>
            <a:endParaRPr lang="en-IN" i="1" dirty="0" smtClean="0"/>
          </a:p>
          <a:p>
            <a:r>
              <a:rPr lang="en-IN" i="1" dirty="0" smtClean="0"/>
              <a:t>Solution</a:t>
            </a:r>
            <a:r>
              <a:rPr lang="en-IN" i="1" dirty="0"/>
              <a:t>:</a:t>
            </a:r>
            <a:r>
              <a:rPr lang="en-IN" dirty="0"/>
              <a:t> Put the modifier next to the word it should modify.</a:t>
            </a:r>
          </a:p>
          <a:p>
            <a:pPr marL="0" indent="0">
              <a:buNone/>
            </a:pPr>
            <a:r>
              <a:rPr lang="en-IN" dirty="0" smtClean="0">
                <a:solidFill>
                  <a:srgbClr val="00B050"/>
                </a:solidFill>
              </a:rPr>
              <a:t>Students </a:t>
            </a:r>
            <a:r>
              <a:rPr lang="en-IN" dirty="0">
                <a:solidFill>
                  <a:srgbClr val="00B050"/>
                </a:solidFill>
              </a:rPr>
              <a:t>who rarely study get bad grades. </a:t>
            </a:r>
            <a:endParaRPr lang="en-IN" dirty="0" smtClean="0">
              <a:solidFill>
                <a:srgbClr val="00B050"/>
              </a:solidFill>
            </a:endParaRPr>
          </a:p>
          <a:p>
            <a:pPr marL="0" indent="0">
              <a:buNone/>
            </a:pPr>
            <a:r>
              <a:rPr lang="en-IN" dirty="0" smtClean="0">
                <a:solidFill>
                  <a:srgbClr val="00B050"/>
                </a:solidFill>
              </a:rPr>
              <a:t>OR</a:t>
            </a:r>
            <a:r>
              <a:rPr lang="en-IN" dirty="0">
                <a:solidFill>
                  <a:srgbClr val="00B050"/>
                </a:solidFill>
              </a:rPr>
              <a:t> </a:t>
            </a:r>
            <a:endParaRPr lang="en-IN" dirty="0" smtClean="0">
              <a:solidFill>
                <a:srgbClr val="00B050"/>
              </a:solidFill>
            </a:endParaRPr>
          </a:p>
          <a:p>
            <a:pPr marL="0" indent="0">
              <a:buNone/>
            </a:pPr>
            <a:r>
              <a:rPr lang="en-IN" dirty="0" smtClean="0">
                <a:solidFill>
                  <a:srgbClr val="00B050"/>
                </a:solidFill>
              </a:rPr>
              <a:t>Students </a:t>
            </a:r>
            <a:r>
              <a:rPr lang="en-IN" dirty="0">
                <a:solidFill>
                  <a:srgbClr val="00B050"/>
                </a:solidFill>
              </a:rPr>
              <a:t>who study get bad grades rarely .</a:t>
            </a:r>
          </a:p>
          <a:p>
            <a:endParaRPr lang="en-IN" dirty="0"/>
          </a:p>
        </p:txBody>
      </p:sp>
    </p:spTree>
    <p:extLst>
      <p:ext uri="{BB962C8B-B14F-4D97-AF65-F5344CB8AC3E}">
        <p14:creationId xmlns:p14="http://schemas.microsoft.com/office/powerpoint/2010/main" val="222480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Faulty P</a:t>
            </a:r>
            <a:r>
              <a:rPr lang="en-IN" b="1" dirty="0" smtClean="0"/>
              <a:t>arallelism</a:t>
            </a:r>
            <a:endParaRPr lang="en-IN" dirty="0"/>
          </a:p>
        </p:txBody>
      </p:sp>
      <p:sp>
        <p:nvSpPr>
          <p:cNvPr id="3" name="Content Placeholder 2"/>
          <p:cNvSpPr>
            <a:spLocks noGrp="1"/>
          </p:cNvSpPr>
          <p:nvPr>
            <p:ph idx="1"/>
          </p:nvPr>
        </p:nvSpPr>
        <p:spPr/>
        <p:txBody>
          <a:bodyPr>
            <a:normAutofit lnSpcReduction="10000"/>
          </a:bodyPr>
          <a:lstStyle/>
          <a:p>
            <a:pPr fontAlgn="base"/>
            <a:r>
              <a:rPr lang="en-IN" dirty="0"/>
              <a:t>Be sure you use grammatically equal sentence elements to express two or more matching ideas or items in a series.</a:t>
            </a:r>
          </a:p>
          <a:p>
            <a:pPr marL="0" indent="0" fontAlgn="base">
              <a:buNone/>
            </a:pPr>
            <a:r>
              <a:rPr lang="en-IN" i="1" dirty="0" smtClean="0">
                <a:solidFill>
                  <a:srgbClr val="FF0000"/>
                </a:solidFill>
              </a:rPr>
              <a:t>The </a:t>
            </a:r>
            <a:r>
              <a:rPr lang="en-IN" i="1" dirty="0">
                <a:solidFill>
                  <a:srgbClr val="FF0000"/>
                </a:solidFill>
              </a:rPr>
              <a:t>candidate’s goals include winning the election, a national health program, and the educational system.</a:t>
            </a:r>
            <a:endParaRPr lang="en-IN" dirty="0">
              <a:solidFill>
                <a:srgbClr val="FF0000"/>
              </a:solidFill>
            </a:endParaRPr>
          </a:p>
          <a:p>
            <a:pPr marL="0" indent="0" fontAlgn="base">
              <a:buNone/>
            </a:pPr>
            <a:r>
              <a:rPr lang="en-IN" i="1" dirty="0" smtClean="0">
                <a:solidFill>
                  <a:srgbClr val="00B050"/>
                </a:solidFill>
              </a:rPr>
              <a:t>The </a:t>
            </a:r>
            <a:r>
              <a:rPr lang="en-IN" i="1" dirty="0">
                <a:solidFill>
                  <a:srgbClr val="00B050"/>
                </a:solidFill>
              </a:rPr>
              <a:t>candidate’s goals include winning the election, enacting a national health program, and improving the educational system.</a:t>
            </a:r>
            <a:endParaRPr lang="en-IN" dirty="0">
              <a:solidFill>
                <a:srgbClr val="00B050"/>
              </a:solidFill>
            </a:endParaRPr>
          </a:p>
          <a:p>
            <a:pPr marL="0" indent="0" fontAlgn="base">
              <a:buNone/>
            </a:pPr>
            <a:r>
              <a:rPr lang="en-IN" i="1" dirty="0" smtClean="0">
                <a:solidFill>
                  <a:srgbClr val="FF0000"/>
                </a:solidFill>
              </a:rPr>
              <a:t>Some </a:t>
            </a:r>
            <a:r>
              <a:rPr lang="en-IN" i="1" dirty="0">
                <a:solidFill>
                  <a:srgbClr val="FF0000"/>
                </a:solidFill>
              </a:rPr>
              <a:t>critics are not so much opposed to capital punishment as postponing it for so long.</a:t>
            </a:r>
            <a:endParaRPr lang="en-IN" dirty="0">
              <a:solidFill>
                <a:srgbClr val="FF0000"/>
              </a:solidFill>
            </a:endParaRPr>
          </a:p>
          <a:p>
            <a:pPr marL="0" indent="0" fontAlgn="base">
              <a:buNone/>
            </a:pPr>
            <a:r>
              <a:rPr lang="en-IN" i="1" dirty="0" smtClean="0">
                <a:solidFill>
                  <a:srgbClr val="00B050"/>
                </a:solidFill>
              </a:rPr>
              <a:t>Some </a:t>
            </a:r>
            <a:r>
              <a:rPr lang="en-IN" i="1" dirty="0">
                <a:solidFill>
                  <a:srgbClr val="00B050"/>
                </a:solidFill>
              </a:rPr>
              <a:t>critics are not so much opposed to capital punishment as they are to postponing it for so long.</a:t>
            </a:r>
            <a:endParaRPr lang="en-IN" dirty="0">
              <a:solidFill>
                <a:srgbClr val="00B050"/>
              </a:solidFill>
            </a:endParaRPr>
          </a:p>
          <a:p>
            <a:endParaRPr lang="en-IN" dirty="0"/>
          </a:p>
        </p:txBody>
      </p:sp>
    </p:spTree>
    <p:extLst>
      <p:ext uri="{BB962C8B-B14F-4D97-AF65-F5344CB8AC3E}">
        <p14:creationId xmlns:p14="http://schemas.microsoft.com/office/powerpoint/2010/main" val="1789536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Subject/Verb Agreement</a:t>
            </a:r>
            <a:endParaRPr lang="en-IN" b="1" dirty="0"/>
          </a:p>
        </p:txBody>
      </p:sp>
      <p:sp>
        <p:nvSpPr>
          <p:cNvPr id="3" name="Content Placeholder 2"/>
          <p:cNvSpPr>
            <a:spLocks noGrp="1"/>
          </p:cNvSpPr>
          <p:nvPr>
            <p:ph idx="1"/>
          </p:nvPr>
        </p:nvSpPr>
        <p:spPr/>
        <p:txBody>
          <a:bodyPr/>
          <a:lstStyle/>
          <a:p>
            <a:r>
              <a:rPr lang="en-IN" dirty="0" smtClean="0"/>
              <a:t>Subjects and verbs must agree in number. Singular subjects require singular verbs, and plural subjects require plural verbs. </a:t>
            </a:r>
          </a:p>
          <a:p>
            <a:pPr marL="0" indent="0">
              <a:buNone/>
            </a:pPr>
            <a:endParaRPr lang="en-IN" dirty="0" smtClean="0"/>
          </a:p>
          <a:p>
            <a:pPr marL="0" indent="0">
              <a:buNone/>
            </a:pPr>
            <a:r>
              <a:rPr lang="en-IN" dirty="0" smtClean="0">
                <a:solidFill>
                  <a:srgbClr val="00B050"/>
                </a:solidFill>
              </a:rPr>
              <a:t>Whataburger is a wonderful fast food restaurant. </a:t>
            </a:r>
          </a:p>
          <a:p>
            <a:pPr marL="0" indent="0">
              <a:buNone/>
            </a:pPr>
            <a:r>
              <a:rPr lang="en-IN" dirty="0" smtClean="0">
                <a:solidFill>
                  <a:srgbClr val="00B050"/>
                </a:solidFill>
              </a:rPr>
              <a:t>Swans are dangerous birds when threatened.</a:t>
            </a:r>
            <a:r>
              <a:rPr lang="en-IN" dirty="0" smtClean="0"/>
              <a:t> </a:t>
            </a:r>
            <a:endParaRPr lang="en-IN" dirty="0"/>
          </a:p>
        </p:txBody>
      </p:sp>
    </p:spTree>
    <p:extLst>
      <p:ext uri="{BB962C8B-B14F-4D97-AF65-F5344CB8AC3E}">
        <p14:creationId xmlns:p14="http://schemas.microsoft.com/office/powerpoint/2010/main" val="2565984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Pronoun/Antecedent Agreement </a:t>
            </a:r>
            <a:endParaRPr lang="en-IN" b="1" dirty="0"/>
          </a:p>
        </p:txBody>
      </p:sp>
      <p:sp>
        <p:nvSpPr>
          <p:cNvPr id="3" name="Content Placeholder 2"/>
          <p:cNvSpPr>
            <a:spLocks noGrp="1"/>
          </p:cNvSpPr>
          <p:nvPr>
            <p:ph idx="1"/>
          </p:nvPr>
        </p:nvSpPr>
        <p:spPr/>
        <p:txBody>
          <a:bodyPr>
            <a:normAutofit lnSpcReduction="10000"/>
          </a:bodyPr>
          <a:lstStyle/>
          <a:p>
            <a:r>
              <a:rPr lang="en-IN" dirty="0" smtClean="0"/>
              <a:t>The standards of the Modern Language Association (MLA) require pronoun/antecedent agreement. It is imperative to ensure that pronouns and their antecedents, the nouns which are replaced by pronouns, agree. </a:t>
            </a:r>
          </a:p>
          <a:p>
            <a:pPr marL="0" indent="0">
              <a:buNone/>
            </a:pPr>
            <a:endParaRPr lang="en-IN" dirty="0" smtClean="0"/>
          </a:p>
          <a:p>
            <a:pPr marL="0" indent="0">
              <a:buNone/>
            </a:pPr>
            <a:r>
              <a:rPr lang="en-IN" dirty="0" smtClean="0">
                <a:solidFill>
                  <a:srgbClr val="00B050"/>
                </a:solidFill>
              </a:rPr>
              <a:t>Billy reluctantly told his mom about the incident with the cat and the vacuum. </a:t>
            </a:r>
          </a:p>
          <a:p>
            <a:pPr marL="0" indent="0">
              <a:buNone/>
            </a:pPr>
            <a:endParaRPr lang="en-IN" dirty="0"/>
          </a:p>
          <a:p>
            <a:r>
              <a:rPr lang="en-IN" dirty="0" smtClean="0"/>
              <a:t>In the example, the word “his” refers to Billy. Therefore, “Billy” is the antecedent of the pronoun “his.”</a:t>
            </a:r>
            <a:endParaRPr lang="en-IN" dirty="0"/>
          </a:p>
        </p:txBody>
      </p:sp>
    </p:spTree>
    <p:extLst>
      <p:ext uri="{BB962C8B-B14F-4D97-AF65-F5344CB8AC3E}">
        <p14:creationId xmlns:p14="http://schemas.microsoft.com/office/powerpoint/2010/main" val="2785649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Unclear </a:t>
            </a:r>
            <a:r>
              <a:rPr lang="en-IN" b="1" dirty="0" smtClean="0"/>
              <a:t>Pronoun Reference</a:t>
            </a:r>
            <a:endParaRPr lang="en-IN" dirty="0"/>
          </a:p>
        </p:txBody>
      </p:sp>
      <p:sp>
        <p:nvSpPr>
          <p:cNvPr id="3" name="Content Placeholder 2"/>
          <p:cNvSpPr>
            <a:spLocks noGrp="1"/>
          </p:cNvSpPr>
          <p:nvPr>
            <p:ph idx="1"/>
          </p:nvPr>
        </p:nvSpPr>
        <p:spPr/>
        <p:txBody>
          <a:bodyPr>
            <a:normAutofit fontScale="92500"/>
          </a:bodyPr>
          <a:lstStyle/>
          <a:p>
            <a:pPr fontAlgn="base"/>
            <a:r>
              <a:rPr lang="en-IN" dirty="0"/>
              <a:t>All pronouns must clearly refer to definite referents [nouns</a:t>
            </a:r>
            <a:r>
              <a:rPr lang="en-IN" dirty="0" smtClean="0"/>
              <a:t>]. Use</a:t>
            </a:r>
            <a:r>
              <a:rPr lang="en-IN" dirty="0"/>
              <a:t> </a:t>
            </a:r>
            <a:r>
              <a:rPr lang="en-IN" b="1" dirty="0"/>
              <a:t>it, they, this, that, these, those,</a:t>
            </a:r>
            <a:r>
              <a:rPr lang="en-IN" dirty="0"/>
              <a:t> and </a:t>
            </a:r>
            <a:r>
              <a:rPr lang="en-IN" b="1" dirty="0"/>
              <a:t>which</a:t>
            </a:r>
            <a:r>
              <a:rPr lang="en-IN" dirty="0"/>
              <a:t> carefully to prevent confusion.</a:t>
            </a:r>
          </a:p>
          <a:p>
            <a:pPr marL="0" indent="0" fontAlgn="base">
              <a:buNone/>
            </a:pPr>
            <a:r>
              <a:rPr lang="en-IN" b="1" dirty="0"/>
              <a:t>Unclear</a:t>
            </a:r>
            <a:r>
              <a:rPr lang="en-IN" b="1" dirty="0" smtClean="0"/>
              <a:t>:</a:t>
            </a:r>
            <a:r>
              <a:rPr lang="en-IN" b="1" dirty="0" smtClean="0">
                <a:solidFill>
                  <a:srgbClr val="FF0000"/>
                </a:solidFill>
              </a:rPr>
              <a:t> </a:t>
            </a:r>
            <a:r>
              <a:rPr lang="en-IN" i="1" dirty="0" smtClean="0">
                <a:solidFill>
                  <a:srgbClr val="FF0000"/>
                </a:solidFill>
              </a:rPr>
              <a:t>Einstein </a:t>
            </a:r>
            <a:r>
              <a:rPr lang="en-IN" i="1" dirty="0">
                <a:solidFill>
                  <a:srgbClr val="FF0000"/>
                </a:solidFill>
              </a:rPr>
              <a:t>was a brilliant mathematician. This is how he was able to explain the universe.</a:t>
            </a:r>
            <a:endParaRPr lang="en-IN" dirty="0">
              <a:solidFill>
                <a:srgbClr val="FF0000"/>
              </a:solidFill>
            </a:endParaRPr>
          </a:p>
          <a:p>
            <a:pPr marL="0" indent="0" fontAlgn="base">
              <a:buNone/>
            </a:pPr>
            <a:r>
              <a:rPr lang="en-IN" b="1" dirty="0"/>
              <a:t>Clear</a:t>
            </a:r>
            <a:r>
              <a:rPr lang="en-IN" b="1" dirty="0" smtClean="0"/>
              <a:t>: </a:t>
            </a:r>
            <a:r>
              <a:rPr lang="en-IN" i="1" dirty="0" smtClean="0">
                <a:solidFill>
                  <a:srgbClr val="00B050"/>
                </a:solidFill>
              </a:rPr>
              <a:t>Einstein</a:t>
            </a:r>
            <a:r>
              <a:rPr lang="en-IN" i="1" dirty="0">
                <a:solidFill>
                  <a:srgbClr val="00B050"/>
                </a:solidFill>
              </a:rPr>
              <a:t>, who was a brilliant mathematician, used his ability with numbers to explain the universe.</a:t>
            </a:r>
            <a:endParaRPr lang="en-IN" dirty="0">
              <a:solidFill>
                <a:srgbClr val="00B050"/>
              </a:solidFill>
            </a:endParaRPr>
          </a:p>
          <a:p>
            <a:pPr fontAlgn="base"/>
            <a:r>
              <a:rPr lang="en-IN" b="1" dirty="0"/>
              <a:t>Unclear</a:t>
            </a:r>
            <a:r>
              <a:rPr lang="en-IN" b="1" dirty="0" smtClean="0"/>
              <a:t>: </a:t>
            </a:r>
            <a:r>
              <a:rPr lang="en-IN" i="1" dirty="0" smtClean="0">
                <a:solidFill>
                  <a:srgbClr val="FF0000"/>
                </a:solidFill>
              </a:rPr>
              <a:t>Because </a:t>
            </a:r>
            <a:r>
              <a:rPr lang="en-IN" i="1" dirty="0">
                <a:solidFill>
                  <a:srgbClr val="FF0000"/>
                </a:solidFill>
              </a:rPr>
              <a:t>Senator Martin is less interested in the environment than in economic development, he sometimes neglects it.</a:t>
            </a:r>
            <a:endParaRPr lang="en-IN" dirty="0">
              <a:solidFill>
                <a:srgbClr val="FF0000"/>
              </a:solidFill>
            </a:endParaRPr>
          </a:p>
          <a:p>
            <a:pPr fontAlgn="base"/>
            <a:r>
              <a:rPr lang="en-IN" b="1" dirty="0"/>
              <a:t>Clear</a:t>
            </a:r>
            <a:r>
              <a:rPr lang="en-IN" b="1" dirty="0" smtClean="0"/>
              <a:t>: </a:t>
            </a:r>
            <a:r>
              <a:rPr lang="en-IN" i="1" dirty="0" smtClean="0">
                <a:solidFill>
                  <a:srgbClr val="00B050"/>
                </a:solidFill>
              </a:rPr>
              <a:t>Because </a:t>
            </a:r>
            <a:r>
              <a:rPr lang="en-IN" i="1" dirty="0">
                <a:solidFill>
                  <a:srgbClr val="00B050"/>
                </a:solidFill>
              </a:rPr>
              <a:t>of his interest in economic development, Senator Martin sometimes neglects the environment.</a:t>
            </a:r>
            <a:endParaRPr lang="en-IN" dirty="0">
              <a:solidFill>
                <a:srgbClr val="00B050"/>
              </a:solidFill>
            </a:endParaRPr>
          </a:p>
          <a:p>
            <a:endParaRPr lang="en-IN" dirty="0"/>
          </a:p>
        </p:txBody>
      </p:sp>
    </p:spTree>
    <p:extLst>
      <p:ext uri="{BB962C8B-B14F-4D97-AF65-F5344CB8AC3E}">
        <p14:creationId xmlns:p14="http://schemas.microsoft.com/office/powerpoint/2010/main" val="1252062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Incorrect </a:t>
            </a:r>
            <a:r>
              <a:rPr lang="en-IN" b="1" dirty="0" smtClean="0"/>
              <a:t>Pronoun Case</a:t>
            </a:r>
            <a:endParaRPr lang="en-IN" dirty="0"/>
          </a:p>
        </p:txBody>
      </p:sp>
      <p:sp>
        <p:nvSpPr>
          <p:cNvPr id="3" name="Content Placeholder 2"/>
          <p:cNvSpPr>
            <a:spLocks noGrp="1"/>
          </p:cNvSpPr>
          <p:nvPr>
            <p:ph idx="1"/>
          </p:nvPr>
        </p:nvSpPr>
        <p:spPr/>
        <p:txBody>
          <a:bodyPr>
            <a:normAutofit fontScale="92500" lnSpcReduction="20000"/>
          </a:bodyPr>
          <a:lstStyle/>
          <a:p>
            <a:pPr fontAlgn="base"/>
            <a:r>
              <a:rPr lang="en-IN" dirty="0"/>
              <a:t>Determine whether the pronoun is being used as a subject, or an object, or a possessive in the sentence, and select the pronoun form to match.</a:t>
            </a:r>
          </a:p>
          <a:p>
            <a:pPr marL="0" indent="0" fontAlgn="base">
              <a:buNone/>
            </a:pPr>
            <a:r>
              <a:rPr lang="en-IN" b="1" dirty="0"/>
              <a:t>Incorrect</a:t>
            </a:r>
            <a:r>
              <a:rPr lang="en-IN" b="1" dirty="0" smtClean="0"/>
              <a:t>: </a:t>
            </a:r>
            <a:r>
              <a:rPr lang="en-IN" i="1" dirty="0" smtClean="0">
                <a:solidFill>
                  <a:srgbClr val="FF0000"/>
                </a:solidFill>
              </a:rPr>
              <a:t>Castro’s </a:t>
            </a:r>
            <a:r>
              <a:rPr lang="en-IN" i="1" dirty="0">
                <a:solidFill>
                  <a:srgbClr val="FF0000"/>
                </a:solidFill>
              </a:rPr>
              <a:t>communist principles inevitably led to an ideological conflict between he and President Kennedy.</a:t>
            </a:r>
            <a:endParaRPr lang="en-IN" dirty="0">
              <a:solidFill>
                <a:srgbClr val="FF0000"/>
              </a:solidFill>
            </a:endParaRPr>
          </a:p>
          <a:p>
            <a:pPr marL="0" indent="0" fontAlgn="base">
              <a:buNone/>
            </a:pPr>
            <a:r>
              <a:rPr lang="en-IN" b="1" dirty="0"/>
              <a:t>Correct</a:t>
            </a:r>
            <a:r>
              <a:rPr lang="en-IN" b="1" dirty="0" smtClean="0"/>
              <a:t>: </a:t>
            </a:r>
            <a:r>
              <a:rPr lang="en-IN" i="1" dirty="0" smtClean="0">
                <a:solidFill>
                  <a:srgbClr val="00B050"/>
                </a:solidFill>
              </a:rPr>
              <a:t>Castro’s </a:t>
            </a:r>
            <a:r>
              <a:rPr lang="en-IN" i="1" dirty="0">
                <a:solidFill>
                  <a:srgbClr val="00B050"/>
                </a:solidFill>
              </a:rPr>
              <a:t>communist principles inevitably led to an ideological conflict between him and President Kennedy.</a:t>
            </a:r>
            <a:endParaRPr lang="en-IN" dirty="0">
              <a:solidFill>
                <a:srgbClr val="00B050"/>
              </a:solidFill>
            </a:endParaRPr>
          </a:p>
          <a:p>
            <a:pPr marL="0" indent="0" fontAlgn="base">
              <a:buNone/>
            </a:pPr>
            <a:r>
              <a:rPr lang="en-IN" b="1" dirty="0"/>
              <a:t>Incorrect</a:t>
            </a:r>
            <a:r>
              <a:rPr lang="en-IN" b="1" dirty="0" smtClean="0"/>
              <a:t>: </a:t>
            </a:r>
            <a:r>
              <a:rPr lang="en-IN" i="1" dirty="0" smtClean="0">
                <a:solidFill>
                  <a:srgbClr val="FF0000"/>
                </a:solidFill>
              </a:rPr>
              <a:t>Because </a:t>
            </a:r>
            <a:r>
              <a:rPr lang="en-IN" i="1" dirty="0">
                <a:solidFill>
                  <a:srgbClr val="FF0000"/>
                </a:solidFill>
              </a:rPr>
              <a:t>strict constructionists recommend fidelity to the Constitution as written, no one objects more than them to judicial reinterpretation.</a:t>
            </a:r>
            <a:endParaRPr lang="en-IN" dirty="0">
              <a:solidFill>
                <a:srgbClr val="FF0000"/>
              </a:solidFill>
            </a:endParaRPr>
          </a:p>
          <a:p>
            <a:pPr marL="0" indent="0" fontAlgn="base">
              <a:buNone/>
            </a:pPr>
            <a:r>
              <a:rPr lang="en-IN" b="1" dirty="0"/>
              <a:t>Correct</a:t>
            </a:r>
            <a:r>
              <a:rPr lang="en-IN" b="1" dirty="0" smtClean="0"/>
              <a:t>: </a:t>
            </a:r>
            <a:r>
              <a:rPr lang="en-IN" i="1" dirty="0" smtClean="0">
                <a:solidFill>
                  <a:srgbClr val="00B050"/>
                </a:solidFill>
              </a:rPr>
              <a:t>Because </a:t>
            </a:r>
            <a:r>
              <a:rPr lang="en-IN" i="1" dirty="0">
                <a:solidFill>
                  <a:srgbClr val="00B050"/>
                </a:solidFill>
              </a:rPr>
              <a:t>strict constructionists recommend fidelity to the Constitution as written, no one objects more than they [do] to judicial reinterpretation.</a:t>
            </a:r>
            <a:endParaRPr lang="en-IN" dirty="0">
              <a:solidFill>
                <a:srgbClr val="00B050"/>
              </a:solidFill>
            </a:endParaRPr>
          </a:p>
        </p:txBody>
      </p:sp>
    </p:spTree>
    <p:extLst>
      <p:ext uri="{BB962C8B-B14F-4D97-AF65-F5344CB8AC3E}">
        <p14:creationId xmlns:p14="http://schemas.microsoft.com/office/powerpoint/2010/main" val="1004183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Omitted </a:t>
            </a:r>
            <a:r>
              <a:rPr lang="en-IN" b="1" dirty="0" smtClean="0"/>
              <a:t>Commas</a:t>
            </a:r>
            <a:endParaRPr lang="en-IN" dirty="0"/>
          </a:p>
        </p:txBody>
      </p:sp>
      <p:sp>
        <p:nvSpPr>
          <p:cNvPr id="3" name="Content Placeholder 2"/>
          <p:cNvSpPr>
            <a:spLocks noGrp="1"/>
          </p:cNvSpPr>
          <p:nvPr>
            <p:ph idx="1"/>
          </p:nvPr>
        </p:nvSpPr>
        <p:spPr/>
        <p:txBody>
          <a:bodyPr>
            <a:normAutofit/>
          </a:bodyPr>
          <a:lstStyle/>
          <a:p>
            <a:pPr fontAlgn="base"/>
            <a:r>
              <a:rPr lang="en-IN" dirty="0"/>
              <a:t>Use commas to signal </a:t>
            </a:r>
            <a:r>
              <a:rPr lang="en-IN" dirty="0" smtClean="0"/>
              <a:t>non-restrictive </a:t>
            </a:r>
            <a:r>
              <a:rPr lang="en-IN" dirty="0"/>
              <a:t>or nonessential material, to prevent confusion, and to indicate relationships among ideas and sentence parts.</a:t>
            </a:r>
          </a:p>
          <a:p>
            <a:pPr marL="0" indent="0" fontAlgn="base">
              <a:buNone/>
            </a:pPr>
            <a:r>
              <a:rPr lang="en-IN" b="1" dirty="0"/>
              <a:t>Incorrect</a:t>
            </a:r>
            <a:r>
              <a:rPr lang="en-IN" b="1" dirty="0" smtClean="0"/>
              <a:t>: </a:t>
            </a:r>
            <a:r>
              <a:rPr lang="en-IN" i="1" dirty="0" smtClean="0">
                <a:solidFill>
                  <a:srgbClr val="FF0000"/>
                </a:solidFill>
              </a:rPr>
              <a:t>When </a:t>
            </a:r>
            <a:r>
              <a:rPr lang="en-IN" i="1" dirty="0">
                <a:solidFill>
                  <a:srgbClr val="FF0000"/>
                </a:solidFill>
              </a:rPr>
              <a:t>it comes to eating people differ in their tastes.</a:t>
            </a:r>
            <a:endParaRPr lang="en-IN" dirty="0">
              <a:solidFill>
                <a:srgbClr val="FF0000"/>
              </a:solidFill>
            </a:endParaRPr>
          </a:p>
          <a:p>
            <a:pPr marL="0" indent="0" fontAlgn="base">
              <a:buNone/>
            </a:pPr>
            <a:r>
              <a:rPr lang="en-IN" b="1" dirty="0"/>
              <a:t>Correct</a:t>
            </a:r>
            <a:r>
              <a:rPr lang="en-IN" b="1" dirty="0" smtClean="0"/>
              <a:t>: </a:t>
            </a:r>
            <a:r>
              <a:rPr lang="en-IN" i="1" dirty="0" smtClean="0">
                <a:solidFill>
                  <a:srgbClr val="00B050"/>
                </a:solidFill>
              </a:rPr>
              <a:t>When </a:t>
            </a:r>
            <a:r>
              <a:rPr lang="en-IN" i="1" dirty="0">
                <a:solidFill>
                  <a:srgbClr val="00B050"/>
                </a:solidFill>
              </a:rPr>
              <a:t>it comes to eating, people differ in their tastes.</a:t>
            </a:r>
            <a:endParaRPr lang="en-IN" dirty="0">
              <a:solidFill>
                <a:srgbClr val="00B050"/>
              </a:solidFill>
            </a:endParaRPr>
          </a:p>
          <a:p>
            <a:pPr marL="0" indent="0" fontAlgn="base">
              <a:buNone/>
            </a:pPr>
            <a:r>
              <a:rPr lang="en-IN" b="1" dirty="0"/>
              <a:t>Incorrect</a:t>
            </a:r>
            <a:r>
              <a:rPr lang="en-IN" b="1" dirty="0" smtClean="0"/>
              <a:t>: </a:t>
            </a:r>
            <a:r>
              <a:rPr lang="en-IN" i="1" dirty="0" smtClean="0">
                <a:solidFill>
                  <a:srgbClr val="FF0000"/>
                </a:solidFill>
              </a:rPr>
              <a:t>The </a:t>
            </a:r>
            <a:r>
              <a:rPr lang="en-IN" i="1" dirty="0">
                <a:solidFill>
                  <a:srgbClr val="FF0000"/>
                </a:solidFill>
              </a:rPr>
              <a:t>Huns who were Mongolian invaded Gaul in 451.</a:t>
            </a:r>
            <a:endParaRPr lang="en-IN" dirty="0">
              <a:solidFill>
                <a:srgbClr val="FF0000"/>
              </a:solidFill>
            </a:endParaRPr>
          </a:p>
          <a:p>
            <a:pPr marL="0" indent="0" fontAlgn="base">
              <a:buNone/>
            </a:pPr>
            <a:r>
              <a:rPr lang="en-IN" b="1" dirty="0"/>
              <a:t>Correct</a:t>
            </a:r>
            <a:r>
              <a:rPr lang="en-IN" b="1" dirty="0" smtClean="0"/>
              <a:t>: </a:t>
            </a:r>
            <a:r>
              <a:rPr lang="en-IN" i="1" dirty="0" smtClean="0">
                <a:solidFill>
                  <a:srgbClr val="00B050"/>
                </a:solidFill>
              </a:rPr>
              <a:t>The </a:t>
            </a:r>
            <a:r>
              <a:rPr lang="en-IN" i="1" dirty="0">
                <a:solidFill>
                  <a:srgbClr val="00B050"/>
                </a:solidFill>
              </a:rPr>
              <a:t>Huns, who were Mongolian, invaded Gaul in 451.</a:t>
            </a:r>
            <a:endParaRPr lang="en-IN" dirty="0">
              <a:solidFill>
                <a:srgbClr val="00B050"/>
              </a:solidFill>
            </a:endParaRPr>
          </a:p>
          <a:p>
            <a:endParaRPr lang="en-IN" dirty="0"/>
          </a:p>
        </p:txBody>
      </p:sp>
    </p:spTree>
    <p:extLst>
      <p:ext uri="{BB962C8B-B14F-4D97-AF65-F5344CB8AC3E}">
        <p14:creationId xmlns:p14="http://schemas.microsoft.com/office/powerpoint/2010/main" val="1936395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Superfluous </a:t>
            </a:r>
            <a:r>
              <a:rPr lang="en-IN" b="1" dirty="0" smtClean="0"/>
              <a:t>Commas</a:t>
            </a:r>
            <a:endParaRPr lang="en-IN" dirty="0"/>
          </a:p>
        </p:txBody>
      </p:sp>
      <p:sp>
        <p:nvSpPr>
          <p:cNvPr id="3" name="Content Placeholder 2"/>
          <p:cNvSpPr>
            <a:spLocks noGrp="1"/>
          </p:cNvSpPr>
          <p:nvPr>
            <p:ph idx="1"/>
          </p:nvPr>
        </p:nvSpPr>
        <p:spPr/>
        <p:txBody>
          <a:bodyPr>
            <a:normAutofit lnSpcReduction="10000"/>
          </a:bodyPr>
          <a:lstStyle/>
          <a:p>
            <a:pPr fontAlgn="base"/>
            <a:r>
              <a:rPr lang="en-IN" dirty="0"/>
              <a:t>Unnecessary commas make sentences difficult to read.</a:t>
            </a:r>
          </a:p>
          <a:p>
            <a:pPr marL="0" indent="0" fontAlgn="base">
              <a:buNone/>
            </a:pPr>
            <a:endParaRPr lang="en-IN" b="1" dirty="0" smtClean="0"/>
          </a:p>
          <a:p>
            <a:pPr marL="0" indent="0" fontAlgn="base">
              <a:buNone/>
            </a:pPr>
            <a:r>
              <a:rPr lang="en-IN" b="1" dirty="0" smtClean="0"/>
              <a:t>Unclear: </a:t>
            </a:r>
            <a:r>
              <a:rPr lang="en-IN" i="1" dirty="0" smtClean="0">
                <a:solidFill>
                  <a:srgbClr val="FF0000"/>
                </a:solidFill>
              </a:rPr>
              <a:t>Field </a:t>
            </a:r>
            <a:r>
              <a:rPr lang="en-IN" i="1" dirty="0">
                <a:solidFill>
                  <a:srgbClr val="FF0000"/>
                </a:solidFill>
              </a:rPr>
              <a:t>trips are required, in several courses, such as, botany and geology.</a:t>
            </a:r>
            <a:endParaRPr lang="en-IN" dirty="0">
              <a:solidFill>
                <a:srgbClr val="FF0000"/>
              </a:solidFill>
            </a:endParaRPr>
          </a:p>
          <a:p>
            <a:pPr marL="0" indent="0" fontAlgn="base">
              <a:buNone/>
            </a:pPr>
            <a:r>
              <a:rPr lang="en-IN" b="1" dirty="0"/>
              <a:t>Clear</a:t>
            </a:r>
            <a:r>
              <a:rPr lang="en-IN" b="1" dirty="0" smtClean="0"/>
              <a:t>: </a:t>
            </a:r>
            <a:r>
              <a:rPr lang="en-IN" i="1" dirty="0" smtClean="0">
                <a:solidFill>
                  <a:srgbClr val="00B050"/>
                </a:solidFill>
              </a:rPr>
              <a:t>Field </a:t>
            </a:r>
            <a:r>
              <a:rPr lang="en-IN" i="1" dirty="0">
                <a:solidFill>
                  <a:srgbClr val="00B050"/>
                </a:solidFill>
              </a:rPr>
              <a:t>trips are required in several courses, such as botany and geology.</a:t>
            </a:r>
            <a:endParaRPr lang="en-IN" dirty="0">
              <a:solidFill>
                <a:srgbClr val="00B050"/>
              </a:solidFill>
            </a:endParaRPr>
          </a:p>
          <a:p>
            <a:pPr marL="0" indent="0" fontAlgn="base">
              <a:buNone/>
            </a:pPr>
            <a:r>
              <a:rPr lang="en-IN" b="1" dirty="0"/>
              <a:t>Unclear</a:t>
            </a:r>
            <a:r>
              <a:rPr lang="en-IN" b="1" dirty="0" smtClean="0"/>
              <a:t>: </a:t>
            </a:r>
            <a:r>
              <a:rPr lang="en-IN" i="1" dirty="0" smtClean="0">
                <a:solidFill>
                  <a:srgbClr val="FF0000"/>
                </a:solidFill>
              </a:rPr>
              <a:t>The </a:t>
            </a:r>
            <a:r>
              <a:rPr lang="en-IN" i="1" dirty="0">
                <a:solidFill>
                  <a:srgbClr val="FF0000"/>
                </a:solidFill>
              </a:rPr>
              <a:t>term, “scientific illiteracy,” has become almost a </a:t>
            </a:r>
            <a:r>
              <a:rPr lang="en-IN" i="1" dirty="0" err="1">
                <a:solidFill>
                  <a:srgbClr val="FF0000"/>
                </a:solidFill>
              </a:rPr>
              <a:t>cliche</a:t>
            </a:r>
            <a:r>
              <a:rPr lang="en-IN" i="1" dirty="0">
                <a:solidFill>
                  <a:srgbClr val="FF0000"/>
                </a:solidFill>
              </a:rPr>
              <a:t>, in educational circles.</a:t>
            </a:r>
            <a:endParaRPr lang="en-IN" dirty="0">
              <a:solidFill>
                <a:srgbClr val="FF0000"/>
              </a:solidFill>
            </a:endParaRPr>
          </a:p>
          <a:p>
            <a:pPr marL="0" indent="0" fontAlgn="base">
              <a:buNone/>
            </a:pPr>
            <a:r>
              <a:rPr lang="en-IN" b="1" dirty="0"/>
              <a:t>Clear</a:t>
            </a:r>
            <a:r>
              <a:rPr lang="en-IN" b="1" dirty="0" smtClean="0"/>
              <a:t>: </a:t>
            </a:r>
            <a:r>
              <a:rPr lang="en-IN" i="1" dirty="0" smtClean="0">
                <a:solidFill>
                  <a:srgbClr val="00B050"/>
                </a:solidFill>
              </a:rPr>
              <a:t>The </a:t>
            </a:r>
            <a:r>
              <a:rPr lang="en-IN" i="1" dirty="0">
                <a:solidFill>
                  <a:srgbClr val="00B050"/>
                </a:solidFill>
              </a:rPr>
              <a:t>term “scientific illiteracy” has become almost a </a:t>
            </a:r>
            <a:r>
              <a:rPr lang="en-IN" i="1" dirty="0" err="1">
                <a:solidFill>
                  <a:srgbClr val="00B050"/>
                </a:solidFill>
              </a:rPr>
              <a:t>cliche</a:t>
            </a:r>
            <a:r>
              <a:rPr lang="en-IN" i="1" dirty="0">
                <a:solidFill>
                  <a:srgbClr val="00B050"/>
                </a:solidFill>
              </a:rPr>
              <a:t> in educational circles.</a:t>
            </a:r>
            <a:endParaRPr lang="en-IN" dirty="0">
              <a:solidFill>
                <a:srgbClr val="00B050"/>
              </a:solidFill>
            </a:endParaRPr>
          </a:p>
          <a:p>
            <a:endParaRPr lang="en-IN" dirty="0"/>
          </a:p>
        </p:txBody>
      </p:sp>
    </p:spTree>
    <p:extLst>
      <p:ext uri="{BB962C8B-B14F-4D97-AF65-F5344CB8AC3E}">
        <p14:creationId xmlns:p14="http://schemas.microsoft.com/office/powerpoint/2010/main" val="2145899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Comma Splices</a:t>
            </a:r>
            <a:endParaRPr lang="en-IN" b="1" dirty="0"/>
          </a:p>
        </p:txBody>
      </p:sp>
      <p:sp>
        <p:nvSpPr>
          <p:cNvPr id="3" name="Content Placeholder 2"/>
          <p:cNvSpPr>
            <a:spLocks noGrp="1"/>
          </p:cNvSpPr>
          <p:nvPr>
            <p:ph idx="1"/>
          </p:nvPr>
        </p:nvSpPr>
        <p:spPr/>
        <p:txBody>
          <a:bodyPr/>
          <a:lstStyle/>
          <a:p>
            <a:r>
              <a:rPr lang="en-IN" dirty="0" smtClean="0"/>
              <a:t>Comma splices are similar. They combine too many thoughts with only a comma. </a:t>
            </a:r>
          </a:p>
          <a:p>
            <a:pPr marL="0" indent="0">
              <a:buNone/>
            </a:pPr>
            <a:r>
              <a:rPr lang="en-IN" dirty="0" smtClean="0">
                <a:solidFill>
                  <a:srgbClr val="FF0000"/>
                </a:solidFill>
              </a:rPr>
              <a:t>The dog ran away, he simply could not stand the food anymore. </a:t>
            </a:r>
          </a:p>
          <a:p>
            <a:pPr marL="0" indent="0">
              <a:buNone/>
            </a:pPr>
            <a:endParaRPr lang="en-IN" dirty="0"/>
          </a:p>
          <a:p>
            <a:pPr marL="0" indent="0">
              <a:buNone/>
            </a:pPr>
            <a:r>
              <a:rPr lang="en-IN" dirty="0" smtClean="0"/>
              <a:t>There are two separate thoughts in this sentence, but it is unclear how the thoughts are related. Use a stronger connection like those above to demonstrate the relationship between the thoughts: </a:t>
            </a:r>
          </a:p>
          <a:p>
            <a:pPr marL="0" indent="0">
              <a:buNone/>
            </a:pPr>
            <a:endParaRPr lang="en-IN" dirty="0"/>
          </a:p>
          <a:p>
            <a:pPr marL="0" indent="0">
              <a:buNone/>
            </a:pPr>
            <a:r>
              <a:rPr lang="en-IN" dirty="0" smtClean="0">
                <a:solidFill>
                  <a:srgbClr val="00B050"/>
                </a:solidFill>
              </a:rPr>
              <a:t>The dog ran away; he simply could not stand the food anymore.</a:t>
            </a:r>
            <a:endParaRPr lang="en-IN" dirty="0">
              <a:solidFill>
                <a:srgbClr val="00B050"/>
              </a:solidFill>
            </a:endParaRPr>
          </a:p>
        </p:txBody>
      </p:sp>
    </p:spTree>
    <p:extLst>
      <p:ext uri="{BB962C8B-B14F-4D97-AF65-F5344CB8AC3E}">
        <p14:creationId xmlns:p14="http://schemas.microsoft.com/office/powerpoint/2010/main" val="2999674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No comma after an introductory phrase</a:t>
            </a:r>
            <a:endParaRPr lang="en-IN" dirty="0"/>
          </a:p>
        </p:txBody>
      </p:sp>
      <p:sp>
        <p:nvSpPr>
          <p:cNvPr id="3" name="Content Placeholder 2"/>
          <p:cNvSpPr>
            <a:spLocks noGrp="1"/>
          </p:cNvSpPr>
          <p:nvPr>
            <p:ph idx="1"/>
          </p:nvPr>
        </p:nvSpPr>
        <p:spPr/>
        <p:txBody>
          <a:bodyPr>
            <a:normAutofit lnSpcReduction="10000"/>
          </a:bodyPr>
          <a:lstStyle/>
          <a:p>
            <a:r>
              <a:rPr lang="en-IN" dirty="0"/>
              <a:t>An introductory phrase provides some background information and is usually followed by a comma. The comma is optional when the phrase is very short.</a:t>
            </a:r>
          </a:p>
          <a:p>
            <a:pPr marL="0" indent="0">
              <a:buNone/>
            </a:pPr>
            <a:r>
              <a:rPr lang="en-IN" dirty="0">
                <a:solidFill>
                  <a:srgbClr val="FF0000"/>
                </a:solidFill>
              </a:rPr>
              <a:t>While a Thanksgiving commercial played on the TV she was at the library trying to study for her final exams.</a:t>
            </a:r>
          </a:p>
          <a:p>
            <a:pPr marL="0" indent="0">
              <a:buNone/>
            </a:pPr>
            <a:r>
              <a:rPr lang="en-IN" dirty="0">
                <a:solidFill>
                  <a:srgbClr val="00B050"/>
                </a:solidFill>
              </a:rPr>
              <a:t>While a Thanksgiving commercial played on the TV, she was at the library trying to study for her final exams.</a:t>
            </a:r>
          </a:p>
          <a:p>
            <a:pPr marL="0" indent="0">
              <a:buNone/>
            </a:pPr>
            <a:r>
              <a:rPr lang="en-IN" dirty="0" smtClean="0">
                <a:solidFill>
                  <a:srgbClr val="00B050"/>
                </a:solidFill>
              </a:rPr>
              <a:t>At </a:t>
            </a:r>
            <a:r>
              <a:rPr lang="en-IN" dirty="0">
                <a:solidFill>
                  <a:srgbClr val="00B050"/>
                </a:solidFill>
              </a:rPr>
              <a:t>long last I made it home. </a:t>
            </a:r>
            <a:endParaRPr lang="en-IN" dirty="0" smtClean="0">
              <a:solidFill>
                <a:srgbClr val="00B050"/>
              </a:solidFill>
            </a:endParaRPr>
          </a:p>
          <a:p>
            <a:pPr marL="0" indent="0">
              <a:buNone/>
            </a:pPr>
            <a:r>
              <a:rPr lang="en-IN" dirty="0" smtClean="0"/>
              <a:t>OR</a:t>
            </a:r>
            <a:r>
              <a:rPr lang="en-IN" dirty="0"/>
              <a:t> </a:t>
            </a:r>
            <a:endParaRPr lang="en-IN" dirty="0" smtClean="0"/>
          </a:p>
          <a:p>
            <a:pPr marL="0" indent="0">
              <a:buNone/>
            </a:pPr>
            <a:r>
              <a:rPr lang="en-IN" dirty="0" smtClean="0">
                <a:solidFill>
                  <a:srgbClr val="00B050"/>
                </a:solidFill>
              </a:rPr>
              <a:t>At </a:t>
            </a:r>
            <a:r>
              <a:rPr lang="en-IN" dirty="0">
                <a:solidFill>
                  <a:srgbClr val="00B050"/>
                </a:solidFill>
              </a:rPr>
              <a:t>long last, I made it home.</a:t>
            </a:r>
          </a:p>
          <a:p>
            <a:endParaRPr lang="en-IN" dirty="0"/>
          </a:p>
        </p:txBody>
      </p:sp>
    </p:spTree>
    <p:extLst>
      <p:ext uri="{BB962C8B-B14F-4D97-AF65-F5344CB8AC3E}">
        <p14:creationId xmlns:p14="http://schemas.microsoft.com/office/powerpoint/2010/main" val="3906227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Comma misuse (inside a compound subject)</a:t>
            </a:r>
            <a:endParaRPr lang="en-IN" dirty="0"/>
          </a:p>
        </p:txBody>
      </p:sp>
      <p:sp>
        <p:nvSpPr>
          <p:cNvPr id="3" name="Content Placeholder 2"/>
          <p:cNvSpPr>
            <a:spLocks noGrp="1"/>
          </p:cNvSpPr>
          <p:nvPr>
            <p:ph idx="1"/>
          </p:nvPr>
        </p:nvSpPr>
        <p:spPr/>
        <p:txBody>
          <a:bodyPr/>
          <a:lstStyle/>
          <a:p>
            <a:r>
              <a:rPr lang="en-IN" dirty="0"/>
              <a:t>A compound subject uses a conjunction to connect more than one noun phrase.</a:t>
            </a:r>
          </a:p>
          <a:p>
            <a:endParaRPr lang="en-IN" dirty="0" smtClean="0"/>
          </a:p>
          <a:p>
            <a:pPr marL="0" indent="0">
              <a:buNone/>
            </a:pPr>
            <a:r>
              <a:rPr lang="en-IN" dirty="0" smtClean="0">
                <a:solidFill>
                  <a:srgbClr val="FF0000"/>
                </a:solidFill>
              </a:rPr>
              <a:t>My </a:t>
            </a:r>
            <a:r>
              <a:rPr lang="en-IN" dirty="0">
                <a:solidFill>
                  <a:srgbClr val="FF0000"/>
                </a:solidFill>
              </a:rPr>
              <a:t>roommate, and his brother, went to see a movie.</a:t>
            </a:r>
          </a:p>
          <a:p>
            <a:pPr marL="0" indent="0">
              <a:buNone/>
            </a:pPr>
            <a:endParaRPr lang="en-IN" dirty="0" smtClean="0"/>
          </a:p>
          <a:p>
            <a:pPr marL="0" indent="0">
              <a:buNone/>
            </a:pPr>
            <a:r>
              <a:rPr lang="en-IN" dirty="0" smtClean="0">
                <a:solidFill>
                  <a:srgbClr val="00B050"/>
                </a:solidFill>
              </a:rPr>
              <a:t>My </a:t>
            </a:r>
            <a:r>
              <a:rPr lang="en-IN" dirty="0">
                <a:solidFill>
                  <a:srgbClr val="00B050"/>
                </a:solidFill>
              </a:rPr>
              <a:t>roommate and his brother went to see a movie.</a:t>
            </a:r>
          </a:p>
        </p:txBody>
      </p:sp>
    </p:spTree>
    <p:extLst>
      <p:ext uri="{BB962C8B-B14F-4D97-AF65-F5344CB8AC3E}">
        <p14:creationId xmlns:p14="http://schemas.microsoft.com/office/powerpoint/2010/main" val="3013878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No commas around interrupters</a:t>
            </a:r>
            <a:endParaRPr lang="en-IN" dirty="0"/>
          </a:p>
        </p:txBody>
      </p:sp>
      <p:sp>
        <p:nvSpPr>
          <p:cNvPr id="3" name="Content Placeholder 2"/>
          <p:cNvSpPr>
            <a:spLocks noGrp="1"/>
          </p:cNvSpPr>
          <p:nvPr>
            <p:ph idx="1"/>
          </p:nvPr>
        </p:nvSpPr>
        <p:spPr/>
        <p:txBody>
          <a:bodyPr/>
          <a:lstStyle/>
          <a:p>
            <a:r>
              <a:rPr lang="en-IN" dirty="0"/>
              <a:t>Interrupters are phrases that break the flow of a sentence to provide additional detail. Put commas around interrupters.</a:t>
            </a:r>
          </a:p>
          <a:p>
            <a:endParaRPr lang="en-IN" dirty="0" smtClean="0"/>
          </a:p>
          <a:p>
            <a:pPr marL="0" indent="0">
              <a:buNone/>
            </a:pPr>
            <a:r>
              <a:rPr lang="en-IN" dirty="0" smtClean="0">
                <a:solidFill>
                  <a:srgbClr val="FF0000"/>
                </a:solidFill>
              </a:rPr>
              <a:t>It </a:t>
            </a:r>
            <a:r>
              <a:rPr lang="en-IN" dirty="0">
                <a:solidFill>
                  <a:srgbClr val="FF0000"/>
                </a:solidFill>
              </a:rPr>
              <a:t>was unfortunately the end of winter vacation.</a:t>
            </a:r>
          </a:p>
          <a:p>
            <a:endParaRPr lang="en-IN" dirty="0" smtClean="0"/>
          </a:p>
          <a:p>
            <a:pPr marL="0" indent="0">
              <a:buNone/>
            </a:pPr>
            <a:r>
              <a:rPr lang="en-IN" dirty="0" smtClean="0">
                <a:solidFill>
                  <a:srgbClr val="00B050"/>
                </a:solidFill>
              </a:rPr>
              <a:t>It </a:t>
            </a:r>
            <a:r>
              <a:rPr lang="en-IN" dirty="0">
                <a:solidFill>
                  <a:srgbClr val="00B050"/>
                </a:solidFill>
              </a:rPr>
              <a:t>was, unfortunately, the end of winter vacation.</a:t>
            </a:r>
          </a:p>
          <a:p>
            <a:endParaRPr lang="en-IN" dirty="0"/>
          </a:p>
        </p:txBody>
      </p:sp>
    </p:spTree>
    <p:extLst>
      <p:ext uri="{BB962C8B-B14F-4D97-AF65-F5344CB8AC3E}">
        <p14:creationId xmlns:p14="http://schemas.microsoft.com/office/powerpoint/2010/main" val="3773673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Apostrophe Errors</a:t>
            </a:r>
            <a:endParaRPr lang="en-IN" dirty="0"/>
          </a:p>
        </p:txBody>
      </p:sp>
      <p:sp>
        <p:nvSpPr>
          <p:cNvPr id="3" name="Content Placeholder 2"/>
          <p:cNvSpPr>
            <a:spLocks noGrp="1"/>
          </p:cNvSpPr>
          <p:nvPr>
            <p:ph idx="1"/>
          </p:nvPr>
        </p:nvSpPr>
        <p:spPr/>
        <p:txBody>
          <a:bodyPr>
            <a:normAutofit fontScale="92500" lnSpcReduction="20000"/>
          </a:bodyPr>
          <a:lstStyle/>
          <a:p>
            <a:pPr fontAlgn="base"/>
            <a:r>
              <a:rPr lang="en-IN" dirty="0"/>
              <a:t>Apostrophes indicate possession for nouns (</a:t>
            </a:r>
            <a:r>
              <a:rPr lang="en-IN" b="1" dirty="0"/>
              <a:t>“Jim’s hat,” “several years’ work”</a:t>
            </a:r>
            <a:r>
              <a:rPr lang="en-IN" dirty="0"/>
              <a:t>) but not for personal pronouns </a:t>
            </a:r>
            <a:r>
              <a:rPr lang="en-IN" b="1" dirty="0"/>
              <a:t>(its, your, their, and whose).</a:t>
            </a:r>
            <a:endParaRPr lang="en-IN" dirty="0"/>
          </a:p>
          <a:p>
            <a:pPr fontAlgn="base"/>
            <a:r>
              <a:rPr lang="en-IN" dirty="0"/>
              <a:t>Apostrophes also indicate omissions in contractions (</a:t>
            </a:r>
            <a:r>
              <a:rPr lang="en-IN" b="1" dirty="0"/>
              <a:t>“it’s” = “it is”</a:t>
            </a:r>
            <a:r>
              <a:rPr lang="en-IN" dirty="0"/>
              <a:t>).</a:t>
            </a:r>
          </a:p>
          <a:p>
            <a:pPr fontAlgn="base"/>
            <a:r>
              <a:rPr lang="en-IN" dirty="0"/>
              <a:t>In general, they are not used to indicate plurals.</a:t>
            </a:r>
          </a:p>
          <a:p>
            <a:pPr marL="0" indent="0" fontAlgn="base">
              <a:buNone/>
            </a:pPr>
            <a:endParaRPr lang="en-IN" b="1" dirty="0" smtClean="0"/>
          </a:p>
          <a:p>
            <a:pPr marL="0" indent="0" fontAlgn="base">
              <a:buNone/>
            </a:pPr>
            <a:r>
              <a:rPr lang="en-IN" b="1" dirty="0" smtClean="0"/>
              <a:t>Incorrect: </a:t>
            </a:r>
            <a:r>
              <a:rPr lang="en-IN" i="1" dirty="0" smtClean="0">
                <a:solidFill>
                  <a:srgbClr val="FF0000"/>
                </a:solidFill>
              </a:rPr>
              <a:t>In </a:t>
            </a:r>
            <a:r>
              <a:rPr lang="en-IN" i="1" dirty="0">
                <a:solidFill>
                  <a:srgbClr val="FF0000"/>
                </a:solidFill>
              </a:rPr>
              <a:t>the current conflict its uncertain who’s borders their contesting.</a:t>
            </a:r>
            <a:endParaRPr lang="en-IN" dirty="0">
              <a:solidFill>
                <a:srgbClr val="FF0000"/>
              </a:solidFill>
            </a:endParaRPr>
          </a:p>
          <a:p>
            <a:pPr marL="0" indent="0" fontAlgn="base">
              <a:buNone/>
            </a:pPr>
            <a:r>
              <a:rPr lang="en-IN" b="1" dirty="0"/>
              <a:t>Correct</a:t>
            </a:r>
            <a:r>
              <a:rPr lang="en-IN" b="1" dirty="0" smtClean="0"/>
              <a:t>: </a:t>
            </a:r>
            <a:r>
              <a:rPr lang="en-IN" i="1" dirty="0" smtClean="0">
                <a:solidFill>
                  <a:srgbClr val="00B050"/>
                </a:solidFill>
              </a:rPr>
              <a:t>In </a:t>
            </a:r>
            <a:r>
              <a:rPr lang="en-IN" i="1" dirty="0">
                <a:solidFill>
                  <a:srgbClr val="00B050"/>
                </a:solidFill>
              </a:rPr>
              <a:t>the current conflict it is [it’s] uncertain whose borders they are [they’re] contesting.</a:t>
            </a:r>
            <a:endParaRPr lang="en-IN" dirty="0">
              <a:solidFill>
                <a:srgbClr val="00B050"/>
              </a:solidFill>
            </a:endParaRPr>
          </a:p>
          <a:p>
            <a:pPr marL="0" indent="0" fontAlgn="base">
              <a:buNone/>
            </a:pPr>
            <a:r>
              <a:rPr lang="en-IN" b="1" dirty="0"/>
              <a:t>Incorrect</a:t>
            </a:r>
            <a:r>
              <a:rPr lang="en-IN" b="1" dirty="0" smtClean="0"/>
              <a:t>: </a:t>
            </a:r>
            <a:r>
              <a:rPr lang="en-IN" i="1" dirty="0" smtClean="0">
                <a:solidFill>
                  <a:srgbClr val="FF0000"/>
                </a:solidFill>
              </a:rPr>
              <a:t>The </a:t>
            </a:r>
            <a:r>
              <a:rPr lang="en-IN" i="1" dirty="0">
                <a:solidFill>
                  <a:srgbClr val="FF0000"/>
                </a:solidFill>
              </a:rPr>
              <a:t>Aztecs ritual’s of renewal increased in frequency over the course of time.</a:t>
            </a:r>
            <a:endParaRPr lang="en-IN" dirty="0">
              <a:solidFill>
                <a:srgbClr val="FF0000"/>
              </a:solidFill>
            </a:endParaRPr>
          </a:p>
          <a:p>
            <a:pPr marL="0" indent="0" fontAlgn="base">
              <a:buNone/>
            </a:pPr>
            <a:r>
              <a:rPr lang="en-IN" b="1" dirty="0"/>
              <a:t>Correct</a:t>
            </a:r>
            <a:r>
              <a:rPr lang="en-IN" b="1" dirty="0" smtClean="0"/>
              <a:t>: </a:t>
            </a:r>
            <a:r>
              <a:rPr lang="en-IN" i="1" dirty="0" smtClean="0">
                <a:solidFill>
                  <a:srgbClr val="00B050"/>
                </a:solidFill>
              </a:rPr>
              <a:t>The </a:t>
            </a:r>
            <a:r>
              <a:rPr lang="en-IN" i="1" dirty="0">
                <a:solidFill>
                  <a:srgbClr val="00B050"/>
                </a:solidFill>
              </a:rPr>
              <a:t>Aztecs’ rituals of renewal increased in frequency over the course of time.</a:t>
            </a:r>
            <a:endParaRPr lang="en-IN" dirty="0">
              <a:solidFill>
                <a:srgbClr val="00B050"/>
              </a:solidFill>
            </a:endParaRPr>
          </a:p>
          <a:p>
            <a:endParaRPr lang="en-IN" dirty="0"/>
          </a:p>
        </p:txBody>
      </p:sp>
    </p:spTree>
    <p:extLst>
      <p:ext uri="{BB962C8B-B14F-4D97-AF65-F5344CB8AC3E}">
        <p14:creationId xmlns:p14="http://schemas.microsoft.com/office/powerpoint/2010/main" val="650765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Apostrophes and Contractions</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Apostrophes are used in two ways: to indicate possession and to create contractions, or combinations of two or more words into one. The first case is acceptable in academic writing; it simply requires “‘s” or “s’” at the end of the noun which claims the object. </a:t>
            </a:r>
          </a:p>
          <a:p>
            <a:pPr marL="0" indent="0">
              <a:buNone/>
            </a:pPr>
            <a:r>
              <a:rPr lang="en-IN" dirty="0" smtClean="0">
                <a:solidFill>
                  <a:srgbClr val="00B050"/>
                </a:solidFill>
              </a:rPr>
              <a:t>The executive picked his mother’s Bible from the shelf and, to his partners’ amazement, he began to read to them. </a:t>
            </a:r>
          </a:p>
          <a:p>
            <a:r>
              <a:rPr lang="en-IN" dirty="0" smtClean="0"/>
              <a:t>There are a couple of important exceptions to the “’s” rule. While plural objects that end with an “s” do not need another “s” after the apostrophe, the names of Biblical figures Jesus and Moses are the only singular objects that follow this rule. </a:t>
            </a:r>
          </a:p>
          <a:p>
            <a:pPr marL="0" indent="0">
              <a:buNone/>
            </a:pPr>
            <a:r>
              <a:rPr lang="en-IN" dirty="0" smtClean="0">
                <a:solidFill>
                  <a:srgbClr val="00B050"/>
                </a:solidFill>
              </a:rPr>
              <a:t>Jesus’ message was well-received by the public, much to the Pharisees’ dismay. </a:t>
            </a:r>
          </a:p>
        </p:txBody>
      </p:sp>
    </p:spTree>
    <p:extLst>
      <p:ext uri="{BB962C8B-B14F-4D97-AF65-F5344CB8AC3E}">
        <p14:creationId xmlns:p14="http://schemas.microsoft.com/office/powerpoint/2010/main" val="2801144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Contractions should never be used in academic writing. Split contractions into their individual words to maintain both meaning and academic voice.</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586417059"/>
              </p:ext>
            </p:extLst>
          </p:nvPr>
        </p:nvGraphicFramePr>
        <p:xfrm>
          <a:off x="1290595" y="3273396"/>
          <a:ext cx="8127999" cy="18542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pPr algn="ctr"/>
                      <a:r>
                        <a:rPr lang="en-IN" dirty="0" smtClean="0"/>
                        <a:t>Contraction</a:t>
                      </a:r>
                      <a:endParaRPr lang="en-IN" dirty="0"/>
                    </a:p>
                  </a:txBody>
                  <a:tcPr/>
                </a:tc>
                <a:tc>
                  <a:txBody>
                    <a:bodyPr/>
                    <a:lstStyle/>
                    <a:p>
                      <a:pPr algn="ctr"/>
                      <a:r>
                        <a:rPr lang="en-IN" dirty="0" smtClean="0"/>
                        <a:t>Words</a:t>
                      </a:r>
                      <a:endParaRPr lang="en-IN" dirty="0"/>
                    </a:p>
                  </a:txBody>
                  <a:tcPr/>
                </a:tc>
                <a:tc>
                  <a:txBody>
                    <a:bodyPr/>
                    <a:lstStyle/>
                    <a:p>
                      <a:pPr algn="ctr"/>
                      <a:r>
                        <a:rPr lang="en-IN" dirty="0" smtClean="0"/>
                        <a:t>Example</a:t>
                      </a:r>
                      <a:endParaRPr lang="en-IN" dirty="0"/>
                    </a:p>
                  </a:txBody>
                  <a:tcPr/>
                </a:tc>
              </a:tr>
              <a:tr h="370840">
                <a:tc>
                  <a:txBody>
                    <a:bodyPr/>
                    <a:lstStyle/>
                    <a:p>
                      <a:r>
                        <a:rPr lang="en-IN" dirty="0" smtClean="0"/>
                        <a:t>Don’t</a:t>
                      </a:r>
                      <a:endParaRPr lang="en-IN" dirty="0"/>
                    </a:p>
                  </a:txBody>
                  <a:tcPr/>
                </a:tc>
                <a:tc>
                  <a:txBody>
                    <a:bodyPr/>
                    <a:lstStyle/>
                    <a:p>
                      <a:r>
                        <a:rPr lang="en-IN" dirty="0" smtClean="0"/>
                        <a:t>Do not</a:t>
                      </a:r>
                      <a:endParaRPr lang="en-IN" dirty="0"/>
                    </a:p>
                  </a:txBody>
                  <a:tcPr/>
                </a:tc>
                <a:tc>
                  <a:txBody>
                    <a:bodyPr/>
                    <a:lstStyle/>
                    <a:p>
                      <a:r>
                        <a:rPr lang="en-IN" dirty="0" smtClean="0"/>
                        <a:t>Do not be afraid.</a:t>
                      </a:r>
                      <a:endParaRPr lang="en-IN" dirty="0"/>
                    </a:p>
                  </a:txBody>
                  <a:tcPr/>
                </a:tc>
              </a:tr>
              <a:tr h="370840">
                <a:tc>
                  <a:txBody>
                    <a:bodyPr/>
                    <a:lstStyle/>
                    <a:p>
                      <a:r>
                        <a:rPr lang="en-IN" dirty="0" smtClean="0"/>
                        <a:t>Can’t</a:t>
                      </a:r>
                      <a:endParaRPr lang="en-IN" dirty="0"/>
                    </a:p>
                  </a:txBody>
                  <a:tcPr/>
                </a:tc>
                <a:tc>
                  <a:txBody>
                    <a:bodyPr/>
                    <a:lstStyle/>
                    <a:p>
                      <a:r>
                        <a:rPr lang="en-IN" dirty="0" smtClean="0"/>
                        <a:t>Cannot</a:t>
                      </a:r>
                      <a:endParaRPr lang="en-IN" dirty="0"/>
                    </a:p>
                  </a:txBody>
                  <a:tcPr/>
                </a:tc>
                <a:tc>
                  <a:txBody>
                    <a:bodyPr/>
                    <a:lstStyle/>
                    <a:p>
                      <a:r>
                        <a:rPr lang="en-IN" dirty="0" smtClean="0"/>
                        <a:t>He or she cannot give up.</a:t>
                      </a:r>
                      <a:endParaRPr lang="en-IN" dirty="0"/>
                    </a:p>
                  </a:txBody>
                  <a:tcPr/>
                </a:tc>
              </a:tr>
              <a:tr h="370840">
                <a:tc>
                  <a:txBody>
                    <a:bodyPr/>
                    <a:lstStyle/>
                    <a:p>
                      <a:r>
                        <a:rPr lang="en-IN" dirty="0" smtClean="0"/>
                        <a:t>Won’t</a:t>
                      </a:r>
                      <a:endParaRPr lang="en-IN" dirty="0"/>
                    </a:p>
                  </a:txBody>
                  <a:tcPr/>
                </a:tc>
                <a:tc>
                  <a:txBody>
                    <a:bodyPr/>
                    <a:lstStyle/>
                    <a:p>
                      <a:r>
                        <a:rPr lang="en-IN" dirty="0" smtClean="0"/>
                        <a:t>Will not</a:t>
                      </a:r>
                      <a:endParaRPr lang="en-IN" dirty="0"/>
                    </a:p>
                  </a:txBody>
                  <a:tcPr/>
                </a:tc>
                <a:tc>
                  <a:txBody>
                    <a:bodyPr/>
                    <a:lstStyle/>
                    <a:p>
                      <a:r>
                        <a:rPr lang="en-IN" dirty="0" smtClean="0"/>
                        <a:t>The dog will not listen.</a:t>
                      </a:r>
                      <a:endParaRPr lang="en-IN" dirty="0"/>
                    </a:p>
                  </a:txBody>
                  <a:tcPr/>
                </a:tc>
              </a:tr>
              <a:tr h="370840">
                <a:tc>
                  <a:txBody>
                    <a:bodyPr/>
                    <a:lstStyle/>
                    <a:p>
                      <a:r>
                        <a:rPr lang="en-IN" dirty="0" smtClean="0"/>
                        <a:t>He’s/she’s</a:t>
                      </a:r>
                      <a:endParaRPr lang="en-IN" dirty="0"/>
                    </a:p>
                  </a:txBody>
                  <a:tcPr/>
                </a:tc>
                <a:tc>
                  <a:txBody>
                    <a:bodyPr/>
                    <a:lstStyle/>
                    <a:p>
                      <a:r>
                        <a:rPr lang="en-IN" dirty="0" smtClean="0"/>
                        <a:t>He is/she is</a:t>
                      </a:r>
                      <a:endParaRPr lang="en-IN" dirty="0"/>
                    </a:p>
                  </a:txBody>
                  <a:tcPr/>
                </a:tc>
                <a:tc>
                  <a:txBody>
                    <a:bodyPr/>
                    <a:lstStyle/>
                    <a:p>
                      <a:r>
                        <a:rPr lang="en-IN" dirty="0" smtClean="0"/>
                        <a:t>He or she is responsible.</a:t>
                      </a:r>
                      <a:endParaRPr lang="en-IN" dirty="0"/>
                    </a:p>
                  </a:txBody>
                  <a:tcPr/>
                </a:tc>
              </a:tr>
            </a:tbl>
          </a:graphicData>
        </a:graphic>
      </p:graphicFrame>
    </p:spTree>
    <p:extLst>
      <p:ext uri="{BB962C8B-B14F-4D97-AF65-F5344CB8AC3E}">
        <p14:creationId xmlns:p14="http://schemas.microsoft.com/office/powerpoint/2010/main" val="1748573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First/Second Person Vs. Third Person</a:t>
            </a:r>
            <a:endParaRPr lang="en-IN" b="1" dirty="0"/>
          </a:p>
        </p:txBody>
      </p:sp>
      <p:sp>
        <p:nvSpPr>
          <p:cNvPr id="3" name="Content Placeholder 2"/>
          <p:cNvSpPr>
            <a:spLocks noGrp="1"/>
          </p:cNvSpPr>
          <p:nvPr>
            <p:ph idx="1"/>
          </p:nvPr>
        </p:nvSpPr>
        <p:spPr>
          <a:xfrm>
            <a:off x="838200" y="1825624"/>
            <a:ext cx="10515600" cy="4599889"/>
          </a:xfrm>
        </p:spPr>
        <p:txBody>
          <a:bodyPr>
            <a:normAutofit fontScale="77500" lnSpcReduction="20000"/>
          </a:bodyPr>
          <a:lstStyle/>
          <a:p>
            <a:r>
              <a:rPr lang="en-IN" dirty="0" smtClean="0"/>
              <a:t>Scholarly writing usually uses third person pronouns to maintain an objective voice. </a:t>
            </a:r>
          </a:p>
          <a:p>
            <a:r>
              <a:rPr lang="en-IN" dirty="0" smtClean="0"/>
              <a:t>Instead of: </a:t>
            </a:r>
          </a:p>
          <a:p>
            <a:pPr marL="0" indent="0">
              <a:buNone/>
            </a:pPr>
            <a:r>
              <a:rPr lang="en-IN" dirty="0" smtClean="0">
                <a:solidFill>
                  <a:srgbClr val="FF0000"/>
                </a:solidFill>
              </a:rPr>
              <a:t>My friends and I believe that putting fruit in a cake should not be allowed. (First person) </a:t>
            </a:r>
          </a:p>
          <a:p>
            <a:pPr marL="0" indent="0">
              <a:buNone/>
            </a:pPr>
            <a:r>
              <a:rPr lang="en-IN" dirty="0" smtClean="0">
                <a:solidFill>
                  <a:srgbClr val="FF0000"/>
                </a:solidFill>
              </a:rPr>
              <a:t>Eating too much cake will give you a </a:t>
            </a:r>
            <a:r>
              <a:rPr lang="en-IN" dirty="0" err="1" smtClean="0">
                <a:solidFill>
                  <a:srgbClr val="FF0000"/>
                </a:solidFill>
              </a:rPr>
              <a:t>stomachache</a:t>
            </a:r>
            <a:r>
              <a:rPr lang="en-IN" dirty="0" smtClean="0">
                <a:solidFill>
                  <a:srgbClr val="FF0000"/>
                </a:solidFill>
              </a:rPr>
              <a:t>. (Second person) </a:t>
            </a:r>
          </a:p>
          <a:p>
            <a:r>
              <a:rPr lang="en-IN" dirty="0" smtClean="0"/>
              <a:t>Try: </a:t>
            </a:r>
          </a:p>
          <a:p>
            <a:pPr marL="0" indent="0">
              <a:buNone/>
            </a:pPr>
            <a:r>
              <a:rPr lang="en-IN" dirty="0" smtClean="0">
                <a:solidFill>
                  <a:srgbClr val="00B050"/>
                </a:solidFill>
              </a:rPr>
              <a:t>Some people believe that putting fruit in a cake should not be allowed. (Third person) </a:t>
            </a:r>
          </a:p>
          <a:p>
            <a:pPr marL="0" indent="0">
              <a:buNone/>
            </a:pPr>
            <a:r>
              <a:rPr lang="en-IN" dirty="0" smtClean="0">
                <a:solidFill>
                  <a:srgbClr val="00B050"/>
                </a:solidFill>
              </a:rPr>
              <a:t>Eating too much cake will give the consumer a </a:t>
            </a:r>
            <a:r>
              <a:rPr lang="en-IN" dirty="0" err="1" smtClean="0">
                <a:solidFill>
                  <a:srgbClr val="00B050"/>
                </a:solidFill>
              </a:rPr>
              <a:t>stomachache</a:t>
            </a:r>
            <a:r>
              <a:rPr lang="en-IN" dirty="0" smtClean="0">
                <a:solidFill>
                  <a:srgbClr val="00B050"/>
                </a:solidFill>
              </a:rPr>
              <a:t>. (Third person) </a:t>
            </a:r>
          </a:p>
          <a:p>
            <a:r>
              <a:rPr lang="en-IN" dirty="0" smtClean="0"/>
              <a:t>Beware of imperative sentences, or sentences that give a command to an unspecified person. </a:t>
            </a:r>
          </a:p>
          <a:p>
            <a:pPr marL="0" indent="0">
              <a:buNone/>
            </a:pPr>
            <a:r>
              <a:rPr lang="en-IN" dirty="0" smtClean="0">
                <a:solidFill>
                  <a:srgbClr val="00B050"/>
                </a:solidFill>
              </a:rPr>
              <a:t>(You) Consider the consequences of skipping class beforehand. </a:t>
            </a:r>
          </a:p>
          <a:p>
            <a:r>
              <a:rPr lang="en-IN" dirty="0" smtClean="0"/>
              <a:t>These sentences have an understood “you,” which is second person, and can come off as instructional or even preachy. </a:t>
            </a:r>
          </a:p>
          <a:p>
            <a:pPr marL="0" indent="0">
              <a:buNone/>
            </a:pPr>
            <a:r>
              <a:rPr lang="en-IN" dirty="0" smtClean="0">
                <a:solidFill>
                  <a:srgbClr val="00B050"/>
                </a:solidFill>
              </a:rPr>
              <a:t>It is important for the student to consider the consequences of skipping class.</a:t>
            </a:r>
            <a:endParaRPr lang="en-IN" dirty="0">
              <a:solidFill>
                <a:srgbClr val="00B050"/>
              </a:solidFill>
            </a:endParaRPr>
          </a:p>
        </p:txBody>
      </p:sp>
    </p:spTree>
    <p:extLst>
      <p:ext uri="{BB962C8B-B14F-4D97-AF65-F5344CB8AC3E}">
        <p14:creationId xmlns:p14="http://schemas.microsoft.com/office/powerpoint/2010/main" val="34360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Words </a:t>
            </a:r>
            <a:r>
              <a:rPr lang="en-IN" b="1" dirty="0" smtClean="0"/>
              <a:t>Easily Confused</a:t>
            </a:r>
            <a:endParaRPr lang="en-IN" dirty="0"/>
          </a:p>
        </p:txBody>
      </p:sp>
      <p:sp>
        <p:nvSpPr>
          <p:cNvPr id="3" name="Content Placeholder 2"/>
          <p:cNvSpPr>
            <a:spLocks noGrp="1"/>
          </p:cNvSpPr>
          <p:nvPr>
            <p:ph idx="1"/>
          </p:nvPr>
        </p:nvSpPr>
        <p:spPr/>
        <p:txBody>
          <a:bodyPr>
            <a:normAutofit/>
          </a:bodyPr>
          <a:lstStyle/>
          <a:p>
            <a:pPr fontAlgn="base"/>
            <a:r>
              <a:rPr lang="en-IN" dirty="0"/>
              <a:t>“Effect” is most often a noun (the effect), and “affect” is almost always a verb.</a:t>
            </a:r>
          </a:p>
          <a:p>
            <a:pPr fontAlgn="base"/>
            <a:r>
              <a:rPr lang="en-IN" dirty="0"/>
              <a:t>Other pairs commonly confused: “lead”/”led” and “accept”/”except.”</a:t>
            </a:r>
          </a:p>
          <a:p>
            <a:pPr fontAlgn="base"/>
            <a:r>
              <a:rPr lang="en-IN" dirty="0"/>
              <a:t>Check a glossary of usage to find the right choice.</a:t>
            </a:r>
          </a:p>
          <a:p>
            <a:pPr fontAlgn="base"/>
            <a:r>
              <a:rPr lang="en-IN" b="1" dirty="0"/>
              <a:t>Incorrect</a:t>
            </a:r>
            <a:r>
              <a:rPr lang="en-IN" b="1" dirty="0" smtClean="0"/>
              <a:t>: </a:t>
            </a:r>
            <a:r>
              <a:rPr lang="en-IN" i="1" dirty="0" smtClean="0">
                <a:solidFill>
                  <a:srgbClr val="FF0000"/>
                </a:solidFill>
              </a:rPr>
              <a:t>The </a:t>
            </a:r>
            <a:r>
              <a:rPr lang="en-IN" i="1" dirty="0">
                <a:solidFill>
                  <a:srgbClr val="FF0000"/>
                </a:solidFill>
              </a:rPr>
              <a:t>recession had a negative affect on sales.</a:t>
            </a:r>
            <a:endParaRPr lang="en-IN" dirty="0">
              <a:solidFill>
                <a:srgbClr val="FF0000"/>
              </a:solidFill>
            </a:endParaRPr>
          </a:p>
          <a:p>
            <a:pPr fontAlgn="base"/>
            <a:r>
              <a:rPr lang="en-IN" b="1" dirty="0"/>
              <a:t>Correct</a:t>
            </a:r>
            <a:r>
              <a:rPr lang="en-IN" b="1" dirty="0" smtClean="0"/>
              <a:t>: </a:t>
            </a:r>
            <a:r>
              <a:rPr lang="en-IN" i="1" dirty="0" smtClean="0">
                <a:solidFill>
                  <a:srgbClr val="00B050"/>
                </a:solidFill>
              </a:rPr>
              <a:t>The </a:t>
            </a:r>
            <a:r>
              <a:rPr lang="en-IN" i="1" dirty="0">
                <a:solidFill>
                  <a:srgbClr val="00B050"/>
                </a:solidFill>
              </a:rPr>
              <a:t>recession had a negative effect on sales.</a:t>
            </a:r>
            <a:br>
              <a:rPr lang="en-IN" i="1" dirty="0">
                <a:solidFill>
                  <a:srgbClr val="00B050"/>
                </a:solidFill>
              </a:rPr>
            </a:br>
            <a:r>
              <a:rPr lang="en-IN" i="1" dirty="0">
                <a:solidFill>
                  <a:srgbClr val="00B050"/>
                </a:solidFill>
              </a:rPr>
              <a:t>(or) The recession affected sales negatively.</a:t>
            </a:r>
            <a:endParaRPr lang="en-IN" dirty="0">
              <a:solidFill>
                <a:srgbClr val="00B050"/>
              </a:solidFill>
            </a:endParaRPr>
          </a:p>
          <a:p>
            <a:pPr fontAlgn="base"/>
            <a:r>
              <a:rPr lang="en-IN" b="1" dirty="0"/>
              <a:t>Incorrect</a:t>
            </a:r>
            <a:r>
              <a:rPr lang="en-IN" b="1" dirty="0" smtClean="0"/>
              <a:t>: </a:t>
            </a:r>
            <a:r>
              <a:rPr lang="en-IN" i="1" dirty="0" smtClean="0">
                <a:solidFill>
                  <a:srgbClr val="FF0000"/>
                </a:solidFill>
              </a:rPr>
              <a:t>The </a:t>
            </a:r>
            <a:r>
              <a:rPr lang="en-IN" i="1" dirty="0">
                <a:solidFill>
                  <a:srgbClr val="FF0000"/>
                </a:solidFill>
              </a:rPr>
              <a:t>laboratory instructor chose not to offer detailed advise.</a:t>
            </a:r>
            <a:endParaRPr lang="en-IN" dirty="0">
              <a:solidFill>
                <a:srgbClr val="FF0000"/>
              </a:solidFill>
            </a:endParaRPr>
          </a:p>
          <a:p>
            <a:pPr fontAlgn="base"/>
            <a:r>
              <a:rPr lang="en-IN" b="1" dirty="0"/>
              <a:t>Correct</a:t>
            </a:r>
            <a:r>
              <a:rPr lang="en-IN" b="1" dirty="0" smtClean="0"/>
              <a:t>: </a:t>
            </a:r>
            <a:r>
              <a:rPr lang="en-IN" i="1" dirty="0" smtClean="0">
                <a:solidFill>
                  <a:srgbClr val="00B050"/>
                </a:solidFill>
              </a:rPr>
              <a:t>The </a:t>
            </a:r>
            <a:r>
              <a:rPr lang="en-IN" i="1" dirty="0">
                <a:solidFill>
                  <a:srgbClr val="00B050"/>
                </a:solidFill>
              </a:rPr>
              <a:t>laboratory instructor chose not to offer detailed advice.</a:t>
            </a:r>
            <a:endParaRPr lang="en-IN" dirty="0">
              <a:solidFill>
                <a:srgbClr val="00B050"/>
              </a:solidFill>
            </a:endParaRPr>
          </a:p>
          <a:p>
            <a:endParaRPr lang="en-IN" dirty="0"/>
          </a:p>
        </p:txBody>
      </p:sp>
    </p:spTree>
    <p:extLst>
      <p:ext uri="{BB962C8B-B14F-4D97-AF65-F5344CB8AC3E}">
        <p14:creationId xmlns:p14="http://schemas.microsoft.com/office/powerpoint/2010/main" val="3262406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Wordiness </a:t>
            </a:r>
            <a:endParaRPr lang="en-IN" b="1" dirty="0"/>
          </a:p>
        </p:txBody>
      </p:sp>
      <p:sp>
        <p:nvSpPr>
          <p:cNvPr id="3" name="Content Placeholder 2"/>
          <p:cNvSpPr>
            <a:spLocks noGrp="1"/>
          </p:cNvSpPr>
          <p:nvPr>
            <p:ph idx="1"/>
          </p:nvPr>
        </p:nvSpPr>
        <p:spPr/>
        <p:txBody>
          <a:bodyPr>
            <a:normAutofit/>
          </a:bodyPr>
          <a:lstStyle/>
          <a:p>
            <a:r>
              <a:rPr lang="en-IN" dirty="0" smtClean="0"/>
              <a:t>No matter the word count required for an assignment, needlessly fancy language in a paper will only confuse the reader. The use of passive voice and empty phrases like “In fact” are common culprits of wordiness. </a:t>
            </a:r>
          </a:p>
          <a:p>
            <a:pPr marL="0" indent="0">
              <a:buNone/>
            </a:pPr>
            <a:endParaRPr lang="en-IN" dirty="0"/>
          </a:p>
          <a:p>
            <a:pPr marL="0" indent="0">
              <a:buNone/>
            </a:pPr>
            <a:r>
              <a:rPr lang="en-IN" dirty="0" smtClean="0">
                <a:solidFill>
                  <a:srgbClr val="FF0000"/>
                </a:solidFill>
              </a:rPr>
              <a:t>As a matter of fact, studies have been conducted which give scientists reason to believe that when scared and hapless homeowners, when their homes are broken into by a bear, strike the invasive creature’s nose, the beast will surely leave. </a:t>
            </a:r>
          </a:p>
        </p:txBody>
      </p:sp>
    </p:spTree>
    <p:extLst>
      <p:ext uri="{BB962C8B-B14F-4D97-AF65-F5344CB8AC3E}">
        <p14:creationId xmlns:p14="http://schemas.microsoft.com/office/powerpoint/2010/main" val="1814295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smtClean="0"/>
              <a:t>Use as few words as necessary to make the point clear. </a:t>
            </a:r>
          </a:p>
          <a:p>
            <a:pPr marL="0" indent="0">
              <a:buNone/>
            </a:pPr>
            <a:endParaRPr lang="en-IN" dirty="0" smtClean="0"/>
          </a:p>
          <a:p>
            <a:pPr marL="0" indent="0">
              <a:buNone/>
            </a:pPr>
            <a:r>
              <a:rPr lang="en-IN" dirty="0" smtClean="0">
                <a:solidFill>
                  <a:srgbClr val="00B050"/>
                </a:solidFill>
              </a:rPr>
              <a:t>Studies have shown that when victims of bear break-ins hit the bear in the nose, the bear will leave. </a:t>
            </a:r>
          </a:p>
          <a:p>
            <a:endParaRPr lang="en-IN" dirty="0" smtClean="0"/>
          </a:p>
          <a:p>
            <a:r>
              <a:rPr lang="en-IN" dirty="0" smtClean="0"/>
              <a:t>Using too many conjugations of the verb “to be” can also be wordy. </a:t>
            </a:r>
          </a:p>
          <a:p>
            <a:pPr marL="0" indent="0">
              <a:buNone/>
            </a:pPr>
            <a:r>
              <a:rPr lang="en-IN" dirty="0" smtClean="0">
                <a:solidFill>
                  <a:srgbClr val="FF0000"/>
                </a:solidFill>
              </a:rPr>
              <a:t>There are people everywhere, and there seems to be a strange scent lingering in the air. </a:t>
            </a:r>
          </a:p>
          <a:p>
            <a:r>
              <a:rPr lang="en-IN" dirty="0" smtClean="0"/>
              <a:t>Use action verbs instead of linking verbs as much as possible to eliminate overuse of the “to be” conjugations. </a:t>
            </a:r>
          </a:p>
          <a:p>
            <a:pPr marL="0" indent="0">
              <a:buNone/>
            </a:pPr>
            <a:r>
              <a:rPr lang="en-IN" dirty="0" smtClean="0">
                <a:solidFill>
                  <a:srgbClr val="00B050"/>
                </a:solidFill>
              </a:rPr>
              <a:t>People are everywhere, and a strange scent lingers in the air.</a:t>
            </a:r>
            <a:r>
              <a:rPr lang="en-IN" dirty="0" smtClean="0"/>
              <a:t> </a:t>
            </a:r>
          </a:p>
          <a:p>
            <a:endParaRPr lang="en-IN" dirty="0"/>
          </a:p>
        </p:txBody>
      </p:sp>
    </p:spTree>
    <p:extLst>
      <p:ext uri="{BB962C8B-B14F-4D97-AF65-F5344CB8AC3E}">
        <p14:creationId xmlns:p14="http://schemas.microsoft.com/office/powerpoint/2010/main" val="4118203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Research Papers Writing</a:t>
            </a:r>
            <a:endParaRPr lang="en-IN" b="1" dirty="0"/>
          </a:p>
        </p:txBody>
      </p:sp>
      <p:sp>
        <p:nvSpPr>
          <p:cNvPr id="3" name="Content Placeholder 2"/>
          <p:cNvSpPr>
            <a:spLocks noGrp="1"/>
          </p:cNvSpPr>
          <p:nvPr>
            <p:ph idx="1"/>
          </p:nvPr>
        </p:nvSpPr>
        <p:spPr/>
        <p:txBody>
          <a:bodyPr/>
          <a:lstStyle/>
          <a:p>
            <a:r>
              <a:rPr lang="en-IN" dirty="0" smtClean="0"/>
              <a:t>Thesis Statement</a:t>
            </a:r>
          </a:p>
          <a:p>
            <a:r>
              <a:rPr lang="en-IN" dirty="0" smtClean="0"/>
              <a:t>Quotation Marks and Punctuation</a:t>
            </a:r>
          </a:p>
          <a:p>
            <a:r>
              <a:rPr lang="en-IN" dirty="0" smtClean="0"/>
              <a:t>Integrating Quotes </a:t>
            </a:r>
          </a:p>
          <a:p>
            <a:r>
              <a:rPr lang="en-IN" dirty="0" smtClean="0"/>
              <a:t>Extra Spaces Between Paragraphs</a:t>
            </a:r>
            <a:endParaRPr lang="en-IN" dirty="0"/>
          </a:p>
        </p:txBody>
      </p:sp>
    </p:spTree>
    <p:extLst>
      <p:ext uri="{BB962C8B-B14F-4D97-AF65-F5344CB8AC3E}">
        <p14:creationId xmlns:p14="http://schemas.microsoft.com/office/powerpoint/2010/main" val="3477831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Thesis Statement</a:t>
            </a:r>
          </a:p>
        </p:txBody>
      </p:sp>
      <p:sp>
        <p:nvSpPr>
          <p:cNvPr id="3" name="Content Placeholder 2"/>
          <p:cNvSpPr>
            <a:spLocks noGrp="1"/>
          </p:cNvSpPr>
          <p:nvPr>
            <p:ph idx="1"/>
          </p:nvPr>
        </p:nvSpPr>
        <p:spPr/>
        <p:txBody>
          <a:bodyPr/>
          <a:lstStyle/>
          <a:p>
            <a:r>
              <a:rPr lang="en-IN" dirty="0" smtClean="0"/>
              <a:t>It is easy to mistake an attention-grabbing sentence for a thesis statement. A thesis statement carefully encompasses all the main points of an essay in the last sentence of the introduction. Except in the case of a biographical essay, every academic paper needs a strong thesis statement. </a:t>
            </a:r>
          </a:p>
          <a:p>
            <a:endParaRPr lang="en-IN" dirty="0"/>
          </a:p>
          <a:p>
            <a:pPr marL="0" indent="0">
              <a:buNone/>
            </a:pPr>
            <a:r>
              <a:rPr lang="en-IN" dirty="0" smtClean="0">
                <a:solidFill>
                  <a:srgbClr val="00B050"/>
                </a:solidFill>
              </a:rPr>
              <a:t>Not only are strawberry cereal bars more popular than other </a:t>
            </a:r>
            <a:r>
              <a:rPr lang="en-IN" dirty="0" err="1" smtClean="0">
                <a:solidFill>
                  <a:srgbClr val="00B050"/>
                </a:solidFill>
              </a:rPr>
              <a:t>flavors</a:t>
            </a:r>
            <a:r>
              <a:rPr lang="en-IN" dirty="0" smtClean="0">
                <a:solidFill>
                  <a:srgbClr val="00B050"/>
                </a:solidFill>
              </a:rPr>
              <a:t>, but they also contain a higher fruit percentage and are scientifically proven to make the consumer’s day better. </a:t>
            </a:r>
            <a:endParaRPr lang="en-IN" dirty="0">
              <a:solidFill>
                <a:srgbClr val="00B050"/>
              </a:solidFill>
            </a:endParaRPr>
          </a:p>
        </p:txBody>
      </p:sp>
    </p:spTree>
    <p:extLst>
      <p:ext uri="{BB962C8B-B14F-4D97-AF65-F5344CB8AC3E}">
        <p14:creationId xmlns:p14="http://schemas.microsoft.com/office/powerpoint/2010/main" val="362945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Quotation Marks and Punctuation</a:t>
            </a:r>
            <a:endParaRPr lang="en-IN" b="1" dirty="0"/>
          </a:p>
        </p:txBody>
      </p:sp>
      <p:sp>
        <p:nvSpPr>
          <p:cNvPr id="3" name="Content Placeholder 2"/>
          <p:cNvSpPr>
            <a:spLocks noGrp="1"/>
          </p:cNvSpPr>
          <p:nvPr>
            <p:ph idx="1"/>
          </p:nvPr>
        </p:nvSpPr>
        <p:spPr/>
        <p:txBody>
          <a:bodyPr>
            <a:normAutofit lnSpcReduction="10000"/>
          </a:bodyPr>
          <a:lstStyle/>
          <a:p>
            <a:r>
              <a:rPr lang="en-IN" dirty="0" smtClean="0"/>
              <a:t>In sentences involving the titles of short works like articles or poems, punctuation always goes inside the quotation marks. </a:t>
            </a:r>
          </a:p>
          <a:p>
            <a:pPr marL="0" indent="0">
              <a:buNone/>
            </a:pPr>
            <a:endParaRPr lang="en-IN" dirty="0" smtClean="0"/>
          </a:p>
          <a:p>
            <a:pPr marL="0" indent="0">
              <a:buNone/>
            </a:pPr>
            <a:r>
              <a:rPr lang="en-IN" dirty="0" smtClean="0">
                <a:solidFill>
                  <a:srgbClr val="00B050"/>
                </a:solidFill>
              </a:rPr>
              <a:t>In the article, “Bacon: Healthier Than You Thought,” the author scientifically investigates the health benefits of this popular breakfast food. </a:t>
            </a:r>
          </a:p>
          <a:p>
            <a:pPr marL="0" indent="0">
              <a:buNone/>
            </a:pPr>
            <a:endParaRPr lang="en-IN" dirty="0" smtClean="0"/>
          </a:p>
          <a:p>
            <a:pPr marL="0" indent="0">
              <a:buNone/>
            </a:pPr>
            <a:r>
              <a:rPr lang="en-IN" dirty="0" smtClean="0">
                <a:solidFill>
                  <a:srgbClr val="00B050"/>
                </a:solidFill>
              </a:rPr>
              <a:t>“Get Me Out of Here!,”* a poem written by a comedian, describes the uncomfortable nature of holiday gatherings where family members are on </a:t>
            </a:r>
            <a:r>
              <a:rPr lang="en-IN" dirty="0" err="1" smtClean="0">
                <a:solidFill>
                  <a:srgbClr val="00B050"/>
                </a:solidFill>
              </a:rPr>
              <a:t>unfavorable</a:t>
            </a:r>
            <a:r>
              <a:rPr lang="en-IN" dirty="0" smtClean="0">
                <a:solidFill>
                  <a:srgbClr val="00B050"/>
                </a:solidFill>
              </a:rPr>
              <a:t> terms with each other.</a:t>
            </a:r>
            <a:endParaRPr lang="en-IN" dirty="0">
              <a:solidFill>
                <a:srgbClr val="00B050"/>
              </a:solidFill>
            </a:endParaRPr>
          </a:p>
        </p:txBody>
      </p:sp>
    </p:spTree>
    <p:extLst>
      <p:ext uri="{BB962C8B-B14F-4D97-AF65-F5344CB8AC3E}">
        <p14:creationId xmlns:p14="http://schemas.microsoft.com/office/powerpoint/2010/main" val="2257037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Integrating Quotes</a:t>
            </a:r>
            <a:endParaRPr lang="en-IN" b="1" dirty="0"/>
          </a:p>
        </p:txBody>
      </p:sp>
      <p:sp>
        <p:nvSpPr>
          <p:cNvPr id="3" name="Content Placeholder 2"/>
          <p:cNvSpPr>
            <a:spLocks noGrp="1"/>
          </p:cNvSpPr>
          <p:nvPr>
            <p:ph idx="1"/>
          </p:nvPr>
        </p:nvSpPr>
        <p:spPr/>
        <p:txBody>
          <a:bodyPr>
            <a:normAutofit lnSpcReduction="10000"/>
          </a:bodyPr>
          <a:lstStyle/>
          <a:p>
            <a:r>
              <a:rPr lang="en-IN" dirty="0" smtClean="0"/>
              <a:t>Most academic papers require the use of quotes from external sources, but it can be tricky to incorporate quotes properly. Here are a few tips for proper quote integration. </a:t>
            </a:r>
          </a:p>
          <a:p>
            <a:pPr marL="0" indent="0">
              <a:buNone/>
            </a:pPr>
            <a:r>
              <a:rPr lang="en-IN" dirty="0" smtClean="0"/>
              <a:t>Parenthetical (MLA): </a:t>
            </a:r>
            <a:r>
              <a:rPr lang="en-IN" dirty="0" smtClean="0">
                <a:solidFill>
                  <a:srgbClr val="00B050"/>
                </a:solidFill>
              </a:rPr>
              <a:t>A. U. Thor, in his </a:t>
            </a:r>
            <a:r>
              <a:rPr lang="en-IN" dirty="0" err="1" smtClean="0">
                <a:solidFill>
                  <a:srgbClr val="00B050"/>
                </a:solidFill>
              </a:rPr>
              <a:t>groundbreaking</a:t>
            </a:r>
            <a:r>
              <a:rPr lang="en-IN" dirty="0" smtClean="0">
                <a:solidFill>
                  <a:srgbClr val="00B050"/>
                </a:solidFill>
              </a:rPr>
              <a:t> work </a:t>
            </a:r>
            <a:r>
              <a:rPr lang="en-IN" i="1" dirty="0" smtClean="0">
                <a:solidFill>
                  <a:srgbClr val="00B050"/>
                </a:solidFill>
              </a:rPr>
              <a:t>A Book About Writing</a:t>
            </a:r>
            <a:r>
              <a:rPr lang="en-IN" dirty="0" smtClean="0">
                <a:solidFill>
                  <a:srgbClr val="00B050"/>
                </a:solidFill>
              </a:rPr>
              <a:t>, says that “The beauty of a work is in the eye of the author” (45). This is one reason why a writer should never let others’ harsh words upset them.</a:t>
            </a:r>
            <a:r>
              <a:rPr lang="en-IN" dirty="0" smtClean="0"/>
              <a:t> </a:t>
            </a:r>
          </a:p>
          <a:p>
            <a:pPr marL="0" indent="0">
              <a:buNone/>
            </a:pPr>
            <a:r>
              <a:rPr lang="en-IN" dirty="0" smtClean="0"/>
              <a:t>Footnote (</a:t>
            </a:r>
            <a:r>
              <a:rPr lang="en-IN" dirty="0" err="1" smtClean="0"/>
              <a:t>Turabian</a:t>
            </a:r>
            <a:r>
              <a:rPr lang="en-IN" dirty="0" smtClean="0"/>
              <a:t>): </a:t>
            </a:r>
            <a:r>
              <a:rPr lang="en-IN" dirty="0" smtClean="0">
                <a:solidFill>
                  <a:srgbClr val="00B050"/>
                </a:solidFill>
              </a:rPr>
              <a:t>A. U. Thor, in his </a:t>
            </a:r>
            <a:r>
              <a:rPr lang="en-IN" dirty="0" err="1" smtClean="0">
                <a:solidFill>
                  <a:srgbClr val="00B050"/>
                </a:solidFill>
              </a:rPr>
              <a:t>groundbreaking</a:t>
            </a:r>
            <a:r>
              <a:rPr lang="en-IN" dirty="0" smtClean="0">
                <a:solidFill>
                  <a:srgbClr val="00B050"/>
                </a:solidFill>
              </a:rPr>
              <a:t> work </a:t>
            </a:r>
            <a:r>
              <a:rPr lang="en-IN" i="1" dirty="0" smtClean="0">
                <a:solidFill>
                  <a:srgbClr val="00B050"/>
                </a:solidFill>
              </a:rPr>
              <a:t>A Book About Writing</a:t>
            </a:r>
            <a:r>
              <a:rPr lang="en-IN" dirty="0" smtClean="0">
                <a:solidFill>
                  <a:srgbClr val="00B050"/>
                </a:solidFill>
              </a:rPr>
              <a:t>, says that “The beauty of a work is in the eye of the author.”1 This is one reason why a writer should never let others’ harsh words upset them.</a:t>
            </a:r>
            <a:endParaRPr lang="en-IN" dirty="0">
              <a:solidFill>
                <a:srgbClr val="00B050"/>
              </a:solidFill>
            </a:endParaRPr>
          </a:p>
        </p:txBody>
      </p:sp>
    </p:spTree>
    <p:extLst>
      <p:ext uri="{BB962C8B-B14F-4D97-AF65-F5344CB8AC3E}">
        <p14:creationId xmlns:p14="http://schemas.microsoft.com/office/powerpoint/2010/main" val="5188885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Introduce the author of the quote or paraphrase before using it. In the example sentence, the author names the author and the work discussed and even offers a reason why this particular work is a good one to cite. </a:t>
            </a:r>
          </a:p>
          <a:p>
            <a:pPr marL="0" indent="0">
              <a:buNone/>
            </a:pPr>
            <a:r>
              <a:rPr lang="en-IN" dirty="0" smtClean="0">
                <a:solidFill>
                  <a:srgbClr val="00B050"/>
                </a:solidFill>
              </a:rPr>
              <a:t>A. U. Thor, in his </a:t>
            </a:r>
            <a:r>
              <a:rPr lang="en-IN" dirty="0" err="1" smtClean="0">
                <a:solidFill>
                  <a:srgbClr val="00B050"/>
                </a:solidFill>
              </a:rPr>
              <a:t>groundbreaking</a:t>
            </a:r>
            <a:r>
              <a:rPr lang="en-IN" dirty="0" smtClean="0">
                <a:solidFill>
                  <a:srgbClr val="00B050"/>
                </a:solidFill>
              </a:rPr>
              <a:t> work </a:t>
            </a:r>
            <a:r>
              <a:rPr lang="en-IN" i="1" dirty="0" smtClean="0">
                <a:solidFill>
                  <a:srgbClr val="00B050"/>
                </a:solidFill>
              </a:rPr>
              <a:t>A Book About Writing</a:t>
            </a:r>
            <a:r>
              <a:rPr lang="en-IN" dirty="0" smtClean="0">
                <a:solidFill>
                  <a:srgbClr val="00B050"/>
                </a:solidFill>
              </a:rPr>
              <a:t>, says that…</a:t>
            </a:r>
          </a:p>
          <a:p>
            <a:pPr marL="0" indent="0">
              <a:buNone/>
            </a:pPr>
            <a:endParaRPr lang="en-IN" dirty="0" smtClean="0">
              <a:solidFill>
                <a:srgbClr val="00B050"/>
              </a:solidFill>
            </a:endParaRPr>
          </a:p>
          <a:p>
            <a:pPr marL="0" indent="0">
              <a:buNone/>
            </a:pPr>
            <a:endParaRPr lang="en-IN" dirty="0">
              <a:solidFill>
                <a:srgbClr val="00B050"/>
              </a:solidFill>
            </a:endParaRPr>
          </a:p>
        </p:txBody>
      </p:sp>
    </p:spTree>
    <p:extLst>
      <p:ext uri="{BB962C8B-B14F-4D97-AF65-F5344CB8AC3E}">
        <p14:creationId xmlns:p14="http://schemas.microsoft.com/office/powerpoint/2010/main" val="694167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Always use quotation marks around direct quotes, which are the exact words of the author. No quotation marks are needed when paraphrasing, or saying the same thing in the writer’s own words, but these quotes still follow all other rules of quotation. </a:t>
            </a:r>
          </a:p>
          <a:p>
            <a:endParaRPr lang="en-IN" dirty="0"/>
          </a:p>
          <a:p>
            <a:pPr marL="0" indent="0">
              <a:buNone/>
            </a:pPr>
            <a:r>
              <a:rPr lang="en-IN" dirty="0" smtClean="0">
                <a:solidFill>
                  <a:srgbClr val="00B050"/>
                </a:solidFill>
              </a:rPr>
              <a:t>“The beauty of a work is in the eye of the author”</a:t>
            </a:r>
            <a:endParaRPr lang="en-IN" dirty="0">
              <a:solidFill>
                <a:srgbClr val="00B050"/>
              </a:solidFill>
            </a:endParaRPr>
          </a:p>
        </p:txBody>
      </p:sp>
    </p:spTree>
    <p:extLst>
      <p:ext uri="{BB962C8B-B14F-4D97-AF65-F5344CB8AC3E}">
        <p14:creationId xmlns:p14="http://schemas.microsoft.com/office/powerpoint/2010/main" val="3713635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dirty="0" smtClean="0"/>
              <a:t>When using parenthetical in-text citations, such as in MLA format, punctuation usually comes after the parenthesis at the end of a sentence. The following example is in MLA format, but APA format works the same way. </a:t>
            </a:r>
          </a:p>
          <a:p>
            <a:pPr marL="0" indent="0">
              <a:buNone/>
            </a:pPr>
            <a:r>
              <a:rPr lang="en-IN" dirty="0" smtClean="0">
                <a:solidFill>
                  <a:srgbClr val="00B050"/>
                </a:solidFill>
              </a:rPr>
              <a:t>A. U. Thor, in his </a:t>
            </a:r>
            <a:r>
              <a:rPr lang="en-IN" dirty="0" err="1" smtClean="0">
                <a:solidFill>
                  <a:srgbClr val="00B050"/>
                </a:solidFill>
              </a:rPr>
              <a:t>groundbreaking</a:t>
            </a:r>
            <a:r>
              <a:rPr lang="en-IN" dirty="0" smtClean="0">
                <a:solidFill>
                  <a:srgbClr val="00B050"/>
                </a:solidFill>
              </a:rPr>
              <a:t>… says that “The beauty of a work is in the eye of the author” (45).</a:t>
            </a:r>
            <a:r>
              <a:rPr lang="en-IN" dirty="0" smtClean="0"/>
              <a:t> </a:t>
            </a:r>
          </a:p>
          <a:p>
            <a:r>
              <a:rPr lang="en-IN" dirty="0" smtClean="0"/>
              <a:t>When using footnotes, such as in </a:t>
            </a:r>
            <a:r>
              <a:rPr lang="en-IN" dirty="0" err="1" smtClean="0"/>
              <a:t>Turabian</a:t>
            </a:r>
            <a:r>
              <a:rPr lang="en-IN" dirty="0" smtClean="0"/>
              <a:t> format, sentence-ending punctuation comes before the superscript number. </a:t>
            </a:r>
          </a:p>
          <a:p>
            <a:pPr marL="0" indent="0">
              <a:buNone/>
            </a:pPr>
            <a:r>
              <a:rPr lang="en-IN" dirty="0" smtClean="0">
                <a:solidFill>
                  <a:srgbClr val="00B050"/>
                </a:solidFill>
              </a:rPr>
              <a:t>A. U. Thor, in his </a:t>
            </a:r>
            <a:r>
              <a:rPr lang="en-IN" dirty="0" err="1" smtClean="0">
                <a:solidFill>
                  <a:srgbClr val="00B050"/>
                </a:solidFill>
              </a:rPr>
              <a:t>groundbreaking</a:t>
            </a:r>
            <a:r>
              <a:rPr lang="en-IN" dirty="0" smtClean="0">
                <a:solidFill>
                  <a:srgbClr val="00B050"/>
                </a:solidFill>
              </a:rPr>
              <a:t>… says that “The beauty of a work is in the eye of the </a:t>
            </a:r>
            <a:r>
              <a:rPr lang="en-IN" dirty="0">
                <a:solidFill>
                  <a:srgbClr val="00B050"/>
                </a:solidFill>
              </a:rPr>
              <a:t>author.”</a:t>
            </a:r>
            <a:r>
              <a:rPr lang="en-IN" baseline="30000" dirty="0">
                <a:solidFill>
                  <a:srgbClr val="00B050"/>
                </a:solidFill>
              </a:rPr>
              <a:t>1</a:t>
            </a:r>
            <a:endParaRPr lang="en-IN" dirty="0">
              <a:solidFill>
                <a:srgbClr val="00B050"/>
              </a:solidFill>
            </a:endParaRPr>
          </a:p>
          <a:p>
            <a:pPr marL="0" indent="0">
              <a:buNone/>
            </a:pPr>
            <a:endParaRPr lang="en-IN" dirty="0">
              <a:solidFill>
                <a:srgbClr val="00B050"/>
              </a:solidFill>
            </a:endParaRPr>
          </a:p>
        </p:txBody>
      </p:sp>
    </p:spTree>
    <p:extLst>
      <p:ext uri="{BB962C8B-B14F-4D97-AF65-F5344CB8AC3E}">
        <p14:creationId xmlns:p14="http://schemas.microsoft.com/office/powerpoint/2010/main" val="4009199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Make sure to explain the quote after it is used. Connect the quote to the topic of the paragraph. In other words, explain why the quote is necessary to make a point. </a:t>
            </a:r>
          </a:p>
          <a:p>
            <a:endParaRPr lang="en-IN" dirty="0"/>
          </a:p>
          <a:p>
            <a:pPr marL="0" indent="0">
              <a:buNone/>
            </a:pPr>
            <a:r>
              <a:rPr lang="en-IN" dirty="0" smtClean="0">
                <a:solidFill>
                  <a:srgbClr val="00B050"/>
                </a:solidFill>
              </a:rPr>
              <a:t>This is one reason why a writer should never let others’ harsh words upset them.</a:t>
            </a:r>
            <a:endParaRPr lang="en-IN" dirty="0">
              <a:solidFill>
                <a:srgbClr val="00B050"/>
              </a:solidFill>
            </a:endParaRPr>
          </a:p>
        </p:txBody>
      </p:sp>
    </p:spTree>
    <p:extLst>
      <p:ext uri="{BB962C8B-B14F-4D97-AF65-F5344CB8AC3E}">
        <p14:creationId xmlns:p14="http://schemas.microsoft.com/office/powerpoint/2010/main" val="2671000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Extra Spaces Between Paragraphs</a:t>
            </a:r>
            <a:endParaRPr lang="en-IN" b="1" dirty="0"/>
          </a:p>
        </p:txBody>
      </p:sp>
      <p:sp>
        <p:nvSpPr>
          <p:cNvPr id="3" name="Content Placeholder 2"/>
          <p:cNvSpPr>
            <a:spLocks noGrp="1"/>
          </p:cNvSpPr>
          <p:nvPr>
            <p:ph idx="1"/>
          </p:nvPr>
        </p:nvSpPr>
        <p:spPr/>
        <p:txBody>
          <a:bodyPr>
            <a:normAutofit fontScale="92500" lnSpcReduction="20000"/>
          </a:bodyPr>
          <a:lstStyle/>
          <a:p>
            <a:r>
              <a:rPr lang="en-IN" dirty="0" smtClean="0"/>
              <a:t>Microsoft Word automatically inserts an extra space between paragraphs, but most professors prefer that space to be removed. Eliminate it before beginning to write with the following steps: Under the Home tab, in the Styles selection box, select the style </a:t>
            </a:r>
            <a:r>
              <a:rPr lang="en-IN" dirty="0" err="1" smtClean="0"/>
              <a:t>labeled</a:t>
            </a:r>
            <a:r>
              <a:rPr lang="en-IN" dirty="0" smtClean="0"/>
              <a:t> No Spacing. In the Paragraph box, click the little arrow in the bottom right corner to pull up the Paragraph formatting box. Click on the dropdown menu under “Single” and select “Double” to ensure double-spacing, then click to checkmark the box that says “Don’t add space between paragraphs of the same style.” Hit OK. The extra space between paragraphs should disappear, and the paper should be ready to go</a:t>
            </a:r>
            <a:r>
              <a:rPr lang="en-IN" smtClean="0"/>
              <a:t>. </a:t>
            </a:r>
          </a:p>
          <a:p>
            <a:r>
              <a:rPr lang="en-IN" smtClean="0"/>
              <a:t>If </a:t>
            </a:r>
            <a:r>
              <a:rPr lang="en-IN" dirty="0" smtClean="0"/>
              <a:t>the paper has already been written, go up to the far right of the Home tab, click on the Select dropdown menu, and click “Select All.” Then, follow the same steps as above. This will undo any </a:t>
            </a:r>
            <a:r>
              <a:rPr lang="en-IN" dirty="0" err="1" smtClean="0"/>
              <a:t>centering</a:t>
            </a:r>
            <a:r>
              <a:rPr lang="en-IN" dirty="0" smtClean="0"/>
              <a:t> and other special formatting already done, so it is best to start from scratch.</a:t>
            </a:r>
            <a:endParaRPr lang="en-IN" dirty="0"/>
          </a:p>
        </p:txBody>
      </p:sp>
    </p:spTree>
    <p:extLst>
      <p:ext uri="{BB962C8B-B14F-4D97-AF65-F5344CB8AC3E}">
        <p14:creationId xmlns:p14="http://schemas.microsoft.com/office/powerpoint/2010/main" val="4293578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6600" b="1" dirty="0" smtClean="0"/>
              <a:t>Cutting Clutter</a:t>
            </a:r>
            <a:endParaRPr lang="en-IN" sz="6600" b="1" dirty="0"/>
          </a:p>
        </p:txBody>
      </p:sp>
      <p:sp>
        <p:nvSpPr>
          <p:cNvPr id="3" name="Subtitle 2"/>
          <p:cNvSpPr>
            <a:spLocks noGrp="1"/>
          </p:cNvSpPr>
          <p:nvPr>
            <p:ph type="subTitle" idx="1"/>
          </p:nvPr>
        </p:nvSpPr>
        <p:spPr/>
        <p:txBody>
          <a:bodyPr/>
          <a:lstStyle/>
          <a:p>
            <a:endParaRPr lang="en-IN" dirty="0" smtClean="0"/>
          </a:p>
        </p:txBody>
      </p:sp>
    </p:spTree>
    <p:extLst>
      <p:ext uri="{BB962C8B-B14F-4D97-AF65-F5344CB8AC3E}">
        <p14:creationId xmlns:p14="http://schemas.microsoft.com/office/powerpoint/2010/main" val="27954453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Cut Clutter from Writing</a:t>
            </a:r>
            <a:endParaRPr lang="en-IN" b="1" dirty="0"/>
          </a:p>
        </p:txBody>
      </p:sp>
      <p:sp>
        <p:nvSpPr>
          <p:cNvPr id="3" name="Content Placeholder 2"/>
          <p:cNvSpPr>
            <a:spLocks noGrp="1"/>
          </p:cNvSpPr>
          <p:nvPr>
            <p:ph idx="1"/>
          </p:nvPr>
        </p:nvSpPr>
        <p:spPr/>
        <p:txBody>
          <a:bodyPr/>
          <a:lstStyle/>
          <a:p>
            <a:r>
              <a:rPr lang="en-IN" dirty="0" smtClean="0"/>
              <a:t>We often take too long to say too little. Writing clearly and cleanly takes work, but it’s vital. When we write simply, we know what we’ve said, and we know other people will understand it.</a:t>
            </a:r>
          </a:p>
          <a:p>
            <a:r>
              <a:rPr lang="en-IN" dirty="0" smtClean="0"/>
              <a:t>Clutter is words, phrase, or sentences that take up space, and they contribute little to the message.</a:t>
            </a:r>
          </a:p>
          <a:p>
            <a:r>
              <a:rPr lang="en-IN" dirty="0" smtClean="0"/>
              <a:t>Clutter may also be commonly referred to as wordiness or conciseness. </a:t>
            </a:r>
          </a:p>
          <a:p>
            <a:r>
              <a:rPr lang="en-IN" dirty="0" smtClean="0"/>
              <a:t>It’s a common problem for any one who writes but one that’s easily solved by learning to recognize the most common symptoms of clutter.</a:t>
            </a:r>
            <a:endParaRPr lang="en-IN" dirty="0"/>
          </a:p>
        </p:txBody>
      </p:sp>
    </p:spTree>
    <p:extLst>
      <p:ext uri="{BB962C8B-B14F-4D97-AF65-F5344CB8AC3E}">
        <p14:creationId xmlns:p14="http://schemas.microsoft.com/office/powerpoint/2010/main" val="1016823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Don’t Draw Excessive Attention to the Writer</a:t>
            </a:r>
            <a:endParaRPr lang="en-IN" b="1" dirty="0"/>
          </a:p>
        </p:txBody>
      </p:sp>
      <p:sp>
        <p:nvSpPr>
          <p:cNvPr id="3" name="Content Placeholder 2"/>
          <p:cNvSpPr>
            <a:spLocks noGrp="1"/>
          </p:cNvSpPr>
          <p:nvPr>
            <p:ph idx="1"/>
          </p:nvPr>
        </p:nvSpPr>
        <p:spPr/>
        <p:txBody>
          <a:bodyPr>
            <a:normAutofit fontScale="92500" lnSpcReduction="10000"/>
          </a:bodyPr>
          <a:lstStyle/>
          <a:p>
            <a:r>
              <a:rPr lang="en-IN" dirty="0" smtClean="0"/>
              <a:t>Using expressions like –</a:t>
            </a:r>
          </a:p>
          <a:p>
            <a:endParaRPr lang="en-IN" dirty="0"/>
          </a:p>
          <a:p>
            <a:endParaRPr lang="en-IN" dirty="0" smtClean="0"/>
          </a:p>
          <a:p>
            <a:endParaRPr lang="en-IN" dirty="0"/>
          </a:p>
          <a:p>
            <a:r>
              <a:rPr lang="en-IN" dirty="0" smtClean="0"/>
              <a:t>Takes the reader’s attention away from shat should be most important – the old man – and puts it on the narrator or the writer.</a:t>
            </a:r>
          </a:p>
          <a:p>
            <a:r>
              <a:rPr lang="en-IN" dirty="0" smtClean="0"/>
              <a:t>When you say something about the old man, you simply imply you ‘noticed,’ ‘spotted,’ ‘saw,’ observed,’ or ‘could see’ him since there is no other way you could know those things about him. Since the ‘seeing’ announcement is unnecessary, simply revise the sentence.</a:t>
            </a:r>
          </a:p>
          <a:p>
            <a:pPr marL="0" indent="0" algn="ctr">
              <a:buNone/>
            </a:pPr>
            <a:r>
              <a:rPr lang="en-IN" b="1" dirty="0" smtClean="0">
                <a:solidFill>
                  <a:srgbClr val="00B050"/>
                </a:solidFill>
              </a:rPr>
              <a:t>An old man in a tattered coat leaned into the wind</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277128553"/>
              </p:ext>
            </p:extLst>
          </p:nvPr>
        </p:nvGraphicFramePr>
        <p:xfrm>
          <a:off x="1064028" y="2159554"/>
          <a:ext cx="10289772" cy="1463040"/>
        </p:xfrm>
        <a:graphic>
          <a:graphicData uri="http://schemas.openxmlformats.org/drawingml/2006/table">
            <a:tbl>
              <a:tblPr firstRow="1" bandRow="1">
                <a:tableStyleId>{5C22544A-7EE6-4342-B048-85BDC9FD1C3A}</a:tableStyleId>
              </a:tblPr>
              <a:tblGrid>
                <a:gridCol w="3122040"/>
                <a:gridCol w="7167732"/>
              </a:tblGrid>
              <a:tr h="1335676">
                <a:tc>
                  <a:txBody>
                    <a:bodyPr/>
                    <a:lstStyle/>
                    <a:p>
                      <a:r>
                        <a:rPr lang="en-IN" dirty="0" smtClean="0"/>
                        <a:t>I noticed…</a:t>
                      </a:r>
                    </a:p>
                    <a:p>
                      <a:r>
                        <a:rPr lang="en-IN" dirty="0" smtClean="0"/>
                        <a:t>I spotted…</a:t>
                      </a:r>
                    </a:p>
                    <a:p>
                      <a:r>
                        <a:rPr lang="en-IN" dirty="0" smtClean="0"/>
                        <a:t>I saw…</a:t>
                      </a:r>
                    </a:p>
                    <a:p>
                      <a:r>
                        <a:rPr lang="en-IN" dirty="0" smtClean="0"/>
                        <a:t>I observed…</a:t>
                      </a:r>
                    </a:p>
                    <a:p>
                      <a:r>
                        <a:rPr lang="en-IN" dirty="0" smtClean="0"/>
                        <a:t>I could see…</a:t>
                      </a:r>
                      <a:endParaRPr lang="en-IN" dirty="0"/>
                    </a:p>
                  </a:txBody>
                  <a:tcPr/>
                </a:tc>
                <a:tc>
                  <a:txBody>
                    <a:bodyPr/>
                    <a:lstStyle/>
                    <a:p>
                      <a:endParaRPr lang="en-IN" dirty="0" smtClean="0"/>
                    </a:p>
                    <a:p>
                      <a:endParaRPr lang="en-IN" dirty="0" smtClean="0"/>
                    </a:p>
                    <a:p>
                      <a:r>
                        <a:rPr lang="en-IN" dirty="0" smtClean="0"/>
                        <a:t>An old man in a tattered coat leaning into the wind</a:t>
                      </a:r>
                      <a:endParaRPr lang="en-IN" dirty="0"/>
                    </a:p>
                  </a:txBody>
                  <a:tcPr/>
                </a:tc>
              </a:tr>
            </a:tbl>
          </a:graphicData>
        </a:graphic>
      </p:graphicFrame>
    </p:spTree>
    <p:extLst>
      <p:ext uri="{BB962C8B-B14F-4D97-AF65-F5344CB8AC3E}">
        <p14:creationId xmlns:p14="http://schemas.microsoft.com/office/powerpoint/2010/main" val="1661940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Don’t use Verbs that require helping verbs if a simpler form will do</a:t>
            </a:r>
            <a:endParaRPr lang="en-IN" b="1" dirty="0"/>
          </a:p>
        </p:txBody>
      </p:sp>
      <p:sp>
        <p:nvSpPr>
          <p:cNvPr id="3" name="Content Placeholder 2"/>
          <p:cNvSpPr>
            <a:spLocks noGrp="1"/>
          </p:cNvSpPr>
          <p:nvPr>
            <p:ph idx="1"/>
          </p:nvPr>
        </p:nvSpPr>
        <p:spPr/>
        <p:txBody>
          <a:bodyPr/>
          <a:lstStyle/>
          <a:p>
            <a:r>
              <a:rPr lang="en-IN" dirty="0" smtClean="0"/>
              <a:t>Be specially cautious of forms of ‘be’ and ‘would’ when they precede an action verb.</a:t>
            </a:r>
          </a:p>
          <a:p>
            <a:pPr marL="0" indent="0">
              <a:buNone/>
            </a:pPr>
            <a:r>
              <a:rPr lang="en-IN" dirty="0" smtClean="0"/>
              <a:t>Instead: </a:t>
            </a:r>
            <a:r>
              <a:rPr lang="en-IN" dirty="0" smtClean="0">
                <a:solidFill>
                  <a:srgbClr val="FF0000"/>
                </a:solidFill>
              </a:rPr>
              <a:t>The cooks were preparing pea soup last night.</a:t>
            </a:r>
          </a:p>
          <a:p>
            <a:pPr marL="0" indent="0">
              <a:buNone/>
            </a:pPr>
            <a:r>
              <a:rPr lang="en-IN" dirty="0" smtClean="0"/>
              <a:t>Say: </a:t>
            </a:r>
            <a:r>
              <a:rPr lang="en-IN" dirty="0" smtClean="0">
                <a:solidFill>
                  <a:srgbClr val="00B050"/>
                </a:solidFill>
              </a:rPr>
              <a:t>The cooks prepared pea soup last night.</a:t>
            </a:r>
          </a:p>
          <a:p>
            <a:pPr marL="0" indent="0">
              <a:buNone/>
            </a:pPr>
            <a:r>
              <a:rPr lang="en-IN" dirty="0" smtClean="0"/>
              <a:t>Instead: </a:t>
            </a:r>
            <a:r>
              <a:rPr lang="en-IN" dirty="0" smtClean="0">
                <a:solidFill>
                  <a:srgbClr val="FF0000"/>
                </a:solidFill>
              </a:rPr>
              <a:t>Sara would take all the criticism.</a:t>
            </a:r>
          </a:p>
          <a:p>
            <a:pPr marL="0" indent="0">
              <a:buNone/>
            </a:pPr>
            <a:r>
              <a:rPr lang="en-IN" dirty="0" smtClean="0"/>
              <a:t>Say: </a:t>
            </a:r>
            <a:r>
              <a:rPr lang="en-IN" dirty="0" smtClean="0">
                <a:solidFill>
                  <a:srgbClr val="00B050"/>
                </a:solidFill>
              </a:rPr>
              <a:t>Sara took all he criticism.</a:t>
            </a:r>
          </a:p>
          <a:p>
            <a:pPr marL="0" indent="0">
              <a:buNone/>
            </a:pPr>
            <a:r>
              <a:rPr lang="en-IN" dirty="0" smtClean="0"/>
              <a:t>Instead: </a:t>
            </a:r>
            <a:r>
              <a:rPr lang="en-IN" dirty="0" smtClean="0">
                <a:solidFill>
                  <a:srgbClr val="FF0000"/>
                </a:solidFill>
              </a:rPr>
              <a:t>I will have eaten the chips before the game.</a:t>
            </a:r>
          </a:p>
          <a:p>
            <a:pPr marL="0" indent="0">
              <a:buNone/>
            </a:pPr>
            <a:r>
              <a:rPr lang="en-IN" dirty="0" smtClean="0"/>
              <a:t>Say: </a:t>
            </a:r>
            <a:r>
              <a:rPr lang="en-IN" dirty="0" smtClean="0">
                <a:solidFill>
                  <a:srgbClr val="00B050"/>
                </a:solidFill>
              </a:rPr>
              <a:t>I will eat the chips before the game.</a:t>
            </a:r>
          </a:p>
          <a:p>
            <a:pPr marL="0" indent="0">
              <a:buNone/>
            </a:pPr>
            <a:endParaRPr lang="en-IN" dirty="0"/>
          </a:p>
        </p:txBody>
      </p:sp>
    </p:spTree>
    <p:extLst>
      <p:ext uri="{BB962C8B-B14F-4D97-AF65-F5344CB8AC3E}">
        <p14:creationId xmlns:p14="http://schemas.microsoft.com/office/powerpoint/2010/main" val="4249530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Never start an independent clause with the word “There”</a:t>
            </a:r>
            <a:endParaRPr lang="en-IN" b="1" dirty="0"/>
          </a:p>
        </p:txBody>
      </p:sp>
      <p:sp>
        <p:nvSpPr>
          <p:cNvPr id="3" name="Content Placeholder 2"/>
          <p:cNvSpPr>
            <a:spLocks noGrp="1"/>
          </p:cNvSpPr>
          <p:nvPr>
            <p:ph idx="1"/>
          </p:nvPr>
        </p:nvSpPr>
        <p:spPr/>
        <p:txBody>
          <a:bodyPr/>
          <a:lstStyle/>
          <a:p>
            <a:r>
              <a:rPr lang="en-IN" dirty="0" smtClean="0"/>
              <a:t>Action verbs create better visuals, and the “there” construction is more wordy.</a:t>
            </a:r>
          </a:p>
          <a:p>
            <a:endParaRPr lang="en-IN" dirty="0"/>
          </a:p>
          <a:p>
            <a:pPr marL="0" indent="0">
              <a:buNone/>
            </a:pPr>
            <a:r>
              <a:rPr lang="en-IN" dirty="0" smtClean="0"/>
              <a:t>Instead: </a:t>
            </a:r>
            <a:r>
              <a:rPr lang="en-IN" dirty="0" smtClean="0">
                <a:solidFill>
                  <a:srgbClr val="FF0000"/>
                </a:solidFill>
              </a:rPr>
              <a:t>There was a rhinoceros charging across the road.</a:t>
            </a:r>
          </a:p>
          <a:p>
            <a:pPr marL="0" indent="0">
              <a:buNone/>
            </a:pPr>
            <a:r>
              <a:rPr lang="en-IN" dirty="0" smtClean="0"/>
              <a:t>Say: </a:t>
            </a:r>
            <a:r>
              <a:rPr lang="en-IN" dirty="0" smtClean="0">
                <a:solidFill>
                  <a:srgbClr val="00B050"/>
                </a:solidFill>
              </a:rPr>
              <a:t>A rhinoceros charged across the road.</a:t>
            </a:r>
            <a:endParaRPr lang="en-IN" dirty="0">
              <a:solidFill>
                <a:srgbClr val="00B050"/>
              </a:solidFill>
            </a:endParaRPr>
          </a:p>
        </p:txBody>
      </p:sp>
    </p:spTree>
    <p:extLst>
      <p:ext uri="{BB962C8B-B14F-4D97-AF65-F5344CB8AC3E}">
        <p14:creationId xmlns:p14="http://schemas.microsoft.com/office/powerpoint/2010/main" val="4272788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Never start an independent clause with the word “It”</a:t>
            </a:r>
            <a:endParaRPr lang="en-IN" dirty="0"/>
          </a:p>
        </p:txBody>
      </p:sp>
      <p:sp>
        <p:nvSpPr>
          <p:cNvPr id="3" name="Content Placeholder 2"/>
          <p:cNvSpPr>
            <a:spLocks noGrp="1"/>
          </p:cNvSpPr>
          <p:nvPr>
            <p:ph idx="1"/>
          </p:nvPr>
        </p:nvSpPr>
        <p:spPr/>
        <p:txBody>
          <a:bodyPr/>
          <a:lstStyle/>
          <a:p>
            <a:pPr marL="0" indent="0">
              <a:buNone/>
            </a:pPr>
            <a:r>
              <a:rPr lang="en-IN" dirty="0" smtClean="0"/>
              <a:t>Instead: </a:t>
            </a:r>
            <a:r>
              <a:rPr lang="en-IN" dirty="0" smtClean="0">
                <a:solidFill>
                  <a:srgbClr val="FF0000"/>
                </a:solidFill>
              </a:rPr>
              <a:t>It was a cold night when the cows broke out.</a:t>
            </a:r>
          </a:p>
          <a:p>
            <a:pPr marL="0" indent="0">
              <a:buNone/>
            </a:pPr>
            <a:r>
              <a:rPr lang="en-IN" dirty="0" smtClean="0"/>
              <a:t>Say: </a:t>
            </a:r>
            <a:r>
              <a:rPr lang="en-IN" i="1" dirty="0" smtClean="0">
                <a:solidFill>
                  <a:srgbClr val="00B050"/>
                </a:solidFill>
              </a:rPr>
              <a:t>On</a:t>
            </a:r>
            <a:r>
              <a:rPr lang="en-IN" dirty="0" smtClean="0">
                <a:solidFill>
                  <a:srgbClr val="00B050"/>
                </a:solidFill>
              </a:rPr>
              <a:t> a cold night the cows broke out.</a:t>
            </a:r>
          </a:p>
          <a:p>
            <a:pPr marL="0" indent="0">
              <a:buNone/>
            </a:pPr>
            <a:r>
              <a:rPr lang="en-IN" dirty="0" smtClean="0"/>
              <a:t>Instead: </a:t>
            </a:r>
            <a:r>
              <a:rPr lang="en-IN" dirty="0" smtClean="0">
                <a:solidFill>
                  <a:srgbClr val="FF0000"/>
                </a:solidFill>
              </a:rPr>
              <a:t>It’s too bad they lost the game.</a:t>
            </a:r>
          </a:p>
          <a:p>
            <a:pPr marL="0" indent="0">
              <a:buNone/>
            </a:pPr>
            <a:r>
              <a:rPr lang="en-IN" dirty="0" smtClean="0"/>
              <a:t>Say: </a:t>
            </a:r>
            <a:r>
              <a:rPr lang="en-IN" i="1" dirty="0" smtClean="0">
                <a:solidFill>
                  <a:srgbClr val="00B050"/>
                </a:solidFill>
              </a:rPr>
              <a:t>Unfortunately</a:t>
            </a:r>
            <a:r>
              <a:rPr lang="en-IN" dirty="0" smtClean="0">
                <a:solidFill>
                  <a:srgbClr val="00B050"/>
                </a:solidFill>
              </a:rPr>
              <a:t>, they lost the game.</a:t>
            </a:r>
          </a:p>
          <a:p>
            <a:pPr marL="0" indent="0">
              <a:buNone/>
            </a:pPr>
            <a:r>
              <a:rPr lang="en-IN" dirty="0" smtClean="0"/>
              <a:t>Instead: </a:t>
            </a:r>
            <a:r>
              <a:rPr lang="en-IN" dirty="0" smtClean="0">
                <a:solidFill>
                  <a:srgbClr val="FF0000"/>
                </a:solidFill>
              </a:rPr>
              <a:t>It seemed Grandma was prepared for the worst.</a:t>
            </a:r>
          </a:p>
          <a:p>
            <a:pPr marL="0" indent="0">
              <a:buNone/>
            </a:pPr>
            <a:r>
              <a:rPr lang="en-IN" dirty="0" smtClean="0"/>
              <a:t>Say: </a:t>
            </a:r>
            <a:r>
              <a:rPr lang="en-IN" dirty="0" smtClean="0">
                <a:solidFill>
                  <a:srgbClr val="00B050"/>
                </a:solidFill>
              </a:rPr>
              <a:t>Grandma was prepared for the worst.</a:t>
            </a:r>
          </a:p>
          <a:p>
            <a:pPr marL="0" indent="0">
              <a:buNone/>
            </a:pPr>
            <a:endParaRPr lang="en-IN" dirty="0"/>
          </a:p>
        </p:txBody>
      </p:sp>
    </p:spTree>
    <p:extLst>
      <p:ext uri="{BB962C8B-B14F-4D97-AF65-F5344CB8AC3E}">
        <p14:creationId xmlns:p14="http://schemas.microsoft.com/office/powerpoint/2010/main" val="993479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Don’t use two or more action verbs when only one is needed to make the meaning clear.</a:t>
            </a:r>
            <a:endParaRPr lang="en-IN" b="1" dirty="0"/>
          </a:p>
        </p:txBody>
      </p:sp>
      <p:sp>
        <p:nvSpPr>
          <p:cNvPr id="3" name="Content Placeholder 2"/>
          <p:cNvSpPr>
            <a:spLocks noGrp="1"/>
          </p:cNvSpPr>
          <p:nvPr>
            <p:ph idx="1"/>
          </p:nvPr>
        </p:nvSpPr>
        <p:spPr/>
        <p:txBody>
          <a:bodyPr/>
          <a:lstStyle/>
          <a:p>
            <a:endParaRPr lang="en-IN" dirty="0" smtClean="0"/>
          </a:p>
          <a:p>
            <a:pPr marL="0" indent="0">
              <a:buNone/>
            </a:pPr>
            <a:r>
              <a:rPr lang="en-IN" dirty="0" smtClean="0"/>
              <a:t>Instead: </a:t>
            </a:r>
            <a:r>
              <a:rPr lang="en-IN" dirty="0" smtClean="0">
                <a:solidFill>
                  <a:srgbClr val="FF0000"/>
                </a:solidFill>
              </a:rPr>
              <a:t>Nate began to cry when his dog died.</a:t>
            </a:r>
          </a:p>
          <a:p>
            <a:pPr marL="0" indent="0">
              <a:buNone/>
            </a:pPr>
            <a:r>
              <a:rPr lang="en-IN" dirty="0" smtClean="0"/>
              <a:t>Say: </a:t>
            </a:r>
            <a:r>
              <a:rPr lang="en-IN" dirty="0" smtClean="0">
                <a:solidFill>
                  <a:srgbClr val="00B050"/>
                </a:solidFill>
              </a:rPr>
              <a:t>Nate cried when his dog died.</a:t>
            </a:r>
            <a:endParaRPr lang="en-IN" dirty="0">
              <a:solidFill>
                <a:srgbClr val="00B050"/>
              </a:solidFill>
            </a:endParaRPr>
          </a:p>
        </p:txBody>
      </p:sp>
    </p:spTree>
    <p:extLst>
      <p:ext uri="{BB962C8B-B14F-4D97-AF65-F5344CB8AC3E}">
        <p14:creationId xmlns:p14="http://schemas.microsoft.com/office/powerpoint/2010/main" val="28741001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Cut the adverb implied in the verb</a:t>
            </a:r>
            <a:endParaRPr lang="en-IN" b="1" dirty="0"/>
          </a:p>
        </p:txBody>
      </p:sp>
      <p:sp>
        <p:nvSpPr>
          <p:cNvPr id="3" name="Content Placeholder 2"/>
          <p:cNvSpPr>
            <a:spLocks noGrp="1"/>
          </p:cNvSpPr>
          <p:nvPr>
            <p:ph idx="1"/>
          </p:nvPr>
        </p:nvSpPr>
        <p:spPr/>
        <p:txBody>
          <a:bodyPr/>
          <a:lstStyle/>
          <a:p>
            <a:pPr marL="0" indent="0">
              <a:buNone/>
            </a:pPr>
            <a:r>
              <a:rPr lang="en-IN" dirty="0" smtClean="0"/>
              <a:t>Instead: </a:t>
            </a:r>
            <a:r>
              <a:rPr lang="en-IN" dirty="0" smtClean="0">
                <a:solidFill>
                  <a:srgbClr val="FF0000"/>
                </a:solidFill>
              </a:rPr>
              <a:t>She sprinted </a:t>
            </a:r>
            <a:r>
              <a:rPr lang="en-IN" u="sng" dirty="0" smtClean="0">
                <a:solidFill>
                  <a:srgbClr val="FF0000"/>
                </a:solidFill>
              </a:rPr>
              <a:t>rapidly</a:t>
            </a:r>
            <a:r>
              <a:rPr lang="en-IN" dirty="0" smtClean="0">
                <a:solidFill>
                  <a:srgbClr val="FF0000"/>
                </a:solidFill>
              </a:rPr>
              <a:t> after the bus.</a:t>
            </a:r>
          </a:p>
          <a:p>
            <a:pPr marL="0" indent="0">
              <a:buNone/>
            </a:pPr>
            <a:r>
              <a:rPr lang="en-IN" dirty="0" smtClean="0"/>
              <a:t>Say: </a:t>
            </a:r>
            <a:r>
              <a:rPr lang="en-IN" dirty="0" smtClean="0">
                <a:solidFill>
                  <a:srgbClr val="00B050"/>
                </a:solidFill>
              </a:rPr>
              <a:t>She sprinted after the bus.</a:t>
            </a:r>
          </a:p>
          <a:p>
            <a:pPr marL="0" indent="0">
              <a:buNone/>
            </a:pPr>
            <a:r>
              <a:rPr lang="en-IN" dirty="0" smtClean="0"/>
              <a:t>Instead: </a:t>
            </a:r>
            <a:r>
              <a:rPr lang="en-IN" dirty="0" smtClean="0">
                <a:solidFill>
                  <a:srgbClr val="FF0000"/>
                </a:solidFill>
              </a:rPr>
              <a:t>Grandpa stumbled </a:t>
            </a:r>
            <a:r>
              <a:rPr lang="en-IN" u="sng" dirty="0" smtClean="0">
                <a:solidFill>
                  <a:srgbClr val="FF0000"/>
                </a:solidFill>
              </a:rPr>
              <a:t>clumsily</a:t>
            </a:r>
            <a:r>
              <a:rPr lang="en-IN" dirty="0" smtClean="0">
                <a:solidFill>
                  <a:srgbClr val="FF0000"/>
                </a:solidFill>
              </a:rPr>
              <a:t> over the cat.</a:t>
            </a:r>
          </a:p>
          <a:p>
            <a:pPr marL="0" indent="0">
              <a:buNone/>
            </a:pPr>
            <a:r>
              <a:rPr lang="en-IN" dirty="0" smtClean="0"/>
              <a:t>Say: </a:t>
            </a:r>
            <a:r>
              <a:rPr lang="en-IN" dirty="0" smtClean="0">
                <a:solidFill>
                  <a:srgbClr val="00B050"/>
                </a:solidFill>
              </a:rPr>
              <a:t>Grandpa stumbled over the cat.</a:t>
            </a:r>
          </a:p>
          <a:p>
            <a:pPr marL="0" indent="0">
              <a:buNone/>
            </a:pPr>
            <a:r>
              <a:rPr lang="en-IN" dirty="0" smtClean="0"/>
              <a:t>Instead: </a:t>
            </a:r>
            <a:r>
              <a:rPr lang="en-IN" dirty="0" smtClean="0">
                <a:solidFill>
                  <a:srgbClr val="FF0000"/>
                </a:solidFill>
              </a:rPr>
              <a:t>Mary cried </a:t>
            </a:r>
            <a:r>
              <a:rPr lang="en-IN" u="sng" dirty="0" smtClean="0">
                <a:solidFill>
                  <a:srgbClr val="FF0000"/>
                </a:solidFill>
              </a:rPr>
              <a:t>sadly </a:t>
            </a:r>
            <a:r>
              <a:rPr lang="en-IN" dirty="0" smtClean="0">
                <a:solidFill>
                  <a:srgbClr val="FF0000"/>
                </a:solidFill>
              </a:rPr>
              <a:t>because Bambi’s mother died.</a:t>
            </a:r>
          </a:p>
          <a:p>
            <a:pPr marL="0" indent="0">
              <a:buNone/>
            </a:pPr>
            <a:r>
              <a:rPr lang="en-IN" dirty="0" smtClean="0"/>
              <a:t>Say: </a:t>
            </a:r>
            <a:r>
              <a:rPr lang="en-IN" dirty="0" smtClean="0">
                <a:solidFill>
                  <a:srgbClr val="00B050"/>
                </a:solidFill>
              </a:rPr>
              <a:t>Mary cried because Bambi’s mother died.</a:t>
            </a:r>
            <a:endParaRPr lang="en-IN" dirty="0">
              <a:solidFill>
                <a:srgbClr val="00B050"/>
              </a:solidFill>
            </a:endParaRPr>
          </a:p>
        </p:txBody>
      </p:sp>
    </p:spTree>
    <p:extLst>
      <p:ext uri="{BB962C8B-B14F-4D97-AF65-F5344CB8AC3E}">
        <p14:creationId xmlns:p14="http://schemas.microsoft.com/office/powerpoint/2010/main" val="1081307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Use the short words rather than the long one </a:t>
            </a:r>
            <a:r>
              <a:rPr lang="en-IN" b="1" i="1" dirty="0" smtClean="0"/>
              <a:t>when they mean the same thing</a:t>
            </a:r>
            <a:r>
              <a:rPr lang="en-IN" b="1" dirty="0" smtClean="0"/>
              <a:t>.</a:t>
            </a:r>
            <a:endParaRPr lang="en-IN" b="1" dirty="0"/>
          </a:p>
        </p:txBody>
      </p:sp>
      <p:graphicFrame>
        <p:nvGraphicFramePr>
          <p:cNvPr id="4" name="Content Placeholder 3"/>
          <p:cNvGraphicFramePr>
            <a:graphicFrameLocks noGrp="1"/>
          </p:cNvGraphicFramePr>
          <p:nvPr>
            <p:ph idx="1"/>
            <p:extLst/>
          </p:nvPr>
        </p:nvGraphicFramePr>
        <p:xfrm>
          <a:off x="838200" y="2307763"/>
          <a:ext cx="10515600" cy="3527769"/>
        </p:xfrm>
        <a:graphic>
          <a:graphicData uri="http://schemas.openxmlformats.org/drawingml/2006/table">
            <a:tbl>
              <a:tblPr firstRow="1" bandRow="1">
                <a:tableStyleId>{5C22544A-7EE6-4342-B048-85BDC9FD1C3A}</a:tableStyleId>
              </a:tblPr>
              <a:tblGrid>
                <a:gridCol w="5257800"/>
                <a:gridCol w="5257800"/>
              </a:tblGrid>
              <a:tr h="503967">
                <a:tc>
                  <a:txBody>
                    <a:bodyPr/>
                    <a:lstStyle/>
                    <a:p>
                      <a:pPr algn="ctr"/>
                      <a:r>
                        <a:rPr lang="en-IN" dirty="0" smtClean="0"/>
                        <a:t>Instead</a:t>
                      </a:r>
                      <a:r>
                        <a:rPr lang="en-IN" baseline="0" dirty="0" smtClean="0"/>
                        <a:t> of</a:t>
                      </a:r>
                      <a:endParaRPr lang="en-IN" dirty="0"/>
                    </a:p>
                  </a:txBody>
                  <a:tcPr/>
                </a:tc>
                <a:tc>
                  <a:txBody>
                    <a:bodyPr/>
                    <a:lstStyle/>
                    <a:p>
                      <a:pPr algn="ctr"/>
                      <a:r>
                        <a:rPr lang="en-IN" dirty="0" smtClean="0"/>
                        <a:t>Say</a:t>
                      </a:r>
                      <a:endParaRPr lang="en-IN" dirty="0"/>
                    </a:p>
                  </a:txBody>
                  <a:tcPr/>
                </a:tc>
              </a:tr>
              <a:tr h="503967">
                <a:tc>
                  <a:txBody>
                    <a:bodyPr/>
                    <a:lstStyle/>
                    <a:p>
                      <a:r>
                        <a:rPr lang="en-IN" dirty="0" err="1" smtClean="0"/>
                        <a:t>Nemrous</a:t>
                      </a:r>
                      <a:endParaRPr lang="en-IN" dirty="0" smtClean="0"/>
                    </a:p>
                  </a:txBody>
                  <a:tcPr/>
                </a:tc>
                <a:tc>
                  <a:txBody>
                    <a:bodyPr/>
                    <a:lstStyle/>
                    <a:p>
                      <a:r>
                        <a:rPr lang="en-IN" dirty="0" smtClean="0"/>
                        <a:t>Many</a:t>
                      </a:r>
                      <a:endParaRPr lang="en-IN" dirty="0"/>
                    </a:p>
                  </a:txBody>
                  <a:tcPr/>
                </a:tc>
              </a:tr>
              <a:tr h="503967">
                <a:tc>
                  <a:txBody>
                    <a:bodyPr/>
                    <a:lstStyle/>
                    <a:p>
                      <a:r>
                        <a:rPr lang="en-IN" dirty="0" smtClean="0"/>
                        <a:t>Facilitate</a:t>
                      </a:r>
                      <a:endParaRPr lang="en-IN" dirty="0"/>
                    </a:p>
                  </a:txBody>
                  <a:tcPr/>
                </a:tc>
                <a:tc>
                  <a:txBody>
                    <a:bodyPr/>
                    <a:lstStyle/>
                    <a:p>
                      <a:r>
                        <a:rPr lang="en-IN" dirty="0" smtClean="0"/>
                        <a:t>Ease</a:t>
                      </a:r>
                      <a:endParaRPr lang="en-IN" dirty="0"/>
                    </a:p>
                  </a:txBody>
                  <a:tcPr/>
                </a:tc>
              </a:tr>
              <a:tr h="503967">
                <a:tc>
                  <a:txBody>
                    <a:bodyPr/>
                    <a:lstStyle/>
                    <a:p>
                      <a:r>
                        <a:rPr lang="en-IN" dirty="0" smtClean="0"/>
                        <a:t>Remainder</a:t>
                      </a:r>
                      <a:endParaRPr lang="en-IN" dirty="0"/>
                    </a:p>
                  </a:txBody>
                  <a:tcPr/>
                </a:tc>
                <a:tc>
                  <a:txBody>
                    <a:bodyPr/>
                    <a:lstStyle/>
                    <a:p>
                      <a:r>
                        <a:rPr lang="en-IN" dirty="0" smtClean="0"/>
                        <a:t>Rest</a:t>
                      </a:r>
                      <a:endParaRPr lang="en-IN" dirty="0"/>
                    </a:p>
                  </a:txBody>
                  <a:tcPr/>
                </a:tc>
              </a:tr>
              <a:tr h="503967">
                <a:tc>
                  <a:txBody>
                    <a:bodyPr/>
                    <a:lstStyle/>
                    <a:p>
                      <a:r>
                        <a:rPr lang="en-IN" dirty="0" smtClean="0"/>
                        <a:t>Initial</a:t>
                      </a:r>
                      <a:endParaRPr lang="en-IN" dirty="0"/>
                    </a:p>
                  </a:txBody>
                  <a:tcPr/>
                </a:tc>
                <a:tc>
                  <a:txBody>
                    <a:bodyPr/>
                    <a:lstStyle/>
                    <a:p>
                      <a:r>
                        <a:rPr lang="en-IN" dirty="0" smtClean="0"/>
                        <a:t>First</a:t>
                      </a:r>
                      <a:endParaRPr lang="en-IN" dirty="0"/>
                    </a:p>
                  </a:txBody>
                  <a:tcPr/>
                </a:tc>
              </a:tr>
              <a:tr h="503967">
                <a:tc>
                  <a:txBody>
                    <a:bodyPr/>
                    <a:lstStyle/>
                    <a:p>
                      <a:r>
                        <a:rPr lang="en-IN" dirty="0" smtClean="0"/>
                        <a:t>Sufficient</a:t>
                      </a:r>
                      <a:endParaRPr lang="en-IN" dirty="0"/>
                    </a:p>
                  </a:txBody>
                  <a:tcPr/>
                </a:tc>
                <a:tc>
                  <a:txBody>
                    <a:bodyPr/>
                    <a:lstStyle/>
                    <a:p>
                      <a:r>
                        <a:rPr lang="en-IN" dirty="0" smtClean="0"/>
                        <a:t>Enough</a:t>
                      </a:r>
                      <a:endParaRPr lang="en-IN" dirty="0"/>
                    </a:p>
                  </a:txBody>
                  <a:tcPr/>
                </a:tc>
              </a:tr>
              <a:tr h="503967">
                <a:tc>
                  <a:txBody>
                    <a:bodyPr/>
                    <a:lstStyle/>
                    <a:p>
                      <a:r>
                        <a:rPr lang="en-IN" dirty="0" smtClean="0"/>
                        <a:t>Attempt</a:t>
                      </a:r>
                      <a:endParaRPr lang="en-IN" dirty="0"/>
                    </a:p>
                  </a:txBody>
                  <a:tcPr/>
                </a:tc>
                <a:tc>
                  <a:txBody>
                    <a:bodyPr/>
                    <a:lstStyle/>
                    <a:p>
                      <a:r>
                        <a:rPr lang="en-IN" dirty="0" smtClean="0"/>
                        <a:t>Try</a:t>
                      </a:r>
                      <a:endParaRPr lang="en-IN" dirty="0"/>
                    </a:p>
                  </a:txBody>
                  <a:tcPr/>
                </a:tc>
              </a:tr>
            </a:tbl>
          </a:graphicData>
        </a:graphic>
      </p:graphicFrame>
    </p:spTree>
    <p:extLst>
      <p:ext uri="{BB962C8B-B14F-4D97-AF65-F5344CB8AC3E}">
        <p14:creationId xmlns:p14="http://schemas.microsoft.com/office/powerpoint/2010/main" val="20092756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Always be cautious of “that”</a:t>
            </a:r>
            <a:endParaRPr lang="en-IN" b="1" dirty="0"/>
          </a:p>
        </p:txBody>
      </p:sp>
      <p:sp>
        <p:nvSpPr>
          <p:cNvPr id="3" name="Content Placeholder 2"/>
          <p:cNvSpPr>
            <a:spLocks noGrp="1"/>
          </p:cNvSpPr>
          <p:nvPr>
            <p:ph idx="1"/>
          </p:nvPr>
        </p:nvSpPr>
        <p:spPr/>
        <p:txBody>
          <a:bodyPr/>
          <a:lstStyle/>
          <a:p>
            <a:pPr marL="0" indent="0">
              <a:buNone/>
            </a:pPr>
            <a:endParaRPr lang="en-IN" dirty="0" smtClean="0"/>
          </a:p>
          <a:p>
            <a:pPr marL="0" indent="0">
              <a:buNone/>
            </a:pPr>
            <a:r>
              <a:rPr lang="en-IN" dirty="0" smtClean="0"/>
              <a:t>Instead: </a:t>
            </a:r>
            <a:r>
              <a:rPr lang="en-IN" dirty="0" smtClean="0">
                <a:solidFill>
                  <a:srgbClr val="FF0000"/>
                </a:solidFill>
              </a:rPr>
              <a:t>He thought </a:t>
            </a:r>
            <a:r>
              <a:rPr lang="en-IN" u="sng" dirty="0" smtClean="0">
                <a:solidFill>
                  <a:srgbClr val="FF0000"/>
                </a:solidFill>
              </a:rPr>
              <a:t>that</a:t>
            </a:r>
            <a:r>
              <a:rPr lang="en-IN" dirty="0" smtClean="0">
                <a:solidFill>
                  <a:srgbClr val="FF0000"/>
                </a:solidFill>
              </a:rPr>
              <a:t> he was late.</a:t>
            </a:r>
          </a:p>
          <a:p>
            <a:pPr marL="0" indent="0">
              <a:buNone/>
            </a:pPr>
            <a:r>
              <a:rPr lang="en-IN" dirty="0" smtClean="0"/>
              <a:t>Say: </a:t>
            </a:r>
            <a:r>
              <a:rPr lang="en-IN" dirty="0" smtClean="0">
                <a:solidFill>
                  <a:srgbClr val="00B050"/>
                </a:solidFill>
              </a:rPr>
              <a:t>He thought he was late.</a:t>
            </a:r>
          </a:p>
          <a:p>
            <a:pPr marL="0" indent="0">
              <a:buNone/>
            </a:pPr>
            <a:r>
              <a:rPr lang="en-IN" dirty="0" smtClean="0"/>
              <a:t>Instead: </a:t>
            </a:r>
            <a:r>
              <a:rPr lang="en-IN" dirty="0" smtClean="0">
                <a:solidFill>
                  <a:srgbClr val="FF0000"/>
                </a:solidFill>
              </a:rPr>
              <a:t>I am certain </a:t>
            </a:r>
            <a:r>
              <a:rPr lang="en-IN" u="sng" dirty="0" smtClean="0">
                <a:solidFill>
                  <a:srgbClr val="FF0000"/>
                </a:solidFill>
              </a:rPr>
              <a:t>that</a:t>
            </a:r>
            <a:r>
              <a:rPr lang="en-IN" dirty="0" smtClean="0">
                <a:solidFill>
                  <a:srgbClr val="FF0000"/>
                </a:solidFill>
              </a:rPr>
              <a:t> he went home.</a:t>
            </a:r>
          </a:p>
          <a:p>
            <a:pPr marL="0" indent="0">
              <a:buNone/>
            </a:pPr>
            <a:r>
              <a:rPr lang="en-IN" dirty="0" smtClean="0"/>
              <a:t>Say: </a:t>
            </a:r>
            <a:r>
              <a:rPr lang="en-IN" dirty="0" smtClean="0">
                <a:solidFill>
                  <a:srgbClr val="00B050"/>
                </a:solidFill>
              </a:rPr>
              <a:t>I am certain he went home.</a:t>
            </a:r>
          </a:p>
          <a:p>
            <a:pPr marL="0" indent="0">
              <a:buNone/>
            </a:pPr>
            <a:endParaRPr lang="en-IN" dirty="0"/>
          </a:p>
        </p:txBody>
      </p:sp>
    </p:spTree>
    <p:extLst>
      <p:ext uri="{BB962C8B-B14F-4D97-AF65-F5344CB8AC3E}">
        <p14:creationId xmlns:p14="http://schemas.microsoft.com/office/powerpoint/2010/main" val="8276136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Use the active voice—put the actor in the sentence</a:t>
            </a:r>
            <a:endParaRPr lang="en-IN" b="1" dirty="0"/>
          </a:p>
        </p:txBody>
      </p:sp>
      <p:sp>
        <p:nvSpPr>
          <p:cNvPr id="3" name="Content Placeholder 2"/>
          <p:cNvSpPr>
            <a:spLocks noGrp="1"/>
          </p:cNvSpPr>
          <p:nvPr>
            <p:ph idx="1"/>
          </p:nvPr>
        </p:nvSpPr>
        <p:spPr/>
        <p:txBody>
          <a:bodyPr/>
          <a:lstStyle/>
          <a:p>
            <a:pPr marL="0" indent="0">
              <a:buNone/>
            </a:pPr>
            <a:endParaRPr lang="en-IN" dirty="0" smtClean="0"/>
          </a:p>
          <a:p>
            <a:pPr marL="0" indent="0">
              <a:buNone/>
            </a:pPr>
            <a:r>
              <a:rPr lang="en-IN" dirty="0" smtClean="0"/>
              <a:t>Instead: </a:t>
            </a:r>
            <a:r>
              <a:rPr lang="en-IN" dirty="0" smtClean="0">
                <a:solidFill>
                  <a:srgbClr val="FF0000"/>
                </a:solidFill>
              </a:rPr>
              <a:t>It was decided that the committee would meet tonight.</a:t>
            </a:r>
          </a:p>
          <a:p>
            <a:pPr marL="0" indent="0">
              <a:buNone/>
            </a:pPr>
            <a:r>
              <a:rPr lang="en-IN" dirty="0" smtClean="0"/>
              <a:t>Say: </a:t>
            </a:r>
            <a:r>
              <a:rPr lang="en-IN" dirty="0" smtClean="0">
                <a:solidFill>
                  <a:srgbClr val="00B050"/>
                </a:solidFill>
              </a:rPr>
              <a:t>The committee will meet tonight. </a:t>
            </a:r>
          </a:p>
          <a:p>
            <a:pPr marL="0" indent="0">
              <a:buNone/>
            </a:pPr>
            <a:r>
              <a:rPr lang="en-IN" dirty="0" smtClean="0"/>
              <a:t>Instead: </a:t>
            </a:r>
            <a:r>
              <a:rPr lang="en-IN" dirty="0" smtClean="0">
                <a:solidFill>
                  <a:srgbClr val="FF0000"/>
                </a:solidFill>
              </a:rPr>
              <a:t>The porch was swept by Kate.</a:t>
            </a:r>
          </a:p>
          <a:p>
            <a:pPr marL="0" indent="0">
              <a:buNone/>
            </a:pPr>
            <a:r>
              <a:rPr lang="en-IN" dirty="0" smtClean="0"/>
              <a:t>Say: </a:t>
            </a:r>
            <a:r>
              <a:rPr lang="en-IN" dirty="0" smtClean="0">
                <a:solidFill>
                  <a:srgbClr val="00B050"/>
                </a:solidFill>
              </a:rPr>
              <a:t>Kate swept the porch.</a:t>
            </a:r>
            <a:endParaRPr lang="en-IN" dirty="0">
              <a:solidFill>
                <a:srgbClr val="00B050"/>
              </a:solidFill>
            </a:endParaRPr>
          </a:p>
        </p:txBody>
      </p:sp>
    </p:spTree>
    <p:extLst>
      <p:ext uri="{BB962C8B-B14F-4D97-AF65-F5344CB8AC3E}">
        <p14:creationId xmlns:p14="http://schemas.microsoft.com/office/powerpoint/2010/main" val="696379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Don’t use phrases that add words, not meaning.</a:t>
            </a:r>
            <a:endParaRPr lang="en-IN" b="1" dirty="0"/>
          </a:p>
        </p:txBody>
      </p:sp>
      <p:graphicFrame>
        <p:nvGraphicFramePr>
          <p:cNvPr id="4" name="Content Placeholder 3"/>
          <p:cNvGraphicFramePr>
            <a:graphicFrameLocks noGrp="1"/>
          </p:cNvGraphicFramePr>
          <p:nvPr>
            <p:ph idx="1"/>
            <p:extLst/>
          </p:nvPr>
        </p:nvGraphicFramePr>
        <p:xfrm>
          <a:off x="838200" y="1825623"/>
          <a:ext cx="10515600" cy="3727278"/>
        </p:xfrm>
        <a:graphic>
          <a:graphicData uri="http://schemas.openxmlformats.org/drawingml/2006/table">
            <a:tbl>
              <a:tblPr firstRow="1" bandRow="1">
                <a:tableStyleId>{5C22544A-7EE6-4342-B048-85BDC9FD1C3A}</a:tableStyleId>
              </a:tblPr>
              <a:tblGrid>
                <a:gridCol w="5257800"/>
                <a:gridCol w="5257800"/>
              </a:tblGrid>
              <a:tr h="621213">
                <a:tc>
                  <a:txBody>
                    <a:bodyPr/>
                    <a:lstStyle/>
                    <a:p>
                      <a:pPr algn="ctr"/>
                      <a:r>
                        <a:rPr lang="en-IN" dirty="0" smtClean="0"/>
                        <a:t>Instead of</a:t>
                      </a:r>
                      <a:endParaRPr lang="en-IN" dirty="0"/>
                    </a:p>
                  </a:txBody>
                  <a:tcPr/>
                </a:tc>
                <a:tc>
                  <a:txBody>
                    <a:bodyPr/>
                    <a:lstStyle/>
                    <a:p>
                      <a:pPr algn="ctr"/>
                      <a:r>
                        <a:rPr lang="en-IN" dirty="0" smtClean="0"/>
                        <a:t>Say</a:t>
                      </a:r>
                      <a:endParaRPr lang="en-IN" dirty="0"/>
                    </a:p>
                  </a:txBody>
                  <a:tcPr/>
                </a:tc>
              </a:tr>
              <a:tr h="621213">
                <a:tc>
                  <a:txBody>
                    <a:bodyPr/>
                    <a:lstStyle/>
                    <a:p>
                      <a:r>
                        <a:rPr lang="en-IN" dirty="0" smtClean="0"/>
                        <a:t>Due to the fact that</a:t>
                      </a:r>
                      <a:endParaRPr lang="en-IN" dirty="0"/>
                    </a:p>
                  </a:txBody>
                  <a:tcPr/>
                </a:tc>
                <a:tc>
                  <a:txBody>
                    <a:bodyPr/>
                    <a:lstStyle/>
                    <a:p>
                      <a:r>
                        <a:rPr lang="en-IN" dirty="0" smtClean="0"/>
                        <a:t>Because </a:t>
                      </a:r>
                      <a:endParaRPr lang="en-IN" dirty="0"/>
                    </a:p>
                  </a:txBody>
                  <a:tcPr/>
                </a:tc>
              </a:tr>
              <a:tr h="621213">
                <a:tc>
                  <a:txBody>
                    <a:bodyPr/>
                    <a:lstStyle/>
                    <a:p>
                      <a:r>
                        <a:rPr lang="en-IN" dirty="0" smtClean="0"/>
                        <a:t>In the event that</a:t>
                      </a:r>
                      <a:endParaRPr lang="en-IN" dirty="0"/>
                    </a:p>
                  </a:txBody>
                  <a:tcPr/>
                </a:tc>
                <a:tc>
                  <a:txBody>
                    <a:bodyPr/>
                    <a:lstStyle/>
                    <a:p>
                      <a:r>
                        <a:rPr lang="en-IN" dirty="0" smtClean="0"/>
                        <a:t>If </a:t>
                      </a:r>
                      <a:endParaRPr lang="en-IN" dirty="0"/>
                    </a:p>
                  </a:txBody>
                  <a:tcPr/>
                </a:tc>
              </a:tr>
              <a:tr h="621213">
                <a:tc>
                  <a:txBody>
                    <a:bodyPr/>
                    <a:lstStyle/>
                    <a:p>
                      <a:r>
                        <a:rPr lang="en-IN" dirty="0" smtClean="0"/>
                        <a:t>With the possible exception of</a:t>
                      </a:r>
                      <a:endParaRPr lang="en-IN" dirty="0"/>
                    </a:p>
                  </a:txBody>
                  <a:tcPr/>
                </a:tc>
                <a:tc>
                  <a:txBody>
                    <a:bodyPr/>
                    <a:lstStyle/>
                    <a:p>
                      <a:r>
                        <a:rPr lang="en-IN" dirty="0" smtClean="0"/>
                        <a:t>Except</a:t>
                      </a:r>
                      <a:r>
                        <a:rPr lang="en-IN" baseline="0" dirty="0" smtClean="0"/>
                        <a:t> </a:t>
                      </a:r>
                      <a:endParaRPr lang="en-IN" dirty="0"/>
                    </a:p>
                  </a:txBody>
                  <a:tcPr/>
                </a:tc>
              </a:tr>
              <a:tr h="621213">
                <a:tc>
                  <a:txBody>
                    <a:bodyPr/>
                    <a:lstStyle/>
                    <a:p>
                      <a:r>
                        <a:rPr lang="en-IN" dirty="0" smtClean="0"/>
                        <a:t>At the present time</a:t>
                      </a:r>
                      <a:endParaRPr lang="en-IN" dirty="0"/>
                    </a:p>
                  </a:txBody>
                  <a:tcPr/>
                </a:tc>
                <a:tc>
                  <a:txBody>
                    <a:bodyPr/>
                    <a:lstStyle/>
                    <a:p>
                      <a:r>
                        <a:rPr lang="en-IN" dirty="0" smtClean="0"/>
                        <a:t>Now </a:t>
                      </a:r>
                      <a:endParaRPr lang="en-IN" dirty="0"/>
                    </a:p>
                  </a:txBody>
                  <a:tcPr/>
                </a:tc>
              </a:tr>
              <a:tr h="621213">
                <a:tc>
                  <a:txBody>
                    <a:bodyPr/>
                    <a:lstStyle/>
                    <a:p>
                      <a:r>
                        <a:rPr lang="en-IN" dirty="0" smtClean="0"/>
                        <a:t>The reason why</a:t>
                      </a:r>
                      <a:r>
                        <a:rPr lang="en-IN" baseline="0" dirty="0" smtClean="0"/>
                        <a:t> he went to the store because</a:t>
                      </a:r>
                      <a:endParaRPr lang="en-IN" dirty="0"/>
                    </a:p>
                  </a:txBody>
                  <a:tcPr/>
                </a:tc>
                <a:tc>
                  <a:txBody>
                    <a:bodyPr/>
                    <a:lstStyle/>
                    <a:p>
                      <a:r>
                        <a:rPr lang="en-IN" baseline="0" dirty="0" smtClean="0"/>
                        <a:t>He went to the store because</a:t>
                      </a:r>
                      <a:endParaRPr lang="en-IN" dirty="0"/>
                    </a:p>
                  </a:txBody>
                  <a:tcPr/>
                </a:tc>
              </a:tr>
            </a:tbl>
          </a:graphicData>
        </a:graphic>
      </p:graphicFrame>
    </p:spTree>
    <p:extLst>
      <p:ext uri="{BB962C8B-B14F-4D97-AF65-F5344CB8AC3E}">
        <p14:creationId xmlns:p14="http://schemas.microsoft.com/office/powerpoint/2010/main" val="21677418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Avoid general adjectives or adverbs</a:t>
            </a:r>
            <a:endParaRPr lang="en-IN" b="1" dirty="0"/>
          </a:p>
        </p:txBody>
      </p:sp>
      <p:sp>
        <p:nvSpPr>
          <p:cNvPr id="3" name="Content Placeholder 2"/>
          <p:cNvSpPr>
            <a:spLocks noGrp="1"/>
          </p:cNvSpPr>
          <p:nvPr>
            <p:ph idx="1"/>
          </p:nvPr>
        </p:nvSpPr>
        <p:spPr/>
        <p:txBody>
          <a:bodyPr/>
          <a:lstStyle/>
          <a:p>
            <a:r>
              <a:rPr lang="en-IN" dirty="0" smtClean="0"/>
              <a:t>These words don’t tell the reader anything important—they just take up space: kind of, sort of, individual, specific, definitely, actually, generally, really, basically, for all intents and purposes.</a:t>
            </a:r>
          </a:p>
          <a:p>
            <a:r>
              <a:rPr lang="en-IN" dirty="0" smtClean="0"/>
              <a:t>Avoid Qualifiers- </a:t>
            </a:r>
          </a:p>
          <a:p>
            <a:pPr marL="0" indent="0">
              <a:buNone/>
            </a:pPr>
            <a:r>
              <a:rPr lang="en-IN" dirty="0" smtClean="0"/>
              <a:t>Instead: </a:t>
            </a:r>
            <a:r>
              <a:rPr lang="en-IN" dirty="0" smtClean="0">
                <a:solidFill>
                  <a:srgbClr val="FF0000"/>
                </a:solidFill>
              </a:rPr>
              <a:t>He was </a:t>
            </a:r>
            <a:r>
              <a:rPr lang="en-IN" u="sng" dirty="0" smtClean="0">
                <a:solidFill>
                  <a:srgbClr val="FF0000"/>
                </a:solidFill>
              </a:rPr>
              <a:t>very</a:t>
            </a:r>
            <a:r>
              <a:rPr lang="en-IN" dirty="0" smtClean="0">
                <a:solidFill>
                  <a:srgbClr val="FF0000"/>
                </a:solidFill>
              </a:rPr>
              <a:t> tired.</a:t>
            </a:r>
          </a:p>
          <a:p>
            <a:pPr marL="0" indent="0">
              <a:buNone/>
            </a:pPr>
            <a:r>
              <a:rPr lang="en-IN" dirty="0" smtClean="0"/>
              <a:t>Say: </a:t>
            </a:r>
            <a:r>
              <a:rPr lang="en-IN" dirty="0" smtClean="0">
                <a:solidFill>
                  <a:srgbClr val="00B050"/>
                </a:solidFill>
              </a:rPr>
              <a:t>He was tired.</a:t>
            </a:r>
          </a:p>
          <a:p>
            <a:pPr marL="0" indent="0">
              <a:buNone/>
            </a:pPr>
            <a:r>
              <a:rPr lang="en-IN" dirty="0">
                <a:solidFill>
                  <a:srgbClr val="00B050"/>
                </a:solidFill>
              </a:rPr>
              <a:t>	</a:t>
            </a:r>
            <a:r>
              <a:rPr lang="en-IN" dirty="0" smtClean="0">
                <a:solidFill>
                  <a:srgbClr val="00B050"/>
                </a:solidFill>
              </a:rPr>
              <a:t>He was exhausted.</a:t>
            </a:r>
            <a:endParaRPr lang="en-IN" dirty="0">
              <a:solidFill>
                <a:srgbClr val="00B050"/>
              </a:solidFill>
            </a:endParaRPr>
          </a:p>
          <a:p>
            <a:pPr marL="0" indent="0">
              <a:buNone/>
            </a:pPr>
            <a:endParaRPr lang="en-IN" dirty="0"/>
          </a:p>
        </p:txBody>
      </p:sp>
    </p:spTree>
    <p:extLst>
      <p:ext uri="{BB962C8B-B14F-4D97-AF65-F5344CB8AC3E}">
        <p14:creationId xmlns:p14="http://schemas.microsoft.com/office/powerpoint/2010/main" val="33581522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Use verbs, rather than noun forms of verbs</a:t>
            </a:r>
            <a:endParaRPr lang="en-IN" b="1" dirty="0"/>
          </a:p>
        </p:txBody>
      </p:sp>
      <p:sp>
        <p:nvSpPr>
          <p:cNvPr id="3" name="Content Placeholder 2"/>
          <p:cNvSpPr>
            <a:spLocks noGrp="1"/>
          </p:cNvSpPr>
          <p:nvPr>
            <p:ph idx="1"/>
          </p:nvPr>
        </p:nvSpPr>
        <p:spPr/>
        <p:txBody>
          <a:bodyPr/>
          <a:lstStyle/>
          <a:p>
            <a:r>
              <a:rPr lang="en-IN" dirty="0" smtClean="0"/>
              <a:t>Active verbs take less space than gerunds (a noun with –</a:t>
            </a:r>
            <a:r>
              <a:rPr lang="en-IN" dirty="0" err="1" smtClean="0"/>
              <a:t>ing</a:t>
            </a:r>
            <a:r>
              <a:rPr lang="en-IN" dirty="0" smtClean="0"/>
              <a:t>, like frittering and spicing) or infinitives (to shout, to muzzle).</a:t>
            </a:r>
          </a:p>
          <a:p>
            <a:pPr marL="0" indent="0">
              <a:buNone/>
            </a:pPr>
            <a:endParaRPr lang="en-IN" dirty="0"/>
          </a:p>
          <a:p>
            <a:pPr marL="0" indent="0">
              <a:buNone/>
            </a:pPr>
            <a:r>
              <a:rPr lang="en-IN" dirty="0" smtClean="0"/>
              <a:t>Instead: </a:t>
            </a:r>
            <a:r>
              <a:rPr lang="en-IN" dirty="0" smtClean="0">
                <a:solidFill>
                  <a:srgbClr val="FF0000"/>
                </a:solidFill>
              </a:rPr>
              <a:t>Dancing is hard for me.</a:t>
            </a:r>
          </a:p>
          <a:p>
            <a:pPr marL="0" indent="0">
              <a:buNone/>
            </a:pPr>
            <a:r>
              <a:rPr lang="en-IN" dirty="0" smtClean="0"/>
              <a:t>Say: </a:t>
            </a:r>
            <a:r>
              <a:rPr lang="en-IN" dirty="0" smtClean="0">
                <a:solidFill>
                  <a:srgbClr val="00B050"/>
                </a:solidFill>
              </a:rPr>
              <a:t>I cannot dance.</a:t>
            </a:r>
          </a:p>
          <a:p>
            <a:pPr marL="0" indent="0">
              <a:buNone/>
            </a:pPr>
            <a:r>
              <a:rPr lang="en-IN" dirty="0" smtClean="0"/>
              <a:t>Instead: </a:t>
            </a:r>
            <a:r>
              <a:rPr lang="en-IN" dirty="0" smtClean="0">
                <a:solidFill>
                  <a:srgbClr val="FF0000"/>
                </a:solidFill>
              </a:rPr>
              <a:t>To dream is soothing.</a:t>
            </a:r>
          </a:p>
          <a:p>
            <a:pPr marL="0" indent="0">
              <a:buNone/>
            </a:pPr>
            <a:r>
              <a:rPr lang="en-IN" dirty="0" smtClean="0"/>
              <a:t>Say: </a:t>
            </a:r>
            <a:r>
              <a:rPr lang="en-IN" dirty="0" smtClean="0">
                <a:solidFill>
                  <a:srgbClr val="00B050"/>
                </a:solidFill>
              </a:rPr>
              <a:t>Dreams soothe.</a:t>
            </a:r>
            <a:endParaRPr lang="en-IN" dirty="0">
              <a:solidFill>
                <a:srgbClr val="00B050"/>
              </a:solidFill>
            </a:endParaRPr>
          </a:p>
        </p:txBody>
      </p:sp>
    </p:spTree>
    <p:extLst>
      <p:ext uri="{BB962C8B-B14F-4D97-AF65-F5344CB8AC3E}">
        <p14:creationId xmlns:p14="http://schemas.microsoft.com/office/powerpoint/2010/main" val="40048664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State personal opinions or beliefs directly and without labelling them as belonging to you.</a:t>
            </a:r>
            <a:endParaRPr lang="en-IN" b="1" dirty="0"/>
          </a:p>
        </p:txBody>
      </p:sp>
      <p:sp>
        <p:nvSpPr>
          <p:cNvPr id="6" name="Content Placeholder 5"/>
          <p:cNvSpPr>
            <a:spLocks noGrp="1"/>
          </p:cNvSpPr>
          <p:nvPr>
            <p:ph idx="1"/>
          </p:nvPr>
        </p:nvSpPr>
        <p:spPr/>
        <p:txBody>
          <a:bodyPr>
            <a:normAutofit/>
          </a:bodyPr>
          <a:lstStyle/>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r>
              <a:rPr lang="en-IN" dirty="0" smtClean="0"/>
              <a:t>Instead, be direct, and do not qualify your opinions:</a:t>
            </a:r>
          </a:p>
          <a:p>
            <a:pPr marL="0" indent="0">
              <a:buNone/>
            </a:pPr>
            <a:endParaRPr lang="en-IN" dirty="0"/>
          </a:p>
          <a:p>
            <a:pPr marL="0" indent="0">
              <a:buNone/>
            </a:pPr>
            <a:r>
              <a:rPr lang="en-IN" dirty="0" smtClean="0">
                <a:solidFill>
                  <a:srgbClr val="00B050"/>
                </a:solidFill>
              </a:rPr>
              <a:t>Automatic weapons should be outlawed.</a:t>
            </a:r>
            <a:endParaRPr lang="en-IN" dirty="0">
              <a:solidFill>
                <a:srgbClr val="00B050"/>
              </a:solidFill>
            </a:endParaRPr>
          </a:p>
        </p:txBody>
      </p:sp>
      <p:graphicFrame>
        <p:nvGraphicFramePr>
          <p:cNvPr id="7" name="Table 6"/>
          <p:cNvGraphicFramePr>
            <a:graphicFrameLocks noGrp="1"/>
          </p:cNvGraphicFramePr>
          <p:nvPr>
            <p:extLst/>
          </p:nvPr>
        </p:nvGraphicFramePr>
        <p:xfrm>
          <a:off x="1117599" y="2182706"/>
          <a:ext cx="9888451" cy="1463040"/>
        </p:xfrm>
        <a:graphic>
          <a:graphicData uri="http://schemas.openxmlformats.org/drawingml/2006/table">
            <a:tbl>
              <a:tblPr firstRow="1" bandRow="1">
                <a:tableStyleId>{5C22544A-7EE6-4342-B048-85BDC9FD1C3A}</a:tableStyleId>
              </a:tblPr>
              <a:tblGrid>
                <a:gridCol w="2928329"/>
                <a:gridCol w="6960122"/>
              </a:tblGrid>
              <a:tr h="1325266">
                <a:tc>
                  <a:txBody>
                    <a:bodyPr/>
                    <a:lstStyle/>
                    <a:p>
                      <a:pPr fontAlgn="t"/>
                      <a:r>
                        <a:rPr lang="en-IN" b="1" dirty="0" smtClean="0"/>
                        <a:t>I think… </a:t>
                      </a:r>
                      <a:endParaRPr lang="en-IN" dirty="0" smtClean="0"/>
                    </a:p>
                    <a:p>
                      <a:pPr fontAlgn="t"/>
                      <a:r>
                        <a:rPr lang="en-IN" b="1" dirty="0" smtClean="0"/>
                        <a:t>I feel…</a:t>
                      </a:r>
                      <a:endParaRPr lang="en-IN" dirty="0" smtClean="0"/>
                    </a:p>
                    <a:p>
                      <a:pPr fontAlgn="t"/>
                      <a:r>
                        <a:rPr lang="en-IN" b="1" dirty="0" smtClean="0"/>
                        <a:t>I believe…</a:t>
                      </a:r>
                      <a:endParaRPr lang="en-IN" dirty="0" smtClean="0"/>
                    </a:p>
                    <a:p>
                      <a:pPr fontAlgn="t"/>
                      <a:r>
                        <a:rPr lang="en-IN" b="1" dirty="0" smtClean="0"/>
                        <a:t>I realize…</a:t>
                      </a:r>
                      <a:endParaRPr lang="en-IN" dirty="0" smtClean="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smtClean="0"/>
                        <a:t>automatic  weapons should be outlawed.</a:t>
                      </a:r>
                      <a:endParaRPr lang="en-IN" dirty="0" smtClean="0"/>
                    </a:p>
                    <a:p>
                      <a:endParaRPr lang="en-IN" dirty="0"/>
                    </a:p>
                  </a:txBody>
                  <a:tcPr/>
                </a:tc>
              </a:tr>
            </a:tbl>
          </a:graphicData>
        </a:graphic>
      </p:graphicFrame>
    </p:spTree>
    <p:extLst>
      <p:ext uri="{BB962C8B-B14F-4D97-AF65-F5344CB8AC3E}">
        <p14:creationId xmlns:p14="http://schemas.microsoft.com/office/powerpoint/2010/main" val="21684907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Eliminate Wordiness</a:t>
            </a:r>
            <a:endParaRPr lang="en-IN" b="1" dirty="0"/>
          </a:p>
        </p:txBody>
      </p:sp>
      <p:sp>
        <p:nvSpPr>
          <p:cNvPr id="3" name="Content Placeholder 2"/>
          <p:cNvSpPr>
            <a:spLocks noGrp="1"/>
          </p:cNvSpPr>
          <p:nvPr>
            <p:ph idx="1"/>
          </p:nvPr>
        </p:nvSpPr>
        <p:spPr/>
        <p:txBody>
          <a:bodyPr>
            <a:normAutofit/>
          </a:bodyPr>
          <a:lstStyle/>
          <a:p>
            <a:r>
              <a:rPr lang="en-IN" dirty="0" smtClean="0"/>
              <a:t>For a sentence to flow well, it should not be cluttered with unnecessary words. Sentences should be concise and direct. </a:t>
            </a:r>
          </a:p>
          <a:p>
            <a:endParaRPr lang="en-IN" dirty="0"/>
          </a:p>
          <a:p>
            <a:pPr marL="0" indent="0">
              <a:buNone/>
            </a:pPr>
            <a:r>
              <a:rPr lang="en-IN" dirty="0" smtClean="0"/>
              <a:t>Instead</a:t>
            </a:r>
            <a:r>
              <a:rPr lang="en-IN" dirty="0" smtClean="0">
                <a:solidFill>
                  <a:srgbClr val="FF0000"/>
                </a:solidFill>
              </a:rPr>
              <a:t>: I enjoy power walking at a quick pace in the </a:t>
            </a:r>
            <a:r>
              <a:rPr lang="en-IN" dirty="0" err="1" smtClean="0">
                <a:solidFill>
                  <a:srgbClr val="FF0000"/>
                </a:solidFill>
              </a:rPr>
              <a:t>nighttime</a:t>
            </a:r>
            <a:r>
              <a:rPr lang="en-IN" dirty="0" smtClean="0">
                <a:solidFill>
                  <a:srgbClr val="FF0000"/>
                </a:solidFill>
              </a:rPr>
              <a:t> twilight under the dark sky.</a:t>
            </a:r>
          </a:p>
          <a:p>
            <a:pPr marL="0" indent="0">
              <a:buNone/>
            </a:pPr>
            <a:r>
              <a:rPr lang="en-IN" dirty="0" smtClean="0"/>
              <a:t>Say: </a:t>
            </a:r>
            <a:r>
              <a:rPr lang="en-IN" dirty="0" smtClean="0">
                <a:solidFill>
                  <a:srgbClr val="00B050"/>
                </a:solidFill>
              </a:rPr>
              <a:t>I enjoy power walking at night.</a:t>
            </a:r>
          </a:p>
          <a:p>
            <a:pPr marL="0" indent="0">
              <a:buNone/>
            </a:pPr>
            <a:r>
              <a:rPr lang="en-IN" dirty="0" smtClean="0"/>
              <a:t>Instead: </a:t>
            </a:r>
            <a:r>
              <a:rPr lang="en-IN" dirty="0" smtClean="0">
                <a:solidFill>
                  <a:srgbClr val="FF0000"/>
                </a:solidFill>
              </a:rPr>
              <a:t>She is one of the many girls who attends and walks the corridors of my school.</a:t>
            </a:r>
          </a:p>
          <a:p>
            <a:pPr marL="0" indent="0">
              <a:buNone/>
            </a:pPr>
            <a:r>
              <a:rPr lang="en-IN" dirty="0" smtClean="0"/>
              <a:t>Say: </a:t>
            </a:r>
            <a:r>
              <a:rPr lang="en-IN" dirty="0" smtClean="0">
                <a:solidFill>
                  <a:srgbClr val="00B050"/>
                </a:solidFill>
              </a:rPr>
              <a:t>She attends my school.</a:t>
            </a:r>
          </a:p>
          <a:p>
            <a:pPr marL="0" indent="0">
              <a:buNone/>
            </a:pPr>
            <a:endParaRPr lang="en-IN" dirty="0" smtClean="0"/>
          </a:p>
          <a:p>
            <a:pPr marL="0" indent="0">
              <a:buNone/>
            </a:pPr>
            <a:endParaRPr lang="en-IN" dirty="0"/>
          </a:p>
        </p:txBody>
      </p:sp>
    </p:spTree>
    <p:extLst>
      <p:ext uri="{BB962C8B-B14F-4D97-AF65-F5344CB8AC3E}">
        <p14:creationId xmlns:p14="http://schemas.microsoft.com/office/powerpoint/2010/main" val="3246097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Remove Redundant Words</a:t>
            </a:r>
            <a:endParaRPr lang="en-IN" b="1" dirty="0"/>
          </a:p>
        </p:txBody>
      </p:sp>
      <p:sp>
        <p:nvSpPr>
          <p:cNvPr id="3" name="Content Placeholder 2"/>
          <p:cNvSpPr>
            <a:spLocks noGrp="1"/>
          </p:cNvSpPr>
          <p:nvPr>
            <p:ph idx="1"/>
          </p:nvPr>
        </p:nvSpPr>
        <p:spPr/>
        <p:txBody>
          <a:bodyPr>
            <a:normAutofit/>
          </a:bodyPr>
          <a:lstStyle/>
          <a:p>
            <a:r>
              <a:rPr lang="en-IN" dirty="0" smtClean="0"/>
              <a:t>Remove words that are redundant. These are some common pairs of words that are redundant; one word should be removed from each pair. </a:t>
            </a:r>
          </a:p>
        </p:txBody>
      </p:sp>
      <p:graphicFrame>
        <p:nvGraphicFramePr>
          <p:cNvPr id="4" name="Table 3"/>
          <p:cNvGraphicFramePr>
            <a:graphicFrameLocks noGrp="1"/>
          </p:cNvGraphicFramePr>
          <p:nvPr>
            <p:extLst/>
          </p:nvPr>
        </p:nvGraphicFramePr>
        <p:xfrm>
          <a:off x="1849120" y="3063856"/>
          <a:ext cx="8128000" cy="3383280"/>
        </p:xfrm>
        <a:graphic>
          <a:graphicData uri="http://schemas.openxmlformats.org/drawingml/2006/table">
            <a:tbl>
              <a:tblPr firstRow="1" bandRow="1">
                <a:tableStyleId>{5C22544A-7EE6-4342-B048-85BDC9FD1C3A}</a:tableStyleId>
              </a:tblPr>
              <a:tblGrid>
                <a:gridCol w="4064000"/>
                <a:gridCol w="4064000"/>
              </a:tblGrid>
              <a:tr h="2605424">
                <a:tc>
                  <a:txBody>
                    <a:bodyPr/>
                    <a:lstStyle/>
                    <a:p>
                      <a:r>
                        <a:rPr lang="en-IN" dirty="0" smtClean="0"/>
                        <a:t>first and foremost </a:t>
                      </a:r>
                    </a:p>
                    <a:p>
                      <a:endParaRPr lang="en-IN" dirty="0" smtClean="0"/>
                    </a:p>
                    <a:p>
                      <a:r>
                        <a:rPr lang="en-IN" dirty="0" smtClean="0"/>
                        <a:t>each and every </a:t>
                      </a:r>
                    </a:p>
                    <a:p>
                      <a:endParaRPr lang="en-IN" dirty="0" smtClean="0"/>
                    </a:p>
                    <a:p>
                      <a:r>
                        <a:rPr lang="en-IN" dirty="0" smtClean="0"/>
                        <a:t>any and all </a:t>
                      </a:r>
                    </a:p>
                    <a:p>
                      <a:endParaRPr lang="en-IN" dirty="0" smtClean="0"/>
                    </a:p>
                    <a:p>
                      <a:r>
                        <a:rPr lang="en-IN" dirty="0" smtClean="0"/>
                        <a:t>hopes and desires </a:t>
                      </a:r>
                    </a:p>
                    <a:p>
                      <a:endParaRPr lang="en-IN" dirty="0" smtClean="0"/>
                    </a:p>
                    <a:p>
                      <a:r>
                        <a:rPr lang="en-IN" dirty="0" smtClean="0"/>
                        <a:t>always and forever </a:t>
                      </a:r>
                    </a:p>
                    <a:p>
                      <a:endParaRPr lang="en-IN" dirty="0"/>
                    </a:p>
                  </a:txBody>
                  <a:tcPr/>
                </a:tc>
                <a:tc>
                  <a:txBody>
                    <a:bodyPr/>
                    <a:lstStyle/>
                    <a:p>
                      <a:r>
                        <a:rPr lang="en-IN" dirty="0" smtClean="0"/>
                        <a:t>final outcome </a:t>
                      </a:r>
                    </a:p>
                    <a:p>
                      <a:endParaRPr lang="en-IN" dirty="0" smtClean="0"/>
                    </a:p>
                    <a:p>
                      <a:r>
                        <a:rPr lang="en-IN" dirty="0" smtClean="0"/>
                        <a:t>ancient history </a:t>
                      </a:r>
                    </a:p>
                    <a:p>
                      <a:endParaRPr lang="en-IN" dirty="0" smtClean="0"/>
                    </a:p>
                    <a:p>
                      <a:r>
                        <a:rPr lang="en-IN" dirty="0" smtClean="0"/>
                        <a:t>future plans </a:t>
                      </a:r>
                    </a:p>
                    <a:p>
                      <a:endParaRPr lang="en-IN" dirty="0" smtClean="0"/>
                    </a:p>
                    <a:p>
                      <a:r>
                        <a:rPr lang="en-IN" dirty="0" smtClean="0"/>
                        <a:t>free gift </a:t>
                      </a:r>
                    </a:p>
                    <a:p>
                      <a:endParaRPr lang="en-IN" dirty="0" smtClean="0"/>
                    </a:p>
                    <a:p>
                      <a:r>
                        <a:rPr lang="en-IN" dirty="0" smtClean="0"/>
                        <a:t>terrible tragedy </a:t>
                      </a:r>
                    </a:p>
                    <a:p>
                      <a:endParaRPr lang="en-IN" dirty="0" smtClean="0"/>
                    </a:p>
                    <a:p>
                      <a:r>
                        <a:rPr lang="en-IN" dirty="0" smtClean="0"/>
                        <a:t>reflect back</a:t>
                      </a:r>
                    </a:p>
                    <a:p>
                      <a:endParaRPr lang="en-IN" dirty="0"/>
                    </a:p>
                  </a:txBody>
                  <a:tcPr/>
                </a:tc>
              </a:tr>
            </a:tbl>
          </a:graphicData>
        </a:graphic>
      </p:graphicFrame>
    </p:spTree>
    <p:extLst>
      <p:ext uri="{BB962C8B-B14F-4D97-AF65-F5344CB8AC3E}">
        <p14:creationId xmlns:p14="http://schemas.microsoft.com/office/powerpoint/2010/main" val="7470014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Remove Meaningless Intensifiers</a:t>
            </a:r>
            <a:endParaRPr lang="en-IN" b="1" dirty="0"/>
          </a:p>
        </p:txBody>
      </p:sp>
      <p:sp>
        <p:nvSpPr>
          <p:cNvPr id="3" name="Content Placeholder 2"/>
          <p:cNvSpPr>
            <a:spLocks noGrp="1"/>
          </p:cNvSpPr>
          <p:nvPr>
            <p:ph idx="1"/>
          </p:nvPr>
        </p:nvSpPr>
        <p:spPr/>
        <p:txBody>
          <a:bodyPr/>
          <a:lstStyle/>
          <a:p>
            <a:r>
              <a:rPr lang="en-IN" dirty="0" smtClean="0"/>
              <a:t>Intensifiers such as so, very, many, quite, really, and definitely are unnecessary. If they add no significance to the sentence, they can be removed. </a:t>
            </a:r>
          </a:p>
          <a:p>
            <a:pPr marL="0" indent="0">
              <a:buNone/>
            </a:pPr>
            <a:r>
              <a:rPr lang="en-IN" dirty="0" smtClean="0"/>
              <a:t>Instead: : </a:t>
            </a:r>
            <a:r>
              <a:rPr lang="en-IN" dirty="0" smtClean="0">
                <a:solidFill>
                  <a:srgbClr val="FF0000"/>
                </a:solidFill>
              </a:rPr>
              <a:t>Lisa is definitely a very skilled writer.</a:t>
            </a:r>
          </a:p>
          <a:p>
            <a:pPr marL="0" indent="0">
              <a:buNone/>
            </a:pPr>
            <a:r>
              <a:rPr lang="en-IN" dirty="0" smtClean="0"/>
              <a:t>Say: : </a:t>
            </a:r>
            <a:r>
              <a:rPr lang="en-IN" dirty="0" smtClean="0">
                <a:solidFill>
                  <a:srgbClr val="00B050"/>
                </a:solidFill>
              </a:rPr>
              <a:t>Lisa is a skilled writer.</a:t>
            </a:r>
          </a:p>
          <a:p>
            <a:pPr marL="0" indent="0">
              <a:buNone/>
            </a:pPr>
            <a:r>
              <a:rPr lang="en-IN" dirty="0" smtClean="0"/>
              <a:t>Instead: </a:t>
            </a:r>
            <a:r>
              <a:rPr lang="en-IN" dirty="0" smtClean="0">
                <a:solidFill>
                  <a:srgbClr val="FF0000"/>
                </a:solidFill>
              </a:rPr>
              <a:t>She really, truly dances quite well. </a:t>
            </a:r>
          </a:p>
          <a:p>
            <a:pPr marL="0" indent="0">
              <a:buNone/>
            </a:pPr>
            <a:r>
              <a:rPr lang="en-IN" dirty="0" smtClean="0"/>
              <a:t>Say: </a:t>
            </a:r>
            <a:r>
              <a:rPr lang="en-IN" dirty="0" smtClean="0">
                <a:solidFill>
                  <a:srgbClr val="00B050"/>
                </a:solidFill>
              </a:rPr>
              <a:t>She dances well. </a:t>
            </a:r>
            <a:endParaRPr lang="en-IN" dirty="0">
              <a:solidFill>
                <a:srgbClr val="00B050"/>
              </a:solidFill>
            </a:endParaRPr>
          </a:p>
        </p:txBody>
      </p:sp>
    </p:spTree>
    <p:extLst>
      <p:ext uri="{BB962C8B-B14F-4D97-AF65-F5344CB8AC3E}">
        <p14:creationId xmlns:p14="http://schemas.microsoft.com/office/powerpoint/2010/main" val="7335058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Remove Unnecessary Prepositions</a:t>
            </a:r>
            <a:endParaRPr lang="en-IN" b="1" dirty="0"/>
          </a:p>
        </p:txBody>
      </p:sp>
      <p:sp>
        <p:nvSpPr>
          <p:cNvPr id="3" name="Content Placeholder 2"/>
          <p:cNvSpPr>
            <a:spLocks noGrp="1"/>
          </p:cNvSpPr>
          <p:nvPr>
            <p:ph idx="1"/>
          </p:nvPr>
        </p:nvSpPr>
        <p:spPr/>
        <p:txBody>
          <a:bodyPr/>
          <a:lstStyle/>
          <a:p>
            <a:pPr marL="0" indent="0">
              <a:buNone/>
            </a:pPr>
            <a:endParaRPr lang="en-IN" dirty="0" smtClean="0"/>
          </a:p>
          <a:p>
            <a:pPr marL="0" indent="0">
              <a:buNone/>
            </a:pPr>
            <a:r>
              <a:rPr lang="en-IN" dirty="0" smtClean="0"/>
              <a:t>Instead: </a:t>
            </a:r>
            <a:r>
              <a:rPr lang="en-IN" dirty="0" smtClean="0">
                <a:solidFill>
                  <a:srgbClr val="FF0000"/>
                </a:solidFill>
              </a:rPr>
              <a:t>I go to work from between 9:00 a.m. to about 5:00 p.m. [with and take a one-hour break in between at about around noon.</a:t>
            </a:r>
          </a:p>
          <a:p>
            <a:pPr marL="0" indent="0">
              <a:buNone/>
            </a:pPr>
            <a:endParaRPr lang="en-IN" dirty="0" smtClean="0"/>
          </a:p>
          <a:p>
            <a:pPr marL="0" indent="0">
              <a:buNone/>
            </a:pPr>
            <a:r>
              <a:rPr lang="en-IN" dirty="0" smtClean="0"/>
              <a:t>Say: </a:t>
            </a:r>
            <a:r>
              <a:rPr lang="en-IN" dirty="0" smtClean="0">
                <a:solidFill>
                  <a:srgbClr val="00B050"/>
                </a:solidFill>
              </a:rPr>
              <a:t>I work from 9:00 a.m.to 5:00 p.m. and take a one-hour break around noon.</a:t>
            </a:r>
            <a:endParaRPr lang="en-IN" dirty="0">
              <a:solidFill>
                <a:srgbClr val="00B050"/>
              </a:solidFill>
            </a:endParaRPr>
          </a:p>
        </p:txBody>
      </p:sp>
    </p:spTree>
    <p:extLst>
      <p:ext uri="{BB962C8B-B14F-4D97-AF65-F5344CB8AC3E}">
        <p14:creationId xmlns:p14="http://schemas.microsoft.com/office/powerpoint/2010/main" val="29582432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Avoid Lengthiness</a:t>
            </a:r>
            <a:endParaRPr lang="en-IN" b="1" dirty="0"/>
          </a:p>
        </p:txBody>
      </p:sp>
      <p:sp>
        <p:nvSpPr>
          <p:cNvPr id="3" name="Content Placeholder 2"/>
          <p:cNvSpPr>
            <a:spLocks noGrp="1"/>
          </p:cNvSpPr>
          <p:nvPr>
            <p:ph idx="1"/>
          </p:nvPr>
        </p:nvSpPr>
        <p:spPr/>
        <p:txBody>
          <a:bodyPr/>
          <a:lstStyle/>
          <a:p>
            <a:r>
              <a:rPr lang="en-IN" dirty="0" smtClean="0"/>
              <a:t>Avoid lengthy expressions that make a sentence wordy. Eliminating this problem may require moving words around in the sentence. </a:t>
            </a:r>
          </a:p>
          <a:p>
            <a:pPr marL="0" indent="0">
              <a:buNone/>
            </a:pPr>
            <a:r>
              <a:rPr lang="en-IN" dirty="0" smtClean="0"/>
              <a:t>Instead: </a:t>
            </a:r>
            <a:r>
              <a:rPr lang="en-IN" dirty="0" smtClean="0">
                <a:solidFill>
                  <a:srgbClr val="FF0000"/>
                </a:solidFill>
              </a:rPr>
              <a:t>At this point in time, there are currently far too many prisoners of war, also known as POWs. </a:t>
            </a:r>
          </a:p>
          <a:p>
            <a:pPr marL="0" indent="0">
              <a:buNone/>
            </a:pPr>
            <a:r>
              <a:rPr lang="en-IN" dirty="0" smtClean="0"/>
              <a:t>Say: </a:t>
            </a:r>
            <a:r>
              <a:rPr lang="en-IN" dirty="0" smtClean="0">
                <a:solidFill>
                  <a:srgbClr val="00B050"/>
                </a:solidFill>
              </a:rPr>
              <a:t>There are currently far too many prisoners of war (POWs). </a:t>
            </a:r>
          </a:p>
          <a:p>
            <a:pPr marL="0" indent="0">
              <a:buNone/>
            </a:pPr>
            <a:r>
              <a:rPr lang="en-IN" dirty="0" smtClean="0"/>
              <a:t>Instead: </a:t>
            </a:r>
            <a:r>
              <a:rPr lang="en-IN" dirty="0" smtClean="0">
                <a:solidFill>
                  <a:srgbClr val="FF0000"/>
                </a:solidFill>
              </a:rPr>
              <a:t>If you really want to know, I can truthfully say that I actually don’t really care about where we go to eat for dinner.</a:t>
            </a:r>
          </a:p>
          <a:p>
            <a:pPr marL="0" indent="0">
              <a:buNone/>
            </a:pPr>
            <a:r>
              <a:rPr lang="en-IN" dirty="0" smtClean="0"/>
              <a:t>Say: </a:t>
            </a:r>
            <a:r>
              <a:rPr lang="en-IN" dirty="0" smtClean="0">
                <a:solidFill>
                  <a:srgbClr val="00B050"/>
                </a:solidFill>
              </a:rPr>
              <a:t>I don’t care where we eat dinner.</a:t>
            </a:r>
            <a:endParaRPr lang="en-IN" dirty="0">
              <a:solidFill>
                <a:srgbClr val="00B050"/>
              </a:solidFill>
            </a:endParaRPr>
          </a:p>
        </p:txBody>
      </p:sp>
    </p:spTree>
    <p:extLst>
      <p:ext uri="{BB962C8B-B14F-4D97-AF65-F5344CB8AC3E}">
        <p14:creationId xmlns:p14="http://schemas.microsoft.com/office/powerpoint/2010/main" val="2921620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Sample Paragraph</a:t>
            </a:r>
            <a:endParaRPr lang="en-IN" b="1" dirty="0"/>
          </a:p>
        </p:txBody>
      </p:sp>
      <p:sp>
        <p:nvSpPr>
          <p:cNvPr id="3" name="Content Placeholder 2"/>
          <p:cNvSpPr>
            <a:spLocks noGrp="1"/>
          </p:cNvSpPr>
          <p:nvPr>
            <p:ph idx="1"/>
          </p:nvPr>
        </p:nvSpPr>
        <p:spPr>
          <a:xfrm>
            <a:off x="838199" y="1825624"/>
            <a:ext cx="10882745" cy="4758056"/>
          </a:xfrm>
        </p:spPr>
        <p:txBody>
          <a:bodyPr>
            <a:normAutofit fontScale="92500" lnSpcReduction="10000"/>
          </a:bodyPr>
          <a:lstStyle/>
          <a:p>
            <a:r>
              <a:rPr lang="en-IN" dirty="0" smtClean="0"/>
              <a:t>Original: </a:t>
            </a:r>
          </a:p>
          <a:p>
            <a:pPr marL="0" indent="0">
              <a:buNone/>
            </a:pPr>
            <a:r>
              <a:rPr lang="en-IN" dirty="0" smtClean="0">
                <a:solidFill>
                  <a:srgbClr val="FF0000"/>
                </a:solidFill>
              </a:rPr>
              <a:t>For nearly 20 years when asked the question what I would like to be when I grow up, I always used to think about writing, but I did not always consider writing as something I might like to be doing full-time. The foundation of my career goals started out in fifth grade, when my teacher told me a story I had written might be at a high enough standard to be publishable in the future. I was intrigued by this profession because I was always reading, but at the time I was always reading about marine mammals and had formed the impression that I would like to become a marine biologist because I had read everything about whales. As time passed and I became better acquainted with the study of science, I found that the job of a writer was something that would fit very well with my personality and goals in life, because it allows you to read about anything you want and you do not have to make a lot of measurements. </a:t>
            </a:r>
            <a:r>
              <a:rPr lang="en-IN" dirty="0" smtClean="0"/>
              <a:t>(173 words)</a:t>
            </a:r>
            <a:endParaRPr lang="en-IN" dirty="0"/>
          </a:p>
        </p:txBody>
      </p:sp>
    </p:spTree>
    <p:extLst>
      <p:ext uri="{BB962C8B-B14F-4D97-AF65-F5344CB8AC3E}">
        <p14:creationId xmlns:p14="http://schemas.microsoft.com/office/powerpoint/2010/main" val="16065198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Stripped down without losing any of the meaning: </a:t>
            </a:r>
          </a:p>
          <a:p>
            <a:pPr marL="0" indent="0">
              <a:buNone/>
            </a:pPr>
            <a:endParaRPr lang="en-IN" dirty="0"/>
          </a:p>
          <a:p>
            <a:pPr marL="0" indent="0">
              <a:buNone/>
            </a:pPr>
            <a:r>
              <a:rPr lang="en-IN" dirty="0" smtClean="0">
                <a:solidFill>
                  <a:srgbClr val="00B050"/>
                </a:solidFill>
              </a:rPr>
              <a:t>For 20 years I have liked writing, but I did not always think of making a living by it. I first thought of writing as a job when my fifth grade teacher told me I might turn a story of mine into a children’s book. I read all the time, but back then I read about whales. I thought I wanted to study Marine Biology. As I learned more about research, I found I liked talking about whales better than swimming with them. </a:t>
            </a:r>
            <a:r>
              <a:rPr lang="en-IN" dirty="0" smtClean="0"/>
              <a:t>(83 words).</a:t>
            </a:r>
            <a:endParaRPr lang="en-IN" dirty="0"/>
          </a:p>
        </p:txBody>
      </p:sp>
    </p:spTree>
    <p:extLst>
      <p:ext uri="{BB962C8B-B14F-4D97-AF65-F5344CB8AC3E}">
        <p14:creationId xmlns:p14="http://schemas.microsoft.com/office/powerpoint/2010/main" val="35066107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17124" y="2421924"/>
            <a:ext cx="7965990" cy="1107996"/>
          </a:xfrm>
          <a:prstGeom prst="rect">
            <a:avLst/>
          </a:prstGeom>
          <a:noFill/>
        </p:spPr>
        <p:txBody>
          <a:bodyPr wrap="square" lIns="91440" tIns="45720" rIns="91440" bIns="45720">
            <a:spAutoFit/>
          </a:bodyPr>
          <a:lstStyle/>
          <a:p>
            <a:pPr algn="ctr"/>
            <a:r>
              <a:rPr lang="en-US" sz="6600" b="1" cap="none" spc="0" dirty="0" smtClean="0">
                <a:ln w="0"/>
                <a:solidFill>
                  <a:schemeClr val="tx1"/>
                </a:solidFill>
                <a:effectLst>
                  <a:outerShdw blurRad="38100" dist="19050" dir="2700000" algn="tl" rotWithShape="0">
                    <a:schemeClr val="dk1">
                      <a:alpha val="40000"/>
                    </a:schemeClr>
                  </a:outerShdw>
                </a:effectLst>
              </a:rPr>
              <a:t>Thank You</a:t>
            </a:r>
            <a:endParaRPr lang="en-US" sz="66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66603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4402</Words>
  <Application>Microsoft Office PowerPoint</Application>
  <PresentationFormat>Widescreen</PresentationFormat>
  <Paragraphs>388</Paragraphs>
  <Slides>60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Calibri</vt:lpstr>
      <vt:lpstr>Calibri Light</vt:lpstr>
      <vt:lpstr>Office Theme</vt:lpstr>
      <vt:lpstr>Common Errors in Writing</vt:lpstr>
      <vt:lpstr>Sentence Fragments</vt:lpstr>
      <vt:lpstr>Run-on Sentences</vt:lpstr>
      <vt:lpstr>PowerPoint Presentation</vt:lpstr>
      <vt:lpstr>Sentence Sprawl</vt:lpstr>
      <vt:lpstr>Faulty Sentence Structure</vt:lpstr>
      <vt:lpstr>Unnecessary Shift in Verb Tense</vt:lpstr>
      <vt:lpstr>Present/Past Tense</vt:lpstr>
      <vt:lpstr>Misplaced and Dangling Modifiers</vt:lpstr>
      <vt:lpstr>Squinting Modifiers</vt:lpstr>
      <vt:lpstr>Faulty Parallelism</vt:lpstr>
      <vt:lpstr>Subject/Verb Agreement</vt:lpstr>
      <vt:lpstr>Pronoun/Antecedent Agreement </vt:lpstr>
      <vt:lpstr>Unclear Pronoun Reference</vt:lpstr>
      <vt:lpstr>Incorrect Pronoun Case</vt:lpstr>
      <vt:lpstr>Omitted Commas</vt:lpstr>
      <vt:lpstr>Superfluous Commas</vt:lpstr>
      <vt:lpstr>Comma Splices</vt:lpstr>
      <vt:lpstr>No comma after an introductory phrase</vt:lpstr>
      <vt:lpstr>Comma misuse (inside a compound subject)</vt:lpstr>
      <vt:lpstr>No commas around interrupters</vt:lpstr>
      <vt:lpstr>Apostrophe Errors</vt:lpstr>
      <vt:lpstr>Apostrophes and Contractions</vt:lpstr>
      <vt:lpstr>PowerPoint Presentation</vt:lpstr>
      <vt:lpstr>First/Second Person Vs. Third Person</vt:lpstr>
      <vt:lpstr>Words Easily Confused</vt:lpstr>
      <vt:lpstr>Wordiness </vt:lpstr>
      <vt:lpstr>PowerPoint Presentation</vt:lpstr>
      <vt:lpstr>Research Papers Writing</vt:lpstr>
      <vt:lpstr>Thesis Statement</vt:lpstr>
      <vt:lpstr>Quotation Marks and Punctuation</vt:lpstr>
      <vt:lpstr>Integrating Quotes</vt:lpstr>
      <vt:lpstr>PowerPoint Presentation</vt:lpstr>
      <vt:lpstr>PowerPoint Presentation</vt:lpstr>
      <vt:lpstr>PowerPoint Presentation</vt:lpstr>
      <vt:lpstr>PowerPoint Presentation</vt:lpstr>
      <vt:lpstr>Extra Spaces Between Paragraphs</vt:lpstr>
      <vt:lpstr>Cutting Clutter</vt:lpstr>
      <vt:lpstr>Cut Clutter from Writing</vt:lpstr>
      <vt:lpstr>Don’t Draw Excessive Attention to the Writer</vt:lpstr>
      <vt:lpstr>Don’t use Verbs that require helping verbs if a simpler form will do</vt:lpstr>
      <vt:lpstr>Never start an independent clause with the word “There”</vt:lpstr>
      <vt:lpstr>Never start an independent clause with the word “It”</vt:lpstr>
      <vt:lpstr>Don’t use two or more action verbs when only one is needed to make the meaning clear.</vt:lpstr>
      <vt:lpstr>Cut the adverb implied in the verb</vt:lpstr>
      <vt:lpstr>Use the short words rather than the long one when they mean the same thing.</vt:lpstr>
      <vt:lpstr>Always be cautious of “that”</vt:lpstr>
      <vt:lpstr>Use the active voice—put the actor in the sentence</vt:lpstr>
      <vt:lpstr>Don’t use phrases that add words, not meaning.</vt:lpstr>
      <vt:lpstr>Avoid general adjectives or adverbs</vt:lpstr>
      <vt:lpstr>Use verbs, rather than noun forms of verbs</vt:lpstr>
      <vt:lpstr>State personal opinions or beliefs directly and without labelling them as belonging to you.</vt:lpstr>
      <vt:lpstr>Eliminate Wordiness</vt:lpstr>
      <vt:lpstr>Remove Redundant Words</vt:lpstr>
      <vt:lpstr>Remove Meaningless Intensifiers</vt:lpstr>
      <vt:lpstr>Remove Unnecessary Prepositions</vt:lpstr>
      <vt:lpstr>Avoid Lengthiness</vt:lpstr>
      <vt:lpstr>Sample Paragraph</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Errors in Writing</dc:title>
  <dc:creator>Mojibur Rahman</dc:creator>
  <cp:lastModifiedBy>Mojibur Rahman</cp:lastModifiedBy>
  <cp:revision>18</cp:revision>
  <dcterms:created xsi:type="dcterms:W3CDTF">2022-08-17T05:43:56Z</dcterms:created>
  <dcterms:modified xsi:type="dcterms:W3CDTF">2022-08-23T06:13:43Z</dcterms:modified>
</cp:coreProperties>
</file>