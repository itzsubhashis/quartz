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3" r:id="rId7"/>
    <p:sldId id="264" r:id="rId8"/>
    <p:sldId id="265" r:id="rId9"/>
    <p:sldId id="266" r:id="rId10"/>
    <p:sldId id="267" r:id="rId11"/>
    <p:sldId id="268" r:id="rId12"/>
    <p:sldId id="269" r:id="rId13"/>
    <p:sldId id="270" r:id="rId14"/>
    <p:sldId id="271" r:id="rId15"/>
    <p:sldId id="273" r:id="rId16"/>
    <p:sldId id="260" r:id="rId17"/>
    <p:sldId id="28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3" d="100"/>
          <a:sy n="113" d="100"/>
        </p:scale>
        <p:origin x="45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7795B2A-CB72-47F7-A705-76C41BE10AC9}" type="datetimeFigureOut">
              <a:rPr lang="en-IN" smtClean="0"/>
              <a:t>06-09-2023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D60A8E-B57B-4C62-B1F1-3FE4463B49CD}" type="slidenum">
              <a:rPr lang="en-IN" smtClean="0"/>
              <a:t>‹#›</a:t>
            </a:fld>
            <a:endParaRPr lang="en-IN"/>
          </a:p>
        </p:txBody>
      </p:sp>
    </p:spTree>
    <p:extLst>
      <p:ext uri="{BB962C8B-B14F-4D97-AF65-F5344CB8AC3E}">
        <p14:creationId xmlns:p14="http://schemas.microsoft.com/office/powerpoint/2010/main" val="3372962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7795B2A-CB72-47F7-A705-76C41BE10AC9}" type="datetimeFigureOut">
              <a:rPr lang="en-IN" smtClean="0"/>
              <a:t>06-09-2023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D60A8E-B57B-4C62-B1F1-3FE4463B49CD}" type="slidenum">
              <a:rPr lang="en-IN" smtClean="0"/>
              <a:t>‹#›</a:t>
            </a:fld>
            <a:endParaRPr lang="en-IN"/>
          </a:p>
        </p:txBody>
      </p:sp>
    </p:spTree>
    <p:extLst>
      <p:ext uri="{BB962C8B-B14F-4D97-AF65-F5344CB8AC3E}">
        <p14:creationId xmlns:p14="http://schemas.microsoft.com/office/powerpoint/2010/main" val="1075022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795B2A-CB72-47F7-A705-76C41BE10AC9}" type="datetimeFigureOut">
              <a:rPr lang="en-IN" smtClean="0"/>
              <a:t>06-09-2023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D60A8E-B57B-4C62-B1F1-3FE4463B49CD}" type="slidenum">
              <a:rPr lang="en-IN" smtClean="0"/>
              <a:t>‹#›</a:t>
            </a:fld>
            <a:endParaRPr lang="en-IN"/>
          </a:p>
        </p:txBody>
      </p:sp>
    </p:spTree>
    <p:extLst>
      <p:ext uri="{BB962C8B-B14F-4D97-AF65-F5344CB8AC3E}">
        <p14:creationId xmlns:p14="http://schemas.microsoft.com/office/powerpoint/2010/main" val="1813001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7795B2A-CB72-47F7-A705-76C41BE10AC9}" type="datetimeFigureOut">
              <a:rPr lang="en-IN" smtClean="0"/>
              <a:t>06-09-2023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FD60A8E-B57B-4C62-B1F1-3FE4463B49CD}" type="slidenum">
              <a:rPr lang="en-IN" smtClean="0"/>
              <a:t>‹#›</a:t>
            </a:fld>
            <a:endParaRPr lang="en-IN"/>
          </a:p>
        </p:txBody>
      </p:sp>
    </p:spTree>
    <p:extLst>
      <p:ext uri="{BB962C8B-B14F-4D97-AF65-F5344CB8AC3E}">
        <p14:creationId xmlns:p14="http://schemas.microsoft.com/office/powerpoint/2010/main" val="4025820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7795B2A-CB72-47F7-A705-76C41BE10AC9}" type="datetimeFigureOut">
              <a:rPr lang="en-IN" smtClean="0"/>
              <a:t>06-09-2023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FD60A8E-B57B-4C62-B1F1-3FE4463B49CD}" type="slidenum">
              <a:rPr lang="en-IN" smtClean="0"/>
              <a:t>‹#›</a:t>
            </a:fld>
            <a:endParaRPr lang="en-IN"/>
          </a:p>
        </p:txBody>
      </p:sp>
    </p:spTree>
    <p:extLst>
      <p:ext uri="{BB962C8B-B14F-4D97-AF65-F5344CB8AC3E}">
        <p14:creationId xmlns:p14="http://schemas.microsoft.com/office/powerpoint/2010/main" val="1847698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7795B2A-CB72-47F7-A705-76C41BE10AC9}" type="datetimeFigureOut">
              <a:rPr lang="en-IN" smtClean="0"/>
              <a:t>06-09-2023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FD60A8E-B57B-4C62-B1F1-3FE4463B49CD}" type="slidenum">
              <a:rPr lang="en-IN" smtClean="0"/>
              <a:t>‹#›</a:t>
            </a:fld>
            <a:endParaRPr lang="en-IN"/>
          </a:p>
        </p:txBody>
      </p:sp>
    </p:spTree>
    <p:extLst>
      <p:ext uri="{BB962C8B-B14F-4D97-AF65-F5344CB8AC3E}">
        <p14:creationId xmlns:p14="http://schemas.microsoft.com/office/powerpoint/2010/main" val="7546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795B2A-CB72-47F7-A705-76C41BE10AC9}" type="datetimeFigureOut">
              <a:rPr lang="en-IN" smtClean="0"/>
              <a:t>06-09-2023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FD60A8E-B57B-4C62-B1F1-3FE4463B49CD}" type="slidenum">
              <a:rPr lang="en-IN" smtClean="0"/>
              <a:t>‹#›</a:t>
            </a:fld>
            <a:endParaRPr lang="en-IN"/>
          </a:p>
        </p:txBody>
      </p:sp>
    </p:spTree>
    <p:extLst>
      <p:ext uri="{BB962C8B-B14F-4D97-AF65-F5344CB8AC3E}">
        <p14:creationId xmlns:p14="http://schemas.microsoft.com/office/powerpoint/2010/main" val="2022448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7795B2A-CB72-47F7-A705-76C41BE10AC9}" type="datetimeFigureOut">
              <a:rPr lang="en-IN" smtClean="0"/>
              <a:t>06-09-2023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FD60A8E-B57B-4C62-B1F1-3FE4463B49CD}" type="slidenum">
              <a:rPr lang="en-IN" smtClean="0"/>
              <a:t>‹#›</a:t>
            </a:fld>
            <a:endParaRPr lang="en-IN"/>
          </a:p>
        </p:txBody>
      </p:sp>
    </p:spTree>
    <p:extLst>
      <p:ext uri="{BB962C8B-B14F-4D97-AF65-F5344CB8AC3E}">
        <p14:creationId xmlns:p14="http://schemas.microsoft.com/office/powerpoint/2010/main" val="1692699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7795B2A-CB72-47F7-A705-76C41BE10AC9}" type="datetimeFigureOut">
              <a:rPr lang="en-IN" smtClean="0"/>
              <a:t>06-09-2023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FD60A8E-B57B-4C62-B1F1-3FE4463B49CD}" type="slidenum">
              <a:rPr lang="en-IN" smtClean="0"/>
              <a:t>‹#›</a:t>
            </a:fld>
            <a:endParaRPr lang="en-IN"/>
          </a:p>
        </p:txBody>
      </p:sp>
    </p:spTree>
    <p:extLst>
      <p:ext uri="{BB962C8B-B14F-4D97-AF65-F5344CB8AC3E}">
        <p14:creationId xmlns:p14="http://schemas.microsoft.com/office/powerpoint/2010/main" val="800188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7795B2A-CB72-47F7-A705-76C41BE10AC9}" type="datetimeFigureOut">
              <a:rPr lang="en-IN" smtClean="0"/>
              <a:t>06-09-2023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D60A8E-B57B-4C62-B1F1-3FE4463B49CD}" type="slidenum">
              <a:rPr lang="en-IN" smtClean="0"/>
              <a:t>‹#›</a:t>
            </a:fld>
            <a:endParaRPr lang="en-IN"/>
          </a:p>
        </p:txBody>
      </p:sp>
    </p:spTree>
    <p:extLst>
      <p:ext uri="{BB962C8B-B14F-4D97-AF65-F5344CB8AC3E}">
        <p14:creationId xmlns:p14="http://schemas.microsoft.com/office/powerpoint/2010/main" val="7674772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7795B2A-CB72-47F7-A705-76C41BE10AC9}" type="datetimeFigureOut">
              <a:rPr lang="en-IN" smtClean="0"/>
              <a:t>06-09-2023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D60A8E-B57B-4C62-B1F1-3FE4463B49CD}" type="slidenum">
              <a:rPr lang="en-IN" smtClean="0"/>
              <a:t>‹#›</a:t>
            </a:fld>
            <a:endParaRPr lang="en-IN"/>
          </a:p>
        </p:txBody>
      </p:sp>
    </p:spTree>
    <p:extLst>
      <p:ext uri="{BB962C8B-B14F-4D97-AF65-F5344CB8AC3E}">
        <p14:creationId xmlns:p14="http://schemas.microsoft.com/office/powerpoint/2010/main" val="3561050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795B2A-CB72-47F7-A705-76C41BE10AC9}" type="datetimeFigureOut">
              <a:rPr lang="en-IN" smtClean="0"/>
              <a:t>06-09-2023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D60A8E-B57B-4C62-B1F1-3FE4463B49CD}" type="slidenum">
              <a:rPr lang="en-IN" smtClean="0"/>
              <a:t>‹#›</a:t>
            </a:fld>
            <a:endParaRPr lang="en-IN"/>
          </a:p>
        </p:txBody>
      </p:sp>
    </p:spTree>
    <p:extLst>
      <p:ext uri="{BB962C8B-B14F-4D97-AF65-F5344CB8AC3E}">
        <p14:creationId xmlns:p14="http://schemas.microsoft.com/office/powerpoint/2010/main" val="17002285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sz="6600" b="1" dirty="0"/>
              <a:t>Literature Review</a:t>
            </a:r>
          </a:p>
        </p:txBody>
      </p:sp>
      <p:sp>
        <p:nvSpPr>
          <p:cNvPr id="3" name="Subtitle 2"/>
          <p:cNvSpPr>
            <a:spLocks noGrp="1"/>
          </p:cNvSpPr>
          <p:nvPr>
            <p:ph type="subTitle" idx="1"/>
          </p:nvPr>
        </p:nvSpPr>
        <p:spPr/>
        <p:txBody>
          <a:bodyPr/>
          <a:lstStyle/>
          <a:p>
            <a:endParaRPr lang="en-IN" dirty="0"/>
          </a:p>
          <a:p>
            <a:r>
              <a:rPr lang="en-IN" dirty="0"/>
              <a:t>Md. Mojibur Rahman</a:t>
            </a:r>
          </a:p>
          <a:p>
            <a:r>
              <a:rPr lang="en-IN" dirty="0"/>
              <a:t>mrahmanelt@iitism.ac.in</a:t>
            </a:r>
          </a:p>
        </p:txBody>
      </p:sp>
    </p:spTree>
    <p:extLst>
      <p:ext uri="{BB962C8B-B14F-4D97-AF65-F5344CB8AC3E}">
        <p14:creationId xmlns:p14="http://schemas.microsoft.com/office/powerpoint/2010/main" val="526372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What is a Literature Review?</a:t>
            </a:r>
          </a:p>
        </p:txBody>
      </p:sp>
      <p:sp>
        <p:nvSpPr>
          <p:cNvPr id="3" name="Content Placeholder 2"/>
          <p:cNvSpPr>
            <a:spLocks noGrp="1"/>
          </p:cNvSpPr>
          <p:nvPr>
            <p:ph idx="1"/>
          </p:nvPr>
        </p:nvSpPr>
        <p:spPr/>
        <p:txBody>
          <a:bodyPr>
            <a:normAutofit fontScale="92500" lnSpcReduction="20000"/>
          </a:bodyPr>
          <a:lstStyle/>
          <a:p>
            <a:r>
              <a:rPr lang="en-IN" dirty="0"/>
              <a:t>A literature review is simply a summary of what existing scholarship knows about a particular topic. It is always based on secondary sources – that is, what other people have already written on the subject; it is not concerned about discovering new knowledge or information. As such, it is a prelude to further research, a digest of scholarly opinion. </a:t>
            </a:r>
          </a:p>
          <a:p>
            <a:r>
              <a:rPr lang="en-IN" dirty="0"/>
              <a:t>A literature review should focus only on the relevant academic literature: popular or non-academic sources may be brought in occasionally to illustrate a point, but the central interest is always on the data collected or the theories put together by recognised experts in the field. </a:t>
            </a:r>
          </a:p>
          <a:p>
            <a:r>
              <a:rPr lang="en-IN" dirty="0"/>
              <a:t>A literature review will try to look at as much of this existing research as possible. It will review major scholarly books in the relevant area, but will also take a keen interest in journal articles, which in many subjects give more up-to-date material. </a:t>
            </a:r>
          </a:p>
        </p:txBody>
      </p:sp>
    </p:spTree>
    <p:extLst>
      <p:ext uri="{BB962C8B-B14F-4D97-AF65-F5344CB8AC3E}">
        <p14:creationId xmlns:p14="http://schemas.microsoft.com/office/powerpoint/2010/main" val="438467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A literature review selects relevant past literature and CONNECTS, SYNTHESIZES, and sometimes EVALUATES these texts/studies, putting the authors in conversation with each other.</a:t>
            </a:r>
          </a:p>
          <a:p>
            <a:r>
              <a:rPr lang="en-IN" dirty="0"/>
              <a:t>A literature review is a survey of everything that has been written about a particular topic, theory, or research question. It may provide the background for larger work, or it may stand on its own. </a:t>
            </a:r>
          </a:p>
          <a:p>
            <a:r>
              <a:rPr lang="en-IN" dirty="0"/>
              <a:t>Much more than a simple list of sources, an effective literature review </a:t>
            </a:r>
            <a:r>
              <a:rPr lang="en-IN" dirty="0" err="1"/>
              <a:t>analyzes</a:t>
            </a:r>
            <a:r>
              <a:rPr lang="en-IN" dirty="0"/>
              <a:t> and synthesizes information about key themes or issues. </a:t>
            </a:r>
          </a:p>
        </p:txBody>
      </p:sp>
    </p:spTree>
    <p:extLst>
      <p:ext uri="{BB962C8B-B14F-4D97-AF65-F5344CB8AC3E}">
        <p14:creationId xmlns:p14="http://schemas.microsoft.com/office/powerpoint/2010/main" val="2362046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43862578"/>
              </p:ext>
            </p:extLst>
          </p:nvPr>
        </p:nvGraphicFramePr>
        <p:xfrm>
          <a:off x="838200" y="680822"/>
          <a:ext cx="10515600" cy="1765815"/>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509504">
                <a:tc>
                  <a:txBody>
                    <a:bodyPr/>
                    <a:lstStyle/>
                    <a:p>
                      <a:r>
                        <a:rPr lang="en-IN" dirty="0"/>
                        <a:t>Book Review</a:t>
                      </a:r>
                    </a:p>
                  </a:txBody>
                  <a:tcPr/>
                </a:tc>
                <a:tc>
                  <a:txBody>
                    <a:bodyPr/>
                    <a:lstStyle/>
                    <a:p>
                      <a:r>
                        <a:rPr lang="en-IN" dirty="0"/>
                        <a:t>Annotated Bibliography</a:t>
                      </a:r>
                    </a:p>
                  </a:txBody>
                  <a:tcPr/>
                </a:tc>
                <a:tc>
                  <a:txBody>
                    <a:bodyPr/>
                    <a:lstStyle/>
                    <a:p>
                      <a:r>
                        <a:rPr lang="en-IN" dirty="0"/>
                        <a:t>Literature Review</a:t>
                      </a:r>
                    </a:p>
                  </a:txBody>
                  <a:tcPr/>
                </a:tc>
                <a:extLst>
                  <a:ext uri="{0D108BD9-81ED-4DB2-BD59-A6C34878D82A}">
                    <a16:rowId xmlns:a16="http://schemas.microsoft.com/office/drawing/2014/main" val="10000"/>
                  </a:ext>
                </a:extLst>
              </a:tr>
              <a:tr h="1256311">
                <a:tc>
                  <a:txBody>
                    <a:bodyPr/>
                    <a:lstStyle/>
                    <a:p>
                      <a:r>
                        <a:rPr lang="en-IN" dirty="0" err="1"/>
                        <a:t>Analyzes</a:t>
                      </a:r>
                      <a:r>
                        <a:rPr lang="en-IN" dirty="0"/>
                        <a:t> and evaluates a particular book. </a:t>
                      </a:r>
                    </a:p>
                  </a:txBody>
                  <a:tcPr/>
                </a:tc>
                <a:tc>
                  <a:txBody>
                    <a:bodyPr/>
                    <a:lstStyle/>
                    <a:p>
                      <a:r>
                        <a:rPr lang="en-IN" dirty="0"/>
                        <a:t>Summarizes relevant sources and explains the significance of that source to the research question. </a:t>
                      </a:r>
                    </a:p>
                  </a:txBody>
                  <a:tcPr/>
                </a:tc>
                <a:tc>
                  <a:txBody>
                    <a:bodyPr/>
                    <a:lstStyle/>
                    <a:p>
                      <a:r>
                        <a:rPr lang="en-IN" dirty="0"/>
                        <a:t>Surveys all relevant literature to determine what is known and not known about a particular topic. </a:t>
                      </a:r>
                    </a:p>
                  </a:txBody>
                  <a:tcPr/>
                </a:tc>
                <a:extLst>
                  <a:ext uri="{0D108BD9-81ED-4DB2-BD59-A6C34878D82A}">
                    <a16:rowId xmlns:a16="http://schemas.microsoft.com/office/drawing/2014/main" val="10001"/>
                  </a:ext>
                </a:extLst>
              </a:tr>
            </a:tbl>
          </a:graphicData>
        </a:graphic>
      </p:graphicFrame>
      <p:sp>
        <p:nvSpPr>
          <p:cNvPr id="5" name="Rectangle 4"/>
          <p:cNvSpPr/>
          <p:nvPr/>
        </p:nvSpPr>
        <p:spPr>
          <a:xfrm>
            <a:off x="838200" y="2551837"/>
            <a:ext cx="10515600" cy="2677656"/>
          </a:xfrm>
          <a:prstGeom prst="rect">
            <a:avLst/>
          </a:prstGeom>
        </p:spPr>
        <p:txBody>
          <a:bodyPr wrap="square">
            <a:spAutoFit/>
          </a:bodyPr>
          <a:lstStyle/>
          <a:p>
            <a:r>
              <a:rPr lang="en-IN" sz="2400" b="1" dirty="0"/>
              <a:t>Why write a literature review? </a:t>
            </a:r>
          </a:p>
          <a:p>
            <a:endParaRPr lang="en-IN" sz="2400" dirty="0"/>
          </a:p>
          <a:p>
            <a:pPr marL="342900" indent="-342900">
              <a:buFont typeface="Arial" panose="020B0604020202020204" pitchFamily="34" charset="0"/>
              <a:buChar char="•"/>
            </a:pPr>
            <a:r>
              <a:rPr lang="en-IN" sz="2400" dirty="0"/>
              <a:t>To discover what has been written about a topic already </a:t>
            </a:r>
          </a:p>
          <a:p>
            <a:pPr marL="342900" indent="-342900">
              <a:buFont typeface="Arial" panose="020B0604020202020204" pitchFamily="34" charset="0"/>
              <a:buChar char="•"/>
            </a:pPr>
            <a:r>
              <a:rPr lang="en-IN" sz="2400" dirty="0"/>
              <a:t>To determine what each source contributes to the topic </a:t>
            </a:r>
          </a:p>
          <a:p>
            <a:pPr marL="342900" indent="-342900">
              <a:buFont typeface="Arial" panose="020B0604020202020204" pitchFamily="34" charset="0"/>
              <a:buChar char="•"/>
            </a:pPr>
            <a:r>
              <a:rPr lang="en-IN" sz="2400" dirty="0"/>
              <a:t>To understand the relationship between the various contributions, identify and (if possible) resolve contradictions, and determine gaps or unanswered questions </a:t>
            </a:r>
          </a:p>
        </p:txBody>
      </p:sp>
    </p:spTree>
    <p:extLst>
      <p:ext uri="{BB962C8B-B14F-4D97-AF65-F5344CB8AC3E}">
        <p14:creationId xmlns:p14="http://schemas.microsoft.com/office/powerpoint/2010/main" val="1569456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Types of Literature Review</a:t>
            </a:r>
          </a:p>
        </p:txBody>
      </p:sp>
      <p:sp>
        <p:nvSpPr>
          <p:cNvPr id="3" name="Content Placeholder 2"/>
          <p:cNvSpPr>
            <a:spLocks noGrp="1"/>
          </p:cNvSpPr>
          <p:nvPr>
            <p:ph idx="1"/>
          </p:nvPr>
        </p:nvSpPr>
        <p:spPr/>
        <p:txBody>
          <a:bodyPr/>
          <a:lstStyle/>
          <a:p>
            <a:r>
              <a:rPr lang="en-IN" b="1" dirty="0"/>
              <a:t>Narrative literature review</a:t>
            </a:r>
          </a:p>
          <a:p>
            <a:r>
              <a:rPr lang="en-IN" b="1" dirty="0"/>
              <a:t>Systematic literature review</a:t>
            </a:r>
            <a:r>
              <a:rPr lang="en-IN" dirty="0"/>
              <a:t> </a:t>
            </a:r>
          </a:p>
          <a:p>
            <a:r>
              <a:rPr lang="en-IN" b="1" dirty="0"/>
              <a:t>Scoping literature review</a:t>
            </a:r>
          </a:p>
          <a:p>
            <a:r>
              <a:rPr lang="en-IN" b="1" dirty="0"/>
              <a:t>Argumentative literature review</a:t>
            </a:r>
          </a:p>
          <a:p>
            <a:r>
              <a:rPr lang="en-IN" b="1" dirty="0"/>
              <a:t>Integrative literature review</a:t>
            </a:r>
          </a:p>
          <a:p>
            <a:r>
              <a:rPr lang="en-IN" b="1" dirty="0"/>
              <a:t>Theoretical literature review</a:t>
            </a:r>
            <a:r>
              <a:rPr lang="en-IN" dirty="0"/>
              <a:t> </a:t>
            </a:r>
          </a:p>
          <a:p>
            <a:r>
              <a:rPr lang="en-IN" b="1" dirty="0"/>
              <a:t>Methodological literature review</a:t>
            </a:r>
          </a:p>
          <a:p>
            <a:r>
              <a:rPr lang="en-IN" b="1" dirty="0"/>
              <a:t>Historical literature review</a:t>
            </a:r>
          </a:p>
          <a:p>
            <a:endParaRPr lang="en-IN" dirty="0"/>
          </a:p>
        </p:txBody>
      </p:sp>
    </p:spTree>
    <p:extLst>
      <p:ext uri="{BB962C8B-B14F-4D97-AF65-F5344CB8AC3E}">
        <p14:creationId xmlns:p14="http://schemas.microsoft.com/office/powerpoint/2010/main" val="18475569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Narrative Literature Review</a:t>
            </a:r>
            <a:endParaRPr lang="en-IN" dirty="0"/>
          </a:p>
        </p:txBody>
      </p:sp>
      <p:sp>
        <p:nvSpPr>
          <p:cNvPr id="3" name="Content Placeholder 2"/>
          <p:cNvSpPr>
            <a:spLocks noGrp="1"/>
          </p:cNvSpPr>
          <p:nvPr>
            <p:ph idx="1"/>
          </p:nvPr>
        </p:nvSpPr>
        <p:spPr/>
        <p:txBody>
          <a:bodyPr/>
          <a:lstStyle/>
          <a:p>
            <a:r>
              <a:rPr lang="en-IN" b="1" dirty="0"/>
              <a:t>Narrative literature review</a:t>
            </a:r>
            <a:r>
              <a:rPr lang="en-IN" dirty="0"/>
              <a:t>, also referred to as traditional literature review, critiques literature and summarizes the body of a literature. </a:t>
            </a:r>
          </a:p>
          <a:p>
            <a:r>
              <a:rPr lang="en-IN" dirty="0"/>
              <a:t>Narrative review also draws conclusions about the topic and identifies gaps or inconsistencies in a body of knowledge. </a:t>
            </a:r>
          </a:p>
          <a:p>
            <a:r>
              <a:rPr lang="en-IN" dirty="0"/>
              <a:t>You need to have a sufficiently focused research question to conduct a narrative literature review</a:t>
            </a:r>
          </a:p>
          <a:p>
            <a:endParaRPr lang="en-IN" dirty="0"/>
          </a:p>
        </p:txBody>
      </p:sp>
    </p:spTree>
    <p:extLst>
      <p:ext uri="{BB962C8B-B14F-4D97-AF65-F5344CB8AC3E}">
        <p14:creationId xmlns:p14="http://schemas.microsoft.com/office/powerpoint/2010/main" val="705605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Systematic Literature Review</a:t>
            </a:r>
            <a:endParaRPr lang="en-IN" dirty="0"/>
          </a:p>
        </p:txBody>
      </p:sp>
      <p:sp>
        <p:nvSpPr>
          <p:cNvPr id="3" name="Content Placeholder 2"/>
          <p:cNvSpPr>
            <a:spLocks noGrp="1"/>
          </p:cNvSpPr>
          <p:nvPr>
            <p:ph idx="1"/>
          </p:nvPr>
        </p:nvSpPr>
        <p:spPr/>
        <p:txBody>
          <a:bodyPr/>
          <a:lstStyle/>
          <a:p>
            <a:r>
              <a:rPr lang="en-IN" b="1" dirty="0"/>
              <a:t>Systematic literature review</a:t>
            </a:r>
            <a:r>
              <a:rPr lang="en-IN" dirty="0"/>
              <a:t> requires more rigorous and well-defined approach compared to most other types of literature review. </a:t>
            </a:r>
          </a:p>
          <a:p>
            <a:r>
              <a:rPr lang="en-IN" dirty="0"/>
              <a:t>Systematic literature review is comprehensive and details the timeframe within which the literature was selected. </a:t>
            </a:r>
          </a:p>
          <a:p>
            <a:r>
              <a:rPr lang="en-IN" dirty="0"/>
              <a:t>Systematic literature review can be divided into two categories: meta-analysis and meta-synthesis.</a:t>
            </a:r>
          </a:p>
          <a:p>
            <a:r>
              <a:rPr lang="en-IN" dirty="0"/>
              <a:t>When you conduct meta-analysis you take findings from several studies on the same subject and </a:t>
            </a:r>
            <a:r>
              <a:rPr lang="en-IN" dirty="0" err="1"/>
              <a:t>analyze</a:t>
            </a:r>
            <a:r>
              <a:rPr lang="en-IN" dirty="0"/>
              <a:t> these using standardized statistical procedures.</a:t>
            </a:r>
          </a:p>
          <a:p>
            <a:endParaRPr lang="en-IN" dirty="0"/>
          </a:p>
        </p:txBody>
      </p:sp>
    </p:spTree>
    <p:extLst>
      <p:ext uri="{BB962C8B-B14F-4D97-AF65-F5344CB8AC3E}">
        <p14:creationId xmlns:p14="http://schemas.microsoft.com/office/powerpoint/2010/main" val="641382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In meta-analysis patterns and relationships are detected and conclusions are drawn. Meta-analysis is associated with deductive research approach.</a:t>
            </a:r>
          </a:p>
          <a:p>
            <a:r>
              <a:rPr lang="en-IN" dirty="0"/>
              <a:t>Meta-synthesis, on the other hand, is based on non-statistical techniques. </a:t>
            </a:r>
          </a:p>
          <a:p>
            <a:r>
              <a:rPr lang="en-IN" dirty="0"/>
              <a:t>This technique integrates, evaluates and interprets findings of multiple qualitative research studies. </a:t>
            </a:r>
          </a:p>
          <a:p>
            <a:r>
              <a:rPr lang="en-IN" dirty="0"/>
              <a:t>Meta-synthesis literature review is conducted usually when following inductive research approach.</a:t>
            </a:r>
          </a:p>
          <a:p>
            <a:endParaRPr lang="en-IN" dirty="0"/>
          </a:p>
        </p:txBody>
      </p:sp>
    </p:spTree>
    <p:extLst>
      <p:ext uri="{BB962C8B-B14F-4D97-AF65-F5344CB8AC3E}">
        <p14:creationId xmlns:p14="http://schemas.microsoft.com/office/powerpoint/2010/main" val="4104601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Scoping Literature Review</a:t>
            </a:r>
            <a:endParaRPr lang="en-IN" dirty="0"/>
          </a:p>
        </p:txBody>
      </p:sp>
      <p:sp>
        <p:nvSpPr>
          <p:cNvPr id="3" name="Content Placeholder 2"/>
          <p:cNvSpPr>
            <a:spLocks noGrp="1"/>
          </p:cNvSpPr>
          <p:nvPr>
            <p:ph idx="1"/>
          </p:nvPr>
        </p:nvSpPr>
        <p:spPr/>
        <p:txBody>
          <a:bodyPr>
            <a:normAutofit lnSpcReduction="10000"/>
          </a:bodyPr>
          <a:lstStyle/>
          <a:p>
            <a:r>
              <a:rPr lang="en-IN" b="1" dirty="0"/>
              <a:t>Scoping literature review</a:t>
            </a:r>
            <a:r>
              <a:rPr lang="en-IN" dirty="0"/>
              <a:t>, as implied by its name is used to identify the scope or coverage of a body of literature on a given topic. </a:t>
            </a:r>
          </a:p>
          <a:p>
            <a:r>
              <a:rPr lang="en-IN" dirty="0"/>
              <a:t>It has been noted that “scoping reviews are useful for examining emerging evidence when it is still unclear what other, more specific questions can be posed and valuably addressed by a more precise systematic review.”</a:t>
            </a:r>
          </a:p>
          <a:p>
            <a:r>
              <a:rPr lang="en-IN" dirty="0"/>
              <a:t>The main difference between systematic and scoping types of literature review is that, systematic literature review is conducted to find answer to more specific research questions, whereas scoping literature review is conducted to explore more general research question.</a:t>
            </a:r>
          </a:p>
          <a:p>
            <a:endParaRPr lang="en-IN" dirty="0"/>
          </a:p>
        </p:txBody>
      </p:sp>
    </p:spTree>
    <p:extLst>
      <p:ext uri="{BB962C8B-B14F-4D97-AF65-F5344CB8AC3E}">
        <p14:creationId xmlns:p14="http://schemas.microsoft.com/office/powerpoint/2010/main" val="57628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Argumentative Literature Review</a:t>
            </a:r>
            <a:endParaRPr lang="en-IN" dirty="0"/>
          </a:p>
        </p:txBody>
      </p:sp>
      <p:sp>
        <p:nvSpPr>
          <p:cNvPr id="3" name="Content Placeholder 2"/>
          <p:cNvSpPr>
            <a:spLocks noGrp="1"/>
          </p:cNvSpPr>
          <p:nvPr>
            <p:ph idx="1"/>
          </p:nvPr>
        </p:nvSpPr>
        <p:spPr/>
        <p:txBody>
          <a:bodyPr>
            <a:normAutofit lnSpcReduction="10000"/>
          </a:bodyPr>
          <a:lstStyle/>
          <a:p>
            <a:r>
              <a:rPr lang="en-IN" b="1" dirty="0"/>
              <a:t>Argumentative literature review</a:t>
            </a:r>
            <a:r>
              <a:rPr lang="en-IN" dirty="0"/>
              <a:t>, as the name implies, examines literature selectively in order to support or refute an argument, deeply imbedded assumption, or philosophical problem already established in the literature.</a:t>
            </a:r>
          </a:p>
          <a:p>
            <a:r>
              <a:rPr lang="en-IN" dirty="0"/>
              <a:t>The purpose is to develop a body of literature that establishes a contrarian viewpoint. Given the value-laden nature of some social science research [e.g., educational reform; immigration control], argumentative approaches to </a:t>
            </a:r>
            <a:r>
              <a:rPr lang="en-IN" dirty="0" err="1"/>
              <a:t>analyzing</a:t>
            </a:r>
            <a:r>
              <a:rPr lang="en-IN" dirty="0"/>
              <a:t> the literature can be a legitimate and important form of discourse.  </a:t>
            </a:r>
          </a:p>
          <a:p>
            <a:r>
              <a:rPr lang="en-IN" dirty="0"/>
              <a:t>It should be noted that a potential for bias is a major shortcoming associated with argumentative literature review.</a:t>
            </a:r>
          </a:p>
          <a:p>
            <a:endParaRPr lang="en-IN" dirty="0"/>
          </a:p>
        </p:txBody>
      </p:sp>
    </p:spTree>
    <p:extLst>
      <p:ext uri="{BB962C8B-B14F-4D97-AF65-F5344CB8AC3E}">
        <p14:creationId xmlns:p14="http://schemas.microsoft.com/office/powerpoint/2010/main" val="2395141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Integrative Literature Review</a:t>
            </a:r>
            <a:endParaRPr lang="en-IN" dirty="0"/>
          </a:p>
        </p:txBody>
      </p:sp>
      <p:sp>
        <p:nvSpPr>
          <p:cNvPr id="3" name="Content Placeholder 2"/>
          <p:cNvSpPr>
            <a:spLocks noGrp="1"/>
          </p:cNvSpPr>
          <p:nvPr>
            <p:ph idx="1"/>
          </p:nvPr>
        </p:nvSpPr>
        <p:spPr/>
        <p:txBody>
          <a:bodyPr/>
          <a:lstStyle/>
          <a:p>
            <a:r>
              <a:rPr lang="en-IN" b="1" dirty="0"/>
              <a:t>Integrative literature review reviews</a:t>
            </a:r>
            <a:r>
              <a:rPr lang="en-IN" dirty="0"/>
              <a:t>, critiques, and synthesizes secondary data about research topic in an integrated way such that new frameworks and perspectives on the topic are generated. </a:t>
            </a:r>
          </a:p>
          <a:p>
            <a:r>
              <a:rPr lang="en-IN" dirty="0"/>
              <a:t>If your research does not involve primary data collection and data analysis, then using integrative literature review will be your only option.</a:t>
            </a:r>
          </a:p>
          <a:p>
            <a:r>
              <a:rPr lang="en-IN" dirty="0"/>
              <a:t>The body of literature includes all studies that address related or identical hypotheses. </a:t>
            </a:r>
          </a:p>
          <a:p>
            <a:r>
              <a:rPr lang="en-IN" dirty="0"/>
              <a:t>A well-done integrative review meets the same standards as primary research in regard to clarity, rigor, and replication.</a:t>
            </a:r>
          </a:p>
          <a:p>
            <a:endParaRPr lang="en-IN" dirty="0"/>
          </a:p>
          <a:p>
            <a:endParaRPr lang="en-IN" dirty="0"/>
          </a:p>
        </p:txBody>
      </p:sp>
    </p:spTree>
    <p:extLst>
      <p:ext uri="{BB962C8B-B14F-4D97-AF65-F5344CB8AC3E}">
        <p14:creationId xmlns:p14="http://schemas.microsoft.com/office/powerpoint/2010/main" val="27259702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Theoretical Literature Review</a:t>
            </a:r>
            <a:endParaRPr lang="en-IN" dirty="0"/>
          </a:p>
        </p:txBody>
      </p:sp>
      <p:sp>
        <p:nvSpPr>
          <p:cNvPr id="3" name="Content Placeholder 2"/>
          <p:cNvSpPr>
            <a:spLocks noGrp="1"/>
          </p:cNvSpPr>
          <p:nvPr>
            <p:ph idx="1"/>
          </p:nvPr>
        </p:nvSpPr>
        <p:spPr/>
        <p:txBody>
          <a:bodyPr>
            <a:normAutofit fontScale="92500" lnSpcReduction="20000"/>
          </a:bodyPr>
          <a:lstStyle/>
          <a:p>
            <a:r>
              <a:rPr lang="en-IN" b="1" dirty="0"/>
              <a:t>Theoretical literature review</a:t>
            </a:r>
            <a:r>
              <a:rPr lang="en-IN" dirty="0"/>
              <a:t> focuses on a pool of theory that has accumulated in regard to an issue, concept, theory, phenomena. </a:t>
            </a:r>
          </a:p>
          <a:p>
            <a:r>
              <a:rPr lang="en-IN" dirty="0"/>
              <a:t>Theoretical literature reviews play an instrumental role in establishing what theories already exist, the relationships between them, to what degree existing theories have been investigated, and to develop new hypotheses to be tested.</a:t>
            </a:r>
          </a:p>
          <a:p>
            <a:r>
              <a:rPr lang="en-IN" dirty="0"/>
              <a:t>At the earlier parts of the literature review chapter, you need to specify the type of your literature review your chose and justify your choice. </a:t>
            </a:r>
          </a:p>
          <a:p>
            <a:r>
              <a:rPr lang="en-IN" dirty="0"/>
              <a:t>Your choice of a specific type of literature review should be based upon your research area, research problem and research methods.  </a:t>
            </a:r>
          </a:p>
          <a:p>
            <a:r>
              <a:rPr lang="en-IN" dirty="0"/>
              <a:t>Also, you can briefly discuss other most popular types of literature review mentioned above, to illustrate your awareness of them.</a:t>
            </a:r>
          </a:p>
          <a:p>
            <a:endParaRPr lang="en-IN" dirty="0"/>
          </a:p>
        </p:txBody>
      </p:sp>
    </p:spTree>
    <p:extLst>
      <p:ext uri="{BB962C8B-B14F-4D97-AF65-F5344CB8AC3E}">
        <p14:creationId xmlns:p14="http://schemas.microsoft.com/office/powerpoint/2010/main" val="26000690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Methodological Literature Review</a:t>
            </a:r>
            <a:endParaRPr lang="en-IN" dirty="0"/>
          </a:p>
        </p:txBody>
      </p:sp>
      <p:sp>
        <p:nvSpPr>
          <p:cNvPr id="3" name="Content Placeholder 2"/>
          <p:cNvSpPr>
            <a:spLocks noGrp="1"/>
          </p:cNvSpPr>
          <p:nvPr>
            <p:ph idx="1"/>
          </p:nvPr>
        </p:nvSpPr>
        <p:spPr/>
        <p:txBody>
          <a:bodyPr>
            <a:normAutofit lnSpcReduction="10000"/>
          </a:bodyPr>
          <a:lstStyle/>
          <a:p>
            <a:r>
              <a:rPr lang="en-IN" dirty="0"/>
              <a:t>A review does not always focus on </a:t>
            </a:r>
            <a:r>
              <a:rPr lang="en-IN" b="1" dirty="0"/>
              <a:t>what</a:t>
            </a:r>
            <a:r>
              <a:rPr lang="en-IN" dirty="0"/>
              <a:t> someone said [content], but </a:t>
            </a:r>
            <a:r>
              <a:rPr lang="en-IN" b="1" dirty="0"/>
              <a:t>how</a:t>
            </a:r>
            <a:r>
              <a:rPr lang="en-IN" dirty="0"/>
              <a:t> they said it [method of analysis]. </a:t>
            </a:r>
          </a:p>
          <a:p>
            <a:r>
              <a:rPr lang="en-IN" dirty="0"/>
              <a:t>This approach provides a framework of understanding at different levels (i.e. those of theory, substantive fields, research approaches, and data collection and analysis techniques), enables researchers to draw on a wide variety of knowledge ranging from the conceptual level to practical documents for use in fieldwork in the areas of ontological and epistemological consideration, quantitative and qualitative integration, sampling, interviewing, data collection and data analysis, and helps highlight many ethical issues which we should be aware of and consider as we go through our study.</a:t>
            </a:r>
          </a:p>
          <a:p>
            <a:endParaRPr lang="en-IN" dirty="0"/>
          </a:p>
        </p:txBody>
      </p:sp>
    </p:spTree>
    <p:extLst>
      <p:ext uri="{BB962C8B-B14F-4D97-AF65-F5344CB8AC3E}">
        <p14:creationId xmlns:p14="http://schemas.microsoft.com/office/powerpoint/2010/main" val="1829477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Historical Literature Review</a:t>
            </a:r>
            <a:endParaRPr lang="en-IN" dirty="0"/>
          </a:p>
        </p:txBody>
      </p:sp>
      <p:sp>
        <p:nvSpPr>
          <p:cNvPr id="3" name="Content Placeholder 2"/>
          <p:cNvSpPr>
            <a:spLocks noGrp="1"/>
          </p:cNvSpPr>
          <p:nvPr>
            <p:ph idx="1"/>
          </p:nvPr>
        </p:nvSpPr>
        <p:spPr/>
        <p:txBody>
          <a:bodyPr/>
          <a:lstStyle/>
          <a:p>
            <a:r>
              <a:rPr lang="en-IN" dirty="0"/>
              <a:t>Few things rest in isolation from historical precedent. </a:t>
            </a:r>
          </a:p>
          <a:p>
            <a:r>
              <a:rPr lang="en-IN" dirty="0"/>
              <a:t>Historical reviews are focused on examining research throughout a period of time, often starting with the first time an issue, concept, theory, phenomenon emerged in the literature, then tracing its evolution within the scholarship of a discipline. </a:t>
            </a:r>
          </a:p>
          <a:p>
            <a:r>
              <a:rPr lang="en-IN" dirty="0"/>
              <a:t>The purpose is to place research in a historical context to show familiarity with state-of-the-art developments and to identify the likely directions for future research.</a:t>
            </a:r>
          </a:p>
          <a:p>
            <a:endParaRPr lang="en-IN" dirty="0"/>
          </a:p>
        </p:txBody>
      </p:sp>
    </p:spTree>
    <p:extLst>
      <p:ext uri="{BB962C8B-B14F-4D97-AF65-F5344CB8AC3E}">
        <p14:creationId xmlns:p14="http://schemas.microsoft.com/office/powerpoint/2010/main" val="415226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Three Types of Literature Review Organization</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51284926"/>
              </p:ext>
            </p:extLst>
          </p:nvPr>
        </p:nvGraphicFramePr>
        <p:xfrm>
          <a:off x="838199" y="1825624"/>
          <a:ext cx="10587681" cy="3842007"/>
        </p:xfrm>
        <a:graphic>
          <a:graphicData uri="http://schemas.openxmlformats.org/drawingml/2006/table">
            <a:tbl>
              <a:tblPr firstRow="1" bandRow="1">
                <a:tableStyleId>{5C22544A-7EE6-4342-B048-85BDC9FD1C3A}</a:tableStyleId>
              </a:tblPr>
              <a:tblGrid>
                <a:gridCol w="3529227">
                  <a:extLst>
                    <a:ext uri="{9D8B030D-6E8A-4147-A177-3AD203B41FA5}">
                      <a16:colId xmlns:a16="http://schemas.microsoft.com/office/drawing/2014/main" val="20000"/>
                    </a:ext>
                  </a:extLst>
                </a:gridCol>
                <a:gridCol w="3529227">
                  <a:extLst>
                    <a:ext uri="{9D8B030D-6E8A-4147-A177-3AD203B41FA5}">
                      <a16:colId xmlns:a16="http://schemas.microsoft.com/office/drawing/2014/main" val="20001"/>
                    </a:ext>
                  </a:extLst>
                </a:gridCol>
                <a:gridCol w="3529227">
                  <a:extLst>
                    <a:ext uri="{9D8B030D-6E8A-4147-A177-3AD203B41FA5}">
                      <a16:colId xmlns:a16="http://schemas.microsoft.com/office/drawing/2014/main" val="20002"/>
                    </a:ext>
                  </a:extLst>
                </a:gridCol>
              </a:tblGrid>
              <a:tr h="457531">
                <a:tc>
                  <a:txBody>
                    <a:bodyPr/>
                    <a:lstStyle/>
                    <a:p>
                      <a:r>
                        <a:rPr lang="en-IN" dirty="0"/>
                        <a:t>Organization Type</a:t>
                      </a:r>
                    </a:p>
                  </a:txBody>
                  <a:tcPr/>
                </a:tc>
                <a:tc>
                  <a:txBody>
                    <a:bodyPr/>
                    <a:lstStyle/>
                    <a:p>
                      <a:r>
                        <a:rPr lang="en-IN" dirty="0"/>
                        <a:t>Explanation</a:t>
                      </a:r>
                    </a:p>
                  </a:txBody>
                  <a:tcPr/>
                </a:tc>
                <a:tc>
                  <a:txBody>
                    <a:bodyPr/>
                    <a:lstStyle/>
                    <a:p>
                      <a:r>
                        <a:rPr lang="en-IN" dirty="0"/>
                        <a:t>Usage</a:t>
                      </a:r>
                    </a:p>
                  </a:txBody>
                  <a:tcPr/>
                </a:tc>
                <a:extLst>
                  <a:ext uri="{0D108BD9-81ED-4DB2-BD59-A6C34878D82A}">
                    <a16:rowId xmlns:a16="http://schemas.microsoft.com/office/drawing/2014/main" val="10000"/>
                  </a:ext>
                </a:extLst>
              </a:tr>
              <a:tr h="789711">
                <a:tc>
                  <a:txBody>
                    <a:bodyPr/>
                    <a:lstStyle/>
                    <a:p>
                      <a:r>
                        <a:rPr lang="en-IN" dirty="0"/>
                        <a:t>Chronological</a:t>
                      </a:r>
                    </a:p>
                  </a:txBody>
                  <a:tcPr/>
                </a:tc>
                <a:tc>
                  <a:txBody>
                    <a:bodyPr/>
                    <a:lstStyle/>
                    <a:p>
                      <a:r>
                        <a:rPr lang="en-IN" dirty="0"/>
                        <a:t>Organized by publication date or history of topic</a:t>
                      </a:r>
                    </a:p>
                  </a:txBody>
                  <a:tcPr/>
                </a:tc>
                <a:tc>
                  <a:txBody>
                    <a:bodyPr/>
                    <a:lstStyle/>
                    <a:p>
                      <a:r>
                        <a:rPr lang="en-IN" dirty="0"/>
                        <a:t>Use this type if sequential order of events is important</a:t>
                      </a:r>
                    </a:p>
                  </a:txBody>
                  <a:tcPr/>
                </a:tc>
                <a:extLst>
                  <a:ext uri="{0D108BD9-81ED-4DB2-BD59-A6C34878D82A}">
                    <a16:rowId xmlns:a16="http://schemas.microsoft.com/office/drawing/2014/main" val="10001"/>
                  </a:ext>
                </a:extLst>
              </a:tr>
              <a:tr h="1466606">
                <a:tc>
                  <a:txBody>
                    <a:bodyPr/>
                    <a:lstStyle/>
                    <a:p>
                      <a:r>
                        <a:rPr lang="en-IN" dirty="0"/>
                        <a:t>Thematic</a:t>
                      </a:r>
                    </a:p>
                  </a:txBody>
                  <a:tcPr/>
                </a:tc>
                <a:tc>
                  <a:txBody>
                    <a:bodyPr/>
                    <a:lstStyle/>
                    <a:p>
                      <a:r>
                        <a:rPr lang="en-IN" dirty="0"/>
                        <a:t>Organized by topic or issue, may still involve chronology or an order of importance</a:t>
                      </a:r>
                    </a:p>
                  </a:txBody>
                  <a:tcPr/>
                </a:tc>
                <a:tc>
                  <a:txBody>
                    <a:bodyPr/>
                    <a:lstStyle/>
                    <a:p>
                      <a:r>
                        <a:rPr lang="en-IN" dirty="0"/>
                        <a:t>Use this type to go from general topic themes to more specific (e.g., education to higher education to writing </a:t>
                      </a:r>
                      <a:r>
                        <a:rPr lang="en-IN" dirty="0" err="1"/>
                        <a:t>centers</a:t>
                      </a:r>
                      <a:r>
                        <a:rPr lang="en-IN" dirty="0"/>
                        <a:t>)</a:t>
                      </a:r>
                    </a:p>
                  </a:txBody>
                  <a:tcPr/>
                </a:tc>
                <a:extLst>
                  <a:ext uri="{0D108BD9-81ED-4DB2-BD59-A6C34878D82A}">
                    <a16:rowId xmlns:a16="http://schemas.microsoft.com/office/drawing/2014/main" val="10002"/>
                  </a:ext>
                </a:extLst>
              </a:tr>
              <a:tr h="1128159">
                <a:tc>
                  <a:txBody>
                    <a:bodyPr/>
                    <a:lstStyle/>
                    <a:p>
                      <a:r>
                        <a:rPr lang="en-IN" dirty="0"/>
                        <a:t>Methodological</a:t>
                      </a:r>
                    </a:p>
                  </a:txBody>
                  <a:tcPr/>
                </a:tc>
                <a:tc>
                  <a:txBody>
                    <a:bodyPr/>
                    <a:lstStyle/>
                    <a:p>
                      <a:r>
                        <a:rPr lang="en-IN" dirty="0"/>
                        <a:t>Organized not by the content of lit review material, but on the methods of the researcher/writer</a:t>
                      </a:r>
                    </a:p>
                  </a:txBody>
                  <a:tcPr/>
                </a:tc>
                <a:tc>
                  <a:txBody>
                    <a:bodyPr/>
                    <a:lstStyle/>
                    <a:p>
                      <a:r>
                        <a:rPr lang="en-IN" dirty="0"/>
                        <a:t>Use this type if the methods of the researchers/writers are the most important</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157827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 </a:t>
            </a: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105665" y="137674"/>
            <a:ext cx="5070642" cy="6551449"/>
          </a:xfrm>
        </p:spPr>
      </p:pic>
    </p:spTree>
    <p:extLst>
      <p:ext uri="{BB962C8B-B14F-4D97-AF65-F5344CB8AC3E}">
        <p14:creationId xmlns:p14="http://schemas.microsoft.com/office/powerpoint/2010/main" val="23331355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854CF-1E33-726B-F6E0-D5F7C75CA31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3DB11F5-6079-F277-BF09-58D2740250D3}"/>
              </a:ext>
            </a:extLst>
          </p:cNvPr>
          <p:cNvSpPr>
            <a:spLocks noGrp="1"/>
          </p:cNvSpPr>
          <p:nvPr>
            <p:ph idx="1"/>
          </p:nvPr>
        </p:nvSpPr>
        <p:spPr/>
        <p:txBody>
          <a:bodyPr/>
          <a:lstStyle/>
          <a:p>
            <a:pPr marL="0" indent="0" algn="ctr">
              <a:buNone/>
            </a:pPr>
            <a:endParaRPr lang="en-IN" dirty="0"/>
          </a:p>
          <a:p>
            <a:pPr marL="0" indent="0" algn="ctr">
              <a:buNone/>
            </a:pPr>
            <a:endParaRPr lang="en-IN" dirty="0"/>
          </a:p>
          <a:p>
            <a:pPr marL="0" indent="0" algn="ctr">
              <a:buNone/>
            </a:pPr>
            <a:endParaRPr lang="en-IN" dirty="0"/>
          </a:p>
          <a:p>
            <a:pPr marL="0" indent="0" algn="ctr">
              <a:buNone/>
            </a:pPr>
            <a:r>
              <a:rPr lang="en-IN" sz="5400" b="1" dirty="0">
                <a:latin typeface="Bahnschrift Light" panose="020B0502040204020203" pitchFamily="34" charset="0"/>
              </a:rPr>
              <a:t>THANK YOU</a:t>
            </a:r>
          </a:p>
        </p:txBody>
      </p:sp>
    </p:spTree>
    <p:extLst>
      <p:ext uri="{BB962C8B-B14F-4D97-AF65-F5344CB8AC3E}">
        <p14:creationId xmlns:p14="http://schemas.microsoft.com/office/powerpoint/2010/main" val="29986119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353</TotalTime>
  <Words>1345</Words>
  <Application>Microsoft Office PowerPoint</Application>
  <PresentationFormat>Widescreen</PresentationFormat>
  <Paragraphs>88</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Bahnschrift Light</vt:lpstr>
      <vt:lpstr>Calibri</vt:lpstr>
      <vt:lpstr>Calibri Light</vt:lpstr>
      <vt:lpstr>Office Theme</vt:lpstr>
      <vt:lpstr>Literature Review</vt:lpstr>
      <vt:lpstr>What is a Literature Review?</vt:lpstr>
      <vt:lpstr>PowerPoint Presentation</vt:lpstr>
      <vt:lpstr>PowerPoint Presentation</vt:lpstr>
      <vt:lpstr>Types of Literature Review</vt:lpstr>
      <vt:lpstr>Narrative Literature Review</vt:lpstr>
      <vt:lpstr>Systematic Literature Review</vt:lpstr>
      <vt:lpstr>PowerPoint Presentation</vt:lpstr>
      <vt:lpstr>Scoping Literature Review</vt:lpstr>
      <vt:lpstr>Argumentative Literature Review</vt:lpstr>
      <vt:lpstr>Integrative Literature Review</vt:lpstr>
      <vt:lpstr>Theoretical Literature Review</vt:lpstr>
      <vt:lpstr>Methodological Literature Review</vt:lpstr>
      <vt:lpstr>Historical Literature Review</vt:lpstr>
      <vt:lpstr>Three Types of Literature Review Organization</vt:lpstr>
      <vt:lpstr>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Literature Review</dc:title>
  <dc:creator>Mojibur Rahman</dc:creator>
  <cp:lastModifiedBy>Md Mojibur Rahman</cp:lastModifiedBy>
  <cp:revision>15</cp:revision>
  <dcterms:created xsi:type="dcterms:W3CDTF">2022-09-15T06:12:02Z</dcterms:created>
  <dcterms:modified xsi:type="dcterms:W3CDTF">2023-09-06T04:48:13Z</dcterms:modified>
</cp:coreProperties>
</file>