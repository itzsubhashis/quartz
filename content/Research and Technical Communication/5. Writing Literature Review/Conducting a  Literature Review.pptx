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D3466-EC7F-4EA2-81F1-298B7748E9F8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0E5D8-4B97-48CA-8C6B-77F4BACCEF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38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European Public Assessment Reports (EPAR)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0E5D8-4B97-48CA-8C6B-77F4BACCEFA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408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A0E5D8-4B97-48CA-8C6B-77F4BACCEFA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204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F9821-E3E9-F0BA-CA25-E9905E868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4898E-0937-43D1-E462-238ADE278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52B5A-6DBF-2D9F-EEFA-E0CD6E2D7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BF7A-B73F-7327-ACD0-26FEFE19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74983-1159-0851-10D6-7537BF16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21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88D1-4F38-D884-2C9D-90A98C6B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F634-8C69-0785-215B-F638A726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6BBE5-FCE1-B5C6-161D-3EED9C788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E19EA-E9E3-9769-C31B-A0923FEE5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8F56E-AA0A-A5EE-46D8-6CD6815C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99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1D07-F187-416A-C831-307A17C4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EFF5C-ADC9-4A15-6F95-EEA472998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B38F-C3F4-A53C-EE2A-28BEE7C8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6AAB5-9FEF-0828-5F77-6A67C6C1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4C94D-BCFD-129D-94A5-41C079F9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0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D3A0-C445-95CA-E898-20E64AA7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A18C-60D9-616A-95D2-C8B958B49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BF204-7AB2-5448-03D3-4180A87DA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29F24-8A6F-5439-D5EC-F9D06280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7140B-9AC7-A857-3BD0-46FC878A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53D80-05B5-C131-C241-E9EBD790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97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87260-0470-4ADC-0589-C3C0169F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32F1F-C72D-F91B-82DC-5F3E7BD92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279C0-E501-151A-B471-5D222B6EB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D75C4-D3A8-C4E9-1FFD-C96E5091A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2DE64-2239-98B2-B77E-150A6068B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C5AB6-A9B5-83F7-3428-721DCD2E1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E84FC-0DA0-E365-8E35-1E4113ED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D55331-177E-C5A1-8201-F54E7469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14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8F650-CBCC-FDE5-804E-0FF7E2D0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A724B-2627-3D14-3B27-17522770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42C85-9996-8E97-BAF3-D914DE5BB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9E0EE-992A-C02D-944F-13BCB9926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59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46988-799C-6AD9-1141-6D1BD7CC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1B59D-C849-E1E2-FB85-B590B503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E71E4-3737-A67C-0CC8-50486FEC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BF50-D5F0-C46B-D8E4-C5C4B137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76D16-1B62-0007-BE10-422C095D0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70763-4DBB-AC54-CAE5-8791F298C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7BDB2-A4A2-844B-14AF-DDDA0436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29209-06F6-093B-72C0-6E15BD3B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686D3-8AC0-1EA3-B49C-6055182F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FB5B-92E8-5EB3-35BB-13C28552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129F9-00D5-F9A6-7010-1CE5CA2C8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FADAD5-C542-3298-E81E-CA6F88371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D3F92-AA44-56FC-4C66-543E5DC1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33647-E237-47CC-E521-771126AF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F8043-CE78-8D77-194F-DA5681D7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8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9B07-0E71-5A46-9840-6FD2FAA74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87A9F-791A-F488-F2B5-54DCFCD90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6239E-C28F-B04E-D3BF-C386ED9E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9FB74-D833-8005-ACA4-2979FB30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79D77-91F7-7895-92B9-77A6AD00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4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C67C4-B082-6451-A12A-FA1433EE2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37738-39DF-39D7-5F75-D0878173F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4AB8B-A81F-D897-A76A-304B67A8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1B04E-A15E-0699-DC3B-A1BD485F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18269-D1F3-98AC-5529-D89F2C58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58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B5D87-0913-4A9F-CF42-6C1A8E9B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8DBDB-A487-90C8-502A-D0D8DAAB7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1D0F3-C1E8-0F46-5A33-B1C8E57D1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A4FCA-FE3D-48A4-8A98-7ADC18534B2A}" type="datetimeFigureOut">
              <a:rPr lang="en-IN" smtClean="0"/>
              <a:t>12-09-2023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1F3B-B986-9239-5471-3C5A99570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26AA-5A3C-DD1E-87AB-DC9339DE6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AD461-C190-47B2-8233-DB66425A35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42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vans.uw.edu/policy-impact/epar/research/morbidity-and-economic-growt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vans.uw.edu/policy-impact/epar/research/review-long-term-impacts-cash-transfer-program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review-long-term-impacts-cash-transfer-program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funding-agricultural-research-and-development-public-good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guides.lib.uw.edu/c.php?g=727047&amp;p=5190568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guides.lib.washington.edu/litreviewtoolkit" TargetMode="External"/><Relationship Id="rId2" Type="http://schemas.openxmlformats.org/officeDocument/2006/relationships/hyperlink" Target="http://guides.lib.washington.edu/emkell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vans.uw.edu/policy-impact/epar/research/morbidity-and-economic-growth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vans.uw.edu/policy-impact/epar/research/review-long-term-impacts-cash-transfer-program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evans.uw.edu/policy-impact/epar/research/review-long-term-impacts-cash-transfer-program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vans.uw.edu/policy-impact/epar/research/review-long-term-impacts-cash-transfer-programs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review-digital-credit-products-and-regulations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vans.uw.edu/policy-impact/epar/research/review-digital-financial-services-consumer-protection-regulations" TargetMode="External"/><Relationship Id="rId2" Type="http://schemas.openxmlformats.org/officeDocument/2006/relationships/hyperlink" Target="https://evans.uw.edu/policy-impact/epar/research/review-land-tenure-technologies-and-indicators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evans.uw.edu/policy-impact/epar/research/review-digital-financial-services-consumer-protection-regulations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vans.uw.edu/sites/default/files/EPAR%20293%20Copy%20of%20Final%20Coding%20_%20Morbidity%20and%20Growth.xlsx" TargetMode="External"/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office.com/en-us/article/Create-a-PivotTable-to-analyze-worksheet-data-A9A84538-BFE9-40A9-A8E9-F99134456576" TargetMode="External"/><Relationship Id="rId2" Type="http://schemas.openxmlformats.org/officeDocument/2006/relationships/hyperlink" Target="https://www.gcflearnfree.org/excel2016/intro-to-pivottables/1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hyperlink" Target="https://evans.uw.edu/policy-impact/epar/research/review-long-term-impacts-cash-transfer-program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en-us/s/" TargetMode="External"/><Relationship Id="rId2" Type="http://schemas.openxmlformats.org/officeDocument/2006/relationships/hyperlink" Target="https://www.tableau.com/academi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werbi.microsoft.com/en-us/learning/" TargetMode="External"/><Relationship Id="rId5" Type="http://schemas.openxmlformats.org/officeDocument/2006/relationships/hyperlink" Target="https://powerbi.microsoft.com/en-us/desktop/" TargetMode="External"/><Relationship Id="rId4" Type="http://schemas.openxmlformats.org/officeDocument/2006/relationships/hyperlink" Target="https://www.tableau.com/learn/training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evans.uw.edu/policy-impact/epar/research/morbidity-and-economic-growth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mailto:eparinfo@uw.edu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621BB-0459-F99C-0BD8-7196C181E4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sz="5400" b="1" spc="-114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Conduc</a:t>
            </a:r>
            <a:r>
              <a:rPr lang="en-US" sz="5400" b="1" spc="-7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t</a:t>
            </a:r>
            <a:r>
              <a:rPr lang="en-US" sz="5400" b="1" spc="-6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ing</a:t>
            </a:r>
            <a:r>
              <a:rPr lang="en-US" sz="5400" b="1" spc="-65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 </a:t>
            </a:r>
            <a:r>
              <a:rPr lang="en-US" sz="5400" b="1" spc="-14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a  </a:t>
            </a:r>
            <a:r>
              <a:rPr lang="en-US" sz="5400" b="1" spc="-7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Literature</a:t>
            </a:r>
            <a:r>
              <a:rPr lang="en-US" sz="5400" b="1" spc="-64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 </a:t>
            </a:r>
            <a:r>
              <a:rPr lang="en-US" sz="5400" b="1" spc="-15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Review</a:t>
            </a:r>
            <a:br>
              <a:rPr lang="en-US" sz="5400" dirty="0">
                <a:latin typeface="+mn-lt"/>
                <a:cs typeface="Aharoni" panose="02010803020104030203" pitchFamily="2" charset="-79"/>
              </a:rPr>
            </a:br>
            <a:r>
              <a:rPr lang="en-US" sz="4400" b="0" spc="-14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A</a:t>
            </a:r>
            <a:r>
              <a:rPr lang="en-US" sz="4400" b="0" spc="-13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 </a:t>
            </a:r>
            <a:r>
              <a:rPr lang="en-US" sz="4400" b="0" spc="-4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step</a:t>
            </a:r>
            <a:r>
              <a:rPr lang="en-US" sz="4400" b="0" spc="-62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-</a:t>
            </a:r>
            <a:r>
              <a:rPr lang="en-US" sz="4400" b="0" spc="-9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b</a:t>
            </a:r>
            <a:r>
              <a:rPr lang="en-US" sz="4400" b="0" spc="-4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y</a:t>
            </a:r>
            <a:r>
              <a:rPr lang="en-US" sz="4400" b="0" spc="-62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-</a:t>
            </a:r>
            <a:r>
              <a:rPr lang="en-US" sz="4400" b="0" spc="-4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ste</a:t>
            </a:r>
            <a:r>
              <a:rPr lang="en-US" sz="4400" b="0" spc="-5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p</a:t>
            </a:r>
            <a:r>
              <a:rPr lang="en-US" sz="4400" b="0" spc="-9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 </a:t>
            </a:r>
            <a:r>
              <a:rPr lang="en-US" sz="4400" b="0" spc="-10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g</a:t>
            </a:r>
            <a:r>
              <a:rPr lang="en-US" sz="4400" b="0" spc="-9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u</a:t>
            </a:r>
            <a:r>
              <a:rPr lang="en-US" sz="4400" b="0" spc="-40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i</a:t>
            </a:r>
            <a:r>
              <a:rPr lang="en-US" sz="4400" b="0" spc="-8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d</a:t>
            </a:r>
            <a:r>
              <a:rPr lang="en-US" sz="4400" b="0" spc="5" dirty="0">
                <a:solidFill>
                  <a:srgbClr val="4A2D83"/>
                </a:solidFill>
                <a:latin typeface="+mn-lt"/>
                <a:cs typeface="Aharoni" panose="02010803020104030203" pitchFamily="2" charset="-79"/>
              </a:rPr>
              <a:t>e</a:t>
            </a:r>
            <a:endParaRPr lang="en-IN" sz="4400" dirty="0">
              <a:latin typeface="+mn-lt"/>
              <a:cs typeface="Aharoni" panose="02010803020104030203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31AC1-2D5F-9A05-2291-BBF25081C7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Md. Mojibur Rahman</a:t>
            </a:r>
          </a:p>
          <a:p>
            <a:r>
              <a:rPr lang="en-IN" dirty="0"/>
              <a:t>mrahmanelt@iitism.ac.in</a:t>
            </a:r>
          </a:p>
        </p:txBody>
      </p:sp>
    </p:spTree>
    <p:extLst>
      <p:ext uri="{BB962C8B-B14F-4D97-AF65-F5344CB8AC3E}">
        <p14:creationId xmlns:p14="http://schemas.microsoft.com/office/powerpoint/2010/main" val="33589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E9F2-C082-CFCF-A162-89199112D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85" dirty="0">
                <a:solidFill>
                  <a:srgbClr val="4A2D83"/>
                </a:solidFill>
              </a:rPr>
              <a:t>Go</a:t>
            </a:r>
            <a:r>
              <a:rPr lang="en-US" b="1" spc="-50" dirty="0">
                <a:solidFill>
                  <a:srgbClr val="4A2D83"/>
                </a:solidFill>
              </a:rPr>
              <a:t>als</a:t>
            </a:r>
            <a:r>
              <a:rPr lang="en-US" b="1" spc="-250" dirty="0">
                <a:solidFill>
                  <a:srgbClr val="4A2D83"/>
                </a:solidFill>
              </a:rPr>
              <a:t> </a:t>
            </a:r>
            <a:r>
              <a:rPr lang="en-US" b="1" spc="70" dirty="0">
                <a:solidFill>
                  <a:srgbClr val="4A2D83"/>
                </a:solidFill>
              </a:rPr>
              <a:t>of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85" dirty="0">
                <a:solidFill>
                  <a:srgbClr val="4A2D83"/>
                </a:solidFill>
              </a:rPr>
              <a:t>a</a:t>
            </a:r>
            <a:r>
              <a:rPr lang="en-US" b="1" spc="-254" dirty="0">
                <a:solidFill>
                  <a:srgbClr val="4A2D83"/>
                </a:solidFill>
              </a:rPr>
              <a:t> </a:t>
            </a:r>
            <a:r>
              <a:rPr lang="en-US" b="1" spc="-80" dirty="0">
                <a:solidFill>
                  <a:srgbClr val="4A2D83"/>
                </a:solidFill>
              </a:rPr>
              <a:t>L</a:t>
            </a:r>
            <a:r>
              <a:rPr lang="en-US" b="1" spc="-30" dirty="0">
                <a:solidFill>
                  <a:srgbClr val="4A2D83"/>
                </a:solidFill>
              </a:rPr>
              <a:t>iterature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65" dirty="0">
                <a:solidFill>
                  <a:srgbClr val="4A2D83"/>
                </a:solidFill>
              </a:rPr>
              <a:t>Review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4D7D3-F97B-83BF-F60B-F5F9F63F6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lite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tu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vi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ondu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ted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to: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112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-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2800" b="1" spc="-114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lang="en-US" sz="2800" b="1" spc="-105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lang="en-US" sz="2800" b="1" spc="-25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lang="en-US" sz="2800" b="1" spc="-20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lang="en-US" sz="2800" b="1" spc="-110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eviden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se;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141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55" dirty="0">
                <a:solidFill>
                  <a:srgbClr val="4A2D83"/>
                </a:solidFill>
                <a:latin typeface="Arial"/>
                <a:cs typeface="Arial"/>
              </a:rPr>
              <a:t>Id</a:t>
            </a:r>
            <a:r>
              <a:rPr lang="en-US" sz="2800" b="1" spc="80" dirty="0">
                <a:solidFill>
                  <a:srgbClr val="4A2D83"/>
                </a:solidFill>
                <a:latin typeface="Arial"/>
                <a:cs typeface="Arial"/>
              </a:rPr>
              <a:t>en</a:t>
            </a:r>
            <a:r>
              <a:rPr lang="en-US" sz="2800" b="1" spc="65" dirty="0">
                <a:solidFill>
                  <a:srgbClr val="4A2D83"/>
                </a:solidFill>
                <a:latin typeface="Arial"/>
                <a:cs typeface="Arial"/>
              </a:rPr>
              <a:t>tif</a:t>
            </a:r>
            <a:r>
              <a:rPr lang="en-US" sz="2800" b="1" spc="130" dirty="0">
                <a:solidFill>
                  <a:srgbClr val="4A2D83"/>
                </a:solidFill>
                <a:latin typeface="Arial"/>
                <a:cs typeface="Arial"/>
              </a:rPr>
              <a:t>y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esea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ps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;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d/or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12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Synthesize</a:t>
            </a:r>
            <a:r>
              <a:rPr lang="en-US" sz="2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70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2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70" dirty="0">
                <a:solidFill>
                  <a:srgbClr val="4A2D83"/>
                </a:solidFill>
                <a:latin typeface="Arial"/>
                <a:cs typeface="Arial"/>
              </a:rPr>
              <a:t>document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base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existing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knowledge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contribution</a:t>
            </a:r>
            <a:r>
              <a:rPr lang="en-US" sz="28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new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work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evident.</a:t>
            </a:r>
            <a:endParaRPr lang="en-US" sz="28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305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310C-19AB-A1ED-39FF-21C175C6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35" dirty="0">
                <a:solidFill>
                  <a:srgbClr val="4A2D83"/>
                </a:solidFill>
              </a:rPr>
              <a:t>EPAR’s</a:t>
            </a:r>
            <a:r>
              <a:rPr lang="en-IN" b="1" spc="-270" dirty="0">
                <a:solidFill>
                  <a:srgbClr val="4A2D83"/>
                </a:solidFill>
              </a:rPr>
              <a:t> </a:t>
            </a:r>
            <a:r>
              <a:rPr lang="en-IN" b="1" dirty="0">
                <a:solidFill>
                  <a:srgbClr val="4A2D83"/>
                </a:solidFill>
              </a:rPr>
              <a:t>A</a:t>
            </a:r>
            <a:r>
              <a:rPr lang="en-IN" b="1" spc="-10" dirty="0">
                <a:solidFill>
                  <a:srgbClr val="4A2D83"/>
                </a:solidFill>
              </a:rPr>
              <a:t>ppr</a:t>
            </a:r>
            <a:r>
              <a:rPr lang="en-IN" b="1" spc="-20" dirty="0">
                <a:solidFill>
                  <a:srgbClr val="4A2D83"/>
                </a:solidFill>
              </a:rPr>
              <a:t>o</a:t>
            </a:r>
            <a:r>
              <a:rPr lang="en-IN" b="1" spc="-65" dirty="0">
                <a:solidFill>
                  <a:srgbClr val="4A2D83"/>
                </a:solidFill>
              </a:rPr>
              <a:t>ach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CF60-5038-4F02-A91E-5896E325D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700" marR="5080">
              <a:lnSpc>
                <a:spcPct val="110000"/>
              </a:lnSpc>
              <a:spcBef>
                <a:spcPts val="105"/>
              </a:spcBef>
            </a:pP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goal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</a:t>
            </a:r>
            <a:r>
              <a:rPr lang="en-US" sz="2800" spc="-1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rigorous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some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level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certainty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you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 </a:t>
            </a:r>
            <a:r>
              <a:rPr lang="en-US" sz="2800" b="1" spc="65" dirty="0">
                <a:solidFill>
                  <a:srgbClr val="4A2D83"/>
                </a:solidFill>
                <a:latin typeface="Arial"/>
                <a:cs typeface="Arial"/>
              </a:rPr>
              <a:t>identified </a:t>
            </a:r>
            <a:r>
              <a:rPr lang="en-US" sz="2800" b="1" spc="10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70" dirty="0">
                <a:solidFill>
                  <a:srgbClr val="4A2D83"/>
                </a:solidFill>
                <a:latin typeface="Arial"/>
                <a:cs typeface="Arial"/>
              </a:rPr>
              <a:t>relevant literature</a:t>
            </a:r>
            <a:r>
              <a:rPr lang="en-US" sz="2800" spc="70" dirty="0">
                <a:solidFill>
                  <a:srgbClr val="4A2D83"/>
                </a:solidFill>
                <a:latin typeface="Lucida Sans Unicode"/>
                <a:cs typeface="Lucida Sans Unicode"/>
              </a:rPr>
              <a:t>,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you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lang="en-US" sz="2800" b="1" spc="25" dirty="0">
                <a:solidFill>
                  <a:srgbClr val="4A2D83"/>
                </a:solidFill>
                <a:latin typeface="Arial"/>
                <a:cs typeface="Arial"/>
              </a:rPr>
              <a:t>collecting </a:t>
            </a:r>
            <a:r>
              <a:rPr lang="en-US" sz="2800" b="1" spc="85" dirty="0">
                <a:solidFill>
                  <a:srgbClr val="4A2D83"/>
                </a:solidFill>
                <a:latin typeface="Arial"/>
                <a:cs typeface="Arial"/>
              </a:rPr>
              <a:t>from </a:t>
            </a:r>
            <a:r>
              <a:rPr lang="en-US" sz="2800" b="1" spc="10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90" dirty="0">
                <a:solidFill>
                  <a:srgbClr val="4A2D83"/>
                </a:solidFill>
                <a:latin typeface="Arial"/>
                <a:cs typeface="Arial"/>
              </a:rPr>
              <a:t>literature </a:t>
            </a:r>
            <a:r>
              <a:rPr lang="en-US" sz="2800" b="1" spc="10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80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lang="en-US" sz="2800" b="1" spc="15" dirty="0">
                <a:solidFill>
                  <a:srgbClr val="4A2D83"/>
                </a:solidFill>
                <a:latin typeface="Arial"/>
                <a:cs typeface="Arial"/>
              </a:rPr>
              <a:t>necessary </a:t>
            </a: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9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rigorously </a:t>
            </a:r>
            <a:r>
              <a:rPr lang="en-US" sz="2800" b="1" spc="75" dirty="0">
                <a:solidFill>
                  <a:srgbClr val="4A2D83"/>
                </a:solidFill>
                <a:latin typeface="Arial"/>
                <a:cs typeface="Arial"/>
              </a:rPr>
              <a:t>evaluate </a:t>
            </a:r>
            <a:r>
              <a:rPr lang="en-US" sz="2800" b="1" spc="10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75" dirty="0">
                <a:solidFill>
                  <a:srgbClr val="4A2D83"/>
                </a:solidFill>
                <a:latin typeface="Arial"/>
                <a:cs typeface="Arial"/>
              </a:rPr>
              <a:t>state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2800" b="1" spc="70" dirty="0">
                <a:solidFill>
                  <a:srgbClr val="4A2D83"/>
                </a:solidFill>
                <a:latin typeface="Arial"/>
                <a:cs typeface="Arial"/>
              </a:rPr>
              <a:t>current </a:t>
            </a:r>
            <a:r>
              <a:rPr lang="en-US" sz="2800" b="1" spc="45" dirty="0">
                <a:solidFill>
                  <a:srgbClr val="4A2D83"/>
                </a:solidFill>
                <a:latin typeface="Arial"/>
                <a:cs typeface="Arial"/>
              </a:rPr>
              <a:t>knowledge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relating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question(s).</a:t>
            </a:r>
            <a:endParaRPr lang="en-US" sz="28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lang="en-US" sz="3200" dirty="0">
              <a:latin typeface="Lucida Sans Unicode"/>
              <a:cs typeface="Lucida Sans Unicode"/>
            </a:endParaRPr>
          </a:p>
          <a:p>
            <a:pPr marL="12700" marR="371475">
              <a:lnSpc>
                <a:spcPct val="110000"/>
              </a:lnSpc>
            </a:pPr>
            <a:r>
              <a:rPr lang="en-US" sz="2800" spc="-14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increase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our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confidence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reviews,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EPAR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emphasizes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three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key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components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process: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756285" indent="-287020">
              <a:lnSpc>
                <a:spcPct val="100000"/>
              </a:lnSpc>
              <a:spcBef>
                <a:spcPts val="85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buil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ing</a:t>
            </a:r>
            <a:r>
              <a:rPr lang="en-US" sz="2800" spc="-1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ple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udie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vi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756285" marR="294640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developing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systematically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extracting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from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sample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using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756285" marR="785495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facilitate</a:t>
            </a:r>
            <a:r>
              <a:rPr lang="en-US" sz="28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base</a:t>
            </a:r>
            <a:endParaRPr lang="en-US" sz="28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73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F996-76A6-27DE-8BD7-22C48DD2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35" dirty="0">
                <a:solidFill>
                  <a:srgbClr val="4A2D83"/>
                </a:solidFill>
              </a:rPr>
              <a:t>Results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D0772-F580-3020-9B4A-FA9CEEDA6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intended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rigorous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are: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69215" indent="-287020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Transparency</a:t>
            </a:r>
            <a:r>
              <a:rPr lang="en-US" sz="28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around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scope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methods;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29527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25" dirty="0">
                <a:solidFill>
                  <a:srgbClr val="4A2D83"/>
                </a:solidFill>
                <a:latin typeface="Arial"/>
                <a:cs typeface="Arial"/>
              </a:rPr>
              <a:t>Confidence</a:t>
            </a:r>
            <a:r>
              <a:rPr lang="en-US" sz="2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(among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both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researchers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audience)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clearly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defined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body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 the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integrity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any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pull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it;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3492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b="1" spc="55" dirty="0">
                <a:solidFill>
                  <a:srgbClr val="4A2D83"/>
                </a:solidFill>
                <a:latin typeface="Arial"/>
                <a:cs typeface="Arial"/>
              </a:rPr>
              <a:t>Improved</a:t>
            </a:r>
            <a:r>
              <a:rPr lang="en-US" sz="28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105" dirty="0">
                <a:solidFill>
                  <a:srgbClr val="4A2D83"/>
                </a:solidFill>
                <a:latin typeface="Arial"/>
                <a:cs typeface="Arial"/>
              </a:rPr>
              <a:t>teamwork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465" dirty="0">
                <a:solidFill>
                  <a:srgbClr val="4A2D83"/>
                </a:solidFill>
                <a:latin typeface="Lucida Sans Unicode"/>
                <a:cs typeface="Lucida Sans Unicode"/>
              </a:rPr>
              <a:t>-</a:t>
            </a:r>
            <a:r>
              <a:rPr lang="en-US" sz="2800" spc="-4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everyone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</a:t>
            </a:r>
            <a:r>
              <a:rPr lang="en-US" sz="28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“system”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identifying,</a:t>
            </a:r>
            <a:r>
              <a:rPr lang="en-US" sz="2800" spc="-1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coding,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analyzing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evidence;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b="1" spc="40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lang="en-US" sz="2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0" dirty="0">
                <a:solidFill>
                  <a:srgbClr val="4A2D83"/>
                </a:solidFill>
                <a:latin typeface="Arial"/>
                <a:cs typeface="Arial"/>
              </a:rPr>
              <a:t>evidence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coded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according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well-organized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framework,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covering 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key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aspects of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theory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question(s);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132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presenting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analysis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(and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tables/graphics)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answers your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identifies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gaps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base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(or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methods).</a:t>
            </a:r>
            <a:endParaRPr lang="en-US" sz="28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08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6515" y="595899"/>
            <a:ext cx="6588125" cy="6151245"/>
            <a:chOff x="2298546" y="601931"/>
            <a:chExt cx="6569102" cy="6131990"/>
          </a:xfrm>
        </p:grpSpPr>
        <p:sp>
          <p:nvSpPr>
            <p:cNvPr id="3" name="object 3"/>
            <p:cNvSpPr/>
            <p:nvPr/>
          </p:nvSpPr>
          <p:spPr>
            <a:xfrm>
              <a:off x="5546598" y="5397246"/>
              <a:ext cx="3321050" cy="1336675"/>
            </a:xfrm>
            <a:custGeom>
              <a:avLst/>
              <a:gdLst/>
              <a:ahLst/>
              <a:cxnLst/>
              <a:rect l="l" t="t" r="r" b="b"/>
              <a:pathLst>
                <a:path w="3321050" h="1336675">
                  <a:moveTo>
                    <a:pt x="3320796" y="0"/>
                  </a:moveTo>
                  <a:lnTo>
                    <a:pt x="0" y="0"/>
                  </a:lnTo>
                  <a:lnTo>
                    <a:pt x="0" y="1336547"/>
                  </a:lnTo>
                  <a:lnTo>
                    <a:pt x="3320796" y="1336547"/>
                  </a:lnTo>
                  <a:lnTo>
                    <a:pt x="3320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546598" y="5397246"/>
              <a:ext cx="3321050" cy="1336675"/>
            </a:xfrm>
            <a:custGeom>
              <a:avLst/>
              <a:gdLst/>
              <a:ahLst/>
              <a:cxnLst/>
              <a:rect l="l" t="t" r="r" b="b"/>
              <a:pathLst>
                <a:path w="3321050" h="1336675">
                  <a:moveTo>
                    <a:pt x="0" y="1336547"/>
                  </a:moveTo>
                  <a:lnTo>
                    <a:pt x="3320796" y="1336547"/>
                  </a:lnTo>
                  <a:lnTo>
                    <a:pt x="3320796" y="0"/>
                  </a:lnTo>
                  <a:lnTo>
                    <a:pt x="0" y="0"/>
                  </a:lnTo>
                  <a:lnTo>
                    <a:pt x="0" y="1336547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15990" y="2694131"/>
              <a:ext cx="347980" cy="336550"/>
            </a:xfrm>
            <a:custGeom>
              <a:avLst/>
              <a:gdLst/>
              <a:ahLst/>
              <a:cxnLst/>
              <a:rect l="l" t="t" r="r" b="b"/>
              <a:pathLst>
                <a:path w="347979" h="336550">
                  <a:moveTo>
                    <a:pt x="86905" y="0"/>
                  </a:moveTo>
                  <a:lnTo>
                    <a:pt x="0" y="119203"/>
                  </a:lnTo>
                  <a:lnTo>
                    <a:pt x="86905" y="252231"/>
                  </a:lnTo>
                  <a:lnTo>
                    <a:pt x="86905" y="169572"/>
                  </a:lnTo>
                  <a:lnTo>
                    <a:pt x="140056" y="181047"/>
                  </a:lnTo>
                  <a:lnTo>
                    <a:pt x="188780" y="197419"/>
                  </a:lnTo>
                  <a:lnTo>
                    <a:pt x="232351" y="218211"/>
                  </a:lnTo>
                  <a:lnTo>
                    <a:pt x="270041" y="242948"/>
                  </a:lnTo>
                  <a:lnTo>
                    <a:pt x="301126" y="271151"/>
                  </a:lnTo>
                  <a:lnTo>
                    <a:pt x="324878" y="302344"/>
                  </a:lnTo>
                  <a:lnTo>
                    <a:pt x="340571" y="336051"/>
                  </a:lnTo>
                  <a:lnTo>
                    <a:pt x="347538" y="298518"/>
                  </a:lnTo>
                  <a:lnTo>
                    <a:pt x="331112" y="226483"/>
                  </a:lnTo>
                  <a:lnTo>
                    <a:pt x="309051" y="193312"/>
                  </a:lnTo>
                  <a:lnTo>
                    <a:pt x="278646" y="162926"/>
                  </a:lnTo>
                  <a:lnTo>
                    <a:pt x="240562" y="135993"/>
                  </a:lnTo>
                  <a:lnTo>
                    <a:pt x="195467" y="113177"/>
                  </a:lnTo>
                  <a:lnTo>
                    <a:pt x="144026" y="95145"/>
                  </a:lnTo>
                  <a:lnTo>
                    <a:pt x="86905" y="82562"/>
                  </a:lnTo>
                  <a:lnTo>
                    <a:pt x="86905" y="0"/>
                  </a:lnTo>
                  <a:close/>
                </a:path>
              </a:pathLst>
            </a:custGeom>
            <a:solidFill>
              <a:srgbClr val="330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15990" y="2986677"/>
              <a:ext cx="347980" cy="304165"/>
            </a:xfrm>
            <a:custGeom>
              <a:avLst/>
              <a:gdLst/>
              <a:ahLst/>
              <a:cxnLst/>
              <a:rect l="l" t="t" r="r" b="b"/>
              <a:pathLst>
                <a:path w="347979" h="304164">
                  <a:moveTo>
                    <a:pt x="347620" y="0"/>
                  </a:moveTo>
                  <a:lnTo>
                    <a:pt x="329896" y="68549"/>
                  </a:lnTo>
                  <a:lnTo>
                    <a:pt x="280543" y="128076"/>
                  </a:lnTo>
                  <a:lnTo>
                    <a:pt x="245796" y="153342"/>
                  </a:lnTo>
                  <a:lnTo>
                    <a:pt x="205290" y="175015"/>
                  </a:lnTo>
                  <a:lnTo>
                    <a:pt x="159742" y="192647"/>
                  </a:lnTo>
                  <a:lnTo>
                    <a:pt x="109866" y="205794"/>
                  </a:lnTo>
                  <a:lnTo>
                    <a:pt x="56380" y="214010"/>
                  </a:lnTo>
                  <a:lnTo>
                    <a:pt x="0" y="216847"/>
                  </a:lnTo>
                  <a:lnTo>
                    <a:pt x="0" y="303857"/>
                  </a:lnTo>
                  <a:lnTo>
                    <a:pt x="56380" y="301020"/>
                  </a:lnTo>
                  <a:lnTo>
                    <a:pt x="109866" y="292804"/>
                  </a:lnTo>
                  <a:lnTo>
                    <a:pt x="159742" y="279657"/>
                  </a:lnTo>
                  <a:lnTo>
                    <a:pt x="205290" y="262024"/>
                  </a:lnTo>
                  <a:lnTo>
                    <a:pt x="245796" y="240352"/>
                  </a:lnTo>
                  <a:lnTo>
                    <a:pt x="280543" y="215086"/>
                  </a:lnTo>
                  <a:lnTo>
                    <a:pt x="308815" y="186673"/>
                  </a:lnTo>
                  <a:lnTo>
                    <a:pt x="343070" y="122188"/>
                  </a:lnTo>
                  <a:lnTo>
                    <a:pt x="347620" y="87009"/>
                  </a:lnTo>
                  <a:lnTo>
                    <a:pt x="347620" y="0"/>
                  </a:lnTo>
                  <a:close/>
                </a:path>
              </a:pathLst>
            </a:custGeom>
            <a:solidFill>
              <a:srgbClr val="290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15990" y="2694131"/>
              <a:ext cx="347980" cy="596900"/>
            </a:xfrm>
            <a:custGeom>
              <a:avLst/>
              <a:gdLst/>
              <a:ahLst/>
              <a:cxnLst/>
              <a:rect l="l" t="t" r="r" b="b"/>
              <a:pathLst>
                <a:path w="347979" h="596900">
                  <a:moveTo>
                    <a:pt x="347620" y="292546"/>
                  </a:moveTo>
                  <a:lnTo>
                    <a:pt x="329896" y="361095"/>
                  </a:lnTo>
                  <a:lnTo>
                    <a:pt x="280543" y="420623"/>
                  </a:lnTo>
                  <a:lnTo>
                    <a:pt x="245796" y="445889"/>
                  </a:lnTo>
                  <a:lnTo>
                    <a:pt x="205290" y="467561"/>
                  </a:lnTo>
                  <a:lnTo>
                    <a:pt x="159742" y="485194"/>
                  </a:lnTo>
                  <a:lnTo>
                    <a:pt x="109866" y="498341"/>
                  </a:lnTo>
                  <a:lnTo>
                    <a:pt x="56380" y="506556"/>
                  </a:lnTo>
                  <a:lnTo>
                    <a:pt x="0" y="509394"/>
                  </a:lnTo>
                  <a:lnTo>
                    <a:pt x="0" y="596404"/>
                  </a:lnTo>
                  <a:lnTo>
                    <a:pt x="56380" y="593566"/>
                  </a:lnTo>
                  <a:lnTo>
                    <a:pt x="109866" y="585351"/>
                  </a:lnTo>
                  <a:lnTo>
                    <a:pt x="159742" y="572204"/>
                  </a:lnTo>
                  <a:lnTo>
                    <a:pt x="205290" y="554571"/>
                  </a:lnTo>
                  <a:lnTo>
                    <a:pt x="245796" y="532899"/>
                  </a:lnTo>
                  <a:lnTo>
                    <a:pt x="280543" y="507633"/>
                  </a:lnTo>
                  <a:lnTo>
                    <a:pt x="308815" y="479219"/>
                  </a:lnTo>
                  <a:lnTo>
                    <a:pt x="343070" y="414735"/>
                  </a:lnTo>
                  <a:lnTo>
                    <a:pt x="347620" y="379556"/>
                  </a:lnTo>
                  <a:lnTo>
                    <a:pt x="347620" y="292546"/>
                  </a:lnTo>
                  <a:lnTo>
                    <a:pt x="328460" y="221492"/>
                  </a:lnTo>
                  <a:lnTo>
                    <a:pt x="305585" y="189169"/>
                  </a:lnTo>
                  <a:lnTo>
                    <a:pt x="274801" y="159747"/>
                  </a:lnTo>
                  <a:lnTo>
                    <a:pt x="236825" y="133801"/>
                  </a:lnTo>
                  <a:lnTo>
                    <a:pt x="192372" y="111905"/>
                  </a:lnTo>
                  <a:lnTo>
                    <a:pt x="142160" y="94634"/>
                  </a:lnTo>
                  <a:lnTo>
                    <a:pt x="86905" y="82562"/>
                  </a:lnTo>
                  <a:lnTo>
                    <a:pt x="86905" y="0"/>
                  </a:lnTo>
                  <a:lnTo>
                    <a:pt x="0" y="119203"/>
                  </a:lnTo>
                  <a:lnTo>
                    <a:pt x="86905" y="252231"/>
                  </a:lnTo>
                  <a:lnTo>
                    <a:pt x="86905" y="169572"/>
                  </a:lnTo>
                  <a:lnTo>
                    <a:pt x="140056" y="181047"/>
                  </a:lnTo>
                  <a:lnTo>
                    <a:pt x="188780" y="197419"/>
                  </a:lnTo>
                  <a:lnTo>
                    <a:pt x="232351" y="218211"/>
                  </a:lnTo>
                  <a:lnTo>
                    <a:pt x="270041" y="242948"/>
                  </a:lnTo>
                  <a:lnTo>
                    <a:pt x="301126" y="271151"/>
                  </a:lnTo>
                  <a:lnTo>
                    <a:pt x="324878" y="302344"/>
                  </a:lnTo>
                  <a:lnTo>
                    <a:pt x="340571" y="336051"/>
                  </a:lnTo>
                </a:path>
              </a:pathLst>
            </a:custGeom>
            <a:ln w="17386">
              <a:solidFill>
                <a:srgbClr val="220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2923" y="880362"/>
              <a:ext cx="0" cy="5409565"/>
            </a:xfrm>
            <a:custGeom>
              <a:avLst/>
              <a:gdLst/>
              <a:ahLst/>
              <a:cxnLst/>
              <a:rect l="l" t="t" r="r" b="b"/>
              <a:pathLst>
                <a:path h="5409565">
                  <a:moveTo>
                    <a:pt x="0" y="0"/>
                  </a:moveTo>
                  <a:lnTo>
                    <a:pt x="0" y="5409324"/>
                  </a:lnTo>
                </a:path>
              </a:pathLst>
            </a:custGeom>
            <a:ln w="23174">
              <a:solidFill>
                <a:srgbClr val="30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98546" y="601931"/>
              <a:ext cx="4808855" cy="278765"/>
            </a:xfrm>
            <a:custGeom>
              <a:avLst/>
              <a:gdLst/>
              <a:ahLst/>
              <a:cxnLst/>
              <a:rect l="l" t="t" r="r" b="b"/>
              <a:pathLst>
                <a:path w="4808855" h="278765">
                  <a:moveTo>
                    <a:pt x="4762404" y="0"/>
                  </a:moveTo>
                  <a:lnTo>
                    <a:pt x="46349" y="0"/>
                  </a:lnTo>
                  <a:lnTo>
                    <a:pt x="28312" y="3648"/>
                  </a:lnTo>
                  <a:lnTo>
                    <a:pt x="13578" y="13595"/>
                  </a:lnTo>
                  <a:lnTo>
                    <a:pt x="3643" y="28346"/>
                  </a:lnTo>
                  <a:lnTo>
                    <a:pt x="0" y="46405"/>
                  </a:lnTo>
                  <a:lnTo>
                    <a:pt x="0" y="232026"/>
                  </a:lnTo>
                  <a:lnTo>
                    <a:pt x="3643" y="250085"/>
                  </a:lnTo>
                  <a:lnTo>
                    <a:pt x="13578" y="264836"/>
                  </a:lnTo>
                  <a:lnTo>
                    <a:pt x="28312" y="274783"/>
                  </a:lnTo>
                  <a:lnTo>
                    <a:pt x="46349" y="278431"/>
                  </a:lnTo>
                  <a:lnTo>
                    <a:pt x="4762404" y="278431"/>
                  </a:lnTo>
                  <a:lnTo>
                    <a:pt x="4780441" y="274783"/>
                  </a:lnTo>
                  <a:lnTo>
                    <a:pt x="4795174" y="264836"/>
                  </a:lnTo>
                  <a:lnTo>
                    <a:pt x="4805109" y="250085"/>
                  </a:lnTo>
                  <a:lnTo>
                    <a:pt x="4808753" y="232026"/>
                  </a:lnTo>
                  <a:lnTo>
                    <a:pt x="4808753" y="46405"/>
                  </a:lnTo>
                  <a:lnTo>
                    <a:pt x="4805109" y="28346"/>
                  </a:lnTo>
                  <a:lnTo>
                    <a:pt x="4795174" y="13595"/>
                  </a:lnTo>
                  <a:lnTo>
                    <a:pt x="4780441" y="3648"/>
                  </a:lnTo>
                  <a:lnTo>
                    <a:pt x="4762404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98546" y="601932"/>
              <a:ext cx="4808855" cy="278765"/>
            </a:xfrm>
            <a:custGeom>
              <a:avLst/>
              <a:gdLst/>
              <a:ahLst/>
              <a:cxnLst/>
              <a:rect l="l" t="t" r="r" b="b"/>
              <a:pathLst>
                <a:path w="4808855" h="278765">
                  <a:moveTo>
                    <a:pt x="0" y="46405"/>
                  </a:moveTo>
                  <a:lnTo>
                    <a:pt x="3643" y="28346"/>
                  </a:lnTo>
                  <a:lnTo>
                    <a:pt x="13578" y="13595"/>
                  </a:lnTo>
                  <a:lnTo>
                    <a:pt x="28312" y="3648"/>
                  </a:lnTo>
                  <a:lnTo>
                    <a:pt x="46349" y="0"/>
                  </a:lnTo>
                  <a:lnTo>
                    <a:pt x="4762404" y="0"/>
                  </a:lnTo>
                  <a:lnTo>
                    <a:pt x="4780441" y="3648"/>
                  </a:lnTo>
                  <a:lnTo>
                    <a:pt x="4795174" y="13595"/>
                  </a:lnTo>
                  <a:lnTo>
                    <a:pt x="4805109" y="28346"/>
                  </a:lnTo>
                  <a:lnTo>
                    <a:pt x="4808753" y="46405"/>
                  </a:lnTo>
                  <a:lnTo>
                    <a:pt x="4808753" y="232026"/>
                  </a:lnTo>
                  <a:lnTo>
                    <a:pt x="4805109" y="250085"/>
                  </a:lnTo>
                  <a:lnTo>
                    <a:pt x="4795174" y="264836"/>
                  </a:lnTo>
                  <a:lnTo>
                    <a:pt x="4780441" y="274783"/>
                  </a:lnTo>
                  <a:lnTo>
                    <a:pt x="4762404" y="278431"/>
                  </a:lnTo>
                  <a:lnTo>
                    <a:pt x="46349" y="278431"/>
                  </a:lnTo>
                  <a:lnTo>
                    <a:pt x="28312" y="274783"/>
                  </a:lnTo>
                  <a:lnTo>
                    <a:pt x="13578" y="264836"/>
                  </a:lnTo>
                  <a:lnTo>
                    <a:pt x="3643" y="250085"/>
                  </a:lnTo>
                  <a:lnTo>
                    <a:pt x="0" y="232026"/>
                  </a:lnTo>
                  <a:lnTo>
                    <a:pt x="0" y="46405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729" y="-85620"/>
            <a:ext cx="986117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5" dirty="0">
                <a:solidFill>
                  <a:srgbClr val="4A2D83"/>
                </a:solidFill>
              </a:rPr>
              <a:t>Overview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70" dirty="0">
                <a:solidFill>
                  <a:srgbClr val="4A2D83"/>
                </a:solidFill>
              </a:rPr>
              <a:t>of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Literature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40" dirty="0">
                <a:solidFill>
                  <a:srgbClr val="4A2D83"/>
                </a:solidFill>
              </a:rPr>
              <a:t>Process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136" y="607116"/>
            <a:ext cx="478409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spcBef>
                <a:spcPts val="12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75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endParaRPr sz="750" dirty="0">
              <a:latin typeface="Segoe UI"/>
              <a:cs typeface="Segoe UI"/>
            </a:endParaRPr>
          </a:p>
          <a:p>
            <a:pPr marL="635"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Articulate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question(s)</a:t>
            </a:r>
            <a:r>
              <a:rPr sz="750" i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that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plan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how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intend</a:t>
            </a:r>
            <a:r>
              <a:rPr sz="750" i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provide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answers</a:t>
            </a:r>
            <a:endParaRPr sz="750" dirty="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816515" y="909134"/>
            <a:ext cx="4826635" cy="3133090"/>
            <a:chOff x="2292514" y="909134"/>
            <a:chExt cx="4826635" cy="3133090"/>
          </a:xfrm>
        </p:grpSpPr>
        <p:sp>
          <p:nvSpPr>
            <p:cNvPr id="14" name="object 14"/>
            <p:cNvSpPr/>
            <p:nvPr/>
          </p:nvSpPr>
          <p:spPr>
            <a:xfrm>
              <a:off x="2298546" y="91516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98546" y="91516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8546" y="3618272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8546" y="3618272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98546" y="1814268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98546" y="1814268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4340" y="1361817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4340" y="1361817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43583" y="930503"/>
            <a:ext cx="4572000" cy="12788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spcBef>
                <a:spcPts val="12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uc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y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 dirty="0">
              <a:latin typeface="Segoe UI"/>
              <a:cs typeface="Segoe UI"/>
            </a:endParaRPr>
          </a:p>
          <a:p>
            <a:pPr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Gain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better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understanding</a:t>
            </a:r>
            <a:r>
              <a:rPr sz="750" i="1" spc="-8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way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topic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is</a:t>
            </a:r>
            <a:r>
              <a:rPr sz="750" i="1" spc="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discussed,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question(s),</a:t>
            </a:r>
            <a:r>
              <a:rPr sz="750" i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define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the</a:t>
            </a:r>
            <a:endParaRPr sz="750" dirty="0">
              <a:latin typeface="Segoe UI"/>
              <a:cs typeface="Segoe UI"/>
            </a:endParaRPr>
          </a:p>
          <a:p>
            <a:pPr marL="635"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scope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research,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shape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how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will</a:t>
            </a:r>
            <a:r>
              <a:rPr sz="750" i="1" spc="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approach your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searches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endParaRPr sz="750" dirty="0">
              <a:latin typeface="Segoe UI"/>
              <a:cs typeface="Segoe UI"/>
            </a:endParaRPr>
          </a:p>
          <a:p>
            <a:pPr marL="2540" algn="ctr">
              <a:spcBef>
                <a:spcPts val="82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g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 dirty="0">
              <a:latin typeface="Segoe UI"/>
              <a:cs typeface="Segoe UI"/>
            </a:endParaRPr>
          </a:p>
          <a:p>
            <a:pPr marL="109220" marR="100330" algn="ctr">
              <a:lnSpc>
                <a:spcPts val="919"/>
              </a:lnSpc>
              <a:spcBef>
                <a:spcPts val="25"/>
              </a:spcBef>
            </a:pP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Compose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search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strings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exclude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as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many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irrelevant sources as possible without excluding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any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 </a:t>
            </a:r>
            <a:r>
              <a:rPr sz="750" i="1" spc="-1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sources,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making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sure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cover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different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aspects/wordings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topics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relating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question(s)</a:t>
            </a:r>
            <a:endParaRPr sz="750" dirty="0">
              <a:latin typeface="Segoe UI"/>
              <a:cs typeface="Segoe UI"/>
            </a:endParaRPr>
          </a:p>
          <a:p>
            <a:pPr algn="ctr">
              <a:spcBef>
                <a:spcPts val="785"/>
              </a:spcBef>
            </a:pP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ec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b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75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 dirty="0">
              <a:latin typeface="Segoe UI"/>
              <a:cs typeface="Segoe UI"/>
            </a:endParaRPr>
          </a:p>
          <a:p>
            <a:pPr marL="635" algn="ctr">
              <a:spcBef>
                <a:spcPts val="15"/>
              </a:spcBef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Determine</a:t>
            </a:r>
            <a:r>
              <a:rPr sz="750" i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where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information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is</a:t>
            </a:r>
            <a:r>
              <a:rPr sz="750" i="1" spc="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likely</a:t>
            </a:r>
            <a:r>
              <a:rPr sz="750" i="1" spc="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aggregated</a:t>
            </a:r>
            <a:r>
              <a:rPr sz="750" i="1" spc="-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identify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academic</a:t>
            </a:r>
            <a:endParaRPr sz="750" dirty="0">
              <a:latin typeface="Segoe UI"/>
              <a:cs typeface="Segoe UI"/>
            </a:endParaRPr>
          </a:p>
          <a:p>
            <a:pPr marL="3810"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databases</a:t>
            </a:r>
            <a:r>
              <a:rPr sz="750" i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organizations</a:t>
            </a:r>
            <a:r>
              <a:rPr sz="750" i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whose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websites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might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search</a:t>
            </a:r>
            <a:endParaRPr sz="750" dirty="0">
              <a:latin typeface="Segoe UI"/>
              <a:cs typeface="Segoe U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16514" y="2260687"/>
            <a:ext cx="4820920" cy="290830"/>
            <a:chOff x="2292514" y="2260687"/>
            <a:chExt cx="4820920" cy="290830"/>
          </a:xfrm>
        </p:grpSpPr>
        <p:sp>
          <p:nvSpPr>
            <p:cNvPr id="24" name="object 24"/>
            <p:cNvSpPr/>
            <p:nvPr/>
          </p:nvSpPr>
          <p:spPr>
            <a:xfrm>
              <a:off x="2298546" y="2266719"/>
              <a:ext cx="4808855" cy="278765"/>
            </a:xfrm>
            <a:custGeom>
              <a:avLst/>
              <a:gdLst/>
              <a:ahLst/>
              <a:cxnLst/>
              <a:rect l="l" t="t" r="r" b="b"/>
              <a:pathLst>
                <a:path w="4808855" h="278764">
                  <a:moveTo>
                    <a:pt x="4762404" y="0"/>
                  </a:moveTo>
                  <a:lnTo>
                    <a:pt x="46349" y="0"/>
                  </a:lnTo>
                  <a:lnTo>
                    <a:pt x="28312" y="3648"/>
                  </a:lnTo>
                  <a:lnTo>
                    <a:pt x="13578" y="13595"/>
                  </a:lnTo>
                  <a:lnTo>
                    <a:pt x="3643" y="28346"/>
                  </a:lnTo>
                  <a:lnTo>
                    <a:pt x="0" y="46405"/>
                  </a:lnTo>
                  <a:lnTo>
                    <a:pt x="0" y="232026"/>
                  </a:lnTo>
                  <a:lnTo>
                    <a:pt x="3643" y="250085"/>
                  </a:lnTo>
                  <a:lnTo>
                    <a:pt x="13578" y="264836"/>
                  </a:lnTo>
                  <a:lnTo>
                    <a:pt x="28312" y="274783"/>
                  </a:lnTo>
                  <a:lnTo>
                    <a:pt x="46349" y="278431"/>
                  </a:lnTo>
                  <a:lnTo>
                    <a:pt x="4762404" y="278431"/>
                  </a:lnTo>
                  <a:lnTo>
                    <a:pt x="4780441" y="274783"/>
                  </a:lnTo>
                  <a:lnTo>
                    <a:pt x="4795174" y="264836"/>
                  </a:lnTo>
                  <a:lnTo>
                    <a:pt x="4805109" y="250085"/>
                  </a:lnTo>
                  <a:lnTo>
                    <a:pt x="4808753" y="232026"/>
                  </a:lnTo>
                  <a:lnTo>
                    <a:pt x="4808753" y="46405"/>
                  </a:lnTo>
                  <a:lnTo>
                    <a:pt x="4805109" y="28346"/>
                  </a:lnTo>
                  <a:lnTo>
                    <a:pt x="4795174" y="13595"/>
                  </a:lnTo>
                  <a:lnTo>
                    <a:pt x="4780441" y="3648"/>
                  </a:lnTo>
                  <a:lnTo>
                    <a:pt x="4762404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98546" y="2266719"/>
              <a:ext cx="4808855" cy="278765"/>
            </a:xfrm>
            <a:custGeom>
              <a:avLst/>
              <a:gdLst/>
              <a:ahLst/>
              <a:cxnLst/>
              <a:rect l="l" t="t" r="r" b="b"/>
              <a:pathLst>
                <a:path w="4808855" h="278764">
                  <a:moveTo>
                    <a:pt x="0" y="46405"/>
                  </a:moveTo>
                  <a:lnTo>
                    <a:pt x="3643" y="28346"/>
                  </a:lnTo>
                  <a:lnTo>
                    <a:pt x="13578" y="13595"/>
                  </a:lnTo>
                  <a:lnTo>
                    <a:pt x="28312" y="3648"/>
                  </a:lnTo>
                  <a:lnTo>
                    <a:pt x="46349" y="0"/>
                  </a:lnTo>
                  <a:lnTo>
                    <a:pt x="4762404" y="0"/>
                  </a:lnTo>
                  <a:lnTo>
                    <a:pt x="4780441" y="3648"/>
                  </a:lnTo>
                  <a:lnTo>
                    <a:pt x="4795174" y="13595"/>
                  </a:lnTo>
                  <a:lnTo>
                    <a:pt x="4805109" y="28346"/>
                  </a:lnTo>
                  <a:lnTo>
                    <a:pt x="4808753" y="46405"/>
                  </a:lnTo>
                  <a:lnTo>
                    <a:pt x="4808753" y="232026"/>
                  </a:lnTo>
                  <a:lnTo>
                    <a:pt x="4805109" y="250085"/>
                  </a:lnTo>
                  <a:lnTo>
                    <a:pt x="4795174" y="264836"/>
                  </a:lnTo>
                  <a:lnTo>
                    <a:pt x="4780441" y="274783"/>
                  </a:lnTo>
                  <a:lnTo>
                    <a:pt x="4762404" y="278431"/>
                  </a:lnTo>
                  <a:lnTo>
                    <a:pt x="46349" y="278431"/>
                  </a:lnTo>
                  <a:lnTo>
                    <a:pt x="28312" y="274783"/>
                  </a:lnTo>
                  <a:lnTo>
                    <a:pt x="13578" y="264836"/>
                  </a:lnTo>
                  <a:lnTo>
                    <a:pt x="3643" y="250085"/>
                  </a:lnTo>
                  <a:lnTo>
                    <a:pt x="0" y="232026"/>
                  </a:lnTo>
                  <a:lnTo>
                    <a:pt x="0" y="46405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35136" y="2272581"/>
            <a:ext cx="478409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spcBef>
                <a:spcPts val="12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8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en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g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endParaRPr sz="750" dirty="0">
              <a:latin typeface="Segoe UI"/>
              <a:cs typeface="Segoe UI"/>
            </a:endParaRPr>
          </a:p>
          <a:p>
            <a:pPr marL="15875"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Establish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criteria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allow</a:t>
            </a:r>
            <a:r>
              <a:rPr sz="750" i="1" spc="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systematically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identify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whether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results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fall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within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scope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endParaRPr sz="750" dirty="0">
              <a:latin typeface="Segoe UI"/>
              <a:cs typeface="Segoe U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816514" y="2573923"/>
            <a:ext cx="4820920" cy="2646045"/>
            <a:chOff x="2292514" y="2573922"/>
            <a:chExt cx="4820920" cy="2646045"/>
          </a:xfrm>
        </p:grpSpPr>
        <p:sp>
          <p:nvSpPr>
            <p:cNvPr id="28" name="object 28"/>
            <p:cNvSpPr/>
            <p:nvPr/>
          </p:nvSpPr>
          <p:spPr>
            <a:xfrm>
              <a:off x="2298546" y="2579955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98546" y="2579955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30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298546" y="3026605"/>
              <a:ext cx="4808855" cy="556895"/>
            </a:xfrm>
            <a:custGeom>
              <a:avLst/>
              <a:gdLst/>
              <a:ahLst/>
              <a:cxnLst/>
              <a:rect l="l" t="t" r="r" b="b"/>
              <a:pathLst>
                <a:path w="4808855" h="556895">
                  <a:moveTo>
                    <a:pt x="4716054" y="0"/>
                  </a:moveTo>
                  <a:lnTo>
                    <a:pt x="92698" y="0"/>
                  </a:lnTo>
                  <a:lnTo>
                    <a:pt x="56624" y="7282"/>
                  </a:lnTo>
                  <a:lnTo>
                    <a:pt x="27157" y="27154"/>
                  </a:lnTo>
                  <a:lnTo>
                    <a:pt x="7287" y="56651"/>
                  </a:lnTo>
                  <a:lnTo>
                    <a:pt x="0" y="92810"/>
                  </a:lnTo>
                  <a:lnTo>
                    <a:pt x="0" y="464052"/>
                  </a:lnTo>
                  <a:lnTo>
                    <a:pt x="7287" y="500170"/>
                  </a:lnTo>
                  <a:lnTo>
                    <a:pt x="27157" y="529672"/>
                  </a:lnTo>
                  <a:lnTo>
                    <a:pt x="56624" y="549566"/>
                  </a:lnTo>
                  <a:lnTo>
                    <a:pt x="92698" y="556863"/>
                  </a:lnTo>
                  <a:lnTo>
                    <a:pt x="4716054" y="556863"/>
                  </a:lnTo>
                  <a:lnTo>
                    <a:pt x="4752129" y="549566"/>
                  </a:lnTo>
                  <a:lnTo>
                    <a:pt x="4781595" y="529672"/>
                  </a:lnTo>
                  <a:lnTo>
                    <a:pt x="4801466" y="500170"/>
                  </a:lnTo>
                  <a:lnTo>
                    <a:pt x="4808753" y="464052"/>
                  </a:lnTo>
                  <a:lnTo>
                    <a:pt x="4808753" y="92810"/>
                  </a:lnTo>
                  <a:lnTo>
                    <a:pt x="4801466" y="56651"/>
                  </a:lnTo>
                  <a:lnTo>
                    <a:pt x="4781595" y="27154"/>
                  </a:lnTo>
                  <a:lnTo>
                    <a:pt x="4752129" y="7282"/>
                  </a:lnTo>
                  <a:lnTo>
                    <a:pt x="4716054" y="0"/>
                  </a:lnTo>
                  <a:close/>
                </a:path>
              </a:pathLst>
            </a:custGeom>
            <a:solidFill>
              <a:srgbClr val="E7D5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298546" y="3026605"/>
              <a:ext cx="4808855" cy="556895"/>
            </a:xfrm>
            <a:custGeom>
              <a:avLst/>
              <a:gdLst/>
              <a:ahLst/>
              <a:cxnLst/>
              <a:rect l="l" t="t" r="r" b="b"/>
              <a:pathLst>
                <a:path w="4808855" h="556895">
                  <a:moveTo>
                    <a:pt x="0" y="92810"/>
                  </a:moveTo>
                  <a:lnTo>
                    <a:pt x="7287" y="56651"/>
                  </a:lnTo>
                  <a:lnTo>
                    <a:pt x="27157" y="27154"/>
                  </a:lnTo>
                  <a:lnTo>
                    <a:pt x="56624" y="7282"/>
                  </a:lnTo>
                  <a:lnTo>
                    <a:pt x="92698" y="0"/>
                  </a:lnTo>
                  <a:lnTo>
                    <a:pt x="4716054" y="0"/>
                  </a:lnTo>
                  <a:lnTo>
                    <a:pt x="4752129" y="7282"/>
                  </a:lnTo>
                  <a:lnTo>
                    <a:pt x="4781595" y="27154"/>
                  </a:lnTo>
                  <a:lnTo>
                    <a:pt x="4801466" y="56651"/>
                  </a:lnTo>
                  <a:lnTo>
                    <a:pt x="4808753" y="92810"/>
                  </a:lnTo>
                  <a:lnTo>
                    <a:pt x="4808753" y="464052"/>
                  </a:lnTo>
                  <a:lnTo>
                    <a:pt x="4801466" y="500170"/>
                  </a:lnTo>
                  <a:lnTo>
                    <a:pt x="4781595" y="529672"/>
                  </a:lnTo>
                  <a:lnTo>
                    <a:pt x="4752129" y="549566"/>
                  </a:lnTo>
                  <a:lnTo>
                    <a:pt x="4716054" y="556863"/>
                  </a:lnTo>
                  <a:lnTo>
                    <a:pt x="92698" y="556863"/>
                  </a:lnTo>
                  <a:lnTo>
                    <a:pt x="56624" y="549566"/>
                  </a:lnTo>
                  <a:lnTo>
                    <a:pt x="27157" y="529672"/>
                  </a:lnTo>
                  <a:lnTo>
                    <a:pt x="7287" y="500170"/>
                  </a:lnTo>
                  <a:lnTo>
                    <a:pt x="0" y="464052"/>
                  </a:lnTo>
                  <a:lnTo>
                    <a:pt x="0" y="92810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98546" y="4070724"/>
              <a:ext cx="4808855" cy="696595"/>
            </a:xfrm>
            <a:custGeom>
              <a:avLst/>
              <a:gdLst/>
              <a:ahLst/>
              <a:cxnLst/>
              <a:rect l="l" t="t" r="r" b="b"/>
              <a:pathLst>
                <a:path w="4808855" h="696595">
                  <a:moveTo>
                    <a:pt x="4692879" y="0"/>
                  </a:moveTo>
                  <a:lnTo>
                    <a:pt x="115873" y="0"/>
                  </a:lnTo>
                  <a:lnTo>
                    <a:pt x="70759" y="9113"/>
                  </a:lnTo>
                  <a:lnTo>
                    <a:pt x="33929" y="33970"/>
                  </a:lnTo>
                  <a:lnTo>
                    <a:pt x="9102" y="70845"/>
                  </a:lnTo>
                  <a:lnTo>
                    <a:pt x="0" y="116013"/>
                  </a:lnTo>
                  <a:lnTo>
                    <a:pt x="0" y="580065"/>
                  </a:lnTo>
                  <a:lnTo>
                    <a:pt x="9102" y="625192"/>
                  </a:lnTo>
                  <a:lnTo>
                    <a:pt x="33929" y="662072"/>
                  </a:lnTo>
                  <a:lnTo>
                    <a:pt x="70759" y="686951"/>
                  </a:lnTo>
                  <a:lnTo>
                    <a:pt x="115873" y="696078"/>
                  </a:lnTo>
                  <a:lnTo>
                    <a:pt x="4692879" y="696078"/>
                  </a:lnTo>
                  <a:lnTo>
                    <a:pt x="4737993" y="686951"/>
                  </a:lnTo>
                  <a:lnTo>
                    <a:pt x="4774824" y="662072"/>
                  </a:lnTo>
                  <a:lnTo>
                    <a:pt x="4799651" y="625192"/>
                  </a:lnTo>
                  <a:lnTo>
                    <a:pt x="4808753" y="580065"/>
                  </a:lnTo>
                  <a:lnTo>
                    <a:pt x="4808753" y="116013"/>
                  </a:lnTo>
                  <a:lnTo>
                    <a:pt x="4799651" y="70845"/>
                  </a:lnTo>
                  <a:lnTo>
                    <a:pt x="4774824" y="33970"/>
                  </a:lnTo>
                  <a:lnTo>
                    <a:pt x="4737993" y="9113"/>
                  </a:lnTo>
                  <a:lnTo>
                    <a:pt x="4692879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98546" y="4070724"/>
              <a:ext cx="4808855" cy="696595"/>
            </a:xfrm>
            <a:custGeom>
              <a:avLst/>
              <a:gdLst/>
              <a:ahLst/>
              <a:cxnLst/>
              <a:rect l="l" t="t" r="r" b="b"/>
              <a:pathLst>
                <a:path w="4808855" h="696595">
                  <a:moveTo>
                    <a:pt x="0" y="116013"/>
                  </a:moveTo>
                  <a:lnTo>
                    <a:pt x="9102" y="70845"/>
                  </a:lnTo>
                  <a:lnTo>
                    <a:pt x="33929" y="33970"/>
                  </a:lnTo>
                  <a:lnTo>
                    <a:pt x="70759" y="9113"/>
                  </a:lnTo>
                  <a:lnTo>
                    <a:pt x="115873" y="0"/>
                  </a:lnTo>
                  <a:lnTo>
                    <a:pt x="4692879" y="0"/>
                  </a:lnTo>
                  <a:lnTo>
                    <a:pt x="4737993" y="9113"/>
                  </a:lnTo>
                  <a:lnTo>
                    <a:pt x="4774824" y="33970"/>
                  </a:lnTo>
                  <a:lnTo>
                    <a:pt x="4799651" y="70845"/>
                  </a:lnTo>
                  <a:lnTo>
                    <a:pt x="4808753" y="116013"/>
                  </a:lnTo>
                  <a:lnTo>
                    <a:pt x="4808753" y="580065"/>
                  </a:lnTo>
                  <a:lnTo>
                    <a:pt x="4799651" y="625192"/>
                  </a:lnTo>
                  <a:lnTo>
                    <a:pt x="4774824" y="662072"/>
                  </a:lnTo>
                  <a:lnTo>
                    <a:pt x="4737993" y="686951"/>
                  </a:lnTo>
                  <a:lnTo>
                    <a:pt x="4692879" y="696078"/>
                  </a:lnTo>
                  <a:lnTo>
                    <a:pt x="115873" y="696078"/>
                  </a:lnTo>
                  <a:lnTo>
                    <a:pt x="70759" y="686951"/>
                  </a:lnTo>
                  <a:lnTo>
                    <a:pt x="33929" y="662072"/>
                  </a:lnTo>
                  <a:lnTo>
                    <a:pt x="9102" y="625192"/>
                  </a:lnTo>
                  <a:lnTo>
                    <a:pt x="0" y="580065"/>
                  </a:lnTo>
                  <a:lnTo>
                    <a:pt x="0" y="116013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98546" y="479580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4739229" y="0"/>
                  </a:moveTo>
                  <a:lnTo>
                    <a:pt x="69524" y="0"/>
                  </a:lnTo>
                  <a:lnTo>
                    <a:pt x="42447" y="5465"/>
                  </a:lnTo>
                  <a:lnTo>
                    <a:pt x="20350" y="20374"/>
                  </a:lnTo>
                  <a:lnTo>
                    <a:pt x="5458" y="42498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07"/>
                  </a:lnTo>
                  <a:lnTo>
                    <a:pt x="20350" y="397236"/>
                  </a:lnTo>
                  <a:lnTo>
                    <a:pt x="42447" y="412168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68"/>
                  </a:lnTo>
                  <a:lnTo>
                    <a:pt x="4788403" y="397236"/>
                  </a:lnTo>
                  <a:lnTo>
                    <a:pt x="4803294" y="375107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498"/>
                  </a:lnTo>
                  <a:lnTo>
                    <a:pt x="4788403" y="20374"/>
                  </a:lnTo>
                  <a:lnTo>
                    <a:pt x="4766305" y="5465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98546" y="479580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0" y="69607"/>
                  </a:moveTo>
                  <a:lnTo>
                    <a:pt x="5458" y="42498"/>
                  </a:lnTo>
                  <a:lnTo>
                    <a:pt x="20350" y="20374"/>
                  </a:lnTo>
                  <a:lnTo>
                    <a:pt x="42447" y="5465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5"/>
                  </a:lnTo>
                  <a:lnTo>
                    <a:pt x="4788403" y="20374"/>
                  </a:lnTo>
                  <a:lnTo>
                    <a:pt x="4803294" y="42498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07"/>
                  </a:lnTo>
                  <a:lnTo>
                    <a:pt x="4788403" y="397236"/>
                  </a:lnTo>
                  <a:lnTo>
                    <a:pt x="4766305" y="412168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68"/>
                  </a:lnTo>
                  <a:lnTo>
                    <a:pt x="20350" y="397236"/>
                  </a:lnTo>
                  <a:lnTo>
                    <a:pt x="5458" y="375107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609308" y="2595969"/>
            <a:ext cx="4959350" cy="2599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1780" algn="ctr">
              <a:spcBef>
                <a:spcPts val="125"/>
              </a:spcBef>
            </a:pP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ea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ee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9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75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u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 dirty="0">
              <a:latin typeface="Segoe UI"/>
              <a:cs typeface="Segoe UI"/>
            </a:endParaRPr>
          </a:p>
          <a:p>
            <a:pPr marL="276225" algn="ctr">
              <a:spcBef>
                <a:spcPts val="15"/>
              </a:spcBef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Identify</a:t>
            </a:r>
            <a:r>
              <a:rPr sz="750" i="1" spc="-8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collect</a:t>
            </a:r>
            <a:r>
              <a:rPr sz="750" i="1" spc="9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answering</a:t>
            </a:r>
            <a:r>
              <a:rPr sz="750" i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question(s);</a:t>
            </a:r>
            <a:r>
              <a:rPr sz="750" i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want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feel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confident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that</a:t>
            </a:r>
            <a:endParaRPr sz="750" dirty="0">
              <a:latin typeface="Segoe UI"/>
              <a:cs typeface="Segoe UI"/>
            </a:endParaRPr>
          </a:p>
          <a:p>
            <a:pPr marL="287655" algn="ctr">
              <a:spcBef>
                <a:spcPts val="15"/>
              </a:spcBef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base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you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have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identified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includes</a:t>
            </a:r>
            <a:r>
              <a:rPr sz="750" i="1" spc="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all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endParaRPr sz="750" dirty="0">
              <a:latin typeface="Segoe UI"/>
              <a:cs typeface="Segoe UI"/>
            </a:endParaRPr>
          </a:p>
          <a:p>
            <a:pPr>
              <a:spcBef>
                <a:spcPts val="50"/>
              </a:spcBef>
            </a:pPr>
            <a:endParaRPr sz="650" dirty="0">
              <a:latin typeface="Segoe UI"/>
              <a:cs typeface="Segoe UI"/>
            </a:endParaRPr>
          </a:p>
          <a:p>
            <a:pPr marL="268605" algn="ctr"/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10" dirty="0">
                <a:solidFill>
                  <a:srgbClr val="33006E"/>
                </a:solidFill>
                <a:latin typeface="Segoe UI"/>
                <a:cs typeface="Segoe UI"/>
              </a:rPr>
              <a:t>B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y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v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en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endParaRPr sz="750" dirty="0">
              <a:latin typeface="Segoe UI"/>
              <a:cs typeface="Segoe UI"/>
            </a:endParaRPr>
          </a:p>
          <a:p>
            <a:pPr marL="266700"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Consider</a:t>
            </a:r>
            <a:r>
              <a:rPr sz="750" i="1" spc="-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modifications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refinements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6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question(s)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based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on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available;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confirm</a:t>
            </a:r>
            <a:endParaRPr sz="750" dirty="0">
              <a:latin typeface="Segoe UI"/>
              <a:cs typeface="Segoe UI"/>
            </a:endParaRPr>
          </a:p>
          <a:p>
            <a:pPr marL="271145" algn="ctr">
              <a:spcBef>
                <a:spcPts val="10"/>
              </a:spcBef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relevance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that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initially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appeared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from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looking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at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title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and</a:t>
            </a:r>
            <a:r>
              <a:rPr sz="750" i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abstract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but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might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be</a:t>
            </a:r>
            <a:endParaRPr sz="750" dirty="0">
              <a:latin typeface="Segoe UI"/>
              <a:cs typeface="Segoe UI"/>
            </a:endParaRPr>
          </a:p>
          <a:p>
            <a:pPr marR="97790" algn="ctr">
              <a:spcBef>
                <a:spcPts val="15"/>
              </a:spcBef>
              <a:tabLst>
                <a:tab pos="375285" algn="l"/>
              </a:tabLst>
            </a:pPr>
            <a:r>
              <a:rPr sz="750" i="1" u="heavy" spc="5" dirty="0">
                <a:solidFill>
                  <a:srgbClr val="33006E"/>
                </a:solidFill>
                <a:uFill>
                  <a:solidFill>
                    <a:srgbClr val="33006E"/>
                  </a:solidFill>
                </a:uFill>
                <a:latin typeface="Segoe UI"/>
                <a:cs typeface="Segoe UI"/>
              </a:rPr>
              <a:t>     </a:t>
            </a:r>
            <a:r>
              <a:rPr sz="750" i="1" u="heavy" spc="-45" dirty="0">
                <a:solidFill>
                  <a:srgbClr val="33006E"/>
                </a:solidFill>
                <a:uFill>
                  <a:solidFill>
                    <a:srgbClr val="33006E"/>
                  </a:solidFill>
                </a:u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	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excluded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upon</a:t>
            </a:r>
            <a:r>
              <a:rPr sz="750" i="1" spc="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further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scrutiny;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identify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any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gaps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base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target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with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supplemental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searches</a:t>
            </a:r>
            <a:endParaRPr sz="750" dirty="0">
              <a:latin typeface="Segoe UI"/>
              <a:cs typeface="Segoe UI"/>
            </a:endParaRPr>
          </a:p>
          <a:p>
            <a:pPr>
              <a:spcBef>
                <a:spcPts val="50"/>
              </a:spcBef>
            </a:pPr>
            <a:endParaRPr sz="650" dirty="0">
              <a:latin typeface="Segoe UI"/>
              <a:cs typeface="Segoe UI"/>
            </a:endParaRPr>
          </a:p>
          <a:p>
            <a:pPr marL="276225" algn="ctr">
              <a:spcBef>
                <a:spcPts val="5"/>
              </a:spcBef>
            </a:pP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v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70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u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Re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v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w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w</a:t>
            </a:r>
            <a:r>
              <a:rPr sz="750" b="1" spc="40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k</a:t>
            </a:r>
            <a:endParaRPr sz="750" dirty="0">
              <a:latin typeface="Segoe UI"/>
              <a:cs typeface="Segoe UI"/>
            </a:endParaRPr>
          </a:p>
          <a:p>
            <a:pPr marL="508634" marR="226060" algn="ctr">
              <a:lnSpc>
                <a:spcPct val="101499"/>
              </a:lnSpc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Create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framework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organizing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information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 your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review,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based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</a:t>
            </a:r>
            <a:r>
              <a:rPr sz="750" i="1" spc="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theory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structured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facilitate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analysis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answer</a:t>
            </a:r>
            <a:r>
              <a:rPr sz="750" i="1" spc="-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different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aspects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question(s)</a:t>
            </a:r>
            <a:endParaRPr sz="750" dirty="0">
              <a:latin typeface="Segoe UI"/>
              <a:cs typeface="Segoe UI"/>
            </a:endParaRPr>
          </a:p>
          <a:p>
            <a:pPr>
              <a:spcBef>
                <a:spcPts val="10"/>
              </a:spcBef>
            </a:pPr>
            <a:endParaRPr sz="750" dirty="0">
              <a:latin typeface="Segoe UI"/>
              <a:cs typeface="Segoe UI"/>
            </a:endParaRPr>
          </a:p>
          <a:p>
            <a:pPr marL="264795" algn="ctr"/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0" dirty="0">
                <a:solidFill>
                  <a:srgbClr val="33006E"/>
                </a:solidFill>
                <a:latin typeface="Segoe UI"/>
                <a:cs typeface="Segoe UI"/>
              </a:rPr>
              <a:t>et </a:t>
            </a:r>
            <a:r>
              <a:rPr sz="750" b="1" spc="1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0" dirty="0">
                <a:solidFill>
                  <a:srgbClr val="33006E"/>
                </a:solidFill>
                <a:latin typeface="Segoe UI"/>
                <a:cs typeface="Segoe UI"/>
              </a:rPr>
              <a:t>Up </a:t>
            </a:r>
            <a:r>
              <a:rPr sz="750" b="1" spc="1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a </a:t>
            </a:r>
            <a:r>
              <a:rPr sz="750" b="1" spc="2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0" dirty="0">
                <a:solidFill>
                  <a:srgbClr val="33006E"/>
                </a:solidFill>
                <a:latin typeface="Segoe UI"/>
                <a:cs typeface="Segoe UI"/>
              </a:rPr>
              <a:t>od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0" dirty="0">
                <a:solidFill>
                  <a:srgbClr val="33006E"/>
                </a:solidFill>
                <a:latin typeface="Segoe UI"/>
                <a:cs typeface="Segoe UI"/>
              </a:rPr>
              <a:t>ng </a:t>
            </a:r>
            <a:r>
              <a:rPr sz="750" b="1" spc="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readsheet </a:t>
            </a:r>
            <a:r>
              <a:rPr sz="750" b="1" spc="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75" dirty="0">
                <a:solidFill>
                  <a:srgbClr val="33006E"/>
                </a:solidFill>
                <a:latin typeface="Segoe UI"/>
                <a:cs typeface="Segoe UI"/>
              </a:rPr>
              <a:t>Based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0" dirty="0">
                <a:solidFill>
                  <a:srgbClr val="33006E"/>
                </a:solidFill>
                <a:latin typeface="Segoe UI"/>
                <a:cs typeface="Segoe UI"/>
              </a:rPr>
              <a:t>on </a:t>
            </a:r>
            <a:r>
              <a:rPr sz="750" b="1" spc="1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25" dirty="0">
                <a:solidFill>
                  <a:srgbClr val="33006E"/>
                </a:solidFill>
                <a:latin typeface="Segoe UI"/>
                <a:cs typeface="Segoe UI"/>
              </a:rPr>
              <a:t>er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ature </a:t>
            </a:r>
            <a:r>
              <a:rPr sz="750" b="1" spc="114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70" dirty="0">
                <a:solidFill>
                  <a:srgbClr val="33006E"/>
                </a:solidFill>
                <a:latin typeface="Segoe UI"/>
                <a:cs typeface="Segoe UI"/>
              </a:rPr>
              <a:t>Revi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30" dirty="0">
                <a:solidFill>
                  <a:srgbClr val="33006E"/>
                </a:solidFill>
                <a:latin typeface="Segoe UI"/>
                <a:cs typeface="Segoe UI"/>
              </a:rPr>
              <a:t>ew </a:t>
            </a:r>
            <a:r>
              <a:rPr sz="750" b="1" spc="1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70" dirty="0">
                <a:solidFill>
                  <a:srgbClr val="33006E"/>
                </a:solidFill>
                <a:latin typeface="Segoe UI"/>
                <a:cs typeface="Segoe UI"/>
              </a:rPr>
              <a:t>amework</a:t>
            </a:r>
            <a:endParaRPr sz="750" dirty="0">
              <a:latin typeface="Segoe UI"/>
              <a:cs typeface="Segoe UI"/>
            </a:endParaRPr>
          </a:p>
          <a:p>
            <a:pPr marL="319405" marR="34290" indent="-5080" algn="ctr">
              <a:lnSpc>
                <a:spcPct val="101600"/>
              </a:lnSpc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Create a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spreadsheet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 systematically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recording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information from the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base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according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literature review coding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framework;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this process (1)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ensures you do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not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miss information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answering </a:t>
            </a:r>
            <a:r>
              <a:rPr sz="750" i="1" spc="-1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 research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question(s),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(2)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organizes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information from the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literature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way that makes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it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easy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conduct</a:t>
            </a:r>
            <a:r>
              <a:rPr sz="750" i="1" spc="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analyses</a:t>
            </a:r>
            <a:r>
              <a:rPr sz="750" i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write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up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results</a:t>
            </a:r>
            <a:endParaRPr sz="750" dirty="0">
              <a:latin typeface="Segoe UI"/>
              <a:cs typeface="Segoe UI"/>
            </a:endParaRPr>
          </a:p>
          <a:p>
            <a:pPr>
              <a:spcBef>
                <a:spcPts val="5"/>
              </a:spcBef>
            </a:pPr>
            <a:endParaRPr sz="750" dirty="0">
              <a:latin typeface="Segoe UI"/>
              <a:cs typeface="Segoe UI"/>
            </a:endParaRPr>
          </a:p>
          <a:p>
            <a:pPr marL="279400" algn="ctr">
              <a:spcBef>
                <a:spcPts val="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7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65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-10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0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B</a:t>
            </a:r>
            <a:r>
              <a:rPr sz="750" b="1" spc="-114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y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v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endParaRPr sz="750" dirty="0">
              <a:latin typeface="Segoe UI"/>
              <a:cs typeface="Segoe UI"/>
            </a:endParaRPr>
          </a:p>
          <a:p>
            <a:pPr marL="306070" marR="5080" algn="ctr">
              <a:lnSpc>
                <a:spcPct val="101499"/>
              </a:lnSpc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Systematically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read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through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body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enter</a:t>
            </a:r>
            <a:r>
              <a:rPr sz="750" i="1" spc="-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information</a:t>
            </a:r>
            <a:r>
              <a:rPr sz="750" i="1" spc="-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into</a:t>
            </a:r>
            <a:r>
              <a:rPr sz="750" i="1" spc="-7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appropriate</a:t>
            </a:r>
            <a:r>
              <a:rPr sz="750" i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sections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coding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spreadsheet</a:t>
            </a:r>
            <a:endParaRPr sz="750" dirty="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95588" y="2054091"/>
            <a:ext cx="1057910" cy="2013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1200" b="1" spc="5" dirty="0">
                <a:solidFill>
                  <a:srgbClr val="33006E"/>
                </a:solidFill>
                <a:latin typeface="Segoe UI"/>
                <a:cs typeface="Segoe UI"/>
              </a:rPr>
              <a:t>B</a:t>
            </a:r>
            <a:r>
              <a:rPr sz="1200" b="1" spc="40" dirty="0">
                <a:solidFill>
                  <a:srgbClr val="33006E"/>
                </a:solidFill>
                <a:latin typeface="Segoe UI"/>
                <a:cs typeface="Segoe UI"/>
              </a:rPr>
              <a:t>U</a:t>
            </a:r>
            <a:r>
              <a:rPr sz="1200" b="1" spc="2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LD</a:t>
            </a:r>
            <a:r>
              <a:rPr sz="120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1200" b="1" spc="30" dirty="0">
                <a:solidFill>
                  <a:srgbClr val="33006E"/>
                </a:solidFill>
                <a:latin typeface="Segoe UI"/>
                <a:cs typeface="Segoe UI"/>
              </a:rPr>
              <a:t>H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1200" b="1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1200" b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1200" b="1" u="sng" spc="5" dirty="0">
                <a:solidFill>
                  <a:srgbClr val="33006E"/>
                </a:solidFill>
                <a:uFill>
                  <a:solidFill>
                    <a:srgbClr val="33006E"/>
                  </a:solidFill>
                </a:uFill>
                <a:latin typeface="Segoe UI"/>
                <a:cs typeface="Segoe UI"/>
              </a:rPr>
              <a:t> </a:t>
            </a:r>
            <a:r>
              <a:rPr sz="1200" b="1" u="sng" spc="-10" dirty="0">
                <a:solidFill>
                  <a:srgbClr val="33006E"/>
                </a:solidFill>
                <a:uFill>
                  <a:solidFill>
                    <a:srgbClr val="33006E"/>
                  </a:solidFill>
                </a:uFill>
                <a:latin typeface="Segoe UI"/>
                <a:cs typeface="Segoe UI"/>
              </a:rPr>
              <a:t> 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75433" y="2239469"/>
            <a:ext cx="63627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200" b="1" spc="5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1200" b="1" spc="30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1200" b="1" spc="3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472028" y="3667578"/>
            <a:ext cx="278130" cy="2134870"/>
          </a:xfrm>
          <a:custGeom>
            <a:avLst/>
            <a:gdLst/>
            <a:ahLst/>
            <a:cxnLst/>
            <a:rect l="l" t="t" r="r" b="b"/>
            <a:pathLst>
              <a:path w="278130" h="2134870">
                <a:moveTo>
                  <a:pt x="278096" y="2134612"/>
                </a:moveTo>
                <a:lnTo>
                  <a:pt x="223984" y="2132788"/>
                </a:lnTo>
                <a:lnTo>
                  <a:pt x="179785" y="2127814"/>
                </a:lnTo>
                <a:lnTo>
                  <a:pt x="149979" y="2120439"/>
                </a:lnTo>
                <a:lnTo>
                  <a:pt x="139048" y="2111409"/>
                </a:lnTo>
                <a:lnTo>
                  <a:pt x="139048" y="1090523"/>
                </a:lnTo>
                <a:lnTo>
                  <a:pt x="128117" y="1081473"/>
                </a:lnTo>
                <a:lnTo>
                  <a:pt x="98311" y="1074100"/>
                </a:lnTo>
                <a:lnTo>
                  <a:pt x="54112" y="1069138"/>
                </a:lnTo>
                <a:lnTo>
                  <a:pt x="0" y="1067320"/>
                </a:lnTo>
                <a:lnTo>
                  <a:pt x="54112" y="1065489"/>
                </a:lnTo>
                <a:lnTo>
                  <a:pt x="98311" y="1060505"/>
                </a:lnTo>
                <a:lnTo>
                  <a:pt x="128117" y="1053127"/>
                </a:lnTo>
                <a:lnTo>
                  <a:pt x="139048" y="1044118"/>
                </a:lnTo>
                <a:lnTo>
                  <a:pt x="139048" y="23202"/>
                </a:lnTo>
                <a:lnTo>
                  <a:pt x="149979" y="14152"/>
                </a:lnTo>
                <a:lnTo>
                  <a:pt x="179785" y="6779"/>
                </a:lnTo>
                <a:lnTo>
                  <a:pt x="223984" y="1817"/>
                </a:lnTo>
                <a:lnTo>
                  <a:pt x="278096" y="0"/>
                </a:lnTo>
              </a:path>
            </a:pathLst>
          </a:custGeom>
          <a:ln w="5799">
            <a:solidFill>
              <a:srgbClr val="3300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3816514" y="5242225"/>
            <a:ext cx="4820920" cy="1021715"/>
            <a:chOff x="2292514" y="5242224"/>
            <a:chExt cx="4820920" cy="1021715"/>
          </a:xfrm>
        </p:grpSpPr>
        <p:sp>
          <p:nvSpPr>
            <p:cNvPr id="41" name="object 41"/>
            <p:cNvSpPr/>
            <p:nvPr/>
          </p:nvSpPr>
          <p:spPr>
            <a:xfrm>
              <a:off x="2298546" y="5839895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4739229" y="0"/>
                  </a:moveTo>
                  <a:lnTo>
                    <a:pt x="69524" y="0"/>
                  </a:lnTo>
                  <a:lnTo>
                    <a:pt x="42447" y="5469"/>
                  </a:lnTo>
                  <a:lnTo>
                    <a:pt x="20350" y="20385"/>
                  </a:lnTo>
                  <a:lnTo>
                    <a:pt x="5458" y="42511"/>
                  </a:lnTo>
                  <a:lnTo>
                    <a:pt x="0" y="69607"/>
                  </a:lnTo>
                  <a:lnTo>
                    <a:pt x="0" y="348039"/>
                  </a:lnTo>
                  <a:lnTo>
                    <a:pt x="5458" y="375132"/>
                  </a:lnTo>
                  <a:lnTo>
                    <a:pt x="20350" y="397257"/>
                  </a:lnTo>
                  <a:lnTo>
                    <a:pt x="42447" y="412176"/>
                  </a:lnTo>
                  <a:lnTo>
                    <a:pt x="69524" y="417647"/>
                  </a:lnTo>
                  <a:lnTo>
                    <a:pt x="4739229" y="417647"/>
                  </a:lnTo>
                  <a:lnTo>
                    <a:pt x="4766305" y="412176"/>
                  </a:lnTo>
                  <a:lnTo>
                    <a:pt x="4788403" y="397257"/>
                  </a:lnTo>
                  <a:lnTo>
                    <a:pt x="4803294" y="375132"/>
                  </a:lnTo>
                  <a:lnTo>
                    <a:pt x="4808753" y="348039"/>
                  </a:lnTo>
                  <a:lnTo>
                    <a:pt x="4808753" y="69607"/>
                  </a:lnTo>
                  <a:lnTo>
                    <a:pt x="4803294" y="42511"/>
                  </a:lnTo>
                  <a:lnTo>
                    <a:pt x="4788403" y="20385"/>
                  </a:lnTo>
                  <a:lnTo>
                    <a:pt x="4766305" y="5469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BE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298546" y="5839895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0" y="69607"/>
                  </a:moveTo>
                  <a:lnTo>
                    <a:pt x="5458" y="42511"/>
                  </a:lnTo>
                  <a:lnTo>
                    <a:pt x="20350" y="20385"/>
                  </a:lnTo>
                  <a:lnTo>
                    <a:pt x="42447" y="5469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9"/>
                  </a:lnTo>
                  <a:lnTo>
                    <a:pt x="4788403" y="20385"/>
                  </a:lnTo>
                  <a:lnTo>
                    <a:pt x="4803294" y="42511"/>
                  </a:lnTo>
                  <a:lnTo>
                    <a:pt x="4808753" y="69607"/>
                  </a:lnTo>
                  <a:lnTo>
                    <a:pt x="4808753" y="348039"/>
                  </a:lnTo>
                  <a:lnTo>
                    <a:pt x="4803294" y="375132"/>
                  </a:lnTo>
                  <a:lnTo>
                    <a:pt x="4788403" y="397257"/>
                  </a:lnTo>
                  <a:lnTo>
                    <a:pt x="4766305" y="412176"/>
                  </a:lnTo>
                  <a:lnTo>
                    <a:pt x="4739229" y="417647"/>
                  </a:lnTo>
                  <a:lnTo>
                    <a:pt x="69524" y="417647"/>
                  </a:lnTo>
                  <a:lnTo>
                    <a:pt x="42447" y="412176"/>
                  </a:lnTo>
                  <a:lnTo>
                    <a:pt x="20350" y="397257"/>
                  </a:lnTo>
                  <a:lnTo>
                    <a:pt x="5458" y="375132"/>
                  </a:lnTo>
                  <a:lnTo>
                    <a:pt x="0" y="348039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98546" y="5248257"/>
              <a:ext cx="4808855" cy="556895"/>
            </a:xfrm>
            <a:custGeom>
              <a:avLst/>
              <a:gdLst/>
              <a:ahLst/>
              <a:cxnLst/>
              <a:rect l="l" t="t" r="r" b="b"/>
              <a:pathLst>
                <a:path w="4808855" h="556895">
                  <a:moveTo>
                    <a:pt x="4716054" y="0"/>
                  </a:moveTo>
                  <a:lnTo>
                    <a:pt x="92698" y="0"/>
                  </a:lnTo>
                  <a:lnTo>
                    <a:pt x="56624" y="7282"/>
                  </a:lnTo>
                  <a:lnTo>
                    <a:pt x="27157" y="27154"/>
                  </a:lnTo>
                  <a:lnTo>
                    <a:pt x="7287" y="56651"/>
                  </a:lnTo>
                  <a:lnTo>
                    <a:pt x="0" y="92810"/>
                  </a:lnTo>
                  <a:lnTo>
                    <a:pt x="0" y="464052"/>
                  </a:lnTo>
                  <a:lnTo>
                    <a:pt x="7287" y="500166"/>
                  </a:lnTo>
                  <a:lnTo>
                    <a:pt x="27157" y="529657"/>
                  </a:lnTo>
                  <a:lnTo>
                    <a:pt x="56624" y="549542"/>
                  </a:lnTo>
                  <a:lnTo>
                    <a:pt x="92698" y="556834"/>
                  </a:lnTo>
                  <a:lnTo>
                    <a:pt x="4716054" y="556834"/>
                  </a:lnTo>
                  <a:lnTo>
                    <a:pt x="4752129" y="549542"/>
                  </a:lnTo>
                  <a:lnTo>
                    <a:pt x="4781595" y="529657"/>
                  </a:lnTo>
                  <a:lnTo>
                    <a:pt x="4801466" y="500166"/>
                  </a:lnTo>
                  <a:lnTo>
                    <a:pt x="4808753" y="464052"/>
                  </a:lnTo>
                  <a:lnTo>
                    <a:pt x="4808753" y="92810"/>
                  </a:lnTo>
                  <a:lnTo>
                    <a:pt x="4801466" y="56651"/>
                  </a:lnTo>
                  <a:lnTo>
                    <a:pt x="4781595" y="27154"/>
                  </a:lnTo>
                  <a:lnTo>
                    <a:pt x="4752129" y="7282"/>
                  </a:lnTo>
                  <a:lnTo>
                    <a:pt x="4716054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98546" y="5248257"/>
              <a:ext cx="4808855" cy="556895"/>
            </a:xfrm>
            <a:custGeom>
              <a:avLst/>
              <a:gdLst/>
              <a:ahLst/>
              <a:cxnLst/>
              <a:rect l="l" t="t" r="r" b="b"/>
              <a:pathLst>
                <a:path w="4808855" h="556895">
                  <a:moveTo>
                    <a:pt x="0" y="92810"/>
                  </a:moveTo>
                  <a:lnTo>
                    <a:pt x="7287" y="56651"/>
                  </a:lnTo>
                  <a:lnTo>
                    <a:pt x="27157" y="27154"/>
                  </a:lnTo>
                  <a:lnTo>
                    <a:pt x="56624" y="7282"/>
                  </a:lnTo>
                  <a:lnTo>
                    <a:pt x="92698" y="0"/>
                  </a:lnTo>
                  <a:lnTo>
                    <a:pt x="4716054" y="0"/>
                  </a:lnTo>
                  <a:lnTo>
                    <a:pt x="4752129" y="7282"/>
                  </a:lnTo>
                  <a:lnTo>
                    <a:pt x="4781595" y="27154"/>
                  </a:lnTo>
                  <a:lnTo>
                    <a:pt x="4801466" y="56651"/>
                  </a:lnTo>
                  <a:lnTo>
                    <a:pt x="4808753" y="92810"/>
                  </a:lnTo>
                  <a:lnTo>
                    <a:pt x="4808753" y="464052"/>
                  </a:lnTo>
                  <a:lnTo>
                    <a:pt x="4801466" y="500166"/>
                  </a:lnTo>
                  <a:lnTo>
                    <a:pt x="4781595" y="529657"/>
                  </a:lnTo>
                  <a:lnTo>
                    <a:pt x="4752129" y="549542"/>
                  </a:lnTo>
                  <a:lnTo>
                    <a:pt x="4716054" y="556834"/>
                  </a:lnTo>
                  <a:lnTo>
                    <a:pt x="92698" y="556834"/>
                  </a:lnTo>
                  <a:lnTo>
                    <a:pt x="56624" y="549542"/>
                  </a:lnTo>
                  <a:lnTo>
                    <a:pt x="27157" y="529657"/>
                  </a:lnTo>
                  <a:lnTo>
                    <a:pt x="7287" y="500166"/>
                  </a:lnTo>
                  <a:lnTo>
                    <a:pt x="0" y="464052"/>
                  </a:lnTo>
                  <a:lnTo>
                    <a:pt x="0" y="92810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50150" y="5281673"/>
            <a:ext cx="4547870" cy="723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50389" algn="just">
              <a:spcBef>
                <a:spcPts val="125"/>
              </a:spcBef>
            </a:pPr>
            <a:r>
              <a:rPr sz="750" b="1" spc="10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ev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spc="20" dirty="0">
                <a:solidFill>
                  <a:srgbClr val="33006E"/>
                </a:solidFill>
                <a:latin typeface="Segoe UI"/>
                <a:cs typeface="Segoe UI"/>
              </a:rPr>
              <a:t>w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g</a:t>
            </a:r>
            <a:endParaRPr sz="750">
              <a:latin typeface="Segoe UI"/>
              <a:cs typeface="Segoe UI"/>
            </a:endParaRPr>
          </a:p>
          <a:p>
            <a:pPr marL="12700" marR="5080" indent="22860" algn="just">
              <a:lnSpc>
                <a:spcPct val="101600"/>
              </a:lnSpc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Consider modifications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coding spreadsheet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better answer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research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questions;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conduct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intermediate </a:t>
            </a:r>
            <a:r>
              <a:rPr sz="750" i="1" spc="-1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reviews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coding decisions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ensure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consistency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(particularly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group work,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but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can also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apply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reviews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conducted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by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a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single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person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if</a:t>
            </a:r>
            <a:r>
              <a:rPr sz="750" i="1" spc="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understanding</a:t>
            </a:r>
            <a:r>
              <a:rPr sz="750" i="1" spc="-8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how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best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code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changes</a:t>
            </a:r>
            <a:r>
              <a:rPr sz="750" i="1" spc="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over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course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review)</a:t>
            </a:r>
            <a:endParaRPr sz="750">
              <a:latin typeface="Segoe UI"/>
              <a:cs typeface="Segoe UI"/>
            </a:endParaRPr>
          </a:p>
          <a:p>
            <a:pPr>
              <a:spcBef>
                <a:spcPts val="50"/>
              </a:spcBef>
            </a:pPr>
            <a:endParaRPr sz="650">
              <a:latin typeface="Segoe UI"/>
              <a:cs typeface="Segoe UI"/>
            </a:endParaRPr>
          </a:p>
          <a:p>
            <a:pPr marL="1791970" algn="just"/>
            <a:r>
              <a:rPr sz="750" b="1" spc="10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na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yz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5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g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369394" y="4437434"/>
            <a:ext cx="1042669" cy="5854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9525" indent="341630">
              <a:lnSpc>
                <a:spcPct val="101699"/>
              </a:lnSpc>
              <a:spcBef>
                <a:spcPts val="110"/>
              </a:spcBef>
            </a:pP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1200" b="1" spc="-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V</a:t>
            </a:r>
            <a:r>
              <a:rPr sz="1200" b="1" spc="-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1200" b="1" spc="-25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1200" b="1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1200" b="1" spc="10" dirty="0">
                <a:solidFill>
                  <a:srgbClr val="33006E"/>
                </a:solidFill>
                <a:latin typeface="Segoe UI"/>
                <a:cs typeface="Segoe UI"/>
              </a:rPr>
              <a:t>P  F</a:t>
            </a:r>
            <a:r>
              <a:rPr sz="1200" b="1" spc="3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1200" b="1" spc="3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1200" b="1" spc="4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W</a:t>
            </a:r>
            <a:r>
              <a:rPr sz="1200" b="1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1200" b="1" spc="35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K</a:t>
            </a:r>
            <a:endParaRPr sz="1200">
              <a:latin typeface="Segoe UI"/>
              <a:cs typeface="Segoe UI"/>
            </a:endParaRPr>
          </a:p>
          <a:p>
            <a:pPr marL="319405">
              <a:spcBef>
                <a:spcPts val="20"/>
              </a:spcBef>
            </a:pPr>
            <a:r>
              <a:rPr sz="1200" spc="2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120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1200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1200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C</a:t>
            </a:r>
            <a:r>
              <a:rPr sz="1200" b="1" spc="-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1200" b="1" spc="20" dirty="0">
                <a:solidFill>
                  <a:srgbClr val="33006E"/>
                </a:solidFill>
                <a:latin typeface="Segoe UI"/>
                <a:cs typeface="Segoe UI"/>
              </a:rPr>
              <a:t>DE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72028" y="5912403"/>
            <a:ext cx="278130" cy="765810"/>
          </a:xfrm>
          <a:custGeom>
            <a:avLst/>
            <a:gdLst/>
            <a:ahLst/>
            <a:cxnLst/>
            <a:rect l="l" t="t" r="r" b="b"/>
            <a:pathLst>
              <a:path w="278130" h="765809">
                <a:moveTo>
                  <a:pt x="278096" y="765683"/>
                </a:moveTo>
                <a:lnTo>
                  <a:pt x="223984" y="763860"/>
                </a:lnTo>
                <a:lnTo>
                  <a:pt x="179785" y="758887"/>
                </a:lnTo>
                <a:lnTo>
                  <a:pt x="149979" y="751512"/>
                </a:lnTo>
                <a:lnTo>
                  <a:pt x="139048" y="742481"/>
                </a:lnTo>
                <a:lnTo>
                  <a:pt x="139048" y="406045"/>
                </a:lnTo>
                <a:lnTo>
                  <a:pt x="128117" y="397012"/>
                </a:lnTo>
                <a:lnTo>
                  <a:pt x="98311" y="389637"/>
                </a:lnTo>
                <a:lnTo>
                  <a:pt x="54112" y="384666"/>
                </a:lnTo>
                <a:lnTo>
                  <a:pt x="0" y="382843"/>
                </a:lnTo>
                <a:lnTo>
                  <a:pt x="54112" y="381019"/>
                </a:lnTo>
                <a:lnTo>
                  <a:pt x="98311" y="376045"/>
                </a:lnTo>
                <a:lnTo>
                  <a:pt x="128117" y="368670"/>
                </a:lnTo>
                <a:lnTo>
                  <a:pt x="139048" y="359640"/>
                </a:lnTo>
                <a:lnTo>
                  <a:pt x="139048" y="23202"/>
                </a:lnTo>
                <a:lnTo>
                  <a:pt x="149979" y="14169"/>
                </a:lnTo>
                <a:lnTo>
                  <a:pt x="179785" y="6794"/>
                </a:lnTo>
                <a:lnTo>
                  <a:pt x="223984" y="1822"/>
                </a:lnTo>
                <a:lnTo>
                  <a:pt x="278096" y="0"/>
                </a:lnTo>
              </a:path>
            </a:pathLst>
          </a:custGeom>
          <a:ln w="5800">
            <a:solidFill>
              <a:srgbClr val="3300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705667" y="6182727"/>
            <a:ext cx="707390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1200" b="1" spc="1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1200" b="1" spc="-70" dirty="0">
                <a:solidFill>
                  <a:srgbClr val="33006E"/>
                </a:solidFill>
                <a:latin typeface="Segoe UI"/>
                <a:cs typeface="Segoe UI"/>
              </a:rPr>
              <a:t>L</a:t>
            </a:r>
            <a:r>
              <a:rPr sz="1200" b="1" dirty="0">
                <a:solidFill>
                  <a:srgbClr val="33006E"/>
                </a:solidFill>
                <a:latin typeface="Segoe UI"/>
                <a:cs typeface="Segoe UI"/>
              </a:rPr>
              <a:t>YZ</a:t>
            </a:r>
            <a:r>
              <a:rPr sz="1200" b="1" spc="15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816746" y="4942765"/>
            <a:ext cx="5179695" cy="1773555"/>
            <a:chOff x="2292745" y="4942764"/>
            <a:chExt cx="5179695" cy="1773555"/>
          </a:xfrm>
        </p:grpSpPr>
        <p:sp>
          <p:nvSpPr>
            <p:cNvPr id="50" name="object 50"/>
            <p:cNvSpPr/>
            <p:nvPr/>
          </p:nvSpPr>
          <p:spPr>
            <a:xfrm>
              <a:off x="7115990" y="4951457"/>
              <a:ext cx="347980" cy="354330"/>
            </a:xfrm>
            <a:custGeom>
              <a:avLst/>
              <a:gdLst/>
              <a:ahLst/>
              <a:cxnLst/>
              <a:rect l="l" t="t" r="r" b="b"/>
              <a:pathLst>
                <a:path w="347979" h="354329">
                  <a:moveTo>
                    <a:pt x="86905" y="0"/>
                  </a:moveTo>
                  <a:lnTo>
                    <a:pt x="0" y="109149"/>
                  </a:lnTo>
                  <a:lnTo>
                    <a:pt x="86905" y="233863"/>
                  </a:lnTo>
                  <a:lnTo>
                    <a:pt x="86905" y="160484"/>
                  </a:lnTo>
                  <a:lnTo>
                    <a:pt x="141155" y="173782"/>
                  </a:lnTo>
                  <a:lnTo>
                    <a:pt x="190750" y="192822"/>
                  </a:lnTo>
                  <a:lnTo>
                    <a:pt x="234925" y="217023"/>
                  </a:lnTo>
                  <a:lnTo>
                    <a:pt x="272914" y="245805"/>
                  </a:lnTo>
                  <a:lnTo>
                    <a:pt x="303952" y="278589"/>
                  </a:lnTo>
                  <a:lnTo>
                    <a:pt x="327275" y="314794"/>
                  </a:lnTo>
                  <a:lnTo>
                    <a:pt x="342116" y="353840"/>
                  </a:lnTo>
                  <a:lnTo>
                    <a:pt x="347685" y="312075"/>
                  </a:lnTo>
                  <a:lnTo>
                    <a:pt x="343260" y="271303"/>
                  </a:lnTo>
                  <a:lnTo>
                    <a:pt x="329488" y="232233"/>
                  </a:lnTo>
                  <a:lnTo>
                    <a:pt x="307019" y="195580"/>
                  </a:lnTo>
                  <a:lnTo>
                    <a:pt x="276500" y="162055"/>
                  </a:lnTo>
                  <a:lnTo>
                    <a:pt x="238581" y="132369"/>
                  </a:lnTo>
                  <a:lnTo>
                    <a:pt x="193910" y="107236"/>
                  </a:lnTo>
                  <a:lnTo>
                    <a:pt x="143135" y="87367"/>
                  </a:lnTo>
                  <a:lnTo>
                    <a:pt x="86905" y="73474"/>
                  </a:lnTo>
                  <a:lnTo>
                    <a:pt x="86905" y="0"/>
                  </a:lnTo>
                  <a:close/>
                </a:path>
              </a:pathLst>
            </a:custGeom>
            <a:solidFill>
              <a:srgbClr val="330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115990" y="5261792"/>
              <a:ext cx="347980" cy="332105"/>
            </a:xfrm>
            <a:custGeom>
              <a:avLst/>
              <a:gdLst/>
              <a:ahLst/>
              <a:cxnLst/>
              <a:rect l="l" t="t" r="r" b="b"/>
              <a:pathLst>
                <a:path w="347979" h="332104">
                  <a:moveTo>
                    <a:pt x="347620" y="0"/>
                  </a:moveTo>
                  <a:lnTo>
                    <a:pt x="343070" y="39667"/>
                  </a:lnTo>
                  <a:lnTo>
                    <a:pt x="329896" y="77300"/>
                  </a:lnTo>
                  <a:lnTo>
                    <a:pt x="308815" y="112393"/>
                  </a:lnTo>
                  <a:lnTo>
                    <a:pt x="280543" y="144442"/>
                  </a:lnTo>
                  <a:lnTo>
                    <a:pt x="245796" y="172944"/>
                  </a:lnTo>
                  <a:lnTo>
                    <a:pt x="205290" y="197394"/>
                  </a:lnTo>
                  <a:lnTo>
                    <a:pt x="159742" y="217288"/>
                  </a:lnTo>
                  <a:lnTo>
                    <a:pt x="109866" y="232122"/>
                  </a:lnTo>
                  <a:lnTo>
                    <a:pt x="56380" y="241392"/>
                  </a:lnTo>
                  <a:lnTo>
                    <a:pt x="0" y="244594"/>
                  </a:lnTo>
                  <a:lnTo>
                    <a:pt x="0" y="331604"/>
                  </a:lnTo>
                  <a:lnTo>
                    <a:pt x="56380" y="328402"/>
                  </a:lnTo>
                  <a:lnTo>
                    <a:pt x="109866" y="319132"/>
                  </a:lnTo>
                  <a:lnTo>
                    <a:pt x="159742" y="304297"/>
                  </a:lnTo>
                  <a:lnTo>
                    <a:pt x="205290" y="284403"/>
                  </a:lnTo>
                  <a:lnTo>
                    <a:pt x="245796" y="259954"/>
                  </a:lnTo>
                  <a:lnTo>
                    <a:pt x="280543" y="231452"/>
                  </a:lnTo>
                  <a:lnTo>
                    <a:pt x="308815" y="199403"/>
                  </a:lnTo>
                  <a:lnTo>
                    <a:pt x="329896" y="164310"/>
                  </a:lnTo>
                  <a:lnTo>
                    <a:pt x="343070" y="126677"/>
                  </a:lnTo>
                  <a:lnTo>
                    <a:pt x="347620" y="87009"/>
                  </a:lnTo>
                  <a:lnTo>
                    <a:pt x="347620" y="0"/>
                  </a:lnTo>
                  <a:close/>
                </a:path>
              </a:pathLst>
            </a:custGeom>
            <a:solidFill>
              <a:srgbClr val="290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115990" y="4951457"/>
              <a:ext cx="347980" cy="641985"/>
            </a:xfrm>
            <a:custGeom>
              <a:avLst/>
              <a:gdLst/>
              <a:ahLst/>
              <a:cxnLst/>
              <a:rect l="l" t="t" r="r" b="b"/>
              <a:pathLst>
                <a:path w="347979" h="641985">
                  <a:moveTo>
                    <a:pt x="347620" y="310335"/>
                  </a:moveTo>
                  <a:lnTo>
                    <a:pt x="343070" y="350003"/>
                  </a:lnTo>
                  <a:lnTo>
                    <a:pt x="329896" y="387635"/>
                  </a:lnTo>
                  <a:lnTo>
                    <a:pt x="308815" y="422728"/>
                  </a:lnTo>
                  <a:lnTo>
                    <a:pt x="280543" y="454777"/>
                  </a:lnTo>
                  <a:lnTo>
                    <a:pt x="245796" y="483279"/>
                  </a:lnTo>
                  <a:lnTo>
                    <a:pt x="205290" y="507729"/>
                  </a:lnTo>
                  <a:lnTo>
                    <a:pt x="159742" y="527623"/>
                  </a:lnTo>
                  <a:lnTo>
                    <a:pt x="109866" y="542457"/>
                  </a:lnTo>
                  <a:lnTo>
                    <a:pt x="56380" y="551727"/>
                  </a:lnTo>
                  <a:lnTo>
                    <a:pt x="0" y="554929"/>
                  </a:lnTo>
                  <a:lnTo>
                    <a:pt x="0" y="641939"/>
                  </a:lnTo>
                  <a:lnTo>
                    <a:pt x="56380" y="638737"/>
                  </a:lnTo>
                  <a:lnTo>
                    <a:pt x="109866" y="629467"/>
                  </a:lnTo>
                  <a:lnTo>
                    <a:pt x="159742" y="614633"/>
                  </a:lnTo>
                  <a:lnTo>
                    <a:pt x="205290" y="594738"/>
                  </a:lnTo>
                  <a:lnTo>
                    <a:pt x="245796" y="570289"/>
                  </a:lnTo>
                  <a:lnTo>
                    <a:pt x="280543" y="541787"/>
                  </a:lnTo>
                  <a:lnTo>
                    <a:pt x="308815" y="509738"/>
                  </a:lnTo>
                  <a:lnTo>
                    <a:pt x="329896" y="474645"/>
                  </a:lnTo>
                  <a:lnTo>
                    <a:pt x="343070" y="437012"/>
                  </a:lnTo>
                  <a:lnTo>
                    <a:pt x="347620" y="397344"/>
                  </a:lnTo>
                  <a:lnTo>
                    <a:pt x="347620" y="310335"/>
                  </a:lnTo>
                  <a:lnTo>
                    <a:pt x="342711" y="269267"/>
                  </a:lnTo>
                  <a:lnTo>
                    <a:pt x="328460" y="230174"/>
                  </a:lnTo>
                  <a:lnTo>
                    <a:pt x="305585" y="193704"/>
                  </a:lnTo>
                  <a:lnTo>
                    <a:pt x="274801" y="160509"/>
                  </a:lnTo>
                  <a:lnTo>
                    <a:pt x="236825" y="131237"/>
                  </a:lnTo>
                  <a:lnTo>
                    <a:pt x="192372" y="106541"/>
                  </a:lnTo>
                  <a:lnTo>
                    <a:pt x="142160" y="87070"/>
                  </a:lnTo>
                  <a:lnTo>
                    <a:pt x="86905" y="73474"/>
                  </a:lnTo>
                  <a:lnTo>
                    <a:pt x="86905" y="0"/>
                  </a:lnTo>
                  <a:lnTo>
                    <a:pt x="0" y="109149"/>
                  </a:lnTo>
                  <a:lnTo>
                    <a:pt x="86905" y="233863"/>
                  </a:lnTo>
                  <a:lnTo>
                    <a:pt x="86905" y="160484"/>
                  </a:lnTo>
                  <a:lnTo>
                    <a:pt x="141155" y="173782"/>
                  </a:lnTo>
                  <a:lnTo>
                    <a:pt x="190750" y="192822"/>
                  </a:lnTo>
                  <a:lnTo>
                    <a:pt x="234925" y="217023"/>
                  </a:lnTo>
                  <a:lnTo>
                    <a:pt x="272914" y="245805"/>
                  </a:lnTo>
                  <a:lnTo>
                    <a:pt x="303952" y="278589"/>
                  </a:lnTo>
                  <a:lnTo>
                    <a:pt x="327275" y="314794"/>
                  </a:lnTo>
                  <a:lnTo>
                    <a:pt x="342116" y="353840"/>
                  </a:lnTo>
                </a:path>
              </a:pathLst>
            </a:custGeom>
            <a:ln w="17385">
              <a:solidFill>
                <a:srgbClr val="220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98546" y="629234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4739229" y="0"/>
                  </a:moveTo>
                  <a:lnTo>
                    <a:pt x="69524" y="0"/>
                  </a:lnTo>
                  <a:lnTo>
                    <a:pt x="42447" y="5469"/>
                  </a:lnTo>
                  <a:lnTo>
                    <a:pt x="20350" y="20385"/>
                  </a:lnTo>
                  <a:lnTo>
                    <a:pt x="5458" y="42511"/>
                  </a:lnTo>
                  <a:lnTo>
                    <a:pt x="0" y="69607"/>
                  </a:lnTo>
                  <a:lnTo>
                    <a:pt x="0" y="348037"/>
                  </a:lnTo>
                  <a:lnTo>
                    <a:pt x="5458" y="375131"/>
                  </a:lnTo>
                  <a:lnTo>
                    <a:pt x="20350" y="397256"/>
                  </a:lnTo>
                  <a:lnTo>
                    <a:pt x="42447" y="412174"/>
                  </a:lnTo>
                  <a:lnTo>
                    <a:pt x="69524" y="417644"/>
                  </a:lnTo>
                  <a:lnTo>
                    <a:pt x="4739229" y="417644"/>
                  </a:lnTo>
                  <a:lnTo>
                    <a:pt x="4766305" y="412174"/>
                  </a:lnTo>
                  <a:lnTo>
                    <a:pt x="4788403" y="397256"/>
                  </a:lnTo>
                  <a:lnTo>
                    <a:pt x="4803294" y="375131"/>
                  </a:lnTo>
                  <a:lnTo>
                    <a:pt x="4808753" y="348037"/>
                  </a:lnTo>
                  <a:lnTo>
                    <a:pt x="4808753" y="69607"/>
                  </a:lnTo>
                  <a:lnTo>
                    <a:pt x="4803294" y="42511"/>
                  </a:lnTo>
                  <a:lnTo>
                    <a:pt x="4788403" y="20385"/>
                  </a:lnTo>
                  <a:lnTo>
                    <a:pt x="4766305" y="5469"/>
                  </a:lnTo>
                  <a:lnTo>
                    <a:pt x="4739229" y="0"/>
                  </a:lnTo>
                  <a:close/>
                </a:path>
              </a:pathLst>
            </a:custGeom>
            <a:solidFill>
              <a:srgbClr val="BE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298546" y="6292346"/>
              <a:ext cx="4808855" cy="417830"/>
            </a:xfrm>
            <a:custGeom>
              <a:avLst/>
              <a:gdLst/>
              <a:ahLst/>
              <a:cxnLst/>
              <a:rect l="l" t="t" r="r" b="b"/>
              <a:pathLst>
                <a:path w="4808855" h="417829">
                  <a:moveTo>
                    <a:pt x="0" y="69607"/>
                  </a:moveTo>
                  <a:lnTo>
                    <a:pt x="5458" y="42511"/>
                  </a:lnTo>
                  <a:lnTo>
                    <a:pt x="20350" y="20385"/>
                  </a:lnTo>
                  <a:lnTo>
                    <a:pt x="42447" y="5469"/>
                  </a:lnTo>
                  <a:lnTo>
                    <a:pt x="69524" y="0"/>
                  </a:lnTo>
                  <a:lnTo>
                    <a:pt x="4739229" y="0"/>
                  </a:lnTo>
                  <a:lnTo>
                    <a:pt x="4766305" y="5469"/>
                  </a:lnTo>
                  <a:lnTo>
                    <a:pt x="4788403" y="20385"/>
                  </a:lnTo>
                  <a:lnTo>
                    <a:pt x="4803294" y="42511"/>
                  </a:lnTo>
                  <a:lnTo>
                    <a:pt x="4808753" y="69607"/>
                  </a:lnTo>
                  <a:lnTo>
                    <a:pt x="4808753" y="348037"/>
                  </a:lnTo>
                  <a:lnTo>
                    <a:pt x="4803294" y="375131"/>
                  </a:lnTo>
                  <a:lnTo>
                    <a:pt x="4788403" y="397256"/>
                  </a:lnTo>
                  <a:lnTo>
                    <a:pt x="4766305" y="412174"/>
                  </a:lnTo>
                  <a:lnTo>
                    <a:pt x="4739229" y="417644"/>
                  </a:lnTo>
                  <a:lnTo>
                    <a:pt x="69524" y="417644"/>
                  </a:lnTo>
                  <a:lnTo>
                    <a:pt x="42447" y="412174"/>
                  </a:lnTo>
                  <a:lnTo>
                    <a:pt x="20350" y="397256"/>
                  </a:lnTo>
                  <a:lnTo>
                    <a:pt x="5458" y="375131"/>
                  </a:lnTo>
                  <a:lnTo>
                    <a:pt x="0" y="348037"/>
                  </a:lnTo>
                  <a:lnTo>
                    <a:pt x="0" y="69607"/>
                  </a:lnTo>
                  <a:close/>
                </a:path>
              </a:pathLst>
            </a:custGeom>
            <a:ln w="1160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903028" y="5976803"/>
            <a:ext cx="4653280" cy="711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 algn="ctr">
              <a:spcBef>
                <a:spcPts val="125"/>
              </a:spcBef>
            </a:pP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Build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pivot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 tables</a:t>
            </a:r>
            <a:r>
              <a:rPr sz="750" i="1" spc="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analysis;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use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spreadsheet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pivot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tables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to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compare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trends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outcomes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factors</a:t>
            </a:r>
            <a:endParaRPr sz="750">
              <a:latin typeface="Segoe UI"/>
              <a:cs typeface="Segoe UI"/>
            </a:endParaRPr>
          </a:p>
          <a:p>
            <a:pPr algn="ctr">
              <a:spcBef>
                <a:spcPts val="15"/>
              </a:spcBef>
            </a:pP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interest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across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relevant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groupings;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create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figures</a:t>
            </a:r>
            <a:r>
              <a:rPr sz="750" i="1" spc="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tables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-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your</a:t>
            </a:r>
            <a:r>
              <a:rPr sz="750" i="1" spc="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report</a:t>
            </a:r>
            <a:endParaRPr sz="750">
              <a:latin typeface="Segoe UI"/>
              <a:cs typeface="Segoe UI"/>
            </a:endParaRPr>
          </a:p>
          <a:p>
            <a:pPr marR="3175" algn="ctr">
              <a:spcBef>
                <a:spcPts val="825"/>
              </a:spcBef>
            </a:pP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r>
              <a:rPr sz="750" b="1" spc="-9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u</a:t>
            </a:r>
            <a:r>
              <a:rPr sz="750" b="1" spc="2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m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b="1" spc="6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z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e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an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5" dirty="0">
                <a:solidFill>
                  <a:srgbClr val="33006E"/>
                </a:solidFill>
                <a:latin typeface="Segoe UI"/>
                <a:cs typeface="Segoe UI"/>
              </a:rPr>
              <a:t>Re</a:t>
            </a:r>
            <a:r>
              <a:rPr sz="750" b="1" spc="15" dirty="0">
                <a:solidFill>
                  <a:srgbClr val="33006E"/>
                </a:solidFill>
                <a:latin typeface="Segoe UI"/>
                <a:cs typeface="Segoe UI"/>
              </a:rPr>
              <a:t>p</a:t>
            </a:r>
            <a:r>
              <a:rPr sz="750" b="1" spc="-10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85" dirty="0">
                <a:solidFill>
                  <a:srgbClr val="33006E"/>
                </a:solidFill>
                <a:latin typeface="Segoe UI"/>
                <a:cs typeface="Segoe UI"/>
              </a:rPr>
              <a:t>o</a:t>
            </a:r>
            <a:r>
              <a:rPr sz="750" b="1" spc="60" dirty="0">
                <a:solidFill>
                  <a:srgbClr val="33006E"/>
                </a:solidFill>
                <a:latin typeface="Segoe UI"/>
                <a:cs typeface="Segoe UI"/>
              </a:rPr>
              <a:t>r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t</a:t>
            </a:r>
            <a:r>
              <a:rPr sz="750" b="1" dirty="0">
                <a:solidFill>
                  <a:srgbClr val="33006E"/>
                </a:solidFill>
                <a:latin typeface="Segoe UI"/>
                <a:cs typeface="Segoe UI"/>
              </a:rPr>
              <a:t>  </a:t>
            </a:r>
            <a:r>
              <a:rPr sz="750" b="1" spc="-6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105" dirty="0">
                <a:solidFill>
                  <a:srgbClr val="33006E"/>
                </a:solidFill>
                <a:latin typeface="Segoe UI"/>
                <a:cs typeface="Segoe UI"/>
              </a:rPr>
              <a:t>F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90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d</a:t>
            </a:r>
            <a:r>
              <a:rPr sz="750" b="1" spc="5" dirty="0">
                <a:solidFill>
                  <a:srgbClr val="33006E"/>
                </a:solidFill>
                <a:latin typeface="Segoe UI"/>
                <a:cs typeface="Segoe UI"/>
              </a:rPr>
              <a:t>i</a:t>
            </a:r>
            <a:r>
              <a:rPr sz="750" b="1" spc="-1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b="1" spc="45" dirty="0">
                <a:solidFill>
                  <a:srgbClr val="33006E"/>
                </a:solidFill>
                <a:latin typeface="Segoe UI"/>
                <a:cs typeface="Segoe UI"/>
              </a:rPr>
              <a:t>n</a:t>
            </a:r>
            <a:r>
              <a:rPr sz="750" b="1" spc="80" dirty="0">
                <a:solidFill>
                  <a:srgbClr val="33006E"/>
                </a:solidFill>
                <a:latin typeface="Segoe UI"/>
                <a:cs typeface="Segoe UI"/>
              </a:rPr>
              <a:t>g</a:t>
            </a:r>
            <a:r>
              <a:rPr sz="750" b="1" spc="10" dirty="0">
                <a:solidFill>
                  <a:srgbClr val="33006E"/>
                </a:solidFill>
                <a:latin typeface="Segoe UI"/>
                <a:cs typeface="Segoe UI"/>
              </a:rPr>
              <a:t>s</a:t>
            </a:r>
            <a:endParaRPr sz="750">
              <a:latin typeface="Segoe UI"/>
              <a:cs typeface="Segoe UI"/>
            </a:endParaRPr>
          </a:p>
          <a:p>
            <a:pPr marR="1905" algn="ctr">
              <a:spcBef>
                <a:spcPts val="15"/>
              </a:spcBef>
            </a:pP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Use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organization</a:t>
            </a:r>
            <a:r>
              <a:rPr sz="750" i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of</a:t>
            </a:r>
            <a:r>
              <a:rPr sz="750" i="1" spc="-1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r>
              <a:rPr sz="750" i="1" spc="2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framework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as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structure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for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summarizing</a:t>
            </a:r>
            <a:r>
              <a:rPr sz="750" i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2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presenting</a:t>
            </a:r>
            <a:r>
              <a:rPr sz="750" i="1" spc="-7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findings</a:t>
            </a:r>
            <a:endParaRPr sz="750">
              <a:latin typeface="Segoe UI"/>
              <a:cs typeface="Segoe UI"/>
            </a:endParaRPr>
          </a:p>
          <a:p>
            <a:pPr algn="ctr">
              <a:spcBef>
                <a:spcPts val="10"/>
              </a:spcBef>
            </a:pP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from</a:t>
            </a:r>
            <a:r>
              <a:rPr sz="750" i="1" spc="-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analysis;</a:t>
            </a:r>
            <a:r>
              <a:rPr sz="750" i="1" spc="-5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identify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report</a:t>
            </a:r>
            <a:r>
              <a:rPr sz="750" i="1" spc="-5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on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 gaps</a:t>
            </a:r>
            <a:r>
              <a:rPr sz="750" i="1" spc="-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evidence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base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5" dirty="0">
                <a:solidFill>
                  <a:srgbClr val="33006E"/>
                </a:solidFill>
                <a:latin typeface="Segoe UI"/>
                <a:cs typeface="Segoe UI"/>
              </a:rPr>
              <a:t>and</a:t>
            </a:r>
            <a:r>
              <a:rPr sz="750" i="1" spc="-3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in</a:t>
            </a:r>
            <a:r>
              <a:rPr sz="750" i="1" spc="4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the</a:t>
            </a:r>
            <a:r>
              <a:rPr sz="750" i="1" spc="-40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spc="5" dirty="0">
                <a:solidFill>
                  <a:srgbClr val="33006E"/>
                </a:solidFill>
                <a:latin typeface="Segoe UI"/>
                <a:cs typeface="Segoe UI"/>
              </a:rPr>
              <a:t>literature</a:t>
            </a:r>
            <a:r>
              <a:rPr sz="750" i="1" spc="-35" dirty="0">
                <a:solidFill>
                  <a:srgbClr val="33006E"/>
                </a:solidFill>
                <a:latin typeface="Segoe UI"/>
                <a:cs typeface="Segoe UI"/>
              </a:rPr>
              <a:t> </a:t>
            </a:r>
            <a:r>
              <a:rPr sz="750" i="1" dirty="0">
                <a:solidFill>
                  <a:srgbClr val="33006E"/>
                </a:solidFill>
                <a:latin typeface="Segoe UI"/>
                <a:cs typeface="Segoe UI"/>
              </a:rPr>
              <a:t>review</a:t>
            </a:r>
            <a:r>
              <a:rPr sz="750" i="1" spc="10" dirty="0">
                <a:solidFill>
                  <a:srgbClr val="33006E"/>
                </a:solidFill>
                <a:latin typeface="Segoe UI"/>
                <a:cs typeface="Segoe UI"/>
              </a:rPr>
              <a:t> methods</a:t>
            </a:r>
            <a:endParaRPr sz="7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C416-4E42-24C0-6570-A7C8112FB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60" dirty="0">
                <a:solidFill>
                  <a:srgbClr val="4A2D83"/>
                </a:solidFill>
              </a:rPr>
              <a:t>D</a:t>
            </a:r>
            <a:r>
              <a:rPr lang="en-US" b="1" spc="-15" dirty="0">
                <a:solidFill>
                  <a:srgbClr val="4A2D83"/>
                </a:solidFill>
              </a:rPr>
              <a:t>efine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75" dirty="0">
                <a:solidFill>
                  <a:srgbClr val="4A2D83"/>
                </a:solidFill>
              </a:rPr>
              <a:t>Sc</a:t>
            </a:r>
            <a:r>
              <a:rPr lang="en-US" b="1" spc="-10" dirty="0">
                <a:solidFill>
                  <a:srgbClr val="4A2D83"/>
                </a:solidFill>
              </a:rPr>
              <a:t>o</a:t>
            </a:r>
            <a:r>
              <a:rPr lang="en-US" b="1" spc="-20" dirty="0">
                <a:solidFill>
                  <a:srgbClr val="4A2D83"/>
                </a:solidFill>
              </a:rPr>
              <a:t>p</a:t>
            </a:r>
            <a:r>
              <a:rPr lang="en-US" b="1" spc="-80" dirty="0">
                <a:solidFill>
                  <a:srgbClr val="4A2D83"/>
                </a:solidFill>
              </a:rPr>
              <a:t>e</a:t>
            </a:r>
            <a:r>
              <a:rPr lang="en-US" b="1" spc="-285" dirty="0">
                <a:solidFill>
                  <a:srgbClr val="4A2D83"/>
                </a:solidFill>
              </a:rPr>
              <a:t> </a:t>
            </a:r>
            <a:r>
              <a:rPr lang="en-US" b="1" spc="70" dirty="0">
                <a:solidFill>
                  <a:srgbClr val="4A2D83"/>
                </a:solidFill>
              </a:rPr>
              <a:t>of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70" dirty="0">
                <a:solidFill>
                  <a:srgbClr val="4A2D83"/>
                </a:solidFill>
              </a:rPr>
              <a:t>Rese</a:t>
            </a:r>
            <a:r>
              <a:rPr lang="en-US" b="1" spc="-75" dirty="0">
                <a:solidFill>
                  <a:srgbClr val="4A2D83"/>
                </a:solidFill>
              </a:rPr>
              <a:t>a</a:t>
            </a:r>
            <a:r>
              <a:rPr lang="en-US" b="1" spc="-40" dirty="0">
                <a:solidFill>
                  <a:srgbClr val="4A2D83"/>
                </a:solidFill>
              </a:rPr>
              <a:t>rch</a:t>
            </a:r>
            <a:r>
              <a:rPr lang="en-US" b="1" spc="-260" dirty="0">
                <a:solidFill>
                  <a:srgbClr val="4A2D83"/>
                </a:solidFill>
              </a:rPr>
              <a:t> </a:t>
            </a:r>
            <a:r>
              <a:rPr lang="en-US" b="1" spc="-305" dirty="0">
                <a:solidFill>
                  <a:srgbClr val="4A2D83"/>
                </a:solidFill>
              </a:rPr>
              <a:t>(1/3)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0B9E0-CC0B-8128-8481-7C802BCDE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first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step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conducting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articulate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plan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how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intend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provide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answers</a:t>
            </a:r>
            <a:endParaRPr lang="en-US" sz="1400" dirty="0">
              <a:latin typeface="Arial"/>
              <a:cs typeface="Arial"/>
            </a:endParaRPr>
          </a:p>
          <a:p>
            <a:pPr marL="299085" marR="369570" indent="-287020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Spending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time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step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reduce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work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later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stemming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changes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99085" marR="154940" indent="-287020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should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clearly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articulate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contribution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ns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US"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lang="en-US" sz="2050" dirty="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Formulate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general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question(s).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6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start,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consider: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>
              <a:lnSpc>
                <a:spcPct val="100000"/>
              </a:lnSpc>
              <a:spcBef>
                <a:spcPts val="76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answer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fic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1400" spc="-360" dirty="0">
                <a:solidFill>
                  <a:srgbClr val="4A2D83"/>
                </a:solidFill>
                <a:latin typeface="Lucida Sans Unicode"/>
                <a:cs typeface="Lucida Sans Unicode"/>
              </a:rPr>
              <a:t>-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er?</a:t>
            </a:r>
          </a:p>
          <a:p>
            <a:pPr marL="81216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endParaRPr lang="en-US" sz="1400" dirty="0">
              <a:solidFill>
                <a:srgbClr val="4A2D83"/>
              </a:solidFill>
              <a:latin typeface="Lucida Sans Unicode"/>
              <a:cs typeface="Lucida Sans Unicode"/>
            </a:endParaRPr>
          </a:p>
          <a:p>
            <a:pPr marL="182245">
              <a:lnSpc>
                <a:spcPct val="100000"/>
              </a:lnSpc>
              <a:spcBef>
                <a:spcPts val="1560"/>
              </a:spcBef>
            </a:pPr>
            <a:r>
              <a:rPr lang="en-US"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Exampl</a:t>
            </a:r>
            <a:r>
              <a:rPr lang="en-US" sz="1400" i="1" spc="-10" dirty="0">
                <a:solidFill>
                  <a:srgbClr val="33006E"/>
                </a:solidFill>
                <a:latin typeface="Trebuchet MS"/>
                <a:cs typeface="Trebuchet MS"/>
              </a:rPr>
              <a:t>e</a:t>
            </a:r>
            <a:r>
              <a:rPr lang="en-US"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30" dirty="0">
                <a:solidFill>
                  <a:srgbClr val="33006E"/>
                </a:solidFill>
                <a:latin typeface="Trebuchet MS"/>
                <a:cs typeface="Trebuchet MS"/>
              </a:rPr>
              <a:t>ge</a:t>
            </a:r>
            <a:r>
              <a:rPr lang="en-US" sz="1400" i="1" spc="45" dirty="0">
                <a:solidFill>
                  <a:srgbClr val="33006E"/>
                </a:solidFill>
                <a:latin typeface="Trebuchet MS"/>
                <a:cs typeface="Trebuchet MS"/>
              </a:rPr>
              <a:t>n</a:t>
            </a:r>
            <a:r>
              <a:rPr lang="en-US" sz="1400" i="1" spc="-55" dirty="0">
                <a:solidFill>
                  <a:srgbClr val="33006E"/>
                </a:solidFill>
                <a:latin typeface="Trebuchet MS"/>
                <a:cs typeface="Trebuchet MS"/>
              </a:rPr>
              <a:t>e</a:t>
            </a:r>
            <a:r>
              <a:rPr lang="en-US"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r</a:t>
            </a:r>
            <a:r>
              <a:rPr lang="en-US" sz="1400" i="1" spc="40" dirty="0">
                <a:solidFill>
                  <a:srgbClr val="33006E"/>
                </a:solidFill>
                <a:latin typeface="Trebuchet MS"/>
                <a:cs typeface="Trebuchet MS"/>
              </a:rPr>
              <a:t>a</a:t>
            </a:r>
            <a:r>
              <a:rPr lang="en-US" sz="1400" i="1" spc="-95" dirty="0">
                <a:solidFill>
                  <a:srgbClr val="33006E"/>
                </a:solidFill>
                <a:latin typeface="Trebuchet MS"/>
                <a:cs typeface="Trebuchet MS"/>
              </a:rPr>
              <a:t>l</a:t>
            </a:r>
            <a:r>
              <a:rPr lang="en-US" sz="1400" i="1" spc="-10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60" dirty="0">
                <a:solidFill>
                  <a:srgbClr val="33006E"/>
                </a:solidFill>
                <a:latin typeface="Trebuchet MS"/>
                <a:cs typeface="Trebuchet MS"/>
              </a:rPr>
              <a:t>r</a:t>
            </a:r>
            <a:r>
              <a:rPr lang="en-US"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esea</a:t>
            </a:r>
            <a:r>
              <a:rPr lang="en-US" sz="1400" i="1" spc="-40" dirty="0">
                <a:solidFill>
                  <a:srgbClr val="33006E"/>
                </a:solidFill>
                <a:latin typeface="Trebuchet MS"/>
                <a:cs typeface="Trebuchet MS"/>
              </a:rPr>
              <a:t>r</a:t>
            </a:r>
            <a:r>
              <a:rPr lang="en-US" sz="1400" i="1" spc="-25" dirty="0">
                <a:solidFill>
                  <a:srgbClr val="33006E"/>
                </a:solidFill>
                <a:latin typeface="Trebuchet MS"/>
                <a:cs typeface="Trebuchet MS"/>
              </a:rPr>
              <a:t>c</a:t>
            </a:r>
            <a:r>
              <a:rPr lang="en-US" sz="1400" i="1" spc="30" dirty="0">
                <a:solidFill>
                  <a:srgbClr val="33006E"/>
                </a:solidFill>
                <a:latin typeface="Trebuchet MS"/>
                <a:cs typeface="Trebuchet MS"/>
              </a:rPr>
              <a:t>h</a:t>
            </a:r>
            <a:r>
              <a:rPr lang="en-US" sz="1400" i="1" spc="-10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30" dirty="0">
                <a:solidFill>
                  <a:srgbClr val="33006E"/>
                </a:solidFill>
                <a:latin typeface="Trebuchet MS"/>
                <a:cs typeface="Trebuchet MS"/>
              </a:rPr>
              <a:t>qu</a:t>
            </a:r>
            <a:r>
              <a:rPr lang="en-US"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estio</a:t>
            </a:r>
            <a:r>
              <a:rPr lang="en-US" sz="1400" i="1" spc="45" dirty="0">
                <a:solidFill>
                  <a:srgbClr val="33006E"/>
                </a:solidFill>
                <a:latin typeface="Trebuchet MS"/>
                <a:cs typeface="Trebuchet MS"/>
              </a:rPr>
              <a:t>n</a:t>
            </a:r>
            <a:r>
              <a:rPr lang="en-US"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s:</a:t>
            </a:r>
            <a:endParaRPr lang="en-US" sz="1400" dirty="0">
              <a:latin typeface="Trebuchet MS"/>
              <a:cs typeface="Trebuchet MS"/>
            </a:endParaRPr>
          </a:p>
          <a:p>
            <a:pPr marL="469265" marR="328295" indent="-287020">
              <a:lnSpc>
                <a:spcPct val="12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1400" spc="15" dirty="0">
                <a:solidFill>
                  <a:srgbClr val="33006E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scholarly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peer-reviewed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effect</a:t>
            </a:r>
            <a:r>
              <a:rPr lang="en-US"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 </a:t>
            </a:r>
            <a:r>
              <a:rPr lang="en-US"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no</a:t>
            </a:r>
            <a:r>
              <a:rPr lang="en-US"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g</a:t>
            </a:r>
            <a:r>
              <a:rPr lang="en-US"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wth?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(</a:t>
            </a:r>
            <a:r>
              <a:rPr lang="en-US" sz="1400" u="sng" spc="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E</a:t>
            </a:r>
            <a:r>
              <a:rPr lang="en-US"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P</a:t>
            </a:r>
            <a:r>
              <a:rPr lang="en-US" sz="1400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A</a:t>
            </a:r>
            <a:r>
              <a:rPr lang="en-US"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R</a:t>
            </a:r>
            <a:r>
              <a:rPr lang="en-US" sz="1400" u="sng" spc="-10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lang="en-US" sz="1400" u="sng" spc="-20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</a:t>
            </a:r>
            <a:r>
              <a:rPr lang="en-US" sz="1400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e</a:t>
            </a:r>
            <a:r>
              <a:rPr lang="en-US"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ch</a:t>
            </a:r>
            <a:r>
              <a:rPr lang="en-US"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n</a:t>
            </a:r>
            <a:r>
              <a:rPr lang="en-US"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i</a:t>
            </a:r>
            <a:r>
              <a:rPr lang="en-US"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c</a:t>
            </a:r>
            <a:r>
              <a:rPr lang="en-US"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a</a:t>
            </a:r>
            <a:r>
              <a:rPr lang="en-US"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l</a:t>
            </a:r>
            <a:r>
              <a:rPr lang="en-US" sz="1400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lang="en-US"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Rep</a:t>
            </a:r>
            <a:r>
              <a:rPr lang="en-US" sz="1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o</a:t>
            </a:r>
            <a:r>
              <a:rPr lang="en-US" sz="1400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r</a:t>
            </a:r>
            <a:r>
              <a:rPr lang="en-US" sz="1400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</a:t>
            </a:r>
            <a:r>
              <a:rPr lang="en-US" sz="1400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lang="en-US" sz="1400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#</a:t>
            </a:r>
            <a:r>
              <a:rPr lang="en-US"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29</a:t>
            </a:r>
            <a:r>
              <a:rPr lang="en-US" sz="1400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3</a:t>
            </a:r>
            <a:r>
              <a:rPr lang="en-US" sz="1400" u="sng" spc="-40" dirty="0">
                <a:solidFill>
                  <a:srgbClr val="33006E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</a:rPr>
              <a:t>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469265" marR="721360" indent="-287020">
              <a:lnSpc>
                <a:spcPct val="12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lang="en-US" sz="1400" spc="15" dirty="0">
                <a:solidFill>
                  <a:srgbClr val="33006E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long-term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impacts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cost-effectiveness</a:t>
            </a:r>
            <a:r>
              <a:rPr lang="en-US"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cash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transfer </a:t>
            </a:r>
            <a:r>
              <a:rPr lang="en-US" sz="1400" spc="-4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programs</a:t>
            </a:r>
            <a:r>
              <a:rPr lang="en-US"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low-</a:t>
            </a:r>
            <a:r>
              <a:rPr lang="en-US"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lower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middle-income</a:t>
            </a:r>
            <a:r>
              <a:rPr lang="en-US"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countries?</a:t>
            </a:r>
            <a:r>
              <a:rPr lang="en-US"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(</a:t>
            </a:r>
            <a:r>
              <a:rPr lang="en-US"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EPAR</a:t>
            </a:r>
            <a:r>
              <a:rPr lang="en-US"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 </a:t>
            </a:r>
            <a:r>
              <a:rPr lang="en-US"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Technical</a:t>
            </a:r>
            <a:r>
              <a:rPr lang="en-US" sz="1400" u="sng" spc="-1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 </a:t>
            </a:r>
            <a:r>
              <a:rPr lang="en-US"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Report</a:t>
            </a:r>
            <a:r>
              <a:rPr lang="en-US" sz="1400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 </a:t>
            </a:r>
            <a:r>
              <a:rPr lang="en-US"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#359</a:t>
            </a:r>
            <a:r>
              <a:rPr lang="en-US"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469265" lvl="1" indent="0">
              <a:lnSpc>
                <a:spcPct val="100000"/>
              </a:lnSpc>
              <a:spcBef>
                <a:spcPts val="470"/>
              </a:spcBef>
              <a:buNone/>
              <a:tabLst>
                <a:tab pos="812165" algn="l"/>
                <a:tab pos="812800" algn="l"/>
              </a:tabLst>
            </a:pPr>
            <a:endParaRPr lang="en-US" sz="1400" dirty="0">
              <a:solidFill>
                <a:srgbClr val="4A2D83"/>
              </a:solidFill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420538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F96C-C460-FB36-BD93-5FA27AFC8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60" dirty="0">
                <a:solidFill>
                  <a:srgbClr val="4A2D83"/>
                </a:solidFill>
              </a:rPr>
              <a:t>D</a:t>
            </a:r>
            <a:r>
              <a:rPr lang="en-US" b="1" spc="-15" dirty="0">
                <a:solidFill>
                  <a:srgbClr val="4A2D83"/>
                </a:solidFill>
              </a:rPr>
              <a:t>efine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75" dirty="0">
                <a:solidFill>
                  <a:srgbClr val="4A2D83"/>
                </a:solidFill>
              </a:rPr>
              <a:t>Sc</a:t>
            </a:r>
            <a:r>
              <a:rPr lang="en-US" b="1" spc="-10" dirty="0">
                <a:solidFill>
                  <a:srgbClr val="4A2D83"/>
                </a:solidFill>
              </a:rPr>
              <a:t>o</a:t>
            </a:r>
            <a:r>
              <a:rPr lang="en-US" b="1" spc="-20" dirty="0">
                <a:solidFill>
                  <a:srgbClr val="4A2D83"/>
                </a:solidFill>
              </a:rPr>
              <a:t>p</a:t>
            </a:r>
            <a:r>
              <a:rPr lang="en-US" b="1" spc="-80" dirty="0">
                <a:solidFill>
                  <a:srgbClr val="4A2D83"/>
                </a:solidFill>
              </a:rPr>
              <a:t>e</a:t>
            </a:r>
            <a:r>
              <a:rPr lang="en-US" b="1" spc="-285" dirty="0">
                <a:solidFill>
                  <a:srgbClr val="4A2D83"/>
                </a:solidFill>
              </a:rPr>
              <a:t> </a:t>
            </a:r>
            <a:r>
              <a:rPr lang="en-US" b="1" spc="70" dirty="0">
                <a:solidFill>
                  <a:srgbClr val="4A2D83"/>
                </a:solidFill>
              </a:rPr>
              <a:t>of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70" dirty="0">
                <a:solidFill>
                  <a:srgbClr val="4A2D83"/>
                </a:solidFill>
              </a:rPr>
              <a:t>Rese</a:t>
            </a:r>
            <a:r>
              <a:rPr lang="en-US" b="1" spc="-75" dirty="0">
                <a:solidFill>
                  <a:srgbClr val="4A2D83"/>
                </a:solidFill>
              </a:rPr>
              <a:t>a</a:t>
            </a:r>
            <a:r>
              <a:rPr lang="en-US" b="1" spc="-40" dirty="0">
                <a:solidFill>
                  <a:srgbClr val="4A2D83"/>
                </a:solidFill>
              </a:rPr>
              <a:t>rch</a:t>
            </a:r>
            <a:r>
              <a:rPr lang="en-US" b="1" spc="-260" dirty="0">
                <a:solidFill>
                  <a:srgbClr val="4A2D83"/>
                </a:solidFill>
              </a:rPr>
              <a:t> </a:t>
            </a:r>
            <a:r>
              <a:rPr lang="en-US" b="1" spc="-254" dirty="0">
                <a:solidFill>
                  <a:srgbClr val="4A2D83"/>
                </a:solidFill>
              </a:rPr>
              <a:t>(2/3)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87C7-3EB9-9889-7FEB-EE93BEC62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08305" indent="-343535">
              <a:lnSpc>
                <a:spcPct val="100000"/>
              </a:lnSpc>
              <a:spcBef>
                <a:spcPts val="860"/>
              </a:spcBef>
              <a:buAutoNum type="arabicPeriod" startAt="2"/>
              <a:tabLst>
                <a:tab pos="407670" algn="l"/>
                <a:tab pos="408940" algn="l"/>
              </a:tabLst>
            </a:pP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Get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specific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articulating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following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define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70" dirty="0">
                <a:solidFill>
                  <a:srgbClr val="4A2D83"/>
                </a:solidFill>
                <a:latin typeface="Arial"/>
                <a:cs typeface="Arial"/>
              </a:rPr>
              <a:t>:</a:t>
            </a:r>
            <a:endParaRPr lang="en-US" sz="1400" dirty="0">
              <a:latin typeface="Arial"/>
              <a:cs typeface="Arial"/>
            </a:endParaRPr>
          </a:p>
          <a:p>
            <a:pPr marL="865505" lvl="1" indent="-342900">
              <a:lnSpc>
                <a:spcPct val="100000"/>
              </a:lnSpc>
              <a:spcBef>
                <a:spcPts val="77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Types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grey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(nonacademic)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unpublished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Years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recent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marR="826769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experimental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quasi-experimental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designs)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Ge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ap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65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Interv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ntions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/p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est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Outc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s/ind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Populations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interest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(e.g.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rural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vs.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urban,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farmers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vs.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non-farmers,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etc.)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65505" lvl="1" indent="-342900">
              <a:lnSpc>
                <a:spcPct val="100000"/>
              </a:lnSpc>
              <a:spcBef>
                <a:spcPts val="465"/>
              </a:spcBef>
              <a:buAutoNum type="alphaLcPeriod"/>
              <a:tabLst>
                <a:tab pos="864869" algn="l"/>
                <a:tab pos="865505" algn="l"/>
              </a:tabLst>
            </a:pP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considerations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lang="en-US"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Example</a:t>
            </a:r>
            <a:r>
              <a:rPr lang="en-US"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definition</a:t>
            </a:r>
            <a:r>
              <a:rPr lang="en-US" sz="1400" i="1" spc="-9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lang="en-US" sz="14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20" dirty="0">
                <a:solidFill>
                  <a:srgbClr val="33006E"/>
                </a:solidFill>
                <a:latin typeface="Trebuchet MS"/>
                <a:cs typeface="Trebuchet MS"/>
              </a:rPr>
              <a:t>research</a:t>
            </a:r>
            <a:r>
              <a:rPr lang="en-US" sz="1400" i="1" spc="-9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lang="en-US" sz="1400" i="1" spc="-25" dirty="0">
                <a:solidFill>
                  <a:srgbClr val="33006E"/>
                </a:solidFill>
                <a:latin typeface="Trebuchet MS"/>
                <a:cs typeface="Trebuchet MS"/>
              </a:rPr>
              <a:t>scope:</a:t>
            </a:r>
            <a:endParaRPr lang="en-US"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US"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EPAR</a:t>
            </a:r>
            <a:r>
              <a:rPr lang="en-US"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Technical</a:t>
            </a:r>
            <a:r>
              <a:rPr lang="en-US" sz="1400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Report</a:t>
            </a:r>
            <a:r>
              <a:rPr lang="en-US"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#359</a:t>
            </a:r>
            <a:r>
              <a:rPr lang="en-US" sz="1400" spc="-110" dirty="0">
                <a:solidFill>
                  <a:srgbClr val="006FC0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included: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peer-reviewed</a:t>
            </a:r>
            <a:r>
              <a:rPr lang="en-US" sz="13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journal</a:t>
            </a:r>
            <a:r>
              <a:rPr lang="en-US"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articles,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grey</a:t>
            </a:r>
            <a:r>
              <a:rPr lang="en-US" sz="13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literature,</a:t>
            </a:r>
            <a:r>
              <a:rPr lang="en-US"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unpublished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literature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n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ly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u</a:t>
            </a:r>
            <a:r>
              <a:rPr lang="en-US"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d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lang="en-US" sz="130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f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om</a:t>
            </a:r>
            <a:r>
              <a:rPr lang="en-US"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2010</a:t>
            </a:r>
            <a:r>
              <a:rPr lang="en-US" sz="13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a</a:t>
            </a:r>
            <a:r>
              <a:rPr lang="en-US"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ter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only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review</a:t>
            </a:r>
            <a:r>
              <a:rPr lang="en-US" sz="13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meta-analyses, </a:t>
            </a:r>
            <a:r>
              <a:rPr lang="en-US"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with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experimental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quasi-experimental</a:t>
            </a:r>
            <a:r>
              <a:rPr lang="en-US"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design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cash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transfer</a:t>
            </a:r>
            <a:r>
              <a:rPr lang="en-US"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programs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universal</a:t>
            </a:r>
            <a:r>
              <a:rPr lang="en-US"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basic</a:t>
            </a:r>
            <a:r>
              <a:rPr lang="en-US"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income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 programs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595"/>
              </a:spcBef>
            </a:pP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It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focused </a:t>
            </a:r>
            <a:r>
              <a:rPr lang="en-US"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 </a:t>
            </a:r>
            <a:r>
              <a:rPr lang="en-US"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long-term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impacts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(sustained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impacts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of </a:t>
            </a:r>
            <a:r>
              <a:rPr lang="en-US"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short-term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outcomes </a:t>
            </a:r>
            <a:r>
              <a:rPr lang="en-US"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or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outcomes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that </a:t>
            </a:r>
            <a:r>
              <a:rPr lang="en-US"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are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linked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cash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transfers via “downstream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pathways”)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relation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to: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general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 </a:t>
            </a:r>
            <a:r>
              <a:rPr lang="en-US"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reproductive</a:t>
            </a:r>
            <a:r>
              <a:rPr lang="en-US"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health,</a:t>
            </a:r>
            <a:r>
              <a:rPr lang="en-US"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nutrition,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labor</a:t>
            </a:r>
            <a:r>
              <a:rPr lang="en-US"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market</a:t>
            </a:r>
            <a:r>
              <a:rPr lang="en-US"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participation,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poverty,</a:t>
            </a:r>
            <a:r>
              <a:rPr lang="en-US"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gender</a:t>
            </a:r>
            <a:r>
              <a:rPr lang="en-US"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intra-household </a:t>
            </a:r>
            <a:r>
              <a:rPr lang="en-US"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decision-making,</a:t>
            </a:r>
            <a:r>
              <a:rPr lang="en-US"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financial</a:t>
            </a:r>
            <a:r>
              <a:rPr lang="en-US"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inclusion.</a:t>
            </a:r>
            <a:endParaRPr lang="en-US" sz="14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710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658D-1650-C021-9434-6AEE0C87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5" dirty="0">
                <a:solidFill>
                  <a:srgbClr val="4A2D83"/>
                </a:solidFill>
              </a:rPr>
              <a:t>De</a:t>
            </a:r>
            <a:r>
              <a:rPr lang="en-US" b="1" spc="-5" dirty="0">
                <a:solidFill>
                  <a:srgbClr val="4A2D83"/>
                </a:solidFill>
              </a:rPr>
              <a:t>f</a:t>
            </a:r>
            <a:r>
              <a:rPr lang="en-US" b="1" spc="-50" dirty="0">
                <a:solidFill>
                  <a:srgbClr val="4A2D83"/>
                </a:solidFill>
              </a:rPr>
              <a:t>ine</a:t>
            </a:r>
            <a:r>
              <a:rPr lang="en-US" b="1" spc="-260" dirty="0">
                <a:solidFill>
                  <a:srgbClr val="4A2D83"/>
                </a:solidFill>
              </a:rPr>
              <a:t> </a:t>
            </a:r>
            <a:r>
              <a:rPr lang="en-US" b="1" spc="-70" dirty="0">
                <a:solidFill>
                  <a:srgbClr val="4A2D83"/>
                </a:solidFill>
              </a:rPr>
              <a:t>S</a:t>
            </a:r>
            <a:r>
              <a:rPr lang="en-US" b="1" spc="-45" dirty="0">
                <a:solidFill>
                  <a:srgbClr val="4A2D83"/>
                </a:solidFill>
              </a:rPr>
              <a:t>cope</a:t>
            </a:r>
            <a:r>
              <a:rPr lang="en-US" b="1" spc="-285" dirty="0">
                <a:solidFill>
                  <a:srgbClr val="4A2D83"/>
                </a:solidFill>
              </a:rPr>
              <a:t> </a:t>
            </a:r>
            <a:r>
              <a:rPr lang="en-US" b="1" spc="70" dirty="0">
                <a:solidFill>
                  <a:srgbClr val="4A2D83"/>
                </a:solidFill>
              </a:rPr>
              <a:t>of</a:t>
            </a:r>
            <a:r>
              <a:rPr lang="en-US" b="1" spc="-260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Research</a:t>
            </a:r>
            <a:r>
              <a:rPr lang="en-US" b="1" spc="-260" dirty="0">
                <a:solidFill>
                  <a:srgbClr val="4A2D83"/>
                </a:solidFill>
              </a:rPr>
              <a:t> </a:t>
            </a:r>
            <a:r>
              <a:rPr lang="en-US" b="1" spc="-315" dirty="0">
                <a:solidFill>
                  <a:srgbClr val="4A2D83"/>
                </a:solidFill>
              </a:rPr>
              <a:t>(</a:t>
            </a:r>
            <a:r>
              <a:rPr lang="en-US" b="1" spc="-254" dirty="0">
                <a:solidFill>
                  <a:srgbClr val="4A2D83"/>
                </a:solidFill>
              </a:rPr>
              <a:t>3/3)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7C0B-EC55-BCE9-D5F8-3E0DEAADF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lang="en-US"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lang="en-US"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research</a:t>
            </a:r>
            <a:r>
              <a:rPr lang="en-US"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-10" dirty="0">
                <a:solidFill>
                  <a:srgbClr val="4A2D83"/>
                </a:solidFill>
                <a:latin typeface="Trebuchet MS"/>
                <a:cs typeface="Trebuchet MS"/>
              </a:rPr>
              <a:t>questions</a:t>
            </a:r>
            <a:r>
              <a:rPr lang="en-US"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and</a:t>
            </a:r>
            <a:r>
              <a:rPr lang="en-US"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scope</a:t>
            </a:r>
            <a:r>
              <a:rPr lang="en-US"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(</a:t>
            </a:r>
            <a:r>
              <a:rPr lang="en-US" sz="1400" i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lang="en-US" sz="1400" i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lang="en-US"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lang="en-US"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1400" i="1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lang="en-US" sz="1400" i="1" spc="-5" dirty="0">
                <a:solidFill>
                  <a:srgbClr val="33006E"/>
                </a:solidFill>
                <a:latin typeface="Trebuchet MS"/>
                <a:cs typeface="Trebuchet MS"/>
              </a:rPr>
              <a:t>):</a:t>
            </a:r>
            <a:endParaRPr lang="en-US" sz="1400" dirty="0">
              <a:latin typeface="Trebuchet MS"/>
              <a:cs typeface="Trebuchet MS"/>
            </a:endParaRPr>
          </a:p>
          <a:p>
            <a:pPr marL="12700" marR="550545">
              <a:lnSpc>
                <a:spcPct val="110000"/>
              </a:lnSpc>
              <a:spcBef>
                <a:spcPts val="600"/>
              </a:spcBef>
            </a:pP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questions: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spc="35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plan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linking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growth.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Specifically,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follows: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standard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morbidity?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they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calculated?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gnition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factor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marR="330835" indent="-342900">
              <a:lnSpc>
                <a:spcPct val="110000"/>
              </a:lnSpc>
              <a:spcBef>
                <a:spcPts val="305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assesses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linkages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between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ual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/h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us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.g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gni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tiv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du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cat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wer 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household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income)?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assesses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linkages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between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  <a:spcBef>
                <a:spcPts val="165"/>
              </a:spcBef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mac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o/c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ountry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marR="563245" indent="-342900">
              <a:lnSpc>
                <a:spcPct val="110000"/>
              </a:lnSpc>
              <a:spcBef>
                <a:spcPts val="305"/>
              </a:spcBef>
              <a:buAutoNum type="arabicPeriod" startAt="4"/>
              <a:tabLst>
                <a:tab pos="354965" algn="l"/>
                <a:tab pos="355600" algn="l"/>
              </a:tabLst>
            </a:pP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robust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linkages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overall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quality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evidence?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unanswered,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unsatisfactorily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answered,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questions?</a:t>
            </a:r>
            <a:endParaRPr lang="en-US" sz="14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buClr>
                <a:srgbClr val="4A2D83"/>
              </a:buClr>
              <a:buFont typeface="Lucida Sans Unicode"/>
              <a:buAutoNum type="arabicPeriod" startAt="4"/>
            </a:pPr>
            <a:endParaRPr lang="en-US" sz="17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research: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assessment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existing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dit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ec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ono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h.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lvl="1" indent="-287020">
              <a:lnSpc>
                <a:spcPct val="100000"/>
              </a:lnSpc>
              <a:spcBef>
                <a:spcPts val="715"/>
              </a:spcBef>
              <a:buFont typeface="Courier New"/>
              <a:buChar char="o"/>
              <a:tabLst>
                <a:tab pos="756285" algn="l"/>
                <a:tab pos="756920" algn="l"/>
              </a:tabLst>
            </a:pP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Only</a:t>
            </a:r>
            <a:r>
              <a:rPr lang="en-US"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published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peer-reviewed</a:t>
            </a:r>
            <a:r>
              <a:rPr lang="en-US" sz="13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journals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910"/>
              </a:spcBef>
              <a:buFont typeface="Courier New"/>
              <a:buChar char="o"/>
              <a:tabLst>
                <a:tab pos="756285" algn="l"/>
                <a:tab pos="756920" algn="l"/>
              </a:tabLst>
            </a:pP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refers</a:t>
            </a:r>
            <a:r>
              <a:rPr lang="en-US" sz="13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overall</a:t>
            </a:r>
            <a:r>
              <a:rPr lang="en-US"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burden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disease,</a:t>
            </a:r>
            <a:r>
              <a:rPr lang="en-US"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including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both</a:t>
            </a:r>
            <a:r>
              <a:rPr lang="en-US"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incidence </a:t>
            </a:r>
            <a:r>
              <a:rPr lang="en-US" sz="1300" spc="-3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prevalence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 </a:t>
            </a:r>
            <a:r>
              <a:rPr lang="en-US" sz="1300" dirty="0">
                <a:solidFill>
                  <a:srgbClr val="33006E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specific </a:t>
            </a:r>
            <a:r>
              <a:rPr lang="en-US"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disease as well as </a:t>
            </a:r>
            <a:r>
              <a:rPr lang="en-US"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broader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more </a:t>
            </a:r>
            <a:r>
              <a:rPr lang="en-US"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general 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disease- </a:t>
            </a:r>
            <a:r>
              <a:rPr lang="en-US"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related</a:t>
            </a:r>
            <a:r>
              <a:rPr lang="en-US" sz="13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health</a:t>
            </a:r>
            <a:r>
              <a:rPr lang="en-US"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conditions</a:t>
            </a:r>
            <a:endParaRPr lang="en-US" sz="13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304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BD17-C8EA-8864-7CC2-F6FC9D03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b="1" spc="-65" dirty="0">
                <a:solidFill>
                  <a:srgbClr val="4A2D83"/>
                </a:solidFill>
              </a:rPr>
              <a:t>Build</a:t>
            </a:r>
            <a:r>
              <a:rPr lang="en-IN" sz="4400" b="1" spc="-645" dirty="0">
                <a:solidFill>
                  <a:srgbClr val="4A2D83"/>
                </a:solidFill>
              </a:rPr>
              <a:t> </a:t>
            </a:r>
            <a:r>
              <a:rPr lang="en-IN" sz="4400" b="1" spc="-55" dirty="0">
                <a:solidFill>
                  <a:srgbClr val="4A2D83"/>
                </a:solidFill>
              </a:rPr>
              <a:t>the</a:t>
            </a:r>
            <a:r>
              <a:rPr lang="en-IN" sz="4400" b="1" spc="-625" dirty="0">
                <a:solidFill>
                  <a:srgbClr val="4A2D83"/>
                </a:solidFill>
              </a:rPr>
              <a:t> </a:t>
            </a:r>
            <a:r>
              <a:rPr lang="en-IN" sz="4400" b="1" spc="-150" dirty="0">
                <a:solidFill>
                  <a:srgbClr val="4A2D83"/>
                </a:solidFill>
              </a:rPr>
              <a:t>Sample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AA767-BB60-3079-FD4C-6BA5CD1E0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EPAR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follows</a:t>
            </a:r>
            <a:r>
              <a:rPr lang="en-US" sz="2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six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steps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process,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refining </a:t>
            </a:r>
            <a:r>
              <a:rPr lang="en-US" sz="2800" spc="-5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go:</a:t>
            </a:r>
            <a:endParaRPr lang="en-US" sz="28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  <p:sp>
        <p:nvSpPr>
          <p:cNvPr id="4" name="object 25">
            <a:extLst>
              <a:ext uri="{FF2B5EF4-FFF2-40B4-BE49-F238E27FC236}">
                <a16:creationId xmlns:a16="http://schemas.microsoft.com/office/drawing/2014/main" id="{D2D3C944-8E93-DA8B-3CAC-1F3E7CEA5B18}"/>
              </a:ext>
            </a:extLst>
          </p:cNvPr>
          <p:cNvSpPr txBox="1"/>
          <p:nvPr/>
        </p:nvSpPr>
        <p:spPr>
          <a:xfrm>
            <a:off x="995082" y="2678160"/>
            <a:ext cx="9780493" cy="32951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540" algn="ctr">
              <a:lnSpc>
                <a:spcPct val="100000"/>
              </a:lnSpc>
              <a:spcBef>
                <a:spcPts val="95"/>
              </a:spcBef>
            </a:pPr>
            <a:r>
              <a:rPr sz="1000" b="1" spc="90" dirty="0">
                <a:solidFill>
                  <a:srgbClr val="33006E"/>
                </a:solidFill>
                <a:latin typeface="Arial"/>
                <a:cs typeface="Arial"/>
              </a:rPr>
              <a:t>Conduct </a:t>
            </a:r>
            <a:r>
              <a:rPr sz="1000" b="1" spc="21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14" dirty="0">
                <a:solidFill>
                  <a:srgbClr val="33006E"/>
                </a:solidFill>
                <a:latin typeface="Arial"/>
                <a:cs typeface="Arial"/>
              </a:rPr>
              <a:t>Preliminary </a:t>
            </a:r>
            <a:r>
              <a:rPr sz="1000" b="1" spc="18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Searches</a:t>
            </a:r>
            <a:endParaRPr sz="1000" dirty="0">
              <a:latin typeface="Arial"/>
              <a:cs typeface="Arial"/>
            </a:endParaRPr>
          </a:p>
          <a:p>
            <a:pPr marL="84455" marR="78105" algn="ctr">
              <a:lnSpc>
                <a:spcPct val="100000"/>
              </a:lnSpc>
            </a:pP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Gain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 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better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understanding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way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your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topic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is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discussed,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question(s),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define </a:t>
            </a:r>
            <a:r>
              <a:rPr sz="1000" i="1" spc="-2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scope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of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research,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shape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how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will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0" dirty="0">
                <a:solidFill>
                  <a:srgbClr val="33006E"/>
                </a:solidFill>
                <a:latin typeface="Trebuchet MS"/>
                <a:cs typeface="Trebuchet MS"/>
              </a:rPr>
              <a:t>approach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searches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review</a:t>
            </a:r>
            <a:endParaRPr sz="1000" dirty="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1065"/>
              </a:spcBef>
            </a:pPr>
            <a:r>
              <a:rPr sz="1000" b="1" spc="105" dirty="0">
                <a:solidFill>
                  <a:srgbClr val="33006E"/>
                </a:solidFill>
                <a:latin typeface="Arial"/>
                <a:cs typeface="Arial"/>
              </a:rPr>
              <a:t>Create </a:t>
            </a:r>
            <a:r>
              <a:rPr sz="1000" b="1" spc="14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Search </a:t>
            </a:r>
            <a:r>
              <a:rPr sz="1000" b="1" spc="17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Strings</a:t>
            </a:r>
            <a:endParaRPr sz="1000" dirty="0">
              <a:latin typeface="Arial"/>
              <a:cs typeface="Arial"/>
            </a:endParaRPr>
          </a:p>
          <a:p>
            <a:pPr marL="125730" marR="107950" algn="ctr">
              <a:lnSpc>
                <a:spcPct val="100000"/>
              </a:lnSpc>
            </a:pP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Compose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search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strings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to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exclude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as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many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irrelevant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sources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as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possible</a:t>
            </a:r>
            <a:r>
              <a:rPr sz="1000" i="1" spc="-6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without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excluding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0" dirty="0">
                <a:solidFill>
                  <a:srgbClr val="33006E"/>
                </a:solidFill>
                <a:latin typeface="Trebuchet MS"/>
                <a:cs typeface="Trebuchet MS"/>
              </a:rPr>
              <a:t>any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relevant </a:t>
            </a:r>
            <a:r>
              <a:rPr sz="1000" i="1" spc="-2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sources,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making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sure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cover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different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aspects/wordings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topics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relating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to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question(s)</a:t>
            </a:r>
            <a:endParaRPr sz="1000" dirty="0">
              <a:latin typeface="Trebuchet MS"/>
              <a:cs typeface="Trebuchet MS"/>
            </a:endParaRPr>
          </a:p>
          <a:p>
            <a:pPr marR="1905" algn="ctr">
              <a:lnSpc>
                <a:spcPct val="100000"/>
              </a:lnSpc>
              <a:spcBef>
                <a:spcPts val="1060"/>
              </a:spcBef>
            </a:pP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Select </a:t>
            </a:r>
            <a:r>
              <a:rPr sz="1000" b="1" spc="16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Search </a:t>
            </a:r>
            <a:r>
              <a:rPr sz="1000" b="1" spc="17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00" dirty="0">
                <a:solidFill>
                  <a:srgbClr val="33006E"/>
                </a:solidFill>
                <a:latin typeface="Arial"/>
                <a:cs typeface="Arial"/>
              </a:rPr>
              <a:t>Databases</a:t>
            </a:r>
            <a:endParaRPr sz="1000" dirty="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</a:pP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Determine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where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review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is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likely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aggregated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identify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relevant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academic</a:t>
            </a:r>
            <a:endParaRPr sz="1000" dirty="0">
              <a:latin typeface="Trebuchet MS"/>
              <a:cs typeface="Trebuchet MS"/>
            </a:endParaRPr>
          </a:p>
          <a:p>
            <a:pPr marL="3175" algn="ctr">
              <a:lnSpc>
                <a:spcPct val="100000"/>
              </a:lnSpc>
            </a:pP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databases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organizations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whose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websites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might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search</a:t>
            </a:r>
            <a:endParaRPr sz="1000" dirty="0">
              <a:latin typeface="Trebuchet MS"/>
              <a:cs typeface="Trebuchet MS"/>
            </a:endParaRPr>
          </a:p>
          <a:p>
            <a:pPr marR="4445" algn="ctr">
              <a:lnSpc>
                <a:spcPct val="100000"/>
              </a:lnSpc>
              <a:spcBef>
                <a:spcPts val="944"/>
              </a:spcBef>
            </a:pPr>
            <a:r>
              <a:rPr sz="1000" b="1" spc="130" dirty="0">
                <a:solidFill>
                  <a:srgbClr val="33006E"/>
                </a:solidFill>
                <a:latin typeface="Arial"/>
                <a:cs typeface="Arial"/>
              </a:rPr>
              <a:t>Determine </a:t>
            </a:r>
            <a:r>
              <a:rPr sz="1000" b="1" spc="15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5" dirty="0">
                <a:solidFill>
                  <a:srgbClr val="33006E"/>
                </a:solidFill>
                <a:latin typeface="Arial"/>
                <a:cs typeface="Arial"/>
              </a:rPr>
              <a:t>Screening </a:t>
            </a:r>
            <a:r>
              <a:rPr sz="1000" b="1" spc="19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10" dirty="0">
                <a:solidFill>
                  <a:srgbClr val="33006E"/>
                </a:solidFill>
                <a:latin typeface="Arial"/>
                <a:cs typeface="Arial"/>
              </a:rPr>
              <a:t>Criteria</a:t>
            </a:r>
            <a:endParaRPr sz="1000" dirty="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</a:pP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Establish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criteria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allow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systematically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identify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whether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results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fall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within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scope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review</a:t>
            </a:r>
            <a:endParaRPr sz="1000" dirty="0">
              <a:latin typeface="Trebuchet MS"/>
              <a:cs typeface="Trebuchet MS"/>
            </a:endParaRPr>
          </a:p>
          <a:p>
            <a:pPr marR="5080" algn="ctr">
              <a:lnSpc>
                <a:spcPct val="100000"/>
              </a:lnSpc>
              <a:spcBef>
                <a:spcPts val="944"/>
              </a:spcBef>
            </a:pPr>
            <a:r>
              <a:rPr sz="1000" b="1" spc="114" dirty="0">
                <a:solidFill>
                  <a:srgbClr val="33006E"/>
                </a:solidFill>
                <a:latin typeface="Arial"/>
                <a:cs typeface="Arial"/>
              </a:rPr>
              <a:t>Perform </a:t>
            </a:r>
            <a:r>
              <a:rPr sz="1000" b="1" spc="17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Searches </a:t>
            </a:r>
            <a:r>
              <a:rPr sz="1000" b="1" spc="20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95" dirty="0">
                <a:solidFill>
                  <a:srgbClr val="33006E"/>
                </a:solidFill>
                <a:latin typeface="Arial"/>
                <a:cs typeface="Arial"/>
              </a:rPr>
              <a:t>and </a:t>
            </a:r>
            <a:r>
              <a:rPr sz="1000" b="1" spc="18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5" dirty="0">
                <a:solidFill>
                  <a:srgbClr val="33006E"/>
                </a:solidFill>
                <a:latin typeface="Arial"/>
                <a:cs typeface="Arial"/>
              </a:rPr>
              <a:t>Screen </a:t>
            </a:r>
            <a:r>
              <a:rPr sz="1000" b="1" spc="20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Results</a:t>
            </a:r>
            <a:endParaRPr sz="1000" dirty="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Identify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collect literature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answering your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question(s);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want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65" dirty="0">
                <a:solidFill>
                  <a:srgbClr val="33006E"/>
                </a:solidFill>
                <a:latin typeface="Trebuchet MS"/>
                <a:cs typeface="Trebuchet MS"/>
              </a:rPr>
              <a:t>feel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confident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that </a:t>
            </a:r>
            <a:r>
              <a:rPr sz="1000" i="1" spc="-2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have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identified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review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includes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all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</a:t>
            </a:r>
            <a:endParaRPr sz="1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 dirty="0">
              <a:latin typeface="Trebuchet MS"/>
              <a:cs typeface="Trebuchet MS"/>
            </a:endParaRPr>
          </a:p>
          <a:p>
            <a:pPr marR="3175" algn="ctr">
              <a:lnSpc>
                <a:spcPct val="100000"/>
              </a:lnSpc>
            </a:pPr>
            <a:r>
              <a:rPr sz="1000" b="1" spc="105" dirty="0">
                <a:solidFill>
                  <a:srgbClr val="33006E"/>
                </a:solidFill>
                <a:latin typeface="Arial"/>
                <a:cs typeface="Arial"/>
              </a:rPr>
              <a:t>Confirm </a:t>
            </a:r>
            <a:r>
              <a:rPr sz="1000" b="1" spc="19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20" dirty="0">
                <a:solidFill>
                  <a:srgbClr val="33006E"/>
                </a:solidFill>
                <a:latin typeface="Arial"/>
                <a:cs typeface="Arial"/>
              </a:rPr>
              <a:t>the </a:t>
            </a:r>
            <a:r>
              <a:rPr sz="1000" b="1" spc="15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33006E"/>
                </a:solidFill>
                <a:latin typeface="Arial"/>
                <a:cs typeface="Arial"/>
              </a:rPr>
              <a:t>Body </a:t>
            </a:r>
            <a:r>
              <a:rPr sz="1000" b="1" spc="229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33006E"/>
                </a:solidFill>
                <a:latin typeface="Arial"/>
                <a:cs typeface="Arial"/>
              </a:rPr>
              <a:t>of </a:t>
            </a:r>
            <a:r>
              <a:rPr sz="1000" b="1" spc="21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Evidence</a:t>
            </a:r>
            <a:endParaRPr sz="1000" dirty="0">
              <a:latin typeface="Arial"/>
              <a:cs typeface="Arial"/>
            </a:endParaRPr>
          </a:p>
          <a:p>
            <a:pPr marL="27305" marR="16510" indent="-3175" algn="just">
              <a:lnSpc>
                <a:spcPct val="100000"/>
              </a:lnSpc>
            </a:pP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Consider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modifications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or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refinements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question(s)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based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on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available;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confirm </a:t>
            </a:r>
            <a:r>
              <a:rPr sz="1000" i="1" spc="-2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relevance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that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initially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appeared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from looking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at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80" dirty="0">
                <a:solidFill>
                  <a:srgbClr val="33006E"/>
                </a:solidFill>
                <a:latin typeface="Trebuchet MS"/>
                <a:cs typeface="Trebuchet MS"/>
              </a:rPr>
              <a:t>title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abstract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but might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be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excluded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0" dirty="0">
                <a:solidFill>
                  <a:srgbClr val="33006E"/>
                </a:solidFill>
                <a:latin typeface="Trebuchet MS"/>
                <a:cs typeface="Trebuchet MS"/>
              </a:rPr>
              <a:t>upon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further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scrutiny;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identify </a:t>
            </a:r>
            <a:r>
              <a:rPr sz="1000" i="1" spc="10" dirty="0">
                <a:solidFill>
                  <a:srgbClr val="33006E"/>
                </a:solidFill>
                <a:latin typeface="Trebuchet MS"/>
                <a:cs typeface="Trebuchet MS"/>
              </a:rPr>
              <a:t>any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gaps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target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with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supplemental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searches</a:t>
            </a:r>
            <a:endParaRPr sz="1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93925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4A9BA-1AB9-A942-703B-0E2DEF6A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0" dirty="0">
                <a:solidFill>
                  <a:srgbClr val="4A2D83"/>
                </a:solidFill>
              </a:rPr>
              <a:t>Con</a:t>
            </a:r>
            <a:r>
              <a:rPr lang="en-IN" b="1" spc="-70" dirty="0">
                <a:solidFill>
                  <a:srgbClr val="4A2D83"/>
                </a:solidFill>
              </a:rPr>
              <a:t>d</a:t>
            </a:r>
            <a:r>
              <a:rPr lang="en-IN" b="1" spc="-25" dirty="0">
                <a:solidFill>
                  <a:srgbClr val="4A2D83"/>
                </a:solidFill>
              </a:rPr>
              <a:t>uct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45" dirty="0">
                <a:solidFill>
                  <a:srgbClr val="4A2D83"/>
                </a:solidFill>
              </a:rPr>
              <a:t>Prelimin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10" dirty="0">
                <a:solidFill>
                  <a:srgbClr val="4A2D83"/>
                </a:solidFill>
              </a:rPr>
              <a:t>ry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Searches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285" dirty="0">
                <a:solidFill>
                  <a:srgbClr val="4A2D83"/>
                </a:solidFill>
              </a:rPr>
              <a:t>(1/</a:t>
            </a:r>
            <a:r>
              <a:rPr lang="en-IN" b="1" spc="-325" dirty="0">
                <a:solidFill>
                  <a:srgbClr val="4A2D83"/>
                </a:solidFill>
              </a:rPr>
              <a:t>2</a:t>
            </a:r>
            <a:r>
              <a:rPr lang="en-IN" b="1" spc="-315" dirty="0">
                <a:solidFill>
                  <a:srgbClr val="4A2D83"/>
                </a:solidFill>
              </a:rPr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E91EB-4FAE-36DF-4BAF-56603391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2700" marR="144780">
              <a:lnSpc>
                <a:spcPct val="120000"/>
              </a:lnSpc>
              <a:spcBef>
                <a:spcPts val="95"/>
              </a:spcBef>
            </a:pP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preliminary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gain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better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understanding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way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topic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discussed,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inform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refine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question(s),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further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define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research,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shape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how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approach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2750" dirty="0">
              <a:latin typeface="Arial"/>
              <a:cs typeface="Arial"/>
            </a:endParaRPr>
          </a:p>
          <a:p>
            <a:pPr marL="355600" marR="5080" indent="-342900">
              <a:lnSpc>
                <a:spcPct val="1201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Conduct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few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exploratory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Google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Google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Scholar,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using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general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terms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related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question.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>
              <a:lnSpc>
                <a:spcPct val="100000"/>
              </a:lnSpc>
              <a:spcBef>
                <a:spcPts val="94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background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359410" lvl="1" indent="-342900">
              <a:lnSpc>
                <a:spcPct val="120000"/>
              </a:lnSpc>
              <a:spcBef>
                <a:spcPts val="6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recent,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highly-cited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articles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related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topic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(as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available)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theo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tic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marR="146050" indent="-342900">
              <a:lnSpc>
                <a:spcPct val="120000"/>
              </a:lnSpc>
              <a:spcBef>
                <a:spcPts val="6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through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top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couple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searches,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paying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particular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attention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language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used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define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describe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topic.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>
              <a:lnSpc>
                <a:spcPct val="100000"/>
              </a:lnSpc>
              <a:spcBef>
                <a:spcPts val="9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2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ngs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94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key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relation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topic?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9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issues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had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considered?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Go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back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modify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question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useful.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833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7435-E5FB-C831-4E56-AB6D349C8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0" dirty="0">
                <a:solidFill>
                  <a:srgbClr val="4A2D83"/>
                </a:solidFill>
              </a:rPr>
              <a:t>Con</a:t>
            </a:r>
            <a:r>
              <a:rPr lang="en-IN" b="1" spc="-70" dirty="0">
                <a:solidFill>
                  <a:srgbClr val="4A2D83"/>
                </a:solidFill>
              </a:rPr>
              <a:t>d</a:t>
            </a:r>
            <a:r>
              <a:rPr lang="en-IN" b="1" spc="-25" dirty="0">
                <a:solidFill>
                  <a:srgbClr val="4A2D83"/>
                </a:solidFill>
              </a:rPr>
              <a:t>uct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45" dirty="0">
                <a:solidFill>
                  <a:srgbClr val="4A2D83"/>
                </a:solidFill>
              </a:rPr>
              <a:t>Prelimin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10" dirty="0">
                <a:solidFill>
                  <a:srgbClr val="4A2D83"/>
                </a:solidFill>
              </a:rPr>
              <a:t>ry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Searches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285" dirty="0">
                <a:solidFill>
                  <a:srgbClr val="4A2D83"/>
                </a:solidFill>
              </a:rPr>
              <a:t>(2/</a:t>
            </a:r>
            <a:r>
              <a:rPr lang="en-IN" b="1" spc="-325" dirty="0">
                <a:solidFill>
                  <a:srgbClr val="4A2D83"/>
                </a:solidFill>
              </a:rPr>
              <a:t>2</a:t>
            </a:r>
            <a:r>
              <a:rPr lang="en-IN" b="1" spc="-315" dirty="0">
                <a:solidFill>
                  <a:srgbClr val="4A2D83"/>
                </a:solidFill>
              </a:rPr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29562-4F81-2AE4-40B5-C54DC570F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lang="en-US" sz="2100" b="1" spc="45" dirty="0">
                <a:solidFill>
                  <a:srgbClr val="4A2D83"/>
                </a:solidFill>
                <a:latin typeface="Arial"/>
                <a:cs typeface="Arial"/>
              </a:rPr>
              <a:t>While</a:t>
            </a:r>
            <a:r>
              <a:rPr lang="en-US" sz="21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30" dirty="0">
                <a:solidFill>
                  <a:srgbClr val="4A2D83"/>
                </a:solidFill>
                <a:latin typeface="Arial"/>
                <a:cs typeface="Arial"/>
              </a:rPr>
              <a:t>reading,</a:t>
            </a:r>
            <a:r>
              <a:rPr lang="en-US" sz="21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15" dirty="0">
                <a:solidFill>
                  <a:srgbClr val="4A2D83"/>
                </a:solidFill>
                <a:latin typeface="Arial"/>
                <a:cs typeface="Arial"/>
              </a:rPr>
              <a:t>consider</a:t>
            </a:r>
            <a:r>
              <a:rPr lang="en-US" sz="21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50" dirty="0">
                <a:solidFill>
                  <a:srgbClr val="4A2D83"/>
                </a:solidFill>
                <a:latin typeface="Arial"/>
                <a:cs typeface="Arial"/>
              </a:rPr>
              <a:t>how</a:t>
            </a:r>
            <a:r>
              <a:rPr lang="en-US" sz="21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21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60" dirty="0">
                <a:solidFill>
                  <a:srgbClr val="4A2D83"/>
                </a:solidFill>
                <a:latin typeface="Arial"/>
                <a:cs typeface="Arial"/>
              </a:rPr>
              <a:t>might</a:t>
            </a:r>
            <a:r>
              <a:rPr lang="en-US" sz="21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70" dirty="0">
                <a:solidFill>
                  <a:srgbClr val="4A2D83"/>
                </a:solidFill>
                <a:latin typeface="Arial"/>
                <a:cs typeface="Arial"/>
              </a:rPr>
              <a:t>adapt</a:t>
            </a:r>
            <a:r>
              <a:rPr lang="en-US" sz="21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21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40" dirty="0">
                <a:solidFill>
                  <a:srgbClr val="4A2D83"/>
                </a:solidFill>
                <a:latin typeface="Arial"/>
                <a:cs typeface="Arial"/>
              </a:rPr>
              <a:t>forthcoming</a:t>
            </a:r>
            <a:r>
              <a:rPr lang="en-US" sz="21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70" dirty="0">
                <a:solidFill>
                  <a:srgbClr val="4A2D83"/>
                </a:solidFill>
                <a:latin typeface="Arial"/>
                <a:cs typeface="Arial"/>
              </a:rPr>
              <a:t>work</a:t>
            </a:r>
            <a:r>
              <a:rPr lang="en-US" sz="21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21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21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65" dirty="0">
                <a:solidFill>
                  <a:srgbClr val="4A2D83"/>
                </a:solidFill>
                <a:latin typeface="Arial"/>
                <a:cs typeface="Arial"/>
              </a:rPr>
              <a:t>way</a:t>
            </a:r>
            <a:r>
              <a:rPr lang="en-US" sz="21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endParaRPr lang="en-US"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lang="en-US" sz="21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21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21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45" dirty="0">
                <a:solidFill>
                  <a:srgbClr val="4A2D83"/>
                </a:solidFill>
                <a:latin typeface="Arial"/>
                <a:cs typeface="Arial"/>
              </a:rPr>
              <a:t>structured.</a:t>
            </a:r>
            <a:r>
              <a:rPr lang="en-US" sz="21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-1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lang="en-US" sz="21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15" dirty="0">
                <a:solidFill>
                  <a:srgbClr val="4A2D83"/>
                </a:solidFill>
                <a:latin typeface="Arial"/>
                <a:cs typeface="Arial"/>
              </a:rPr>
              <a:t>includes</a:t>
            </a:r>
            <a:r>
              <a:rPr lang="en-US" sz="21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55" dirty="0">
                <a:solidFill>
                  <a:srgbClr val="4A2D83"/>
                </a:solidFill>
                <a:latin typeface="Arial"/>
                <a:cs typeface="Arial"/>
              </a:rPr>
              <a:t>thinking</a:t>
            </a:r>
            <a:r>
              <a:rPr lang="en-US" sz="2100" b="1" spc="-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100" b="1" spc="40" dirty="0">
                <a:solidFill>
                  <a:srgbClr val="4A2D83"/>
                </a:solidFill>
                <a:latin typeface="Arial"/>
                <a:cs typeface="Arial"/>
              </a:rPr>
              <a:t>about:</a:t>
            </a:r>
            <a:endParaRPr lang="en-US" sz="2100" dirty="0">
              <a:latin typeface="Arial"/>
              <a:cs typeface="Arial"/>
            </a:endParaRPr>
          </a:p>
          <a:p>
            <a:pPr marL="756285" marR="93980" indent="-287020">
              <a:lnSpc>
                <a:spcPct val="120000"/>
              </a:lnSpc>
              <a:spcBef>
                <a:spcPts val="6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Theory: </a:t>
            </a:r>
            <a:r>
              <a:rPr lang="en-US" sz="21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Note 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explicit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implicit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theories that 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link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activities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interventions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outcomes </a:t>
            </a:r>
            <a:r>
              <a:rPr lang="en-US" sz="21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whenever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possible. </a:t>
            </a:r>
            <a:r>
              <a:rPr lang="en-US" sz="2100" dirty="0">
                <a:solidFill>
                  <a:srgbClr val="4A2D83"/>
                </a:solidFill>
                <a:latin typeface="Lucida Sans Unicode"/>
                <a:cs typeface="Lucida Sans Unicode"/>
              </a:rPr>
              <a:t>Break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down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theory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into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its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component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assumptions</a:t>
            </a:r>
            <a:r>
              <a:rPr lang="en-US" sz="21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1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hypotheses,</a:t>
            </a:r>
            <a:r>
              <a:rPr lang="en-US" sz="21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21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lang="en-US" sz="21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</a:t>
            </a:r>
            <a:r>
              <a:rPr lang="en-US" sz="21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lang="en-US" sz="21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21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seek</a:t>
            </a:r>
            <a:r>
              <a:rPr lang="en-US" sz="21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draw </a:t>
            </a:r>
            <a:r>
              <a:rPr lang="en-US" sz="21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21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1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literature.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1099185" marR="557530" lvl="1" indent="-172720">
              <a:lnSpc>
                <a:spcPct val="120000"/>
              </a:lnSpc>
              <a:spcBef>
                <a:spcPts val="615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reviewing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1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long-term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cash</a:t>
            </a:r>
            <a:r>
              <a:rPr lang="en-US" sz="21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transfers,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21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lang="en-US" sz="21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to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transfers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vary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program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characteristics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such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1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amount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duration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transfers.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756285" indent="-287020">
              <a:lnSpc>
                <a:spcPct val="100000"/>
              </a:lnSpc>
              <a:spcBef>
                <a:spcPts val="919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Language</a:t>
            </a:r>
            <a:r>
              <a:rPr lang="en-US" sz="21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used:</a:t>
            </a:r>
            <a:r>
              <a:rPr lang="en-US" sz="21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Pay</a:t>
            </a:r>
            <a:r>
              <a:rPr lang="en-US" sz="21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attention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1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</a:t>
            </a:r>
            <a:r>
              <a:rPr lang="en-US" sz="21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definitions</a:t>
            </a:r>
            <a:r>
              <a:rPr lang="en-US" sz="21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</a:t>
            </a:r>
            <a:r>
              <a:rPr lang="en-US" sz="21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756285">
              <a:lnSpc>
                <a:spcPct val="100000"/>
              </a:lnSpc>
              <a:spcBef>
                <a:spcPts val="340"/>
              </a:spcBef>
            </a:pP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21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1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1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1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x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ampl</a:t>
            </a:r>
            <a:r>
              <a:rPr lang="en-US" sz="21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1099185" marR="798830" lvl="1" indent="-172720">
              <a:lnSpc>
                <a:spcPct val="120000"/>
              </a:lnSpc>
              <a:spcBef>
                <a:spcPts val="615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lang="en-US" sz="21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growth</a:t>
            </a:r>
            <a:r>
              <a:rPr lang="en-US" sz="21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lang="en-US" sz="21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 </a:t>
            </a:r>
            <a:r>
              <a:rPr lang="en-US" sz="21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GDP,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GNI,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wages,</a:t>
            </a:r>
            <a:r>
              <a:rPr lang="en-US" sz="21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income,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21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productivity.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1099185" marR="135890" lvl="1" indent="-172720">
              <a:lnSpc>
                <a:spcPct val="120000"/>
              </a:lnSpc>
              <a:spcBef>
                <a:spcPts val="600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1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incidence,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prevalence,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life</a:t>
            </a:r>
            <a:r>
              <a:rPr lang="en-US" sz="21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expectancy,</a:t>
            </a:r>
            <a:r>
              <a:rPr lang="en-US" sz="21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1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 </a:t>
            </a:r>
            <a:r>
              <a:rPr lang="en-US" sz="21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disease</a:t>
            </a:r>
            <a:r>
              <a:rPr lang="en-US" sz="21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counts</a:t>
            </a:r>
            <a:r>
              <a:rPr lang="en-US" sz="21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indexes</a:t>
            </a:r>
            <a:r>
              <a:rPr lang="en-US" sz="21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1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US" sz="2100" dirty="0">
              <a:latin typeface="Lucida Sans Unicode"/>
              <a:cs typeface="Lucida Sans Unicode"/>
            </a:endParaRPr>
          </a:p>
          <a:p>
            <a:pPr marL="182880" algn="just">
              <a:lnSpc>
                <a:spcPct val="100000"/>
              </a:lnSpc>
              <a:spcBef>
                <a:spcPts val="1205"/>
              </a:spcBef>
            </a:pPr>
            <a:r>
              <a:rPr lang="en-US" sz="1900" i="1" spc="-15" dirty="0">
                <a:solidFill>
                  <a:srgbClr val="FF6600"/>
                </a:solidFill>
                <a:latin typeface="Trebuchet MS"/>
                <a:cs typeface="Trebuchet MS"/>
              </a:rPr>
              <a:t>Example</a:t>
            </a:r>
            <a:r>
              <a:rPr lang="en-US" sz="1900" i="1" spc="-8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10" dirty="0">
                <a:solidFill>
                  <a:srgbClr val="FF6600"/>
                </a:solidFill>
                <a:latin typeface="Trebuchet MS"/>
                <a:cs typeface="Trebuchet MS"/>
              </a:rPr>
              <a:t>questions</a:t>
            </a:r>
            <a:r>
              <a:rPr lang="en-US" sz="1900" i="1" spc="-8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50" dirty="0">
                <a:solidFill>
                  <a:srgbClr val="FF6600"/>
                </a:solidFill>
                <a:latin typeface="Trebuchet MS"/>
                <a:cs typeface="Trebuchet MS"/>
              </a:rPr>
              <a:t>targeted</a:t>
            </a:r>
            <a:r>
              <a:rPr lang="en-US" sz="1900" i="1" spc="-9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15" dirty="0">
                <a:solidFill>
                  <a:srgbClr val="FF6600"/>
                </a:solidFill>
                <a:latin typeface="Trebuchet MS"/>
                <a:cs typeface="Trebuchet MS"/>
              </a:rPr>
              <a:t>in</a:t>
            </a:r>
            <a:r>
              <a:rPr lang="en-US" sz="1900" i="1" spc="-5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25" dirty="0">
                <a:solidFill>
                  <a:srgbClr val="FF6600"/>
                </a:solidFill>
                <a:latin typeface="Trebuchet MS"/>
                <a:cs typeface="Trebuchet MS"/>
              </a:rPr>
              <a:t>preliminary</a:t>
            </a:r>
            <a:r>
              <a:rPr lang="en-US" sz="1900" i="1" spc="-9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10" dirty="0">
                <a:solidFill>
                  <a:srgbClr val="FF6600"/>
                </a:solidFill>
                <a:latin typeface="Trebuchet MS"/>
                <a:cs typeface="Trebuchet MS"/>
              </a:rPr>
              <a:t>searches</a:t>
            </a:r>
            <a:r>
              <a:rPr lang="en-US" sz="1900" i="1" spc="-9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900" i="1" spc="-40" dirty="0">
                <a:solidFill>
                  <a:srgbClr val="FF6600"/>
                </a:solidFill>
                <a:latin typeface="Trebuchet MS"/>
                <a:cs typeface="Trebuchet MS"/>
              </a:rPr>
              <a:t>for </a:t>
            </a:r>
            <a:r>
              <a:rPr lang="en-US" sz="1900" i="1" u="sng" spc="-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EPAR</a:t>
            </a:r>
            <a:r>
              <a:rPr lang="en-US" sz="1900" i="1" u="sng" spc="-6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900" i="1" u="sng" spc="-4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</a:t>
            </a:r>
            <a:r>
              <a:rPr lang="en-US" sz="1900" i="1" u="sng" spc="-10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9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r>
              <a:rPr lang="en-US" sz="1900" i="1" u="sng" spc="-8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900" i="1" u="sng" spc="20" dirty="0">
                <a:solidFill>
                  <a:srgbClr val="FF660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#293</a:t>
            </a:r>
            <a:r>
              <a:rPr lang="en-US" sz="1900" i="1" spc="20" dirty="0">
                <a:solidFill>
                  <a:srgbClr val="FF6600"/>
                </a:solidFill>
                <a:latin typeface="Trebuchet MS"/>
                <a:cs typeface="Trebuchet MS"/>
              </a:rPr>
              <a:t>: </a:t>
            </a:r>
            <a:r>
              <a:rPr lang="en-US" sz="1900" spc="15" dirty="0">
                <a:solidFill>
                  <a:srgbClr val="FF6600"/>
                </a:solidFill>
                <a:latin typeface="Lucida Sans Unicode"/>
                <a:cs typeface="Lucida Sans Unicode"/>
              </a:rPr>
              <a:t>What</a:t>
            </a:r>
            <a:r>
              <a:rPr lang="en-US" sz="19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are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</a:t>
            </a:r>
            <a:r>
              <a:rPr lang="en-US" sz="19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various</a:t>
            </a:r>
            <a:r>
              <a:rPr lang="en-US" sz="19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1900" spc="-12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</a:t>
            </a:r>
            <a:r>
              <a:rPr lang="en-US" sz="19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9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(such</a:t>
            </a:r>
            <a:r>
              <a:rPr lang="en-US" sz="19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as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DALYs)</a:t>
            </a:r>
            <a:r>
              <a:rPr lang="en-US" sz="19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and</a:t>
            </a:r>
            <a:r>
              <a:rPr lang="en-US" sz="19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</a:t>
            </a:r>
            <a:r>
              <a:rPr lang="en-US" sz="19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growth</a:t>
            </a:r>
            <a:r>
              <a:rPr lang="en-US" sz="19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(such</a:t>
            </a:r>
            <a:r>
              <a:rPr lang="en-US" sz="19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as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dirty="0">
                <a:solidFill>
                  <a:srgbClr val="FF6600"/>
                </a:solidFill>
                <a:latin typeface="Lucida Sans Unicode"/>
                <a:cs typeface="Lucida Sans Unicode"/>
              </a:rPr>
              <a:t>GDP)? </a:t>
            </a:r>
            <a:r>
              <a:rPr lang="en-US" sz="1900" spc="-43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15" dirty="0">
                <a:solidFill>
                  <a:srgbClr val="FF6600"/>
                </a:solidFill>
                <a:latin typeface="Lucida Sans Unicode"/>
                <a:cs typeface="Lucida Sans Unicode"/>
              </a:rPr>
              <a:t>What</a:t>
            </a:r>
            <a:r>
              <a:rPr lang="en-US" sz="19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are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</a:t>
            </a:r>
            <a:r>
              <a:rPr lang="en-US" sz="19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hypothesized</a:t>
            </a:r>
            <a:r>
              <a:rPr lang="en-US" sz="19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pathways</a:t>
            </a:r>
            <a:r>
              <a:rPr lang="en-US" sz="19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between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19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and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growth,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such</a:t>
            </a:r>
            <a:r>
              <a:rPr lang="en-US" sz="19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as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</a:t>
            </a:r>
            <a:r>
              <a:rPr lang="en-US" sz="19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effect</a:t>
            </a:r>
            <a:r>
              <a:rPr lang="en-US" sz="1900" spc="-9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 </a:t>
            </a:r>
            <a:r>
              <a:rPr lang="en-US" sz="1900" spc="-43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ma</a:t>
            </a:r>
            <a:r>
              <a:rPr lang="en-US" sz="19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l</a:t>
            </a:r>
            <a:r>
              <a:rPr lang="en-US" sz="19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nutr</a:t>
            </a:r>
            <a:r>
              <a:rPr lang="en-US" sz="19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tio</a:t>
            </a:r>
            <a:r>
              <a:rPr lang="en-US" sz="19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n</a:t>
            </a:r>
            <a:r>
              <a:rPr lang="en-US" sz="19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on</a:t>
            </a:r>
            <a:r>
              <a:rPr lang="en-US" sz="19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wages</a:t>
            </a:r>
            <a:r>
              <a:rPr lang="en-US" sz="19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an</a:t>
            </a:r>
            <a:r>
              <a:rPr lang="en-US" sz="19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d</a:t>
            </a:r>
            <a:r>
              <a:rPr lang="en-US" sz="19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p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9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o</a:t>
            </a:r>
            <a:r>
              <a:rPr lang="en-US" sz="19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d</a:t>
            </a:r>
            <a:r>
              <a:rPr lang="en-US" sz="19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uc</a:t>
            </a:r>
            <a:r>
              <a:rPr lang="en-US" sz="19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tiv</a:t>
            </a:r>
            <a:r>
              <a:rPr lang="en-US" sz="19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9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</a:t>
            </a:r>
            <a:r>
              <a:rPr lang="en-US" sz="19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y</a:t>
            </a:r>
            <a:r>
              <a:rPr lang="en-US" sz="1900" spc="10" dirty="0">
                <a:solidFill>
                  <a:srgbClr val="FF6600"/>
                </a:solidFill>
                <a:latin typeface="Lucida Sans Unicode"/>
                <a:cs typeface="Lucida Sans Unicode"/>
              </a:rPr>
              <a:t>?</a:t>
            </a:r>
            <a:endParaRPr lang="en-US" sz="19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12700" marR="144780">
              <a:lnSpc>
                <a:spcPct val="120000"/>
              </a:lnSpc>
              <a:spcBef>
                <a:spcPts val="95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0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BAD7-1B14-3E10-B4F1-297289B0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5" dirty="0">
                <a:solidFill>
                  <a:srgbClr val="4A2D83"/>
                </a:solidFill>
              </a:rPr>
              <a:t>Create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15" dirty="0">
                <a:solidFill>
                  <a:srgbClr val="4A2D83"/>
                </a:solidFill>
              </a:rPr>
              <a:t>Str</a:t>
            </a:r>
            <a:r>
              <a:rPr lang="en-IN" b="1" spc="-30" dirty="0">
                <a:solidFill>
                  <a:srgbClr val="4A2D83"/>
                </a:solidFill>
              </a:rPr>
              <a:t>ings</a:t>
            </a:r>
            <a:r>
              <a:rPr lang="en-IN" b="1" spc="-250" dirty="0">
                <a:solidFill>
                  <a:srgbClr val="4A2D83"/>
                </a:solidFill>
              </a:rPr>
              <a:t> </a:t>
            </a:r>
            <a:r>
              <a:rPr lang="en-IN" b="1" spc="-275" dirty="0">
                <a:solidFill>
                  <a:srgbClr val="4A2D83"/>
                </a:solidFill>
              </a:rPr>
              <a:t>(1/4)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3CF0-CED8-1E91-601B-AB7064E07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12700" marR="272415">
              <a:lnSpc>
                <a:spcPct val="110100"/>
              </a:lnSpc>
              <a:spcBef>
                <a:spcPts val="95"/>
              </a:spcBef>
            </a:pP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0" dirty="0">
                <a:solidFill>
                  <a:srgbClr val="4A2D83"/>
                </a:solidFill>
                <a:latin typeface="Arial"/>
                <a:cs typeface="Arial"/>
              </a:rPr>
              <a:t>when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creating</a:t>
            </a:r>
            <a:r>
              <a:rPr lang="en-US" sz="3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3800" b="1" spc="-20" dirty="0">
                <a:solidFill>
                  <a:srgbClr val="4A2D83"/>
                </a:solidFill>
                <a:latin typeface="Arial"/>
                <a:cs typeface="Arial"/>
              </a:rPr>
              <a:t> is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exclude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lang="en-US" sz="38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0" dirty="0">
                <a:solidFill>
                  <a:srgbClr val="4A2D83"/>
                </a:solidFill>
                <a:latin typeface="Arial"/>
                <a:cs typeface="Arial"/>
              </a:rPr>
              <a:t>many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0" dirty="0">
                <a:solidFill>
                  <a:srgbClr val="4A2D83"/>
                </a:solidFill>
                <a:latin typeface="Arial"/>
                <a:cs typeface="Arial"/>
              </a:rPr>
              <a:t>irrelevant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-10" dirty="0">
                <a:solidFill>
                  <a:srgbClr val="4A2D83"/>
                </a:solidFill>
                <a:latin typeface="Arial"/>
                <a:cs typeface="Arial"/>
              </a:rPr>
              <a:t>sources</a:t>
            </a:r>
            <a:r>
              <a:rPr lang="en-US" sz="38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-10" dirty="0">
                <a:solidFill>
                  <a:srgbClr val="4A2D83"/>
                </a:solidFill>
                <a:latin typeface="Arial"/>
                <a:cs typeface="Arial"/>
              </a:rPr>
              <a:t>as </a:t>
            </a:r>
            <a:r>
              <a:rPr lang="en-US" sz="38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dirty="0">
                <a:solidFill>
                  <a:srgbClr val="4A2D83"/>
                </a:solidFill>
                <a:latin typeface="Arial"/>
                <a:cs typeface="Arial"/>
              </a:rPr>
              <a:t>possible </a:t>
            </a:r>
            <a:r>
              <a:rPr lang="en-US" sz="3800" b="1" spc="80" dirty="0">
                <a:solidFill>
                  <a:srgbClr val="4A2D83"/>
                </a:solidFill>
                <a:latin typeface="Arial"/>
                <a:cs typeface="Arial"/>
              </a:rPr>
              <a:t>without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excluding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lang="en-US" sz="3800" b="1" spc="-5" dirty="0">
                <a:solidFill>
                  <a:srgbClr val="4A2D83"/>
                </a:solidFill>
                <a:latin typeface="Arial"/>
                <a:cs typeface="Arial"/>
              </a:rPr>
              <a:t>sources,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while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covering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different </a:t>
            </a:r>
            <a:r>
              <a:rPr lang="en-US" sz="3800" b="1" spc="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aspects/wordings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topics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0" dirty="0">
                <a:solidFill>
                  <a:srgbClr val="4A2D83"/>
                </a:solidFill>
                <a:latin typeface="Arial"/>
                <a:cs typeface="Arial"/>
              </a:rPr>
              <a:t>relating</a:t>
            </a:r>
            <a:r>
              <a:rPr lang="en-US" sz="38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question(s).</a:t>
            </a:r>
            <a:endParaRPr lang="en-US" sz="3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3800" dirty="0">
              <a:latin typeface="Arial"/>
              <a:cs typeface="Arial"/>
            </a:endParaRPr>
          </a:p>
          <a:p>
            <a:pPr marL="355600" marR="5715" indent="-342900">
              <a:lnSpc>
                <a:spcPct val="11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Develop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string keywords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based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on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research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question(s)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3800" b="1" spc="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preliminary</a:t>
            </a:r>
            <a:r>
              <a:rPr lang="en-US" sz="38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" dirty="0">
                <a:solidFill>
                  <a:srgbClr val="4A2D83"/>
                </a:solidFill>
                <a:latin typeface="Arial"/>
                <a:cs typeface="Arial"/>
              </a:rPr>
              <a:t>searches.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Think</a:t>
            </a:r>
            <a:r>
              <a:rPr lang="en-US" sz="3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carefully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about</a:t>
            </a:r>
            <a:r>
              <a:rPr lang="en-US" sz="38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terms,</a:t>
            </a:r>
            <a:r>
              <a:rPr lang="en-US" sz="3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making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sure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0" dirty="0">
                <a:solidFill>
                  <a:srgbClr val="4A2D83"/>
                </a:solidFill>
                <a:latin typeface="Arial"/>
                <a:cs typeface="Arial"/>
              </a:rPr>
              <a:t>they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relate </a:t>
            </a:r>
            <a:r>
              <a:rPr lang="en-US" sz="38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specifically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questions.</a:t>
            </a:r>
            <a:endParaRPr lang="en-US" sz="3800" dirty="0">
              <a:latin typeface="Arial"/>
              <a:cs typeface="Arial"/>
            </a:endParaRPr>
          </a:p>
          <a:p>
            <a:pPr marL="355600" marR="5080" indent="-342900">
              <a:lnSpc>
                <a:spcPct val="110000"/>
              </a:lnSpc>
              <a:spcBef>
                <a:spcPts val="3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3800" b="1" spc="-5" dirty="0">
                <a:solidFill>
                  <a:srgbClr val="4A2D83"/>
                </a:solidFill>
                <a:latin typeface="Arial"/>
                <a:cs typeface="Arial"/>
              </a:rPr>
              <a:t>Try </a:t>
            </a:r>
            <a:r>
              <a:rPr lang="en-US" sz="3800" b="1" spc="70" dirty="0">
                <a:solidFill>
                  <a:srgbClr val="4A2D83"/>
                </a:solidFill>
                <a:latin typeface="Arial"/>
                <a:cs typeface="Arial"/>
              </a:rPr>
              <a:t>out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lang="en-US" sz="3800" b="1" spc="70" dirty="0">
                <a:solidFill>
                  <a:srgbClr val="4A2D83"/>
                </a:solidFill>
                <a:latin typeface="Arial"/>
                <a:cs typeface="Arial"/>
              </a:rPr>
              <a:t>few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different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versions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of your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string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3800" b="1" spc="-5" dirty="0">
                <a:solidFill>
                  <a:srgbClr val="4A2D83"/>
                </a:solidFill>
                <a:latin typeface="Arial"/>
                <a:cs typeface="Arial"/>
              </a:rPr>
              <a:t>scan </a:t>
            </a:r>
            <a:r>
              <a:rPr lang="en-US" sz="38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3800" b="1" spc="50" dirty="0">
                <a:solidFill>
                  <a:srgbClr val="4A2D83"/>
                </a:solidFill>
                <a:latin typeface="Arial"/>
                <a:cs typeface="Arial"/>
              </a:rPr>
              <a:t>first </a:t>
            </a:r>
            <a:r>
              <a:rPr lang="en-US" sz="3800" b="1" spc="5" dirty="0">
                <a:solidFill>
                  <a:srgbClr val="4A2D83"/>
                </a:solidFill>
                <a:latin typeface="Arial"/>
                <a:cs typeface="Arial"/>
              </a:rPr>
              <a:t>~10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results,</a:t>
            </a:r>
            <a:r>
              <a:rPr lang="en-US" sz="3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dirty="0">
                <a:solidFill>
                  <a:srgbClr val="4A2D83"/>
                </a:solidFill>
                <a:latin typeface="Arial"/>
                <a:cs typeface="Arial"/>
              </a:rPr>
              <a:t>see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which</a:t>
            </a:r>
            <a:r>
              <a:rPr lang="en-US" sz="38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produce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greatest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proportion</a:t>
            </a:r>
            <a:r>
              <a:rPr lang="en-US" sz="38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3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results. </a:t>
            </a:r>
            <a:r>
              <a:rPr lang="en-US" sz="38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-5" dirty="0">
                <a:solidFill>
                  <a:srgbClr val="4A2D83"/>
                </a:solidFill>
                <a:latin typeface="Arial"/>
                <a:cs typeface="Arial"/>
              </a:rPr>
              <a:t>Try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0" dirty="0">
                <a:solidFill>
                  <a:srgbClr val="4A2D83"/>
                </a:solidFill>
                <a:latin typeface="Arial"/>
                <a:cs typeface="Arial"/>
              </a:rPr>
              <a:t>including</a:t>
            </a:r>
            <a:r>
              <a:rPr lang="en-US" sz="3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38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" dirty="0">
                <a:solidFill>
                  <a:srgbClr val="4A2D83"/>
                </a:solidFill>
                <a:latin typeface="Arial"/>
                <a:cs typeface="Arial"/>
              </a:rPr>
              <a:t>versions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key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0" dirty="0">
                <a:solidFill>
                  <a:srgbClr val="4A2D83"/>
                </a:solidFill>
                <a:latin typeface="Arial"/>
                <a:cs typeface="Arial"/>
              </a:rPr>
              <a:t>terms.</a:t>
            </a:r>
            <a:endParaRPr lang="en-US" sz="3800" dirty="0">
              <a:latin typeface="Arial"/>
              <a:cs typeface="Arial"/>
            </a:endParaRPr>
          </a:p>
          <a:p>
            <a:pPr marL="355600" marR="221615" indent="-342900">
              <a:lnSpc>
                <a:spcPct val="110000"/>
              </a:lnSpc>
              <a:spcBef>
                <a:spcPts val="3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3800" b="1" dirty="0">
                <a:solidFill>
                  <a:srgbClr val="4A2D83"/>
                </a:solidFill>
                <a:latin typeface="Arial"/>
                <a:cs typeface="Arial"/>
              </a:rPr>
              <a:t>Based</a:t>
            </a:r>
            <a:r>
              <a:rPr lang="en-US" sz="3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0" dirty="0">
                <a:solidFill>
                  <a:srgbClr val="4A2D83"/>
                </a:solidFill>
                <a:latin typeface="Arial"/>
                <a:cs typeface="Arial"/>
              </a:rPr>
              <a:t>initial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" dirty="0">
                <a:solidFill>
                  <a:srgbClr val="4A2D83"/>
                </a:solidFill>
                <a:latin typeface="Arial"/>
                <a:cs typeface="Arial"/>
              </a:rPr>
              <a:t>searches,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-5" dirty="0">
                <a:solidFill>
                  <a:srgbClr val="4A2D83"/>
                </a:solidFill>
                <a:latin typeface="Arial"/>
                <a:cs typeface="Arial"/>
              </a:rPr>
              <a:t>choose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3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string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lang="en-US" sz="3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5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90" dirty="0">
                <a:solidFill>
                  <a:srgbClr val="4A2D83"/>
                </a:solidFill>
                <a:latin typeface="Arial"/>
                <a:cs typeface="Arial"/>
              </a:rPr>
              <a:t>with </a:t>
            </a:r>
            <a:r>
              <a:rPr lang="en-US" sz="38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lang="en-US" sz="3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45" dirty="0">
                <a:solidFill>
                  <a:srgbClr val="4A2D83"/>
                </a:solidFill>
                <a:latin typeface="Arial"/>
                <a:cs typeface="Arial"/>
              </a:rPr>
              <a:t>database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35" dirty="0">
                <a:solidFill>
                  <a:srgbClr val="4A2D83"/>
                </a:solidFill>
                <a:latin typeface="Arial"/>
                <a:cs typeface="Arial"/>
              </a:rPr>
              <a:t>(your</a:t>
            </a:r>
            <a:r>
              <a:rPr lang="en-US" sz="3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5" dirty="0">
                <a:solidFill>
                  <a:srgbClr val="4A2D83"/>
                </a:solidFill>
                <a:latin typeface="Arial"/>
                <a:cs typeface="Arial"/>
              </a:rPr>
              <a:t>primary</a:t>
            </a:r>
            <a:r>
              <a:rPr lang="en-US" sz="3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60" dirty="0">
                <a:solidFill>
                  <a:srgbClr val="4A2D83"/>
                </a:solidFill>
                <a:latin typeface="Arial"/>
                <a:cs typeface="Arial"/>
              </a:rPr>
              <a:t>initial</a:t>
            </a:r>
            <a:r>
              <a:rPr lang="en-US" sz="38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38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3800" b="1" spc="25" dirty="0">
                <a:solidFill>
                  <a:srgbClr val="4A2D83"/>
                </a:solidFill>
                <a:latin typeface="Arial"/>
                <a:cs typeface="Arial"/>
              </a:rPr>
              <a:t>string).</a:t>
            </a:r>
            <a:endParaRPr lang="en-US" sz="3800" dirty="0">
              <a:latin typeface="Arial"/>
              <a:cs typeface="Arial"/>
            </a:endParaRPr>
          </a:p>
          <a:p>
            <a:pPr marL="1099185" marR="131445" lvl="1" indent="-343535">
              <a:lnSpc>
                <a:spcPct val="110000"/>
              </a:lnSpc>
              <a:spcBef>
                <a:spcPts val="635"/>
              </a:spcBef>
              <a:buAutoNum type="alphaLcPeriod"/>
              <a:tabLst>
                <a:tab pos="1099185" algn="l"/>
                <a:tab pos="1099820" algn="l"/>
              </a:tabLst>
            </a:pP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 </a:t>
            </a:r>
            <a:r>
              <a:rPr lang="en-US" sz="3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 be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best </a:t>
            </a:r>
            <a:r>
              <a:rPr lang="en-US" sz="3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answered </a:t>
            </a:r>
            <a:r>
              <a:rPr lang="en-US" sz="3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separate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searches,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</a:t>
            </a:r>
            <a:r>
              <a:rPr lang="en-US" sz="3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separate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targeting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aspect</a:t>
            </a:r>
            <a:r>
              <a:rPr lang="en-US" sz="3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3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3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</a:t>
            </a:r>
            <a:r>
              <a:rPr lang="en-US" sz="3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specifically.</a:t>
            </a:r>
            <a:endParaRPr lang="en-US" sz="3800" dirty="0">
              <a:latin typeface="Lucida Sans Unicode"/>
              <a:cs typeface="Lucida Sans Unicode"/>
            </a:endParaRPr>
          </a:p>
          <a:p>
            <a:pPr marL="1099185" marR="67945" lvl="1" indent="-343535">
              <a:lnSpc>
                <a:spcPct val="110000"/>
              </a:lnSpc>
              <a:spcBef>
                <a:spcPts val="640"/>
              </a:spcBef>
              <a:buAutoNum type="alphaLcPeriod"/>
              <a:tabLst>
                <a:tab pos="1099185" algn="l"/>
                <a:tab pos="1099820" algn="l"/>
              </a:tabLst>
            </a:pPr>
            <a:r>
              <a:rPr lang="en-US" sz="38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3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3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choose</a:t>
            </a:r>
            <a:r>
              <a:rPr lang="en-US" sz="3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3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</a:t>
            </a:r>
            <a:r>
              <a:rPr lang="en-US" sz="3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targeted</a:t>
            </a:r>
            <a:r>
              <a:rPr lang="en-US" sz="3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supplemental</a:t>
            </a:r>
            <a:r>
              <a:rPr lang="en-US" sz="3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3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lang="en-US" sz="3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find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gaps </a:t>
            </a:r>
            <a:r>
              <a:rPr lang="en-US" sz="38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3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3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lang="en-US" sz="3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3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lang="en-US" sz="3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after</a:t>
            </a:r>
            <a:r>
              <a:rPr lang="en-US" sz="3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3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</a:t>
            </a:r>
            <a:r>
              <a:rPr lang="en-US" sz="3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round</a:t>
            </a:r>
            <a:r>
              <a:rPr lang="en-US" sz="3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3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38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3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3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screening.</a:t>
            </a:r>
            <a:endParaRPr lang="en-US" sz="3800" dirty="0">
              <a:latin typeface="Lucida Sans Unicode"/>
              <a:cs typeface="Lucida Sans Unicode"/>
            </a:endParaRPr>
          </a:p>
          <a:p>
            <a:pPr marL="182880" marR="956944">
              <a:lnSpc>
                <a:spcPct val="110000"/>
              </a:lnSpc>
              <a:spcBef>
                <a:spcPts val="560"/>
              </a:spcBef>
            </a:pP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Example </a:t>
            </a:r>
            <a:r>
              <a:rPr lang="en-US" sz="35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search 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string </a:t>
            </a:r>
            <a:r>
              <a:rPr lang="en-US" sz="35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for </a:t>
            </a:r>
            <a:r>
              <a:rPr lang="en-US" sz="3500" u="sng" spc="-2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EPAR </a:t>
            </a:r>
            <a:r>
              <a:rPr lang="en-US" sz="3500" u="sng" spc="-5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 </a:t>
            </a:r>
            <a:r>
              <a:rPr lang="en-US" sz="3500" u="sng" spc="-2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 </a:t>
            </a:r>
            <a:r>
              <a:rPr lang="en-US" sz="3500" u="sng" spc="-60" dirty="0">
                <a:solidFill>
                  <a:srgbClr val="FF660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#293</a:t>
            </a:r>
            <a:r>
              <a:rPr lang="en-US" sz="35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: </a:t>
            </a:r>
            <a:r>
              <a:rPr lang="en-US" sz="3500" i="1" spc="-35" dirty="0">
                <a:solidFill>
                  <a:srgbClr val="FF6600"/>
                </a:solidFill>
                <a:latin typeface="Trebuchet MS"/>
                <a:cs typeface="Trebuchet MS"/>
              </a:rPr>
              <a:t>("Healthy </a:t>
            </a:r>
            <a:r>
              <a:rPr lang="en-US" sz="3500" i="1" spc="-90" dirty="0">
                <a:solidFill>
                  <a:srgbClr val="FF6600"/>
                </a:solidFill>
                <a:latin typeface="Trebuchet MS"/>
                <a:cs typeface="Trebuchet MS"/>
              </a:rPr>
              <a:t>life </a:t>
            </a:r>
            <a:r>
              <a:rPr lang="en-US" sz="3500" i="1" spc="-20" dirty="0">
                <a:solidFill>
                  <a:srgbClr val="FF6600"/>
                </a:solidFill>
                <a:latin typeface="Trebuchet MS"/>
                <a:cs typeface="Trebuchet MS"/>
              </a:rPr>
              <a:t>expectancy"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 </a:t>
            </a:r>
            <a:r>
              <a:rPr lang="en-US" sz="3500" i="1" spc="-5" dirty="0">
                <a:solidFill>
                  <a:srgbClr val="FF6600"/>
                </a:solidFill>
                <a:latin typeface="Trebuchet MS"/>
                <a:cs typeface="Trebuchet MS"/>
              </a:rPr>
              <a:t>HALE*)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AND </a:t>
            </a:r>
            <a:r>
              <a:rPr lang="en-US" sz="3500" i="1" spc="-38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-15" dirty="0">
                <a:solidFill>
                  <a:srgbClr val="FF6600"/>
                </a:solidFill>
                <a:latin typeface="Trebuchet MS"/>
                <a:cs typeface="Trebuchet MS"/>
              </a:rPr>
              <a:t>("economic</a:t>
            </a:r>
            <a:r>
              <a:rPr lang="en-US" sz="3500" i="1" spc="-6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-20" dirty="0">
                <a:solidFill>
                  <a:srgbClr val="FF6600"/>
                </a:solidFill>
                <a:latin typeface="Trebuchet MS"/>
                <a:cs typeface="Trebuchet MS"/>
              </a:rPr>
              <a:t>growth"</a:t>
            </a:r>
            <a:r>
              <a:rPr lang="en-US" sz="3500" i="1" spc="-4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</a:t>
            </a:r>
            <a:r>
              <a:rPr lang="en-US" sz="3500" i="1" spc="-6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25" dirty="0">
                <a:solidFill>
                  <a:srgbClr val="FF6600"/>
                </a:solidFill>
                <a:latin typeface="Trebuchet MS"/>
                <a:cs typeface="Trebuchet MS"/>
              </a:rPr>
              <a:t>GDP</a:t>
            </a:r>
            <a:r>
              <a:rPr lang="en-US" sz="3500" i="1" spc="-5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</a:t>
            </a:r>
            <a:r>
              <a:rPr lang="en-US" sz="3500" i="1" spc="-6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20" dirty="0">
                <a:solidFill>
                  <a:srgbClr val="FF6600"/>
                </a:solidFill>
                <a:latin typeface="Trebuchet MS"/>
                <a:cs typeface="Trebuchet MS"/>
              </a:rPr>
              <a:t>GNI</a:t>
            </a:r>
            <a:r>
              <a:rPr lang="en-US" sz="3500" i="1" spc="-5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</a:t>
            </a:r>
            <a:r>
              <a:rPr lang="en-US" sz="3500" i="1" spc="-6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30" dirty="0">
                <a:solidFill>
                  <a:srgbClr val="FF6600"/>
                </a:solidFill>
                <a:latin typeface="Trebuchet MS"/>
                <a:cs typeface="Trebuchet MS"/>
              </a:rPr>
              <a:t>wage*</a:t>
            </a:r>
            <a:r>
              <a:rPr lang="en-US" sz="3500" i="1" spc="-3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</a:t>
            </a:r>
            <a:r>
              <a:rPr lang="en-US" sz="3500" i="1" spc="-6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25" dirty="0">
                <a:solidFill>
                  <a:srgbClr val="FF6600"/>
                </a:solidFill>
                <a:latin typeface="Trebuchet MS"/>
                <a:cs typeface="Trebuchet MS"/>
              </a:rPr>
              <a:t>income*</a:t>
            </a:r>
            <a:r>
              <a:rPr lang="en-US" sz="3500" i="1" spc="-4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15" dirty="0">
                <a:solidFill>
                  <a:srgbClr val="FF6600"/>
                </a:solidFill>
                <a:latin typeface="Trebuchet MS"/>
                <a:cs typeface="Trebuchet MS"/>
              </a:rPr>
              <a:t>OR</a:t>
            </a:r>
            <a:r>
              <a:rPr lang="en-US" sz="3500" i="1" spc="-3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3500" i="1" spc="-10" dirty="0" err="1">
                <a:solidFill>
                  <a:srgbClr val="FF6600"/>
                </a:solidFill>
                <a:latin typeface="Trebuchet MS"/>
                <a:cs typeface="Trebuchet MS"/>
              </a:rPr>
              <a:t>productiv</a:t>
            </a:r>
            <a:r>
              <a:rPr lang="en-US" sz="3500" i="1" spc="-10" dirty="0">
                <a:solidFill>
                  <a:srgbClr val="FF6600"/>
                </a:solidFill>
                <a:latin typeface="Trebuchet MS"/>
                <a:cs typeface="Trebuchet MS"/>
              </a:rPr>
              <a:t>*) </a:t>
            </a:r>
            <a:r>
              <a:rPr lang="en-US" sz="35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Other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keywords </a:t>
            </a:r>
            <a:r>
              <a:rPr lang="en-US" sz="35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used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included: 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morbidity,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health,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disease, 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Tuberculosis,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Rotavirus, </a:t>
            </a:r>
            <a:r>
              <a:rPr lang="en-US" sz="35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Malaria,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Polio, </a:t>
            </a:r>
            <a:r>
              <a:rPr lang="en-US" sz="35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HIV, </a:t>
            </a:r>
            <a:r>
              <a:rPr lang="en-US" sz="35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disease</a:t>
            </a:r>
            <a:r>
              <a:rPr lang="en-US" sz="35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index,</a:t>
            </a:r>
            <a:r>
              <a:rPr lang="en-US" sz="35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35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expectancy,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self-reported</a:t>
            </a:r>
            <a:r>
              <a:rPr lang="en-US" sz="35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health,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Healthy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35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Expectancy</a:t>
            </a:r>
            <a:r>
              <a:rPr lang="en-US" sz="35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(HALE),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Disability Adjusted </a:t>
            </a:r>
            <a:r>
              <a:rPr lang="en-US" sz="3500" spc="-3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35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Years</a:t>
            </a:r>
            <a:r>
              <a:rPr lang="en-US" sz="35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(DALY),</a:t>
            </a:r>
            <a:r>
              <a:rPr lang="en-US" sz="35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Quality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Adjusted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35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Year</a:t>
            </a:r>
            <a:r>
              <a:rPr lang="en-US" sz="35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(QALY),</a:t>
            </a:r>
            <a:r>
              <a:rPr lang="en-US" sz="35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Years</a:t>
            </a:r>
            <a:r>
              <a:rPr lang="en-US" sz="35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</a:t>
            </a:r>
            <a:r>
              <a:rPr lang="en-US" sz="35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35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Lost</a:t>
            </a:r>
            <a:r>
              <a:rPr lang="en-US" sz="35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35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(YLL),</a:t>
            </a:r>
            <a:r>
              <a:rPr lang="en-US" sz="35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 comorbidity</a:t>
            </a:r>
            <a:endParaRPr lang="en-US" sz="35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6102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DED90-6E18-437F-0A0B-A94ABFC5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5" dirty="0">
                <a:solidFill>
                  <a:srgbClr val="4A2D83"/>
                </a:solidFill>
              </a:rPr>
              <a:t>Create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15" dirty="0">
                <a:solidFill>
                  <a:srgbClr val="4A2D83"/>
                </a:solidFill>
              </a:rPr>
              <a:t>Str</a:t>
            </a:r>
            <a:r>
              <a:rPr lang="en-IN" b="1" spc="-30" dirty="0">
                <a:solidFill>
                  <a:srgbClr val="4A2D83"/>
                </a:solidFill>
              </a:rPr>
              <a:t>ings</a:t>
            </a:r>
            <a:r>
              <a:rPr lang="en-IN" b="1" spc="-250" dirty="0">
                <a:solidFill>
                  <a:srgbClr val="4A2D83"/>
                </a:solidFill>
              </a:rPr>
              <a:t> </a:t>
            </a:r>
            <a:r>
              <a:rPr lang="en-IN" b="1" spc="-225" dirty="0">
                <a:solidFill>
                  <a:srgbClr val="4A2D83"/>
                </a:solidFill>
              </a:rPr>
              <a:t>(2/4)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A9DD9-5D28-E78E-0521-06A8DAE93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600" b="1" spc="6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2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6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2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600" b="1" spc="10" dirty="0">
                <a:solidFill>
                  <a:srgbClr val="4A2D83"/>
                </a:solidFill>
                <a:latin typeface="Arial"/>
                <a:cs typeface="Arial"/>
              </a:rPr>
              <a:t>code-based</a:t>
            </a:r>
            <a:r>
              <a:rPr lang="en-US" sz="26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600" b="1" spc="40" dirty="0">
                <a:solidFill>
                  <a:srgbClr val="4A2D83"/>
                </a:solidFill>
                <a:latin typeface="Arial"/>
                <a:cs typeface="Arial"/>
              </a:rPr>
              <a:t>database,</a:t>
            </a:r>
            <a:r>
              <a:rPr lang="en-US" sz="2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26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600" b="1" spc="-5" dirty="0">
                <a:solidFill>
                  <a:srgbClr val="4A2D83"/>
                </a:solidFill>
                <a:latin typeface="Arial"/>
                <a:cs typeface="Arial"/>
              </a:rPr>
              <a:t>can:</a:t>
            </a:r>
            <a:endParaRPr lang="en-US" sz="26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8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600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Boolean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operators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“AND”</a:t>
            </a:r>
            <a:r>
              <a:rPr lang="en-US" sz="2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“OR”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“AND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NOT”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increase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2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accuracy.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run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replacing</a:t>
            </a:r>
            <a:r>
              <a:rPr lang="en-US" sz="26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“AND”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(more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restricted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results)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lang="en-US" sz="2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“OR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”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str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cte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ts)</a:t>
            </a:r>
            <a:r>
              <a:rPr lang="en-US" sz="26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rc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up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756285" marR="22225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lang="en-US" sz="2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asterisk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end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word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2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capture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variations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same </a:t>
            </a:r>
            <a:r>
              <a:rPr lang="en-US" sz="2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word—”</a:t>
            </a:r>
            <a:r>
              <a:rPr lang="en-US" sz="2600" spc="-10" dirty="0" err="1">
                <a:solidFill>
                  <a:srgbClr val="4A2D83"/>
                </a:solidFill>
                <a:latin typeface="Lucida Sans Unicode"/>
                <a:cs typeface="Lucida Sans Unicode"/>
              </a:rPr>
              <a:t>evaluat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*”</a:t>
            </a:r>
            <a:r>
              <a:rPr lang="en-US" sz="2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returns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“evaluate,”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“evaluation,”</a:t>
            </a:r>
            <a:r>
              <a:rPr lang="en-US" sz="2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“evaluating.”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756285" marR="372110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relevant,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use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proximity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operators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such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“W/n”,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which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restricts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words </a:t>
            </a:r>
            <a:r>
              <a:rPr lang="en-US" sz="2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between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two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words.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2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helpful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exploring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connection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between</a:t>
            </a:r>
            <a:r>
              <a:rPr lang="en-US" sz="2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two </a:t>
            </a:r>
            <a:r>
              <a:rPr lang="en-US" sz="2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distinct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concepts,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2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“mobile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money”</a:t>
            </a:r>
            <a:r>
              <a:rPr lang="en-US" sz="2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“regulation.”</a:t>
            </a:r>
            <a:r>
              <a:rPr lang="en-US" sz="26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Rules</a:t>
            </a:r>
            <a:r>
              <a:rPr lang="en-US" sz="2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thumb: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099185" lvl="2" indent="-17272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term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2600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ph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W/3,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W/4,</a:t>
            </a:r>
            <a:r>
              <a:rPr lang="en-US" sz="2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W/5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099185" lvl="2" indent="-17272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2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er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2600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</a:t>
            </a:r>
            <a:r>
              <a:rPr lang="en-US" sz="2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2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enc</a:t>
            </a:r>
            <a:r>
              <a:rPr lang="en-US" sz="2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9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26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/15</a:t>
            </a:r>
            <a:endParaRPr lang="en-US" sz="2600" dirty="0">
              <a:latin typeface="Lucida Sans Unicode"/>
              <a:cs typeface="Lucida Sans Unicode"/>
            </a:endParaRPr>
          </a:p>
          <a:p>
            <a:pPr marL="1099185" lvl="2" indent="-17272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1099820" algn="l"/>
              </a:tabLst>
            </a:pP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Find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same</a:t>
            </a:r>
            <a:r>
              <a:rPr lang="en-US" sz="2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paragraph:</a:t>
            </a:r>
            <a:r>
              <a:rPr lang="en-US" sz="2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W/50</a:t>
            </a:r>
          </a:p>
          <a:p>
            <a:pPr marL="1099185" lvl="2" indent="-17272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1099820" algn="l"/>
              </a:tabLst>
            </a:pPr>
            <a:endParaRPr lang="en-US" sz="1400" spc="-75" dirty="0">
              <a:solidFill>
                <a:srgbClr val="4A2D83"/>
              </a:solidFill>
              <a:latin typeface="Lucida Sans Unicode"/>
              <a:cs typeface="Lucida Sans Unicode"/>
            </a:endParaRPr>
          </a:p>
          <a:p>
            <a:pPr marL="182245">
              <a:lnSpc>
                <a:spcPct val="100000"/>
              </a:lnSpc>
              <a:spcBef>
                <a:spcPts val="1435"/>
              </a:spcBef>
            </a:pPr>
            <a:r>
              <a:rPr lang="en-US" sz="2200" i="1" spc="-15" dirty="0">
                <a:solidFill>
                  <a:srgbClr val="FF6600"/>
                </a:solidFill>
                <a:latin typeface="Trebuchet MS"/>
                <a:cs typeface="Trebuchet MS"/>
              </a:rPr>
              <a:t>Example</a:t>
            </a:r>
            <a:r>
              <a:rPr lang="en-US" sz="2200" i="1" spc="-8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2200" i="1" spc="-25" dirty="0">
                <a:solidFill>
                  <a:srgbClr val="FF6600"/>
                </a:solidFill>
                <a:latin typeface="Trebuchet MS"/>
                <a:cs typeface="Trebuchet MS"/>
              </a:rPr>
              <a:t>from</a:t>
            </a:r>
            <a:r>
              <a:rPr lang="en-US" sz="2200" i="1" spc="-7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2200" i="1" u="sng" spc="-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EPAR</a:t>
            </a:r>
            <a:r>
              <a:rPr lang="en-US" sz="2200" i="1" u="sng" spc="-8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200" i="1" u="sng" spc="-4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</a:t>
            </a:r>
            <a:r>
              <a:rPr lang="en-US" sz="2200" i="1" u="sng" spc="-11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2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</a:t>
            </a:r>
            <a:r>
              <a:rPr lang="en-US" sz="2200" i="1" u="sng" spc="-9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200" i="1" u="sng" spc="20" dirty="0">
                <a:solidFill>
                  <a:srgbClr val="FF660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#339</a:t>
            </a:r>
            <a:r>
              <a:rPr lang="en-US" sz="2200" i="1" spc="20" dirty="0">
                <a:solidFill>
                  <a:srgbClr val="FF6600"/>
                </a:solidFill>
                <a:latin typeface="Trebuchet MS"/>
                <a:cs typeface="Trebuchet MS"/>
              </a:rPr>
              <a:t>: </a:t>
            </a:r>
            <a:r>
              <a:rPr lang="en-US" sz="2200" spc="35" dirty="0">
                <a:solidFill>
                  <a:srgbClr val="FF6600"/>
                </a:solidFill>
                <a:latin typeface="Lucida Sans Unicode"/>
                <a:cs typeface="Lucida Sans Unicode"/>
              </a:rPr>
              <a:t>We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searched</a:t>
            </a:r>
            <a:r>
              <a:rPr lang="en-US" sz="22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for</a:t>
            </a:r>
            <a:r>
              <a:rPr lang="en-US" sz="2200" spc="-11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information</a:t>
            </a:r>
            <a:r>
              <a:rPr lang="en-US" sz="22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on</a:t>
            </a:r>
            <a:r>
              <a:rPr lang="en-US" sz="22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private</a:t>
            </a:r>
            <a:r>
              <a:rPr lang="en-US" sz="22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company</a:t>
            </a:r>
            <a:r>
              <a:rPr lang="en-US" sz="2200" spc="-11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22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on</a:t>
            </a:r>
            <a:r>
              <a:rPr lang="en-US" sz="22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orphan</a:t>
            </a:r>
            <a:r>
              <a:rPr lang="en-US" sz="22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crops,</a:t>
            </a:r>
            <a:r>
              <a:rPr lang="en-US" sz="22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including</a:t>
            </a:r>
            <a:r>
              <a:rPr lang="en-US" sz="2200" spc="-12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taro.</a:t>
            </a:r>
            <a:r>
              <a:rPr lang="en-US" sz="22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35" dirty="0">
                <a:solidFill>
                  <a:srgbClr val="FF6600"/>
                </a:solidFill>
                <a:latin typeface="Lucida Sans Unicode"/>
                <a:cs typeface="Lucida Sans Unicode"/>
              </a:rPr>
              <a:t>We </a:t>
            </a:r>
            <a:r>
              <a:rPr lang="en-US" sz="2200" spc="-43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included </a:t>
            </a:r>
            <a:r>
              <a:rPr lang="en-US" sz="2200" i="1" spc="-5" dirty="0">
                <a:solidFill>
                  <a:srgbClr val="FF6600"/>
                </a:solidFill>
                <a:latin typeface="Trebuchet MS"/>
                <a:cs typeface="Trebuchet MS"/>
              </a:rPr>
              <a:t>NOT </a:t>
            </a:r>
            <a:r>
              <a:rPr lang="en-US" sz="2200" i="1" spc="-85" dirty="0">
                <a:solidFill>
                  <a:srgbClr val="FF6600"/>
                </a:solidFill>
                <a:latin typeface="Trebuchet MS"/>
                <a:cs typeface="Trebuchet MS"/>
              </a:rPr>
              <a:t>“Taro </a:t>
            </a:r>
            <a:r>
              <a:rPr lang="en-US" sz="2200" i="1" spc="-25" dirty="0">
                <a:solidFill>
                  <a:srgbClr val="FF6600"/>
                </a:solidFill>
                <a:latin typeface="Trebuchet MS"/>
                <a:cs typeface="Trebuchet MS"/>
              </a:rPr>
              <a:t>Pharmaceuticals” </a:t>
            </a:r>
            <a:r>
              <a:rPr lang="en-US" sz="22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in </a:t>
            </a:r>
            <a:r>
              <a:rPr lang="en-US" sz="22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 </a:t>
            </a:r>
            <a:r>
              <a:rPr lang="en-US" sz="22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search </a:t>
            </a:r>
            <a:r>
              <a:rPr lang="en-US" sz="22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string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for taro </a:t>
            </a:r>
            <a:r>
              <a:rPr lang="en-US" sz="22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to </a:t>
            </a:r>
            <a:r>
              <a:rPr lang="en-US" sz="22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exclude </a:t>
            </a:r>
            <a:r>
              <a:rPr lang="en-US" sz="22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irrelevant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 information</a:t>
            </a:r>
            <a:r>
              <a:rPr lang="en-US" sz="22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about</a:t>
            </a:r>
            <a:r>
              <a:rPr lang="en-US" sz="22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5" dirty="0">
                <a:solidFill>
                  <a:srgbClr val="FF6600"/>
                </a:solidFill>
                <a:latin typeface="Lucida Sans Unicode"/>
                <a:cs typeface="Lucida Sans Unicode"/>
              </a:rPr>
              <a:t>a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popular</a:t>
            </a:r>
            <a:r>
              <a:rPr lang="en-US" sz="22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pharmaceutical</a:t>
            </a:r>
            <a:r>
              <a:rPr lang="en-US" sz="2200" spc="-12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company</a:t>
            </a:r>
            <a:r>
              <a:rPr lang="en-US" sz="22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that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had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nothing</a:t>
            </a:r>
            <a:r>
              <a:rPr lang="en-US" sz="22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to</a:t>
            </a:r>
            <a:r>
              <a:rPr lang="en-US" sz="22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do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with</a:t>
            </a:r>
            <a:r>
              <a:rPr lang="en-US" sz="22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</a:t>
            </a:r>
            <a:r>
              <a:rPr lang="en-US" sz="22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22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crop.</a:t>
            </a:r>
            <a:endParaRPr lang="en-US" sz="22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1099185" lvl="2" indent="-17272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1099820" algn="l"/>
              </a:tabLs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556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CE66-B579-0371-FA34-42723FEE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5" dirty="0">
                <a:solidFill>
                  <a:srgbClr val="4A2D83"/>
                </a:solidFill>
              </a:rPr>
              <a:t>Create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15" dirty="0">
                <a:solidFill>
                  <a:srgbClr val="4A2D83"/>
                </a:solidFill>
              </a:rPr>
              <a:t>Str</a:t>
            </a:r>
            <a:r>
              <a:rPr lang="en-IN" b="1" spc="-30" dirty="0">
                <a:solidFill>
                  <a:srgbClr val="4A2D83"/>
                </a:solidFill>
              </a:rPr>
              <a:t>ings</a:t>
            </a:r>
            <a:r>
              <a:rPr lang="en-IN" b="1" spc="-250" dirty="0">
                <a:solidFill>
                  <a:srgbClr val="4A2D83"/>
                </a:solidFill>
              </a:rPr>
              <a:t> </a:t>
            </a:r>
            <a:r>
              <a:rPr lang="en-IN" b="1" spc="-235" dirty="0">
                <a:solidFill>
                  <a:srgbClr val="4A2D83"/>
                </a:solidFill>
              </a:rPr>
              <a:t>(3/4)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4BAD3-3AB3-7E44-1C82-08E5FBCEC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9085" marR="86995" indent="-287020">
              <a:lnSpc>
                <a:spcPct val="1101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One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carefully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chosen,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all-encompassing search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string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reduces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number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times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same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results,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opposed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conducting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multiple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terms.</a:t>
            </a:r>
            <a:endParaRPr lang="en-US" sz="1400" dirty="0">
              <a:latin typeface="Arial"/>
              <a:cs typeface="Arial"/>
            </a:endParaRPr>
          </a:p>
          <a:p>
            <a:pPr marL="756285" marR="21971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Example: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(“multilateral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aid”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“bilateral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aid”)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(evaluation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effectiveness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impact)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rather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than separate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covering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elements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within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parentheses.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marR="22225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still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need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check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duplicate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running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4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nti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fy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du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cate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afte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uc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tin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 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databases,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puts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single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spreadsheet,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uses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conditional formatting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“Highlight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Duplicates”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among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titles.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Multiple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more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effective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targeted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focus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endParaRPr lang="en-US" sz="1400" dirty="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170"/>
              </a:spcBef>
            </a:pP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aspects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scope.</a:t>
            </a:r>
            <a:endParaRPr lang="en-US" sz="1400" dirty="0">
              <a:latin typeface="Arial"/>
              <a:cs typeface="Arial"/>
            </a:endParaRPr>
          </a:p>
          <a:p>
            <a:pPr marL="756285" marR="54610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Example: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searching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evidence for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defined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set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countries,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separate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adding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country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name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end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string,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ensure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miss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those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countries.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More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“general”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return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greater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variety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save </a:t>
            </a:r>
            <a:r>
              <a:rPr lang="en-US" sz="1400" b="1" spc="90" dirty="0">
                <a:solidFill>
                  <a:srgbClr val="4A2D83"/>
                </a:solidFill>
                <a:latin typeface="Arial"/>
                <a:cs typeface="Arial"/>
              </a:rPr>
              <a:t>time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from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conducting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multiple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searches,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but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also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bring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up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greater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proportion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non-relevant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results.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Test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out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consider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this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trade-off.</a:t>
            </a:r>
            <a:endParaRPr lang="en-US" sz="1400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799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F663-050A-D877-92E4-E4767C42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5" dirty="0">
                <a:solidFill>
                  <a:srgbClr val="4A2D83"/>
                </a:solidFill>
              </a:rPr>
              <a:t>Create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15" dirty="0">
                <a:solidFill>
                  <a:srgbClr val="4A2D83"/>
                </a:solidFill>
              </a:rPr>
              <a:t>Str</a:t>
            </a:r>
            <a:r>
              <a:rPr lang="en-IN" b="1" spc="-30" dirty="0">
                <a:solidFill>
                  <a:srgbClr val="4A2D83"/>
                </a:solidFill>
              </a:rPr>
              <a:t>ings</a:t>
            </a:r>
            <a:r>
              <a:rPr lang="en-IN" b="1" spc="-250" dirty="0">
                <a:solidFill>
                  <a:srgbClr val="4A2D83"/>
                </a:solidFill>
              </a:rPr>
              <a:t> </a:t>
            </a:r>
            <a:r>
              <a:rPr lang="en-IN" b="1" spc="-135" dirty="0">
                <a:solidFill>
                  <a:srgbClr val="4A2D83"/>
                </a:solidFill>
              </a:rPr>
              <a:t>(</a:t>
            </a:r>
            <a:r>
              <a:rPr lang="en-IN" b="1" spc="-175" dirty="0">
                <a:solidFill>
                  <a:srgbClr val="4A2D83"/>
                </a:solidFill>
              </a:rPr>
              <a:t>4</a:t>
            </a:r>
            <a:r>
              <a:rPr lang="en-IN" b="1" spc="-235" dirty="0">
                <a:solidFill>
                  <a:srgbClr val="4A2D83"/>
                </a:solidFill>
              </a:rPr>
              <a:t>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60336-CF75-CBC5-038D-26127AA5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83540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need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Google/Google</a:t>
            </a:r>
            <a:r>
              <a:rPr lang="en-US" sz="1400" b="1" spc="-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Scholar.</a:t>
            </a:r>
            <a:endParaRPr lang="en-US" sz="1400" dirty="0">
              <a:latin typeface="Arial"/>
              <a:cs typeface="Arial"/>
            </a:endParaRPr>
          </a:p>
          <a:p>
            <a:pPr marL="840740" lvl="1" indent="-287020">
              <a:lnSpc>
                <a:spcPct val="100000"/>
              </a:lnSpc>
              <a:spcBef>
                <a:spcPts val="800"/>
              </a:spcBef>
              <a:buFont typeface="Arial MT"/>
              <a:buChar char="–"/>
              <a:tabLst>
                <a:tab pos="840740" algn="l"/>
                <a:tab pos="841375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engines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generally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return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than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databases,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40740">
              <a:lnSpc>
                <a:spcPct val="100000"/>
              </a:lnSpc>
              <a:spcBef>
                <a:spcPts val="170"/>
              </a:spcBef>
            </a:pP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complicating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identifying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40740" marR="181610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840740" algn="l"/>
                <a:tab pos="841375" algn="l"/>
              </a:tabLst>
            </a:pP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limit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length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32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words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256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characters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Go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ar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45" dirty="0">
                <a:solidFill>
                  <a:srgbClr val="4A2D83"/>
                </a:solidFill>
                <a:latin typeface="Lucida Sans Unicode"/>
                <a:cs typeface="Lucida Sans Unicode"/>
              </a:rPr>
              <a:t>Bo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term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83540" marR="423545" indent="-287020">
              <a:lnSpc>
                <a:spcPct val="110100"/>
              </a:lnSpc>
              <a:spcBef>
                <a:spcPts val="295"/>
              </a:spcBef>
              <a:buFont typeface="Arial MT"/>
              <a:buChar char="•"/>
              <a:tabLst>
                <a:tab pos="383540" algn="l"/>
                <a:tab pos="384175" algn="l"/>
              </a:tabLst>
            </a:pP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Document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process.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need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describe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“Methods”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final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product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be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prepared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justify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choice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string(s)/term(s).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400" i="1" spc="10" dirty="0">
                <a:solidFill>
                  <a:srgbClr val="FF6600"/>
                </a:solidFill>
                <a:latin typeface="Trebuchet MS"/>
                <a:cs typeface="Trebuchet MS"/>
              </a:rPr>
              <a:t>Exam</a:t>
            </a:r>
            <a:r>
              <a:rPr lang="en-US" sz="1400" i="1" spc="20" dirty="0">
                <a:solidFill>
                  <a:srgbClr val="FF6600"/>
                </a:solidFill>
                <a:latin typeface="Trebuchet MS"/>
                <a:cs typeface="Trebuchet MS"/>
              </a:rPr>
              <a:t>p</a:t>
            </a:r>
            <a:r>
              <a:rPr lang="en-US" sz="1400" i="1" spc="-80" dirty="0">
                <a:solidFill>
                  <a:srgbClr val="FF6600"/>
                </a:solidFill>
                <a:latin typeface="Trebuchet MS"/>
                <a:cs typeface="Trebuchet MS"/>
              </a:rPr>
              <a:t>le</a:t>
            </a:r>
            <a:r>
              <a:rPr lang="en-US" sz="1400" i="1" spc="-8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400" i="1" spc="-5" dirty="0">
                <a:solidFill>
                  <a:srgbClr val="FF6600"/>
                </a:solidFill>
                <a:latin typeface="Trebuchet MS"/>
                <a:cs typeface="Trebuchet MS"/>
              </a:rPr>
              <a:t>sea</a:t>
            </a:r>
            <a:r>
              <a:rPr lang="en-US" sz="1400" i="1" spc="-30" dirty="0">
                <a:solidFill>
                  <a:srgbClr val="FF6600"/>
                </a:solidFill>
                <a:latin typeface="Trebuchet MS"/>
                <a:cs typeface="Trebuchet MS"/>
              </a:rPr>
              <a:t>r</a:t>
            </a:r>
            <a:r>
              <a:rPr lang="en-US" sz="1400" i="1" dirty="0">
                <a:solidFill>
                  <a:srgbClr val="FF6600"/>
                </a:solidFill>
                <a:latin typeface="Trebuchet MS"/>
                <a:cs typeface="Trebuchet MS"/>
              </a:rPr>
              <a:t>c</a:t>
            </a:r>
            <a:r>
              <a:rPr lang="en-US" sz="1400" i="1" spc="10" dirty="0">
                <a:solidFill>
                  <a:srgbClr val="FF6600"/>
                </a:solidFill>
                <a:latin typeface="Trebuchet MS"/>
                <a:cs typeface="Trebuchet MS"/>
              </a:rPr>
              <a:t>h</a:t>
            </a:r>
            <a:r>
              <a:rPr lang="en-US" sz="1400" i="1" spc="-9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400" i="1" spc="-35" dirty="0">
                <a:solidFill>
                  <a:srgbClr val="FF6600"/>
                </a:solidFill>
                <a:latin typeface="Trebuchet MS"/>
                <a:cs typeface="Trebuchet MS"/>
              </a:rPr>
              <a:t>stri</a:t>
            </a:r>
            <a:r>
              <a:rPr lang="en-US" sz="1400" i="1" spc="-40" dirty="0">
                <a:solidFill>
                  <a:srgbClr val="FF6600"/>
                </a:solidFill>
                <a:latin typeface="Trebuchet MS"/>
                <a:cs typeface="Trebuchet MS"/>
              </a:rPr>
              <a:t>n</a:t>
            </a:r>
            <a:r>
              <a:rPr lang="en-US" sz="1400" i="1" dirty="0">
                <a:solidFill>
                  <a:srgbClr val="FF6600"/>
                </a:solidFill>
                <a:latin typeface="Trebuchet MS"/>
                <a:cs typeface="Trebuchet MS"/>
              </a:rPr>
              <a:t>g</a:t>
            </a:r>
            <a:r>
              <a:rPr lang="en-US" sz="1400" i="1" spc="30" dirty="0">
                <a:solidFill>
                  <a:srgbClr val="FF6600"/>
                </a:solidFill>
                <a:latin typeface="Trebuchet MS"/>
                <a:cs typeface="Trebuchet MS"/>
              </a:rPr>
              <a:t>s</a:t>
            </a:r>
            <a:r>
              <a:rPr lang="en-US" sz="1400" i="1" spc="-9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400" i="1" spc="-125" dirty="0">
                <a:solidFill>
                  <a:srgbClr val="FF6600"/>
                </a:solidFill>
                <a:latin typeface="Trebuchet MS"/>
                <a:cs typeface="Trebuchet MS"/>
              </a:rPr>
              <a:t>f</a:t>
            </a:r>
            <a:r>
              <a:rPr lang="en-US" sz="1400" i="1" spc="35" dirty="0">
                <a:solidFill>
                  <a:srgbClr val="FF6600"/>
                </a:solidFill>
                <a:latin typeface="Trebuchet MS"/>
                <a:cs typeface="Trebuchet MS"/>
              </a:rPr>
              <a:t>o</a:t>
            </a:r>
            <a:r>
              <a:rPr lang="en-US" sz="1400" i="1" spc="-30" dirty="0">
                <a:solidFill>
                  <a:srgbClr val="FF6600"/>
                </a:solidFill>
                <a:latin typeface="Trebuchet MS"/>
                <a:cs typeface="Trebuchet MS"/>
              </a:rPr>
              <a:t>r</a:t>
            </a:r>
            <a:r>
              <a:rPr lang="en-US" sz="1400" i="1" spc="-6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400" i="1" u="sng" spc="-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sz="1400" i="1" u="sng" spc="-7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i="1" u="sng" spc="-8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1400" i="1" u="sng" spc="-2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1400" i="1" u="sng" spc="-7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i="1" u="sng" spc="-21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i="1" u="sng" spc="-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sz="14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i="1" u="sng" spc="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sz="1400" i="1" u="sng" spc="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400" i="1" u="sng" spc="-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400" i="1" u="sng" spc="-6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400" i="1" u="sng" spc="5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1400" i="1" u="sng" spc="-9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1400" i="1" u="sng" spc="-11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i="1" u="sng" spc="-2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</a:t>
            </a:r>
            <a:r>
              <a:rPr lang="en-US" sz="1400" i="1" u="sng" spc="-1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400" i="1" u="sng" spc="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</a:t>
            </a:r>
            <a:r>
              <a:rPr lang="en-US" sz="14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1400" i="1" u="sng" spc="-1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400" i="1" u="sng" spc="-9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400" i="1" u="sng" spc="17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</a:t>
            </a:r>
            <a:r>
              <a:rPr lang="en-US" sz="1400" i="1" u="sng" spc="2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</a:t>
            </a:r>
            <a:r>
              <a:rPr lang="en-US" sz="1400" i="1" u="sng" spc="40" dirty="0">
                <a:solidFill>
                  <a:srgbClr val="FF660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en-US" sz="1400" i="1" spc="-160" dirty="0">
                <a:solidFill>
                  <a:srgbClr val="FF6600"/>
                </a:solidFill>
                <a:latin typeface="Trebuchet MS"/>
                <a:cs typeface="Trebuchet MS"/>
              </a:rPr>
              <a:t>:</a:t>
            </a:r>
            <a:endParaRPr lang="en-US" sz="1400" dirty="0">
              <a:solidFill>
                <a:srgbClr val="FF6600"/>
              </a:solidFill>
              <a:latin typeface="Trebuchet MS"/>
              <a:cs typeface="Trebuchet MS"/>
            </a:endParaRPr>
          </a:p>
          <a:p>
            <a:pPr marL="0" indent="0">
              <a:lnSpc>
                <a:spcPct val="100000"/>
              </a:lnSpc>
              <a:spcBef>
                <a:spcPts val="605"/>
              </a:spcBef>
              <a:buNone/>
            </a:pPr>
            <a:r>
              <a:rPr lang="en-US" sz="1400" spc="5" dirty="0">
                <a:solidFill>
                  <a:srgbClr val="FF6600"/>
                </a:solidFill>
                <a:latin typeface="Lucida Sans Unicode"/>
                <a:cs typeface="Lucida Sans Unicode"/>
              </a:rPr>
              <a:t>Sea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Scopu</a:t>
            </a:r>
            <a:r>
              <a:rPr lang="en-US" sz="14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wit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</a:t>
            </a:r>
            <a:r>
              <a:rPr lang="en-US" sz="14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8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fo</a:t>
            </a:r>
            <a:r>
              <a:rPr lang="en-US" sz="14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ll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w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ng</a:t>
            </a:r>
            <a:r>
              <a:rPr lang="en-US" sz="14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str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ngs:</a:t>
            </a:r>
            <a:endParaRPr lang="en-US" sz="14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(HIV*)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("economic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growth"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10" dirty="0">
                <a:solidFill>
                  <a:srgbClr val="FF6600"/>
                </a:solidFill>
                <a:latin typeface="Lucida Sans Unicode"/>
                <a:cs typeface="Lucida Sans Unicode"/>
              </a:rPr>
              <a:t>GDP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GNI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FF6600"/>
                </a:solidFill>
                <a:latin typeface="Lucida Sans Unicode"/>
                <a:cs typeface="Lucida Sans Unicode"/>
              </a:rPr>
              <a:t>wage*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income*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 err="1">
                <a:solidFill>
                  <a:srgbClr val="FF6600"/>
                </a:solidFill>
                <a:latin typeface="Lucida Sans Unicode"/>
                <a:cs typeface="Lucida Sans Unicode"/>
              </a:rPr>
              <a:t>productiv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*)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299085" marR="39751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("Healthy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13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expectancy"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HALE*)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("economic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growth"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10" dirty="0">
                <a:solidFill>
                  <a:srgbClr val="FF6600"/>
                </a:solidFill>
                <a:latin typeface="Lucida Sans Unicode"/>
                <a:cs typeface="Lucida Sans Unicode"/>
              </a:rPr>
              <a:t>GDP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GNI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FF6600"/>
                </a:solidFill>
                <a:latin typeface="Lucida Sans Unicode"/>
                <a:cs typeface="Lucida Sans Unicode"/>
              </a:rPr>
              <a:t>wage*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 </a:t>
            </a:r>
            <a:r>
              <a:rPr lang="en-US" sz="1300" spc="-4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income*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 err="1">
                <a:solidFill>
                  <a:srgbClr val="FF6600"/>
                </a:solidFill>
                <a:latin typeface="Lucida Sans Unicode"/>
                <a:cs typeface="Lucida Sans Unicode"/>
              </a:rPr>
              <a:t>productiv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*)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33006E"/>
              </a:buClr>
              <a:buFont typeface="Arial MT"/>
              <a:buChar char="•"/>
            </a:pPr>
            <a:endParaRPr lang="en-US" sz="105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spc="5" dirty="0">
                <a:solidFill>
                  <a:srgbClr val="FF6600"/>
                </a:solidFill>
                <a:latin typeface="Lucida Sans Unicode"/>
                <a:cs typeface="Lucida Sans Unicode"/>
              </a:rPr>
              <a:t>Sea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Goo</a:t>
            </a:r>
            <a:r>
              <a:rPr lang="en-US" sz="14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gle</a:t>
            </a:r>
            <a:r>
              <a:rPr lang="en-US" sz="14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Sch</a:t>
            </a:r>
            <a:r>
              <a:rPr lang="en-US" sz="14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</a:t>
            </a:r>
            <a:r>
              <a:rPr lang="en-US" sz="1400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wit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</a:t>
            </a:r>
            <a:r>
              <a:rPr lang="en-US" sz="14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ll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w</a:t>
            </a:r>
            <a:r>
              <a:rPr lang="en-US" sz="14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g</a:t>
            </a:r>
            <a:r>
              <a:rPr lang="en-US" sz="1400" spc="-1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14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str</a:t>
            </a:r>
            <a:r>
              <a:rPr lang="en-US" sz="14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ngs:</a:t>
            </a:r>
            <a:endParaRPr lang="en-US" sz="14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HIV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("economic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growth"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10" dirty="0">
                <a:solidFill>
                  <a:srgbClr val="FF6600"/>
                </a:solidFill>
                <a:latin typeface="Lucida Sans Unicode"/>
                <a:cs typeface="Lucida Sans Unicode"/>
              </a:rPr>
              <a:t>GDP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GNI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wage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income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 err="1">
                <a:solidFill>
                  <a:srgbClr val="FF6600"/>
                </a:solidFill>
                <a:latin typeface="Lucida Sans Unicode"/>
                <a:cs typeface="Lucida Sans Unicode"/>
              </a:rPr>
              <a:t>productiv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)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(“Healthy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life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expectancy"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HALE*)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("economic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growth"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10" dirty="0">
                <a:solidFill>
                  <a:srgbClr val="FF6600"/>
                </a:solidFill>
                <a:latin typeface="Lucida Sans Unicode"/>
                <a:cs typeface="Lucida Sans Unicode"/>
              </a:rPr>
              <a:t>GDP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GNI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wage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income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 </a:t>
            </a:r>
            <a:r>
              <a:rPr lang="en-US" sz="1300" spc="-4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 err="1">
                <a:solidFill>
                  <a:srgbClr val="FF6600"/>
                </a:solidFill>
                <a:latin typeface="Lucida Sans Unicode"/>
                <a:cs typeface="Lucida Sans Unicode"/>
              </a:rPr>
              <a:t>productiv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)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10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pPr marL="0" marR="475615" indent="0">
              <a:lnSpc>
                <a:spcPct val="100000"/>
              </a:lnSpc>
              <a:buNone/>
            </a:pP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Note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that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Google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Scholar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automatically inserts 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“AND”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between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every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word/phrase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unless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OR 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is 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specifically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there,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 it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gives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words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at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beginning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your</a:t>
            </a:r>
            <a:r>
              <a:rPr lang="en-US" sz="1300" spc="-6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string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more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weight/higher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FF6600"/>
                </a:solidFill>
                <a:latin typeface="Lucida Sans Unicode"/>
                <a:cs typeface="Lucida Sans Unicode"/>
              </a:rPr>
              <a:t>priority.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28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409D-BE52-E707-A981-F0E1E870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50" dirty="0">
                <a:solidFill>
                  <a:srgbClr val="4A2D83"/>
                </a:solidFill>
              </a:rPr>
              <a:t>Select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D</a:t>
            </a:r>
            <a:r>
              <a:rPr lang="en-IN" b="1" spc="-40" dirty="0">
                <a:solidFill>
                  <a:srgbClr val="4A2D83"/>
                </a:solidFill>
              </a:rPr>
              <a:t>at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-55" dirty="0">
                <a:solidFill>
                  <a:srgbClr val="4A2D83"/>
                </a:solidFill>
              </a:rPr>
              <a:t>bas</a:t>
            </a:r>
            <a:r>
              <a:rPr lang="en-IN" b="1" spc="-65" dirty="0">
                <a:solidFill>
                  <a:srgbClr val="4A2D83"/>
                </a:solidFill>
              </a:rPr>
              <a:t>e</a:t>
            </a:r>
            <a:r>
              <a:rPr lang="en-IN" b="1" spc="-40" dirty="0">
                <a:solidFill>
                  <a:srgbClr val="4A2D83"/>
                </a:solidFill>
              </a:rPr>
              <a:t>s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275" dirty="0">
                <a:solidFill>
                  <a:srgbClr val="4A2D83"/>
                </a:solidFill>
              </a:rPr>
              <a:t>(1/4)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A1352-646A-3810-60B7-37A8D747F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141"/>
            <a:ext cx="10515600" cy="5004734"/>
          </a:xfrm>
        </p:spPr>
        <p:txBody>
          <a:bodyPr>
            <a:normAutofit fontScale="25000" lnSpcReduction="20000"/>
          </a:bodyPr>
          <a:lstStyle/>
          <a:p>
            <a:pPr marL="12700" marR="60325">
              <a:lnSpc>
                <a:spcPct val="110000"/>
              </a:lnSpc>
              <a:spcBef>
                <a:spcPts val="100"/>
              </a:spcBef>
            </a:pPr>
            <a:r>
              <a:rPr lang="en-US" sz="56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5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lang="en-US" sz="5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15" dirty="0">
                <a:solidFill>
                  <a:srgbClr val="4A2D83"/>
                </a:solidFill>
                <a:latin typeface="Arial"/>
                <a:cs typeface="Arial"/>
              </a:rPr>
              <a:t>selecting</a:t>
            </a:r>
            <a:r>
              <a:rPr lang="en-US" sz="5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30" dirty="0">
                <a:solidFill>
                  <a:srgbClr val="4A2D83"/>
                </a:solidFill>
                <a:latin typeface="Arial"/>
                <a:cs typeface="Arial"/>
              </a:rPr>
              <a:t>databases</a:t>
            </a:r>
            <a:r>
              <a:rPr lang="en-US" sz="5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5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5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55" dirty="0">
                <a:solidFill>
                  <a:srgbClr val="4A2D83"/>
                </a:solidFill>
                <a:latin typeface="Arial"/>
                <a:cs typeface="Arial"/>
              </a:rPr>
              <a:t>identify</a:t>
            </a:r>
            <a:r>
              <a:rPr lang="en-US" sz="56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35" dirty="0">
                <a:solidFill>
                  <a:srgbClr val="4A2D83"/>
                </a:solidFill>
                <a:latin typeface="Arial"/>
                <a:cs typeface="Arial"/>
              </a:rPr>
              <a:t>academic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30" dirty="0">
                <a:solidFill>
                  <a:srgbClr val="4A2D83"/>
                </a:solidFill>
                <a:latin typeface="Arial"/>
                <a:cs typeface="Arial"/>
              </a:rPr>
              <a:t>databases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5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20" dirty="0">
                <a:solidFill>
                  <a:srgbClr val="4A2D83"/>
                </a:solidFill>
                <a:latin typeface="Arial"/>
                <a:cs typeface="Arial"/>
              </a:rPr>
              <a:t>organizations’ </a:t>
            </a:r>
            <a:r>
              <a:rPr lang="en-US" sz="56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30" dirty="0">
                <a:solidFill>
                  <a:srgbClr val="4A2D83"/>
                </a:solidFill>
                <a:latin typeface="Arial"/>
                <a:cs typeface="Arial"/>
              </a:rPr>
              <a:t>websites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65" dirty="0">
                <a:solidFill>
                  <a:srgbClr val="4A2D83"/>
                </a:solidFill>
                <a:latin typeface="Arial"/>
                <a:cs typeface="Arial"/>
              </a:rPr>
              <a:t>where</a:t>
            </a:r>
            <a:r>
              <a:rPr lang="en-US" sz="5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lang="en-US" sz="56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5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lang="en-US" sz="56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5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40" dirty="0">
                <a:solidFill>
                  <a:srgbClr val="4A2D83"/>
                </a:solidFill>
                <a:latin typeface="Arial"/>
                <a:cs typeface="Arial"/>
              </a:rPr>
              <a:t>likely</a:t>
            </a:r>
            <a:r>
              <a:rPr lang="en-US" sz="56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25" dirty="0">
                <a:solidFill>
                  <a:srgbClr val="4A2D83"/>
                </a:solidFill>
                <a:latin typeface="Arial"/>
                <a:cs typeface="Arial"/>
              </a:rPr>
              <a:t>aggregated.</a:t>
            </a:r>
            <a:endParaRPr lang="en-US" sz="5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5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lang="en-US" sz="5600" b="1" spc="20" dirty="0">
                <a:solidFill>
                  <a:srgbClr val="4A2D83"/>
                </a:solidFill>
                <a:latin typeface="Arial"/>
                <a:cs typeface="Arial"/>
              </a:rPr>
              <a:t>Decide</a:t>
            </a:r>
            <a:r>
              <a:rPr lang="en-US" sz="5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95" dirty="0">
                <a:solidFill>
                  <a:srgbClr val="4A2D83"/>
                </a:solidFill>
                <a:latin typeface="Arial"/>
                <a:cs typeface="Arial"/>
              </a:rPr>
              <a:t>what</a:t>
            </a:r>
            <a:r>
              <a:rPr lang="en-US" sz="5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60" dirty="0">
                <a:solidFill>
                  <a:srgbClr val="4A2D83"/>
                </a:solidFill>
                <a:latin typeface="Arial"/>
                <a:cs typeface="Arial"/>
              </a:rPr>
              <a:t>type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lang="en-US" sz="56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5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45" dirty="0">
                <a:solidFill>
                  <a:srgbClr val="4A2D83"/>
                </a:solidFill>
                <a:latin typeface="Arial"/>
                <a:cs typeface="Arial"/>
              </a:rPr>
              <a:t>need</a:t>
            </a:r>
            <a:r>
              <a:rPr lang="en-US" sz="5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5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5600" b="1" spc="15" dirty="0">
                <a:solidFill>
                  <a:srgbClr val="4A2D83"/>
                </a:solidFill>
                <a:latin typeface="Arial"/>
                <a:cs typeface="Arial"/>
              </a:rPr>
              <a:t>include:</a:t>
            </a:r>
            <a:endParaRPr lang="en-US" sz="5600" dirty="0">
              <a:latin typeface="Arial"/>
              <a:cs typeface="Arial"/>
            </a:endParaRPr>
          </a:p>
          <a:p>
            <a:pPr marL="812165" marR="5080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5600" i="1" spc="-15" dirty="0">
                <a:solidFill>
                  <a:srgbClr val="4A2D83"/>
                </a:solidFill>
                <a:latin typeface="Trebuchet MS"/>
                <a:cs typeface="Trebuchet MS"/>
              </a:rPr>
              <a:t>Academic </a:t>
            </a:r>
            <a:r>
              <a:rPr lang="en-US" sz="5600" i="1" spc="-60" dirty="0">
                <a:solidFill>
                  <a:srgbClr val="4A2D83"/>
                </a:solidFill>
                <a:latin typeface="Trebuchet MS"/>
                <a:cs typeface="Trebuchet MS"/>
              </a:rPr>
              <a:t>Literature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: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likely 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been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peer-reviewed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may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therefore</a:t>
            </a:r>
            <a:r>
              <a:rPr lang="en-US" sz="5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5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reliable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sources.</a:t>
            </a:r>
            <a:r>
              <a:rPr lang="en-US" sz="5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dirty="0">
                <a:solidFill>
                  <a:srgbClr val="4A2D83"/>
                </a:solidFill>
                <a:latin typeface="Lucida Sans Unicode"/>
                <a:cs typeface="Lucida Sans Unicode"/>
              </a:rPr>
              <a:t>Some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</a:t>
            </a:r>
            <a:r>
              <a:rPr lang="en-US" sz="5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5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unpublished</a:t>
            </a:r>
            <a:r>
              <a:rPr lang="en-US" sz="5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5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5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5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recent,</a:t>
            </a:r>
            <a:r>
              <a:rPr lang="en-US" sz="5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</a:t>
            </a:r>
            <a:r>
              <a:rPr lang="en-US" sz="5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yet</a:t>
            </a:r>
            <a:r>
              <a:rPr lang="en-US" sz="5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undergone</a:t>
            </a:r>
            <a:r>
              <a:rPr lang="en-US" sz="5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journal</a:t>
            </a:r>
            <a:r>
              <a:rPr lang="en-US" sz="5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dirty="0">
                <a:solidFill>
                  <a:srgbClr val="4A2D83"/>
                </a:solidFill>
                <a:latin typeface="Lucida Sans Unicode"/>
                <a:cs typeface="Lucida Sans Unicode"/>
              </a:rPr>
              <a:t>peer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1327785" lvl="2" indent="-401320">
              <a:lnSpc>
                <a:spcPct val="100000"/>
              </a:lnSpc>
              <a:spcBef>
                <a:spcPts val="459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65" dirty="0">
                <a:solidFill>
                  <a:srgbClr val="4A2D83"/>
                </a:solidFill>
                <a:latin typeface="Lucida Sans Unicode"/>
                <a:cs typeface="Lucida Sans Unicode"/>
              </a:rPr>
              <a:t>UW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Library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System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draws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1327785" marR="163195" lvl="2" indent="-401320">
              <a:lnSpc>
                <a:spcPct val="110000"/>
              </a:lnSpc>
              <a:buAutoNum type="romanLcPeriod"/>
              <a:tabLst>
                <a:tab pos="1327785" algn="l"/>
                <a:tab pos="1328420" algn="l"/>
              </a:tabLst>
            </a:pP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Researchers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without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access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restricted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56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open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access.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812165" marR="277495" lvl="1" indent="-342900">
              <a:lnSpc>
                <a:spcPts val="1850"/>
              </a:lnSpc>
              <a:spcBef>
                <a:spcPts val="8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5600" i="1" spc="-45" dirty="0">
                <a:solidFill>
                  <a:srgbClr val="4A2D83"/>
                </a:solidFill>
                <a:latin typeface="Trebuchet MS"/>
                <a:cs typeface="Trebuchet MS"/>
              </a:rPr>
              <a:t>Grey </a:t>
            </a:r>
            <a:r>
              <a:rPr lang="en-US" sz="5600" i="1" spc="-60" dirty="0">
                <a:solidFill>
                  <a:srgbClr val="4A2D83"/>
                </a:solidFill>
                <a:latin typeface="Trebuchet MS"/>
                <a:cs typeface="Trebuchet MS"/>
              </a:rPr>
              <a:t>Literature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: You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 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include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grey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lang="en-US" sz="5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significant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non-academic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topic.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so,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organizations/</a:t>
            </a:r>
            <a:r>
              <a:rPr lang="en-US" sz="5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institutions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conducting</a:t>
            </a:r>
            <a:r>
              <a:rPr lang="en-US" sz="5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5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related</a:t>
            </a:r>
            <a:r>
              <a:rPr lang="en-US" sz="5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5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questions,</a:t>
            </a:r>
            <a:r>
              <a:rPr lang="en-US" sz="5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5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56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5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bs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tes.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413384" marR="111760" indent="-401320">
              <a:lnSpc>
                <a:spcPct val="110000"/>
              </a:lnSpc>
              <a:spcBef>
                <a:spcPts val="100"/>
              </a:spcBef>
              <a:buAutoNum type="romanLcPeriod"/>
              <a:tabLst>
                <a:tab pos="413384" algn="l"/>
                <a:tab pos="414020" algn="l"/>
              </a:tabLst>
            </a:pP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 frequently searches websites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 organizations: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Abdul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Latif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Jameel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Poverty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Action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Lab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</a:t>
            </a:r>
            <a:r>
              <a:rPr lang="en-US" sz="5600" spc="-2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J-PAL),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Consultative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Group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Assist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dirty="0">
                <a:solidFill>
                  <a:srgbClr val="4A2D83"/>
                </a:solidFill>
                <a:latin typeface="Lucida Sans Unicode"/>
                <a:cs typeface="Lucida Sans Unicode"/>
              </a:rPr>
              <a:t>Poor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(CGAP), </a:t>
            </a:r>
            <a:r>
              <a:rPr lang="en-US" sz="56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Center for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Global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Development 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(CGDEV),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Food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Agriculture 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Organization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(FAO),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World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Bank, International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Food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Policy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Institute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(IFPRI),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any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Consultative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Group for International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Agricultural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(CGIAR)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5600" spc="25" dirty="0">
                <a:solidFill>
                  <a:srgbClr val="4A2D83"/>
                </a:solidFill>
                <a:latin typeface="Lucida Sans Unicode"/>
                <a:cs typeface="Lucida Sans Unicode"/>
              </a:rPr>
              <a:t>UN </a:t>
            </a:r>
            <a:r>
              <a:rPr lang="en-US" sz="5600" spc="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institutions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topic.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413384" marR="126364" indent="-401320">
              <a:lnSpc>
                <a:spcPct val="110000"/>
              </a:lnSpc>
              <a:buAutoNum type="romanLcPeriod"/>
              <a:tabLst>
                <a:tab pos="413384" algn="l"/>
                <a:tab pos="414020" algn="l"/>
              </a:tabLst>
            </a:pP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Grey</a:t>
            </a:r>
            <a:r>
              <a:rPr lang="en-US" sz="5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Open-grey,</a:t>
            </a:r>
            <a:r>
              <a:rPr lang="en-US" sz="5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ProQuest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Dissertation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Theses </a:t>
            </a:r>
            <a:r>
              <a:rPr lang="en-US" sz="56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Database,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Networked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Digital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Library</a:t>
            </a:r>
            <a:r>
              <a:rPr lang="en-US" sz="5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Theses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Dissertations.</a:t>
            </a:r>
            <a:endParaRPr lang="en-US" sz="5600" dirty="0">
              <a:latin typeface="Lucida Sans Unicode"/>
              <a:cs typeface="Lucida Sans Unicode"/>
            </a:endParaRPr>
          </a:p>
          <a:p>
            <a:pPr marL="413384" marR="126364" indent="-401320">
              <a:lnSpc>
                <a:spcPct val="110000"/>
              </a:lnSpc>
              <a:buAutoNum type="romanLcPeriod"/>
              <a:tabLst>
                <a:tab pos="413384" algn="l"/>
                <a:tab pos="414020" algn="l"/>
              </a:tabLst>
            </a:pP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provide</a:t>
            </a:r>
            <a:r>
              <a:rPr lang="en-US" sz="5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grey</a:t>
            </a:r>
            <a:r>
              <a:rPr lang="en-US" sz="5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literature,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which 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5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elp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5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lang="en-US" sz="5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5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5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5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5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r>
              <a:rPr lang="en-US" sz="5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5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5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5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en</a:t>
            </a:r>
            <a:r>
              <a:rPr lang="en-US" sz="5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5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e.</a:t>
            </a:r>
            <a:endParaRPr lang="en-US" sz="56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344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DFE2-E021-A7A8-99DF-7D816A80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50" dirty="0">
                <a:solidFill>
                  <a:srgbClr val="4A2D83"/>
                </a:solidFill>
              </a:rPr>
              <a:t>Select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D</a:t>
            </a:r>
            <a:r>
              <a:rPr lang="en-IN" b="1" spc="-40" dirty="0">
                <a:solidFill>
                  <a:srgbClr val="4A2D83"/>
                </a:solidFill>
              </a:rPr>
              <a:t>at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-55" dirty="0">
                <a:solidFill>
                  <a:srgbClr val="4A2D83"/>
                </a:solidFill>
              </a:rPr>
              <a:t>bas</a:t>
            </a:r>
            <a:r>
              <a:rPr lang="en-IN" b="1" spc="-65" dirty="0">
                <a:solidFill>
                  <a:srgbClr val="4A2D83"/>
                </a:solidFill>
              </a:rPr>
              <a:t>e</a:t>
            </a:r>
            <a:r>
              <a:rPr lang="en-IN" b="1" spc="-40" dirty="0">
                <a:solidFill>
                  <a:srgbClr val="4A2D83"/>
                </a:solidFill>
              </a:rPr>
              <a:t>s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225" dirty="0">
                <a:solidFill>
                  <a:srgbClr val="4A2D83"/>
                </a:solidFill>
              </a:rPr>
              <a:t>(2/4)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FE0DD-E979-8826-9761-9495BB9FA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55600" indent="-342900">
              <a:lnSpc>
                <a:spcPct val="100000"/>
              </a:lnSpc>
              <a:spcBef>
                <a:spcPts val="565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Select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databases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topic.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6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general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guidelines: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 algn="just">
              <a:lnSpc>
                <a:spcPct val="100000"/>
              </a:lnSpc>
              <a:spcBef>
                <a:spcPts val="465"/>
              </a:spcBef>
              <a:buAutoNum type="alphaLcPeriod"/>
              <a:tabLst>
                <a:tab pos="812800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Undertake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primary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one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algn="just">
              <a:lnSpc>
                <a:spcPct val="100000"/>
              </a:lnSpc>
              <a:spcBef>
                <a:spcPts val="170"/>
              </a:spcBef>
            </a:pPr>
            <a:r>
              <a:rPr lang="en-US" sz="1400" u="sng" spc="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Boolean</a:t>
            </a:r>
            <a:r>
              <a:rPr lang="en-US" sz="1400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operators</a:t>
            </a:r>
            <a:r>
              <a:rPr lang="en-US" sz="1400" spc="-70" dirty="0">
                <a:solidFill>
                  <a:srgbClr val="006FC0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Scopus,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PubMed,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 err="1">
                <a:solidFill>
                  <a:srgbClr val="4A2D83"/>
                </a:solidFill>
                <a:latin typeface="Lucida Sans Unicode"/>
                <a:cs typeface="Lucida Sans Unicode"/>
              </a:rPr>
              <a:t>EconLit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PAIS,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Cochrane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Library,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etc.).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327785" marR="216535" lvl="2" indent="-401320" algn="just">
              <a:lnSpc>
                <a:spcPct val="110000"/>
              </a:lnSpc>
              <a:spcBef>
                <a:spcPts val="305"/>
              </a:spcBef>
              <a:buAutoNum type="romanLcPeriod"/>
              <a:tabLst>
                <a:tab pos="1328420" algn="l"/>
              </a:tabLst>
            </a:pP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 literature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 usually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Scopus,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multi-disciplinary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published academic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studies.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allows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users to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export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spreadsheet,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facilitating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documenting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1327785" marR="51435" lvl="2" indent="-401320" algn="just">
              <a:lnSpc>
                <a:spcPct val="110100"/>
              </a:lnSpc>
              <a:spcBef>
                <a:spcPts val="300"/>
              </a:spcBef>
              <a:buAutoNum type="romanLcPeriod"/>
              <a:tabLst>
                <a:tab pos="1328420" algn="l"/>
              </a:tabLst>
            </a:pP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choice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academic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should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informed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relevance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their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disciplinary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focus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question(s).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PubMed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focuses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topics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health.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marR="5080" lvl="1" indent="-342900" algn="just">
              <a:lnSpc>
                <a:spcPct val="110000"/>
              </a:lnSpc>
              <a:spcBef>
                <a:spcPts val="295"/>
              </a:spcBef>
              <a:buAutoNum type="alphaLcPeriod" startAt="2"/>
              <a:tabLst>
                <a:tab pos="812800" algn="l"/>
              </a:tabLst>
            </a:pP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check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look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well-cited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papers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missed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systematic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327785" marR="7620" lvl="2" indent="-401320">
              <a:lnSpc>
                <a:spcPct val="110100"/>
              </a:lnSpc>
              <a:spcBef>
                <a:spcPts val="30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All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 literature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 Google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 as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includes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wide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variety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publishing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unpublished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studies.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peer-reviewed</a:t>
            </a:r>
            <a:r>
              <a:rPr lang="en-US" sz="13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journals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databases.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1327785" lvl="2" indent="-401320">
              <a:lnSpc>
                <a:spcPct val="100000"/>
              </a:lnSpc>
              <a:spcBef>
                <a:spcPts val="455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especially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new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(i.e.,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last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65" dirty="0">
                <a:solidFill>
                  <a:srgbClr val="4A2D83"/>
                </a:solidFill>
                <a:latin typeface="Lucida Sans Unicode"/>
                <a:cs typeface="Lucida Sans Unicode"/>
              </a:rPr>
              <a:t>1-2</a:t>
            </a:r>
            <a:r>
              <a:rPr lang="en-US" sz="13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 err="1">
                <a:solidFill>
                  <a:srgbClr val="4A2D83"/>
                </a:solidFill>
                <a:latin typeface="Lucida Sans Unicode"/>
                <a:cs typeface="Lucida Sans Unicode"/>
              </a:rPr>
              <a:t>yrs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)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65"/>
              </a:spcBef>
              <a:buAutoNum type="alphaLcPeriod" startAt="2"/>
              <a:tabLst>
                <a:tab pos="812165" algn="l"/>
                <a:tab pos="812800" algn="l"/>
              </a:tabLst>
            </a:pP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selected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organizations’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websites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grey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13970" lvl="1" indent="-342900">
              <a:lnSpc>
                <a:spcPct val="110100"/>
              </a:lnSpc>
              <a:spcBef>
                <a:spcPts val="300"/>
              </a:spcBef>
              <a:buAutoNum type="alphaLcPeriod" startAt="2"/>
              <a:tabLst>
                <a:tab pos="812165" algn="l"/>
                <a:tab pos="812800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 all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searches, conduct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~50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final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check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see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previous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327785" marR="95250" lvl="2" indent="-401320">
              <a:lnSpc>
                <a:spcPct val="110000"/>
              </a:lnSpc>
              <a:spcBef>
                <a:spcPts val="305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step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 useful</a:t>
            </a:r>
            <a:r>
              <a:rPr lang="en-US" sz="13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identifying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recent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13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yet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1327785" lvl="2" indent="-401320">
              <a:lnSpc>
                <a:spcPct val="100000"/>
              </a:lnSpc>
              <a:spcBef>
                <a:spcPts val="455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supports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two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basic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Boolean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commands: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(1)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AND,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(2)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7677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1DF0-813B-2CBF-C1F6-B66CA693E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50" dirty="0">
                <a:solidFill>
                  <a:srgbClr val="4A2D83"/>
                </a:solidFill>
              </a:rPr>
              <a:t>Select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D</a:t>
            </a:r>
            <a:r>
              <a:rPr lang="en-IN" b="1" spc="-40" dirty="0">
                <a:solidFill>
                  <a:srgbClr val="4A2D83"/>
                </a:solidFill>
              </a:rPr>
              <a:t>at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-55" dirty="0">
                <a:solidFill>
                  <a:srgbClr val="4A2D83"/>
                </a:solidFill>
              </a:rPr>
              <a:t>bas</a:t>
            </a:r>
            <a:r>
              <a:rPr lang="en-IN" b="1" spc="-65" dirty="0">
                <a:solidFill>
                  <a:srgbClr val="4A2D83"/>
                </a:solidFill>
              </a:rPr>
              <a:t>e</a:t>
            </a:r>
            <a:r>
              <a:rPr lang="en-IN" b="1" spc="-40" dirty="0">
                <a:solidFill>
                  <a:srgbClr val="4A2D83"/>
                </a:solidFill>
              </a:rPr>
              <a:t>s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235" dirty="0">
                <a:solidFill>
                  <a:srgbClr val="4A2D83"/>
                </a:solidFill>
              </a:rPr>
              <a:t>(3/4)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4FDC-FB11-0CA7-6931-CB427B0A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99085" indent="-28702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Database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selection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informed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discipline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research.</a:t>
            </a:r>
            <a:endParaRPr lang="en-US" sz="1400" dirty="0">
              <a:latin typeface="Arial"/>
              <a:cs typeface="Arial"/>
            </a:endParaRPr>
          </a:p>
          <a:p>
            <a:pPr marL="756285" marR="370205" lvl="1" indent="-287020" algn="just">
              <a:lnSpc>
                <a:spcPct val="110100"/>
              </a:lnSpc>
              <a:spcBef>
                <a:spcPts val="630"/>
              </a:spcBef>
              <a:buFont typeface="Arial MT"/>
              <a:buChar char="–"/>
              <a:tabLst>
                <a:tab pos="756920" algn="l"/>
              </a:tabLst>
            </a:pP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Depending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question(s),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discipline-specific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aspects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related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scope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Searching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limit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risk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missing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marR="643890" lvl="1" indent="-287020" algn="just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920" algn="l"/>
              </a:tabLst>
            </a:pP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often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Scopus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primary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always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conducts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Go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ar.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Databases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strengths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weaknesses.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example:</a:t>
            </a:r>
            <a:endParaRPr lang="en-US" sz="1400" dirty="0">
              <a:latin typeface="Arial"/>
              <a:cs typeface="Arial"/>
            </a:endParaRPr>
          </a:p>
          <a:p>
            <a:pPr marL="756285" marR="23495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Some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allow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export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download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 does but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Google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not).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helpful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systematically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tracking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go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back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look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again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later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needed.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databases,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need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record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manually.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25" dirty="0">
                <a:solidFill>
                  <a:srgbClr val="4A2D83"/>
                </a:solidFill>
                <a:latin typeface="Lucida Sans Unicode"/>
                <a:cs typeface="Lucida Sans Unicode"/>
              </a:rPr>
              <a:t>When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possible,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exports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marR="13970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Some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allow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title,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author and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abstract,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others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permit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searching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title,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some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field.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Narrowing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certain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help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increase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likelihood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your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Som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ud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ind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payw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no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pu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sh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“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”)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 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up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decide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material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enough to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warrant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paying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it.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lvl="1" indent="-287020">
              <a:lnSpc>
                <a:spcPct val="100000"/>
              </a:lnSpc>
              <a:spcBef>
                <a:spcPts val="8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viewing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100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pages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546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F6F5-0A35-5716-FD83-30CA781AF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50" dirty="0">
                <a:solidFill>
                  <a:srgbClr val="4A2D83"/>
                </a:solidFill>
              </a:rPr>
              <a:t>Select</a:t>
            </a:r>
            <a:r>
              <a:rPr lang="en-IN" b="1" spc="-275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Search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60" dirty="0">
                <a:solidFill>
                  <a:srgbClr val="4A2D83"/>
                </a:solidFill>
              </a:rPr>
              <a:t>D</a:t>
            </a:r>
            <a:r>
              <a:rPr lang="en-IN" b="1" spc="-40" dirty="0">
                <a:solidFill>
                  <a:srgbClr val="4A2D83"/>
                </a:solidFill>
              </a:rPr>
              <a:t>at</a:t>
            </a:r>
            <a:r>
              <a:rPr lang="en-IN" b="1" spc="-60" dirty="0">
                <a:solidFill>
                  <a:srgbClr val="4A2D83"/>
                </a:solidFill>
              </a:rPr>
              <a:t>a</a:t>
            </a:r>
            <a:r>
              <a:rPr lang="en-IN" b="1" spc="-55" dirty="0">
                <a:solidFill>
                  <a:srgbClr val="4A2D83"/>
                </a:solidFill>
              </a:rPr>
              <a:t>bas</a:t>
            </a:r>
            <a:r>
              <a:rPr lang="en-IN" b="1" spc="-65" dirty="0">
                <a:solidFill>
                  <a:srgbClr val="4A2D83"/>
                </a:solidFill>
              </a:rPr>
              <a:t>e</a:t>
            </a:r>
            <a:r>
              <a:rPr lang="en-IN" b="1" spc="-40" dirty="0">
                <a:solidFill>
                  <a:srgbClr val="4A2D83"/>
                </a:solidFill>
              </a:rPr>
              <a:t>s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135" dirty="0">
                <a:solidFill>
                  <a:srgbClr val="4A2D83"/>
                </a:solidFill>
              </a:rPr>
              <a:t>(</a:t>
            </a:r>
            <a:r>
              <a:rPr lang="en-IN" b="1" spc="-175" dirty="0">
                <a:solidFill>
                  <a:srgbClr val="4A2D83"/>
                </a:solidFill>
              </a:rPr>
              <a:t>4</a:t>
            </a:r>
            <a:r>
              <a:rPr lang="en-IN" b="1" spc="-235" dirty="0">
                <a:solidFill>
                  <a:srgbClr val="4A2D83"/>
                </a:solidFill>
              </a:rPr>
              <a:t>/4)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D5B6-DBD6-25A5-B7B6-FD5A1343F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99085" marR="511809" indent="-287020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600" b="1" spc="7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lang="en-US"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45" dirty="0">
                <a:solidFill>
                  <a:srgbClr val="4A2D83"/>
                </a:solidFill>
                <a:latin typeface="Arial"/>
                <a:cs typeface="Arial"/>
              </a:rPr>
              <a:t>available,</a:t>
            </a:r>
            <a:r>
              <a:rPr lang="en-US" sz="1600" b="1" spc="-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60" dirty="0">
                <a:solidFill>
                  <a:srgbClr val="4A2D83"/>
                </a:solidFill>
                <a:latin typeface="Arial"/>
                <a:cs typeface="Arial"/>
              </a:rPr>
              <a:t>might</a:t>
            </a:r>
            <a:r>
              <a:rPr lang="en-US"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-5" dirty="0">
                <a:solidFill>
                  <a:srgbClr val="4A2D83"/>
                </a:solidFill>
                <a:latin typeface="Arial"/>
                <a:cs typeface="Arial"/>
              </a:rPr>
              <a:t>choose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20" dirty="0">
                <a:solidFill>
                  <a:srgbClr val="4A2D83"/>
                </a:solidFill>
                <a:latin typeface="Arial"/>
                <a:cs typeface="Arial"/>
              </a:rPr>
              <a:t>consult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65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lang="en-US"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35" dirty="0">
                <a:solidFill>
                  <a:srgbClr val="4A2D83"/>
                </a:solidFill>
                <a:latin typeface="Arial"/>
                <a:cs typeface="Arial"/>
              </a:rPr>
              <a:t>academic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lang="en-US"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25" dirty="0">
                <a:solidFill>
                  <a:srgbClr val="4A2D83"/>
                </a:solidFill>
                <a:latin typeface="Arial"/>
                <a:cs typeface="Arial"/>
              </a:rPr>
              <a:t>public</a:t>
            </a:r>
            <a:r>
              <a:rPr lang="en-US" sz="1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5" dirty="0">
                <a:solidFill>
                  <a:srgbClr val="4A2D83"/>
                </a:solidFill>
                <a:latin typeface="Arial"/>
                <a:cs typeface="Arial"/>
              </a:rPr>
              <a:t>librarian</a:t>
            </a:r>
            <a:r>
              <a:rPr lang="en-US" sz="1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lang="en-US" sz="16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25" dirty="0">
                <a:solidFill>
                  <a:srgbClr val="4A2D83"/>
                </a:solidFill>
                <a:latin typeface="Arial"/>
                <a:cs typeface="Arial"/>
              </a:rPr>
              <a:t>advice</a:t>
            </a:r>
            <a:r>
              <a:rPr lang="en-US" sz="16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20" dirty="0">
                <a:solidFill>
                  <a:srgbClr val="4A2D83"/>
                </a:solidFill>
                <a:latin typeface="Arial"/>
                <a:cs typeface="Arial"/>
              </a:rPr>
              <a:t>conducting</a:t>
            </a:r>
            <a:r>
              <a:rPr lang="en-US"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" dirty="0">
                <a:solidFill>
                  <a:srgbClr val="4A2D83"/>
                </a:solidFill>
                <a:latin typeface="Arial"/>
                <a:cs typeface="Arial"/>
              </a:rPr>
              <a:t>searches.</a:t>
            </a:r>
            <a:endParaRPr lang="en-US" sz="1600" dirty="0">
              <a:latin typeface="Arial"/>
              <a:cs typeface="Arial"/>
            </a:endParaRPr>
          </a:p>
          <a:p>
            <a:pPr marL="299085" marR="32194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600" b="1" spc="35" dirty="0">
                <a:solidFill>
                  <a:srgbClr val="4A2D83"/>
                </a:solidFill>
                <a:latin typeface="Arial"/>
                <a:cs typeface="Arial"/>
              </a:rPr>
              <a:t>UW</a:t>
            </a:r>
            <a:r>
              <a:rPr lang="en-US"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25" dirty="0">
                <a:solidFill>
                  <a:srgbClr val="4A2D83"/>
                </a:solidFill>
                <a:latin typeface="Arial"/>
                <a:cs typeface="Arial"/>
              </a:rPr>
              <a:t>Political</a:t>
            </a:r>
            <a:r>
              <a:rPr lang="en-US" sz="1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-15" dirty="0">
                <a:solidFill>
                  <a:srgbClr val="4A2D83"/>
                </a:solidFill>
                <a:latin typeface="Arial"/>
                <a:cs typeface="Arial"/>
              </a:rPr>
              <a:t>Science </a:t>
            </a:r>
            <a:r>
              <a:rPr lang="en-US" sz="1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" dirty="0">
                <a:solidFill>
                  <a:srgbClr val="4A2D83"/>
                </a:solidFill>
                <a:latin typeface="Arial"/>
                <a:cs typeface="Arial"/>
              </a:rPr>
              <a:t>Public</a:t>
            </a:r>
            <a:r>
              <a:rPr lang="en-US"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30" dirty="0">
                <a:solidFill>
                  <a:srgbClr val="4A2D83"/>
                </a:solidFill>
                <a:latin typeface="Arial"/>
                <a:cs typeface="Arial"/>
              </a:rPr>
              <a:t>Affairs</a:t>
            </a:r>
            <a:r>
              <a:rPr lang="en-US" sz="16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45" dirty="0">
                <a:solidFill>
                  <a:srgbClr val="4A2D83"/>
                </a:solidFill>
                <a:latin typeface="Arial"/>
                <a:cs typeface="Arial"/>
              </a:rPr>
              <a:t>Librarian</a:t>
            </a:r>
            <a:r>
              <a:rPr lang="en-US" sz="16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lang="en-US" sz="1600" b="1" u="sng" spc="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Emily</a:t>
            </a:r>
            <a:r>
              <a:rPr lang="en-US" sz="16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lang="en-US" sz="1600" b="1" u="sng" spc="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  <a:hlinkClick r:id="rId2"/>
              </a:rPr>
              <a:t>Keller</a:t>
            </a:r>
            <a:r>
              <a:rPr lang="en-US" sz="1600" b="1" spc="-40" dirty="0">
                <a:solidFill>
                  <a:srgbClr val="006FC0"/>
                </a:solidFill>
                <a:latin typeface="Arial"/>
                <a:cs typeface="Arial"/>
                <a:hlinkClick r:id="rId2"/>
              </a:rPr>
              <a:t> </a:t>
            </a:r>
            <a:r>
              <a:rPr lang="en-US" sz="16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lang="en-US"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40" dirty="0">
                <a:solidFill>
                  <a:srgbClr val="4A2D83"/>
                </a:solidFill>
                <a:latin typeface="Arial"/>
                <a:cs typeface="Arial"/>
              </a:rPr>
              <a:t>help</a:t>
            </a:r>
            <a:r>
              <a:rPr lang="en-US"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0" dirty="0">
                <a:solidFill>
                  <a:srgbClr val="4A2D83"/>
                </a:solidFill>
                <a:latin typeface="Arial"/>
                <a:cs typeface="Arial"/>
              </a:rPr>
              <a:t>identify </a:t>
            </a:r>
            <a:r>
              <a:rPr lang="en-US" sz="16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5" dirty="0">
                <a:solidFill>
                  <a:srgbClr val="4A2D83"/>
                </a:solidFill>
                <a:latin typeface="Arial"/>
                <a:cs typeface="Arial"/>
              </a:rPr>
              <a:t>potentially</a:t>
            </a:r>
            <a:r>
              <a:rPr lang="en-US" sz="16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6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5" dirty="0">
                <a:solidFill>
                  <a:srgbClr val="4A2D83"/>
                </a:solidFill>
                <a:latin typeface="Arial"/>
                <a:cs typeface="Arial"/>
              </a:rPr>
              <a:t>places</a:t>
            </a:r>
            <a:r>
              <a:rPr lang="en-US" sz="16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spc="10" dirty="0">
                <a:solidFill>
                  <a:srgbClr val="4A2D83"/>
                </a:solidFill>
                <a:latin typeface="Arial"/>
                <a:cs typeface="Arial"/>
              </a:rPr>
              <a:t>search.</a:t>
            </a:r>
            <a:endParaRPr lang="en-US" sz="1600" dirty="0">
              <a:latin typeface="Arial"/>
              <a:cs typeface="Arial"/>
            </a:endParaRPr>
          </a:p>
          <a:p>
            <a:pPr marL="756285" marR="490855" lvl="1" indent="-287020">
              <a:lnSpc>
                <a:spcPct val="1100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Her</a:t>
            </a:r>
            <a:r>
              <a:rPr lang="en-US"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webpage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includes</a:t>
            </a:r>
            <a:r>
              <a:rPr lang="en-US" sz="1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links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library</a:t>
            </a:r>
            <a:r>
              <a:rPr lang="en-US"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guides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“Political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Science</a:t>
            </a:r>
            <a:r>
              <a:rPr lang="en-US"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Public </a:t>
            </a:r>
            <a:r>
              <a:rPr lang="en-US" sz="1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6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6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”</a:t>
            </a:r>
            <a:r>
              <a:rPr lang="en-US" sz="1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nter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national</a:t>
            </a:r>
            <a:r>
              <a:rPr lang="en-US"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tud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”.</a:t>
            </a:r>
            <a:endParaRPr lang="en-US" sz="1600" dirty="0">
              <a:latin typeface="Lucida Sans Unicode"/>
              <a:cs typeface="Lucida Sans Unicode"/>
            </a:endParaRPr>
          </a:p>
          <a:p>
            <a:pPr marL="756285" marR="129539" lvl="1" indent="-287020">
              <a:lnSpc>
                <a:spcPct val="1101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Her</a:t>
            </a:r>
            <a:r>
              <a:rPr lang="en-US"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</a:t>
            </a:r>
            <a:r>
              <a:rPr lang="en-US" sz="16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Lit</a:t>
            </a:r>
            <a:r>
              <a:rPr lang="en-US" sz="1600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lang="en-US" sz="16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Review</a:t>
            </a:r>
            <a:r>
              <a:rPr lang="en-US" sz="1600" u="sng" spc="-1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lang="en-US" sz="16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Toolkit</a:t>
            </a:r>
            <a:r>
              <a:rPr lang="en-US"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”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includes</a:t>
            </a:r>
            <a:r>
              <a:rPr lang="en-US" sz="16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links</a:t>
            </a:r>
            <a:r>
              <a:rPr lang="en-US"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specialized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lit</a:t>
            </a:r>
            <a:r>
              <a:rPr lang="en-US" sz="1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6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resources</a:t>
            </a:r>
            <a:r>
              <a:rPr lang="en-US" sz="16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grey </a:t>
            </a:r>
            <a:r>
              <a:rPr lang="en-US" sz="16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searches,</a:t>
            </a:r>
            <a:r>
              <a:rPr lang="en-US" sz="1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including</a:t>
            </a:r>
            <a:r>
              <a:rPr lang="en-US" sz="1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blog</a:t>
            </a:r>
            <a:r>
              <a:rPr lang="en-US"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custom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engine</a:t>
            </a:r>
            <a:r>
              <a:rPr lang="en-US"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NGOs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(under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“Discipline-specific</a:t>
            </a:r>
            <a:r>
              <a:rPr lang="en-US" sz="16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tools”).</a:t>
            </a:r>
            <a:endParaRPr lang="en-US" sz="16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65"/>
              </a:spcBef>
              <a:buClr>
                <a:srgbClr val="4A2D83"/>
              </a:buClr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600" b="1" u="sng" spc="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Databases</a:t>
            </a:r>
            <a:r>
              <a:rPr lang="en-US" sz="1600" b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lang="en-US" sz="1600" b="1" u="sng" spc="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for</a:t>
            </a:r>
            <a:r>
              <a:rPr lang="en-US" sz="16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lang="en-US" sz="1600" b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EPAR</a:t>
            </a:r>
            <a:r>
              <a:rPr lang="en-US" sz="16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lang="en-US" sz="1600" b="1" u="sng" spc="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Literature</a:t>
            </a:r>
            <a:r>
              <a:rPr lang="en-US" sz="1600" b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lang="en-US"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Search</a:t>
            </a:r>
            <a:endParaRPr lang="en-US" sz="16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10100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While </a:t>
            </a:r>
            <a:r>
              <a:rPr lang="en-US"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list </a:t>
            </a:r>
            <a:r>
              <a:rPr lang="en-US"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lang="en-US" sz="1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EPAR-specific,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lang="en-US"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 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 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individuals/groups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conducting</a:t>
            </a:r>
            <a:r>
              <a:rPr lang="en-US" sz="1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international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development</a:t>
            </a:r>
            <a:r>
              <a:rPr lang="en-US"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research.</a:t>
            </a:r>
            <a:r>
              <a:rPr lang="en-US" sz="1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provides</a:t>
            </a:r>
            <a:r>
              <a:rPr lang="en-US"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 </a:t>
            </a:r>
            <a:r>
              <a:rPr lang="en-US" sz="16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lang="en-US"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</a:t>
            </a:r>
            <a:r>
              <a:rPr lang="en-US"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list</a:t>
            </a:r>
            <a:r>
              <a:rPr lang="en-US"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lang="en-US"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look</a:t>
            </a:r>
            <a:r>
              <a:rPr lang="en-US"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like</a:t>
            </a:r>
            <a:r>
              <a:rPr lang="en-US"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generally.</a:t>
            </a:r>
            <a:endParaRPr lang="en-US" sz="1600" dirty="0">
              <a:latin typeface="Lucida Sans Unicode"/>
              <a:cs typeface="Lucida Sans Unicode"/>
            </a:endParaRPr>
          </a:p>
          <a:p>
            <a:pPr marL="299085" marR="16129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Again,</a:t>
            </a:r>
            <a:r>
              <a:rPr lang="en-US" sz="1600" b="1" i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5" dirty="0">
                <a:solidFill>
                  <a:srgbClr val="4A2D83"/>
                </a:solidFill>
                <a:latin typeface="Arial"/>
                <a:cs typeface="Arial"/>
              </a:rPr>
              <a:t>always</a:t>
            </a:r>
            <a:r>
              <a:rPr lang="en-US" sz="1600" b="1" i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25" dirty="0">
                <a:solidFill>
                  <a:srgbClr val="4A2D83"/>
                </a:solidFill>
                <a:latin typeface="Arial"/>
                <a:cs typeface="Arial"/>
              </a:rPr>
              <a:t>conduct</a:t>
            </a:r>
            <a:r>
              <a:rPr lang="en-US" sz="1600" b="1" i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5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600" b="1" i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30" dirty="0">
                <a:solidFill>
                  <a:srgbClr val="4A2D83"/>
                </a:solidFill>
                <a:latin typeface="Arial"/>
                <a:cs typeface="Arial"/>
              </a:rPr>
              <a:t>final</a:t>
            </a: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10" dirty="0">
                <a:solidFill>
                  <a:srgbClr val="4A2D83"/>
                </a:solidFill>
                <a:latin typeface="Arial"/>
                <a:cs typeface="Arial"/>
              </a:rPr>
              <a:t>set</a:t>
            </a:r>
            <a:r>
              <a:rPr lang="en-US" sz="1600" b="1" i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5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600" b="1" i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35" dirty="0">
                <a:solidFill>
                  <a:srgbClr val="4A2D83"/>
                </a:solidFill>
                <a:latin typeface="Arial"/>
                <a:cs typeface="Arial"/>
              </a:rPr>
              <a:t>searches </a:t>
            </a:r>
            <a:r>
              <a:rPr lang="en-US" sz="1600" b="1" i="1" spc="1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50" dirty="0">
                <a:solidFill>
                  <a:srgbClr val="4A2D83"/>
                </a:solidFill>
                <a:latin typeface="Arial"/>
                <a:cs typeface="Arial"/>
              </a:rPr>
              <a:t>Google</a:t>
            </a: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3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600" b="1" i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15" dirty="0">
                <a:solidFill>
                  <a:srgbClr val="4A2D83"/>
                </a:solidFill>
                <a:latin typeface="Arial"/>
                <a:cs typeface="Arial"/>
              </a:rPr>
              <a:t>make</a:t>
            </a:r>
            <a:r>
              <a:rPr lang="en-US" sz="1600" b="1" i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sure </a:t>
            </a:r>
            <a:r>
              <a:rPr lang="en-US" sz="1600" b="1" i="1" spc="-3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600" b="1" i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5" dirty="0">
                <a:solidFill>
                  <a:srgbClr val="4A2D83"/>
                </a:solidFill>
                <a:latin typeface="Arial"/>
                <a:cs typeface="Arial"/>
              </a:rPr>
              <a:t>didn’t</a:t>
            </a:r>
            <a:r>
              <a:rPr lang="en-US" sz="1600" b="1" i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50" dirty="0">
                <a:solidFill>
                  <a:srgbClr val="4A2D83"/>
                </a:solidFill>
                <a:latin typeface="Arial"/>
                <a:cs typeface="Arial"/>
              </a:rPr>
              <a:t>miss </a:t>
            </a:r>
            <a:r>
              <a:rPr lang="en-US" sz="1600" b="1" i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5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lang="en-US" sz="1600" b="1" i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30" dirty="0">
                <a:solidFill>
                  <a:srgbClr val="4A2D83"/>
                </a:solidFill>
                <a:latin typeface="Arial"/>
                <a:cs typeface="Arial"/>
              </a:rPr>
              <a:t>key</a:t>
            </a:r>
            <a:r>
              <a:rPr lang="en-US" sz="1600" b="1" i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600" b="1" i="1" spc="-25" dirty="0">
                <a:solidFill>
                  <a:srgbClr val="4A2D83"/>
                </a:solidFill>
                <a:latin typeface="Arial"/>
                <a:cs typeface="Arial"/>
              </a:rPr>
              <a:t>results!</a:t>
            </a:r>
            <a:endParaRPr lang="en-US" sz="1600" dirty="0">
              <a:latin typeface="Arial"/>
              <a:cs typeface="Arial"/>
            </a:endParaRPr>
          </a:p>
          <a:p>
            <a:pPr marL="182880">
              <a:lnSpc>
                <a:spcPct val="100000"/>
              </a:lnSpc>
              <a:spcBef>
                <a:spcPts val="1365"/>
              </a:spcBef>
            </a:pPr>
            <a:r>
              <a:rPr lang="en-US" sz="1300" i="1" spc="10" dirty="0">
                <a:solidFill>
                  <a:srgbClr val="FF6600"/>
                </a:solidFill>
                <a:latin typeface="Trebuchet MS"/>
                <a:cs typeface="Trebuchet MS"/>
              </a:rPr>
              <a:t>Exam</a:t>
            </a:r>
            <a:r>
              <a:rPr lang="en-US" sz="1300" i="1" spc="20" dirty="0">
                <a:solidFill>
                  <a:srgbClr val="FF6600"/>
                </a:solidFill>
                <a:latin typeface="Trebuchet MS"/>
                <a:cs typeface="Trebuchet MS"/>
              </a:rPr>
              <a:t>p</a:t>
            </a:r>
            <a:r>
              <a:rPr lang="en-US" sz="1300" i="1" spc="-80" dirty="0">
                <a:solidFill>
                  <a:srgbClr val="FF6600"/>
                </a:solidFill>
                <a:latin typeface="Trebuchet MS"/>
                <a:cs typeface="Trebuchet MS"/>
              </a:rPr>
              <a:t>le</a:t>
            </a:r>
            <a:r>
              <a:rPr lang="en-US" sz="1300" i="1" spc="-85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300" i="1" spc="-125" dirty="0">
                <a:solidFill>
                  <a:srgbClr val="FF6600"/>
                </a:solidFill>
                <a:latin typeface="Trebuchet MS"/>
                <a:cs typeface="Trebuchet MS"/>
              </a:rPr>
              <a:t>f</a:t>
            </a:r>
            <a:r>
              <a:rPr lang="en-US" sz="1300" i="1" spc="-60" dirty="0">
                <a:solidFill>
                  <a:srgbClr val="FF6600"/>
                </a:solidFill>
                <a:latin typeface="Trebuchet MS"/>
                <a:cs typeface="Trebuchet MS"/>
              </a:rPr>
              <a:t>r</a:t>
            </a:r>
            <a:r>
              <a:rPr lang="en-US" sz="1300" i="1" spc="35" dirty="0">
                <a:solidFill>
                  <a:srgbClr val="FF6600"/>
                </a:solidFill>
                <a:latin typeface="Trebuchet MS"/>
                <a:cs typeface="Trebuchet MS"/>
              </a:rPr>
              <a:t>o</a:t>
            </a:r>
            <a:r>
              <a:rPr lang="en-US" sz="1300" i="1" spc="60" dirty="0">
                <a:solidFill>
                  <a:srgbClr val="FF6600"/>
                </a:solidFill>
                <a:latin typeface="Trebuchet MS"/>
                <a:cs typeface="Trebuchet MS"/>
              </a:rPr>
              <a:t>m</a:t>
            </a:r>
            <a:r>
              <a:rPr lang="en-US" sz="1300" i="1" spc="-70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300" i="1" u="sng" spc="-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sz="1300" i="1" u="sng" spc="-7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300" i="1" u="sng" spc="-8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1300" i="1" u="sng" spc="-2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1300" i="1" u="sng" spc="-8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i="1" u="sng" spc="-21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300" i="1" u="sng" spc="-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</a:t>
            </a:r>
            <a:r>
              <a:rPr lang="en-US" sz="13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300" i="1" u="sng" spc="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</a:t>
            </a:r>
            <a:r>
              <a:rPr lang="en-US" sz="1300" i="1" u="sng" spc="4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300" i="1" u="sng" spc="-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-US" sz="1300" i="1" u="sng" spc="-6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</a:t>
            </a:r>
            <a:r>
              <a:rPr lang="en-US" sz="1300" i="1" u="sng" spc="5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</a:t>
            </a:r>
            <a:r>
              <a:rPr lang="en-US" sz="1300" i="1" u="sng" spc="-9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</a:t>
            </a:r>
            <a:r>
              <a:rPr lang="en-US" sz="1300" i="1" u="sng" spc="-11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i="1" u="sng" spc="-2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</a:t>
            </a:r>
            <a:r>
              <a:rPr lang="en-US" sz="1300" i="1" u="sng" spc="-1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</a:t>
            </a:r>
            <a:r>
              <a:rPr lang="en-US" sz="1300" i="1" u="sng" spc="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</a:t>
            </a:r>
            <a:r>
              <a:rPr lang="en-US" sz="1300" i="1" u="sng" spc="-3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</a:t>
            </a:r>
            <a:r>
              <a:rPr lang="en-US" sz="1300" i="1" u="sng" spc="-1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US" sz="1300" i="1" u="sng" spc="-9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i="1" u="sng" spc="170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#</a:t>
            </a:r>
            <a:r>
              <a:rPr lang="en-US" sz="1300" i="1" u="sng" spc="2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29</a:t>
            </a:r>
            <a:r>
              <a:rPr lang="en-US" sz="1300" i="1" u="sng" spc="35" dirty="0">
                <a:solidFill>
                  <a:srgbClr val="0563C1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r>
              <a:rPr lang="en-US" sz="1300" i="1" u="sng" spc="-45" dirty="0">
                <a:solidFill>
                  <a:srgbClr val="FF660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300" i="1" spc="-160" dirty="0">
                <a:solidFill>
                  <a:srgbClr val="FF6600"/>
                </a:solidFill>
                <a:latin typeface="Trebuchet MS"/>
                <a:cs typeface="Trebuchet MS"/>
              </a:rPr>
              <a:t>:</a:t>
            </a:r>
            <a:r>
              <a:rPr lang="en-US" sz="1300" i="1" dirty="0">
                <a:solidFill>
                  <a:srgbClr val="FF6600"/>
                </a:solidFill>
                <a:latin typeface="Trebuchet MS"/>
                <a:cs typeface="Trebuchet MS"/>
              </a:rPr>
              <a:t> </a:t>
            </a:r>
            <a:r>
              <a:rPr lang="en-US" sz="1300" spc="35" dirty="0">
                <a:solidFill>
                  <a:srgbClr val="FF6600"/>
                </a:solidFill>
                <a:latin typeface="Lucida Sans Unicode"/>
                <a:cs typeface="Lucida Sans Unicode"/>
              </a:rPr>
              <a:t>We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conducted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supplementary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searches </a:t>
            </a:r>
            <a:r>
              <a:rPr lang="en-US" sz="1300" spc="-45" dirty="0">
                <a:solidFill>
                  <a:srgbClr val="FF6600"/>
                </a:solidFill>
                <a:latin typeface="Lucida Sans Unicode"/>
                <a:cs typeface="Lucida Sans Unicode"/>
              </a:rPr>
              <a:t>using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Google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Scholar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to identify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any </a:t>
            </a:r>
            <a:r>
              <a:rPr lang="en-US" sz="1300" spc="-55" dirty="0">
                <a:solidFill>
                  <a:srgbClr val="FF6600"/>
                </a:solidFill>
                <a:latin typeface="Lucida Sans Unicode"/>
                <a:cs typeface="Lucida Sans Unicode"/>
              </a:rPr>
              <a:t>well-cited </a:t>
            </a:r>
            <a:r>
              <a:rPr lang="en-US" sz="1300" spc="-5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literature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that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may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have been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missed through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Scopus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keywords. These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searches yielded </a:t>
            </a:r>
            <a:r>
              <a:rPr lang="en-US" sz="1300" spc="-43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an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additional </a:t>
            </a:r>
            <a:r>
              <a:rPr lang="en-US" sz="13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106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that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seemed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relevant from </a:t>
            </a:r>
            <a:r>
              <a:rPr lang="en-US" sz="1300" spc="-5" dirty="0">
                <a:solidFill>
                  <a:srgbClr val="FF6600"/>
                </a:solidFill>
                <a:latin typeface="Lucida Sans Unicode"/>
                <a:cs typeface="Lucida Sans Unicode"/>
              </a:rPr>
              <a:t>an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initial screening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of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the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title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and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abstract,</a:t>
            </a:r>
            <a:r>
              <a:rPr lang="en-US" sz="13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which</a:t>
            </a:r>
            <a:r>
              <a:rPr lang="en-US" sz="13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FF6600"/>
                </a:solidFill>
                <a:latin typeface="Lucida Sans Unicode"/>
                <a:cs typeface="Lucida Sans Unicode"/>
              </a:rPr>
              <a:t>were</a:t>
            </a:r>
            <a:r>
              <a:rPr lang="en-US" sz="13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FF6600"/>
                </a:solidFill>
                <a:latin typeface="Lucida Sans Unicode"/>
                <a:cs typeface="Lucida Sans Unicode"/>
              </a:rPr>
              <a:t>narrowed</a:t>
            </a:r>
            <a:r>
              <a:rPr lang="en-US" sz="13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down</a:t>
            </a:r>
            <a:r>
              <a:rPr lang="en-US" sz="13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7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85" dirty="0">
                <a:solidFill>
                  <a:srgbClr val="FF6600"/>
                </a:solidFill>
                <a:latin typeface="Lucida Sans Unicode"/>
                <a:cs typeface="Lucida Sans Unicode"/>
              </a:rPr>
              <a:t>43</a:t>
            </a:r>
            <a:r>
              <a:rPr lang="en-US" sz="13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FF6600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300" spc="-10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FF6600"/>
                </a:solidFill>
                <a:latin typeface="Lucida Sans Unicode"/>
                <a:cs typeface="Lucida Sans Unicode"/>
              </a:rPr>
              <a:t>empirical</a:t>
            </a:r>
            <a:r>
              <a:rPr lang="en-US" sz="1300" spc="-13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FF6600"/>
                </a:solidFill>
                <a:latin typeface="Lucida Sans Unicode"/>
                <a:cs typeface="Lucida Sans Unicode"/>
              </a:rPr>
              <a:t>studies</a:t>
            </a:r>
            <a:r>
              <a:rPr lang="en-US" sz="1300" spc="-100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upon</a:t>
            </a:r>
            <a:r>
              <a:rPr lang="en-US" sz="1300" spc="-7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FF6600"/>
                </a:solidFill>
                <a:latin typeface="Lucida Sans Unicode"/>
                <a:cs typeface="Lucida Sans Unicode"/>
              </a:rPr>
              <a:t>further</a:t>
            </a:r>
            <a:r>
              <a:rPr lang="en-US" sz="1300" spc="-95" dirty="0">
                <a:solidFill>
                  <a:srgbClr val="FF6600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FF6600"/>
                </a:solidFill>
                <a:latin typeface="Lucida Sans Unicode"/>
                <a:cs typeface="Lucida Sans Unicode"/>
              </a:rPr>
              <a:t>screening.</a:t>
            </a:r>
            <a:endParaRPr lang="en-US" sz="1300" dirty="0">
              <a:solidFill>
                <a:srgbClr val="FF6600"/>
              </a:solidFill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484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942E-64F8-3EC0-75FB-1A53B0E1B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spc="-45" dirty="0">
                <a:solidFill>
                  <a:srgbClr val="4A2D83"/>
                </a:solidFill>
              </a:rPr>
              <a:t>Example</a:t>
            </a:r>
            <a:r>
              <a:rPr lang="en-US" sz="4400" b="1" spc="-270" dirty="0">
                <a:solidFill>
                  <a:srgbClr val="4A2D83"/>
                </a:solidFill>
              </a:rPr>
              <a:t> </a:t>
            </a:r>
            <a:r>
              <a:rPr lang="en-US" sz="4400" b="1" spc="-60" dirty="0">
                <a:solidFill>
                  <a:srgbClr val="4A2D83"/>
                </a:solidFill>
              </a:rPr>
              <a:t>Search</a:t>
            </a:r>
            <a:r>
              <a:rPr lang="en-US" sz="4400" b="1" spc="-260" dirty="0">
                <a:solidFill>
                  <a:srgbClr val="4A2D83"/>
                </a:solidFill>
              </a:rPr>
              <a:t> </a:t>
            </a:r>
            <a:r>
              <a:rPr lang="en-US" sz="4400" b="1" spc="-20" dirty="0">
                <a:solidFill>
                  <a:srgbClr val="4A2D83"/>
                </a:solidFill>
              </a:rPr>
              <a:t>String</a:t>
            </a:r>
            <a:r>
              <a:rPr lang="en-US" sz="4400" b="1" spc="-260" dirty="0">
                <a:solidFill>
                  <a:srgbClr val="4A2D83"/>
                </a:solidFill>
              </a:rPr>
              <a:t> </a:t>
            </a:r>
            <a:r>
              <a:rPr lang="en-US" sz="4400" b="1" spc="-40" dirty="0">
                <a:solidFill>
                  <a:srgbClr val="4A2D83"/>
                </a:solidFill>
              </a:rPr>
              <a:t>and</a:t>
            </a:r>
            <a:r>
              <a:rPr lang="en-US" sz="4400" b="1" spc="-270" dirty="0">
                <a:solidFill>
                  <a:srgbClr val="4A2D83"/>
                </a:solidFill>
              </a:rPr>
              <a:t> </a:t>
            </a:r>
            <a:r>
              <a:rPr lang="en-US" sz="4400" b="1" spc="-50" dirty="0">
                <a:solidFill>
                  <a:srgbClr val="4A2D83"/>
                </a:solidFill>
              </a:rPr>
              <a:t>Database</a:t>
            </a:r>
            <a:r>
              <a:rPr lang="en-US" sz="4400" b="1" spc="-265" dirty="0">
                <a:solidFill>
                  <a:srgbClr val="4A2D83"/>
                </a:solidFill>
              </a:rPr>
              <a:t> </a:t>
            </a:r>
            <a:r>
              <a:rPr lang="en-US" sz="4400" b="1" spc="-40" dirty="0">
                <a:solidFill>
                  <a:srgbClr val="4A2D83"/>
                </a:solidFill>
              </a:rPr>
              <a:t>Selection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07011-17BF-70D3-4B81-572DBC764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4682"/>
            <a:ext cx="10515600" cy="4888193"/>
          </a:xfrm>
        </p:spPr>
        <p:txBody>
          <a:bodyPr>
            <a:normAutofit fontScale="25000" lnSpcReduction="20000"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en-US" sz="6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lang="en-US" sz="6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6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lang="en-US" sz="6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6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lang="en-US" sz="6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6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lang="en-US" sz="6400" i="1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6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lang="en-US" sz="6400" i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lang="en-US" sz="6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lang="en-US" sz="6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lang="en-US" sz="6400" dirty="0">
              <a:latin typeface="Trebuchet MS"/>
              <a:cs typeface="Trebuchet MS"/>
            </a:endParaRPr>
          </a:p>
          <a:p>
            <a:pPr marL="299085" marR="22923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6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reviewed </a:t>
            </a:r>
            <a:r>
              <a:rPr lang="en-US" sz="6400" b="1" spc="35" dirty="0">
                <a:solidFill>
                  <a:srgbClr val="4A2D83"/>
                </a:solidFill>
                <a:latin typeface="Arial"/>
                <a:cs typeface="Arial"/>
              </a:rPr>
              <a:t>academic </a:t>
            </a:r>
            <a:r>
              <a:rPr lang="en-US" sz="6400" b="1" spc="40" dirty="0">
                <a:solidFill>
                  <a:srgbClr val="4A2D83"/>
                </a:solidFill>
                <a:latin typeface="Arial"/>
                <a:cs typeface="Arial"/>
              </a:rPr>
              <a:t>peer-reviewed </a:t>
            </a:r>
            <a:r>
              <a:rPr lang="en-US" sz="6400" b="1" spc="6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lang="en-US" sz="6400" spc="60" dirty="0">
                <a:solidFill>
                  <a:srgbClr val="4A2D83"/>
                </a:solidFill>
                <a:latin typeface="Lucida Sans Unicode"/>
                <a:cs typeface="Lucida Sans Unicode"/>
              </a:rPr>
              <a:t>. </a:t>
            </a:r>
            <a:r>
              <a:rPr lang="en-US" sz="6400" spc="35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database,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supplemented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Scholar.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chose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because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multi-disciplinary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tools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filtering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6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exporting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documentation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screening.</a:t>
            </a:r>
            <a:endParaRPr lang="en-US" sz="6400" dirty="0">
              <a:latin typeface="Lucida Sans Unicode"/>
              <a:cs typeface="Lucida Sans Unicode"/>
            </a:endParaRPr>
          </a:p>
          <a:p>
            <a:pPr marL="299085" marR="149225" indent="-287020">
              <a:lnSpc>
                <a:spcPct val="110000"/>
              </a:lnSpc>
              <a:spcBef>
                <a:spcPts val="3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6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lang="en-US" sz="6400" b="1" spc="20" dirty="0">
                <a:solidFill>
                  <a:srgbClr val="4A2D83"/>
                </a:solidFill>
                <a:latin typeface="Arial"/>
                <a:cs typeface="Arial"/>
              </a:rPr>
              <a:t>Boolean </a:t>
            </a:r>
            <a:r>
              <a:rPr lang="en-US" sz="6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6400" b="1" spc="10" dirty="0">
                <a:solidFill>
                  <a:srgbClr val="4A2D83"/>
                </a:solidFill>
                <a:latin typeface="Arial"/>
                <a:cs typeface="Arial"/>
              </a:rPr>
              <a:t>strings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(with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operators </a:t>
            </a:r>
            <a:r>
              <a:rPr lang="en-US" sz="6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AND,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OR, 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NOT,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quotation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marks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“”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surround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exact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phrases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searched,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parentheses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()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combine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 and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operators),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based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6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keywords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including </a:t>
            </a:r>
            <a:r>
              <a:rPr lang="en-US" sz="6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lang="en-US" sz="6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growth: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e.g.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(“life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expectancy”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“years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lived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disability”)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dirty="0">
                <a:solidFill>
                  <a:srgbClr val="4A2D83"/>
                </a:solidFill>
                <a:latin typeface="Lucida Sans Unicode"/>
                <a:cs typeface="Lucida Sans Unicode"/>
              </a:rPr>
              <a:t>(GDP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endParaRPr lang="en-US" sz="6400" dirty="0">
              <a:latin typeface="Lucida Sans Unicode"/>
              <a:cs typeface="Lucida Sans Unicode"/>
            </a:endParaRPr>
          </a:p>
          <a:p>
            <a:pPr marL="299085">
              <a:lnSpc>
                <a:spcPct val="100000"/>
              </a:lnSpc>
              <a:spcBef>
                <a:spcPts val="165"/>
              </a:spcBef>
            </a:pP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lang="en-US" sz="6400" dirty="0">
                <a:solidFill>
                  <a:srgbClr val="4A2D83"/>
                </a:solidFill>
                <a:latin typeface="Lucida Sans Unicode"/>
                <a:cs typeface="Lucida Sans Unicode"/>
              </a:rPr>
              <a:t>me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“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ec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ono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6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wt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”)</a:t>
            </a:r>
            <a:endParaRPr lang="en-US" sz="6400" dirty="0">
              <a:latin typeface="Lucida Sans Unicode"/>
              <a:cs typeface="Lucida Sans Unicode"/>
            </a:endParaRPr>
          </a:p>
          <a:p>
            <a:pPr marL="299085" marR="147955" indent="-287020">
              <a:lnSpc>
                <a:spcPct val="110000"/>
              </a:lnSpc>
              <a:spcBef>
                <a:spcPts val="3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6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initially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put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 </a:t>
            </a:r>
            <a:r>
              <a:rPr lang="en-US" sz="6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like </a:t>
            </a:r>
            <a:r>
              <a:rPr lang="en-US" sz="6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“RCT”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“randomized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control trial”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“experimental”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try to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focus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allow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causality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assessed. </a:t>
            </a:r>
            <a:r>
              <a:rPr lang="en-US" sz="6400" dirty="0">
                <a:solidFill>
                  <a:srgbClr val="4A2D83"/>
                </a:solidFill>
                <a:latin typeface="Lucida Sans Unicode"/>
                <a:cs typeface="Lucida Sans Unicode"/>
              </a:rPr>
              <a:t>So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few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emerged,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however,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6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b="1" spc="35" dirty="0">
                <a:solidFill>
                  <a:srgbClr val="4A2D83"/>
                </a:solidFill>
                <a:latin typeface="Arial"/>
                <a:cs typeface="Arial"/>
              </a:rPr>
              <a:t>general</a:t>
            </a:r>
            <a:r>
              <a:rPr lang="en-US" sz="6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6400" b="1" spc="60" dirty="0">
                <a:solidFill>
                  <a:srgbClr val="4A2D83"/>
                </a:solidFill>
                <a:latin typeface="Arial"/>
                <a:cs typeface="Arial"/>
              </a:rPr>
              <a:t>terms</a:t>
            </a:r>
            <a:r>
              <a:rPr lang="en-US" sz="6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6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like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“empirical”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6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expanded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acceptable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methodologies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“quasi-experimental”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strings.</a:t>
            </a:r>
            <a:endParaRPr lang="en-US" sz="6400" dirty="0">
              <a:latin typeface="Lucida Sans Unicode"/>
              <a:cs typeface="Lucida Sans Unicode"/>
            </a:endParaRPr>
          </a:p>
          <a:p>
            <a:pPr marL="299085" marR="125095" indent="-287020">
              <a:lnSpc>
                <a:spcPct val="110100"/>
              </a:lnSpc>
              <a:spcBef>
                <a:spcPts val="2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Scopus searches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 </a:t>
            </a:r>
            <a:r>
              <a:rPr lang="en-US" sz="6400" b="1" spc="40" dirty="0">
                <a:solidFill>
                  <a:srgbClr val="4A2D83"/>
                </a:solidFill>
                <a:latin typeface="Arial"/>
                <a:cs typeface="Arial"/>
              </a:rPr>
              <a:t>broad </a:t>
            </a:r>
            <a:r>
              <a:rPr lang="en-US" sz="6400" b="1" spc="30" dirty="0">
                <a:solidFill>
                  <a:srgbClr val="4A2D83"/>
                </a:solidFill>
                <a:latin typeface="Arial"/>
                <a:cs typeface="Arial"/>
              </a:rPr>
              <a:t>keywords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such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“health”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“disease” alongside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indicators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returned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7,331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“health”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growth,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6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2,231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“disease”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growth.</a:t>
            </a:r>
            <a:endParaRPr lang="en-US" sz="64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6400" b="1" spc="65" dirty="0">
                <a:solidFill>
                  <a:srgbClr val="4A2D83"/>
                </a:solidFill>
                <a:latin typeface="Arial"/>
                <a:cs typeface="Arial"/>
              </a:rPr>
              <a:t>narrower </a:t>
            </a:r>
            <a:r>
              <a:rPr lang="en-US" sz="6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terms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returned 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3,948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items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published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searches.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 </a:t>
            </a:r>
            <a:r>
              <a:rPr lang="en-US" sz="6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one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focusing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DALYs 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6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lang="en-US" sz="6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6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string: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("Disability</a:t>
            </a:r>
            <a:r>
              <a:rPr lang="en-US" sz="6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Adjusted</a:t>
            </a:r>
            <a:r>
              <a:rPr lang="en-US" sz="6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Life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Years"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DALY*)</a:t>
            </a:r>
            <a:r>
              <a:rPr lang="en-US" sz="6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6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("economic</a:t>
            </a:r>
            <a:r>
              <a:rPr lang="en-US" sz="6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growth"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GDP</a:t>
            </a:r>
            <a:r>
              <a:rPr lang="en-US" sz="6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GNI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wage*</a:t>
            </a:r>
            <a:r>
              <a:rPr lang="en-US" sz="6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income*</a:t>
            </a:r>
            <a:r>
              <a:rPr lang="en-US" sz="6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6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6400" spc="-15" dirty="0" err="1">
                <a:solidFill>
                  <a:srgbClr val="4A2D83"/>
                </a:solidFill>
                <a:latin typeface="Lucida Sans Unicode"/>
                <a:cs typeface="Lucida Sans Unicode"/>
              </a:rPr>
              <a:t>productiv</a:t>
            </a:r>
            <a:r>
              <a:rPr lang="en-US" sz="6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*)</a:t>
            </a:r>
            <a:endParaRPr lang="en-US" sz="64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848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B127-B6E1-56CD-FB65-76F96595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60" dirty="0">
                <a:solidFill>
                  <a:srgbClr val="4A2D83"/>
                </a:solidFill>
              </a:rPr>
              <a:t>D</a:t>
            </a:r>
            <a:r>
              <a:rPr lang="en-IN" b="1" spc="-35" dirty="0">
                <a:solidFill>
                  <a:srgbClr val="4A2D83"/>
                </a:solidFill>
              </a:rPr>
              <a:t>et</a:t>
            </a:r>
            <a:r>
              <a:rPr lang="en-IN" b="1" spc="-55" dirty="0">
                <a:solidFill>
                  <a:srgbClr val="4A2D83"/>
                </a:solidFill>
              </a:rPr>
              <a:t>e</a:t>
            </a:r>
            <a:r>
              <a:rPr lang="en-IN" b="1" spc="-35" dirty="0">
                <a:solidFill>
                  <a:srgbClr val="4A2D83"/>
                </a:solidFill>
              </a:rPr>
              <a:t>r</a:t>
            </a:r>
            <a:r>
              <a:rPr lang="en-IN" b="1" spc="-85" dirty="0">
                <a:solidFill>
                  <a:srgbClr val="4A2D83"/>
                </a:solidFill>
              </a:rPr>
              <a:t>m</a:t>
            </a:r>
            <a:r>
              <a:rPr lang="en-IN" b="1" spc="-50" dirty="0">
                <a:solidFill>
                  <a:srgbClr val="4A2D83"/>
                </a:solidFill>
              </a:rPr>
              <a:t>ine</a:t>
            </a:r>
            <a:r>
              <a:rPr lang="en-IN" b="1" spc="-270" dirty="0">
                <a:solidFill>
                  <a:srgbClr val="4A2D83"/>
                </a:solidFill>
              </a:rPr>
              <a:t> </a:t>
            </a:r>
            <a:r>
              <a:rPr lang="en-IN" b="1" spc="-75" dirty="0">
                <a:solidFill>
                  <a:srgbClr val="4A2D83"/>
                </a:solidFill>
              </a:rPr>
              <a:t>Sc</a:t>
            </a:r>
            <a:r>
              <a:rPr lang="en-IN" b="1" spc="-50" dirty="0">
                <a:solidFill>
                  <a:srgbClr val="4A2D83"/>
                </a:solidFill>
              </a:rPr>
              <a:t>ree</a:t>
            </a:r>
            <a:r>
              <a:rPr lang="en-IN" b="1" spc="-65" dirty="0">
                <a:solidFill>
                  <a:srgbClr val="4A2D83"/>
                </a:solidFill>
              </a:rPr>
              <a:t>n</a:t>
            </a:r>
            <a:r>
              <a:rPr lang="en-IN" b="1" spc="-25" dirty="0">
                <a:solidFill>
                  <a:srgbClr val="4A2D83"/>
                </a:solidFill>
              </a:rPr>
              <a:t>ing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90" dirty="0">
                <a:solidFill>
                  <a:srgbClr val="4A2D83"/>
                </a:solidFill>
              </a:rPr>
              <a:t>Cr</a:t>
            </a:r>
            <a:r>
              <a:rPr lang="en-IN" b="1" spc="-50" dirty="0">
                <a:solidFill>
                  <a:srgbClr val="4A2D83"/>
                </a:solidFill>
              </a:rPr>
              <a:t>i</a:t>
            </a:r>
            <a:r>
              <a:rPr lang="en-IN" b="1" spc="-35" dirty="0">
                <a:solidFill>
                  <a:srgbClr val="4A2D83"/>
                </a:solidFill>
              </a:rPr>
              <a:t>teria</a:t>
            </a:r>
            <a:r>
              <a:rPr lang="en-IN" b="1" spc="-260" dirty="0">
                <a:solidFill>
                  <a:srgbClr val="4A2D83"/>
                </a:solidFill>
              </a:rPr>
              <a:t> </a:t>
            </a:r>
            <a:r>
              <a:rPr lang="en-IN" b="1" spc="-285" dirty="0">
                <a:solidFill>
                  <a:srgbClr val="4A2D83"/>
                </a:solidFill>
              </a:rPr>
              <a:t>(1/</a:t>
            </a:r>
            <a:r>
              <a:rPr lang="en-IN" b="1" spc="-325" dirty="0">
                <a:solidFill>
                  <a:srgbClr val="4A2D83"/>
                </a:solidFill>
              </a:rPr>
              <a:t>2</a:t>
            </a:r>
            <a:r>
              <a:rPr lang="en-IN" b="1" spc="-315" dirty="0">
                <a:solidFill>
                  <a:srgbClr val="4A2D83"/>
                </a:solidFill>
              </a:rPr>
              <a:t>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AD38C-0E5E-DE4D-DCEF-C0156B443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2700" marR="127635">
              <a:lnSpc>
                <a:spcPct val="110000"/>
              </a:lnSpc>
              <a:spcBef>
                <a:spcPts val="100"/>
              </a:spcBef>
            </a:pP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determining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allow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systematically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identify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whether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fall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within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US" sz="2100" dirty="0">
              <a:latin typeface="Arial"/>
              <a:cs typeface="Arial"/>
            </a:endParaRPr>
          </a:p>
          <a:p>
            <a:pPr marL="355600" marR="288290" indent="-342900">
              <a:lnSpc>
                <a:spcPct val="110000"/>
              </a:lnSpc>
              <a:spcBef>
                <a:spcPts val="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Determine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based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question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scope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logic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excluding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irrelevant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sources.</a:t>
            </a:r>
            <a:endParaRPr lang="en-US" sz="1400" dirty="0">
              <a:latin typeface="Arial"/>
              <a:cs typeface="Arial"/>
            </a:endParaRPr>
          </a:p>
          <a:p>
            <a:pPr marL="342265" marR="69850" lvl="1" indent="-342265">
              <a:lnSpc>
                <a:spcPct val="100000"/>
              </a:lnSpc>
              <a:spcBef>
                <a:spcPts val="800"/>
              </a:spcBef>
              <a:buAutoNum type="alphaLcPeriod"/>
              <a:tabLst>
                <a:tab pos="342265" algn="l"/>
                <a:tab pos="812800" algn="l"/>
              </a:tabLst>
            </a:pP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“Relevance”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should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defined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clearly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writing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outset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could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endParaRPr lang="en-US" sz="1400" dirty="0">
              <a:latin typeface="Lucida Sans Unicode"/>
              <a:cs typeface="Lucida Sans Unicode"/>
            </a:endParaRPr>
          </a:p>
          <a:p>
            <a:pPr marR="116839" algn="ctr">
              <a:lnSpc>
                <a:spcPct val="100000"/>
              </a:lnSpc>
              <a:spcBef>
                <a:spcPts val="170"/>
              </a:spcBef>
            </a:pP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captured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several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criteria,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usually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based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marR="5080" indent="-342900">
              <a:lnSpc>
                <a:spcPct val="110000"/>
              </a:lnSpc>
              <a:spcBef>
                <a:spcPts val="30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Outline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as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list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Yes/No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questions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quickly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go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through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result</a:t>
            </a:r>
            <a:endParaRPr lang="en-US" sz="1400" dirty="0">
              <a:latin typeface="Arial"/>
              <a:cs typeface="Arial"/>
            </a:endParaRPr>
          </a:p>
          <a:p>
            <a:pPr marL="355600" marR="257175" indent="-342900">
              <a:lnSpc>
                <a:spcPct val="110000"/>
              </a:lnSpc>
              <a:spcBef>
                <a:spcPts val="30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following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helpful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general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apply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results,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depending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scope: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spc="-10" dirty="0">
                <a:solidFill>
                  <a:srgbClr val="4A2D83"/>
                </a:solidFill>
                <a:latin typeface="Trebuchet MS"/>
                <a:cs typeface="Trebuchet MS"/>
              </a:rPr>
              <a:t>Geography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Africa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275590" lvl="1" indent="-342900">
              <a:lnSpc>
                <a:spcPct val="110000"/>
              </a:lnSpc>
              <a:spcBef>
                <a:spcPts val="30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Date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exclude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before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2010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(with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goal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prioritizing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more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recent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which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cite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older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49530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Study</a:t>
            </a:r>
            <a:r>
              <a:rPr lang="en-US"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type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exclude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peer-reviewed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journals,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experimental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qualitative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studies)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Empirical</a:t>
            </a:r>
            <a:r>
              <a:rPr lang="en-US" sz="1400" i="1" spc="-11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i="1" spc="-30" dirty="0">
                <a:solidFill>
                  <a:srgbClr val="4A2D83"/>
                </a:solidFill>
                <a:latin typeface="Trebuchet MS"/>
                <a:cs typeface="Trebuchet MS"/>
              </a:rPr>
              <a:t>studies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exclude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theory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6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Availability.</a:t>
            </a:r>
            <a:r>
              <a:rPr lang="en-US"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available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online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free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full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text.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1327785" marR="59055" lvl="2" indent="-401320">
              <a:lnSpc>
                <a:spcPct val="110000"/>
              </a:lnSpc>
              <a:spcBef>
                <a:spcPts val="30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access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academic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library,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request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article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scan.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i="1" dirty="0">
                <a:solidFill>
                  <a:srgbClr val="4A2D83"/>
                </a:solidFill>
                <a:latin typeface="Trebuchet MS"/>
                <a:cs typeface="Trebuchet MS"/>
              </a:rPr>
              <a:t>Language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written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English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(this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criterion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usually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implicit).</a:t>
            </a:r>
            <a:endParaRPr lang="en-US" sz="14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487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EA67-733E-00CC-01D6-F39EC6F0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45" dirty="0">
                <a:solidFill>
                  <a:srgbClr val="4A2D83"/>
                </a:solidFill>
              </a:rPr>
              <a:t>Det</a:t>
            </a:r>
            <a:r>
              <a:rPr lang="en-IN" b="1" spc="-55" dirty="0">
                <a:solidFill>
                  <a:srgbClr val="4A2D83"/>
                </a:solidFill>
              </a:rPr>
              <a:t>ermine</a:t>
            </a:r>
            <a:r>
              <a:rPr lang="en-IN" b="1" spc="-270" dirty="0">
                <a:solidFill>
                  <a:srgbClr val="4A2D83"/>
                </a:solidFill>
              </a:rPr>
              <a:t> </a:t>
            </a:r>
            <a:r>
              <a:rPr lang="en-IN" b="1" spc="-75" dirty="0">
                <a:solidFill>
                  <a:srgbClr val="4A2D83"/>
                </a:solidFill>
              </a:rPr>
              <a:t>S</a:t>
            </a:r>
            <a:r>
              <a:rPr lang="en-IN" b="1" spc="-55" dirty="0">
                <a:solidFill>
                  <a:srgbClr val="4A2D83"/>
                </a:solidFill>
              </a:rPr>
              <a:t>creeni</a:t>
            </a:r>
            <a:r>
              <a:rPr lang="en-IN" b="1" spc="-25" dirty="0">
                <a:solidFill>
                  <a:srgbClr val="4A2D83"/>
                </a:solidFill>
              </a:rPr>
              <a:t>ng</a:t>
            </a:r>
            <a:r>
              <a:rPr lang="en-IN" b="1" spc="-280" dirty="0">
                <a:solidFill>
                  <a:srgbClr val="4A2D83"/>
                </a:solidFill>
              </a:rPr>
              <a:t> </a:t>
            </a:r>
            <a:r>
              <a:rPr lang="en-IN" b="1" spc="-195" dirty="0">
                <a:solidFill>
                  <a:srgbClr val="4A2D83"/>
                </a:solidFill>
              </a:rPr>
              <a:t>C</a:t>
            </a:r>
            <a:r>
              <a:rPr lang="en-IN" b="1" spc="-25" dirty="0">
                <a:solidFill>
                  <a:srgbClr val="4A2D83"/>
                </a:solidFill>
              </a:rPr>
              <a:t>r</a:t>
            </a:r>
            <a:r>
              <a:rPr lang="en-IN" b="1" spc="-15" dirty="0">
                <a:solidFill>
                  <a:srgbClr val="4A2D83"/>
                </a:solidFill>
              </a:rPr>
              <a:t>i</a:t>
            </a:r>
            <a:r>
              <a:rPr lang="en-IN" b="1" spc="-25" dirty="0">
                <a:solidFill>
                  <a:srgbClr val="4A2D83"/>
                </a:solidFill>
              </a:rPr>
              <a:t>ter</a:t>
            </a:r>
            <a:r>
              <a:rPr lang="en-IN" b="1" spc="-10" dirty="0">
                <a:solidFill>
                  <a:srgbClr val="4A2D83"/>
                </a:solidFill>
              </a:rPr>
              <a:t>i</a:t>
            </a:r>
            <a:r>
              <a:rPr lang="en-IN" b="1" spc="-85" dirty="0">
                <a:solidFill>
                  <a:srgbClr val="4A2D83"/>
                </a:solidFill>
              </a:rPr>
              <a:t>a</a:t>
            </a:r>
            <a:r>
              <a:rPr lang="en-IN" b="1" spc="-254" dirty="0">
                <a:solidFill>
                  <a:srgbClr val="4A2D83"/>
                </a:solidFill>
              </a:rPr>
              <a:t> </a:t>
            </a:r>
            <a:r>
              <a:rPr lang="en-IN" b="1" spc="-315" dirty="0">
                <a:solidFill>
                  <a:srgbClr val="4A2D83"/>
                </a:solidFill>
              </a:rPr>
              <a:t>(</a:t>
            </a:r>
            <a:r>
              <a:rPr lang="en-IN" b="1" spc="-229" dirty="0">
                <a:solidFill>
                  <a:srgbClr val="4A2D83"/>
                </a:solidFill>
              </a:rPr>
              <a:t>2/2)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7A49-F35A-BB7A-F0CF-A4F10B16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en-US" sz="28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lang="en-US" sz="28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20" dirty="0">
                <a:solidFill>
                  <a:srgbClr val="4A2D83"/>
                </a:solidFill>
                <a:latin typeface="Trebuchet MS"/>
                <a:cs typeface="Trebuchet MS"/>
              </a:rPr>
              <a:t>screening</a:t>
            </a:r>
            <a:r>
              <a:rPr lang="en-US" sz="28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50" dirty="0">
                <a:solidFill>
                  <a:srgbClr val="4A2D83"/>
                </a:solidFill>
                <a:latin typeface="Trebuchet MS"/>
                <a:cs typeface="Trebuchet MS"/>
              </a:rPr>
              <a:t>criteria</a:t>
            </a:r>
            <a:r>
              <a:rPr lang="en-US" sz="28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lang="en-US" sz="28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EPAR</a:t>
            </a:r>
            <a:r>
              <a:rPr lang="en-US" sz="2800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28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Technical</a:t>
            </a:r>
            <a:r>
              <a:rPr lang="en-US" sz="2800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28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Report</a:t>
            </a:r>
            <a:r>
              <a:rPr lang="en-US" sz="2800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lang="en-US" sz="2800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#359</a:t>
            </a:r>
            <a:r>
              <a:rPr lang="en-US" sz="2800" i="1" spc="-75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lang="en-US" sz="2800" dirty="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55" dirty="0">
                <a:solidFill>
                  <a:srgbClr val="4A2D83"/>
                </a:solidFill>
                <a:latin typeface="Trebuchet MS"/>
                <a:cs typeface="Trebuchet MS"/>
              </a:rPr>
              <a:t>Type</a:t>
            </a:r>
            <a:r>
              <a:rPr lang="en-US" sz="28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lang="en-US" sz="28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30" dirty="0">
                <a:solidFill>
                  <a:srgbClr val="4A2D83"/>
                </a:solidFill>
                <a:latin typeface="Trebuchet MS"/>
                <a:cs typeface="Trebuchet MS"/>
              </a:rPr>
              <a:t>study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meta-analysis?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25" dirty="0">
                <a:solidFill>
                  <a:srgbClr val="4A2D83"/>
                </a:solidFill>
                <a:latin typeface="Trebuchet MS"/>
                <a:cs typeface="Trebuchet MS"/>
              </a:rPr>
              <a:t>Empirical</a:t>
            </a:r>
            <a:r>
              <a:rPr lang="en-US" sz="2800" i="1" spc="-10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35" dirty="0">
                <a:solidFill>
                  <a:srgbClr val="4A2D83"/>
                </a:solidFill>
                <a:latin typeface="Trebuchet MS"/>
                <a:cs typeface="Trebuchet MS"/>
              </a:rPr>
              <a:t>evidence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empirical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cash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>
              <a:lnSpc>
                <a:spcPct val="100000"/>
              </a:lnSpc>
              <a:spcBef>
                <a:spcPts val="170"/>
              </a:spcBef>
            </a:pP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programs?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16256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25" dirty="0">
                <a:solidFill>
                  <a:srgbClr val="4A2D83"/>
                </a:solidFill>
                <a:latin typeface="Trebuchet MS"/>
                <a:cs typeface="Trebuchet MS"/>
              </a:rPr>
              <a:t>Outcomes/indicators</a:t>
            </a:r>
            <a:r>
              <a:rPr lang="en-US" sz="28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5" dirty="0">
                <a:solidFill>
                  <a:srgbClr val="4A2D83"/>
                </a:solidFill>
                <a:latin typeface="Trebuchet MS"/>
                <a:cs typeface="Trebuchet MS"/>
              </a:rPr>
              <a:t>discussed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8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reproductive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health, </a:t>
            </a:r>
            <a:r>
              <a:rPr lang="en-US" sz="28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nutrition,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labor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market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participation,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poverty,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gender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intra-household </a:t>
            </a:r>
            <a:r>
              <a:rPr lang="en-US" sz="28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dynamics,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financial</a:t>
            </a:r>
            <a:r>
              <a:rPr lang="en-US" sz="28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inclusion?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15" dirty="0">
                <a:solidFill>
                  <a:srgbClr val="4A2D83"/>
                </a:solidFill>
                <a:latin typeface="Trebuchet MS"/>
                <a:cs typeface="Trebuchet MS"/>
              </a:rPr>
              <a:t>Nature</a:t>
            </a:r>
            <a:r>
              <a:rPr lang="en-US" sz="28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lang="en-US" sz="28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lang="en-US" sz="2800" i="1" spc="-25" dirty="0">
                <a:solidFill>
                  <a:srgbClr val="4A2D83"/>
                </a:solidFill>
                <a:latin typeface="Trebuchet MS"/>
                <a:cs typeface="Trebuchet MS"/>
              </a:rPr>
              <a:t>outcomes/indicators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</a:t>
            </a:r>
            <a:r>
              <a:rPr lang="en-US" sz="28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long-term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cash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>
              <a:lnSpc>
                <a:spcPct val="100000"/>
              </a:lnSpc>
              <a:spcBef>
                <a:spcPts val="170"/>
              </a:spcBef>
            </a:pP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thes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tco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as?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10" dirty="0">
                <a:solidFill>
                  <a:srgbClr val="4A2D83"/>
                </a:solidFill>
                <a:latin typeface="Trebuchet MS"/>
                <a:cs typeface="Trebuchet MS"/>
              </a:rPr>
              <a:t>Geography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</a:t>
            </a:r>
            <a:r>
              <a:rPr lang="en-US" sz="28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cash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transfer</a:t>
            </a:r>
            <a:r>
              <a:rPr lang="en-US" sz="28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programs</a:t>
            </a:r>
            <a:r>
              <a:rPr lang="en-US" sz="28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low-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</a:p>
          <a:p>
            <a:pPr marL="12065" marR="5080" indent="0">
              <a:lnSpc>
                <a:spcPct val="110000"/>
              </a:lnSpc>
              <a:spcBef>
                <a:spcPts val="300"/>
              </a:spcBef>
              <a:buNone/>
              <a:tabLst>
                <a:tab pos="299085" algn="l"/>
                <a:tab pos="299720" algn="l"/>
              </a:tabLst>
            </a:pPr>
            <a:r>
              <a:rPr lang="en-US" sz="28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middle-income </a:t>
            </a:r>
            <a:r>
              <a:rPr lang="en-US" sz="28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country?</a:t>
            </a:r>
            <a:endParaRPr lang="en-US" sz="28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2800" i="1" spc="-30" dirty="0">
                <a:solidFill>
                  <a:srgbClr val="4A2D83"/>
                </a:solidFill>
                <a:latin typeface="Trebuchet MS"/>
                <a:cs typeface="Trebuchet MS"/>
              </a:rPr>
              <a:t>Date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lang="en-US" sz="28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Was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28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lang="en-US" sz="28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lang="en-US" sz="28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28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2010-?</a:t>
            </a:r>
            <a:endParaRPr lang="en-US" sz="28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lang="en-US" sz="2800" dirty="0">
              <a:latin typeface="Lucida Sans Unicode"/>
              <a:cs typeface="Lucida Sans Unicode"/>
            </a:endParaRPr>
          </a:p>
          <a:p>
            <a:pPr marL="12700" marR="3401060">
              <a:lnSpc>
                <a:spcPct val="115700"/>
              </a:lnSpc>
            </a:pP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5" dirty="0">
                <a:solidFill>
                  <a:srgbClr val="4A2D83"/>
                </a:solidFill>
                <a:latin typeface="Arial"/>
                <a:cs typeface="Arial"/>
              </a:rPr>
              <a:t>figure</a:t>
            </a:r>
            <a:r>
              <a:rPr lang="en-US" sz="28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right</a:t>
            </a:r>
            <a:r>
              <a:rPr lang="en-US" sz="2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5" dirty="0">
                <a:solidFill>
                  <a:srgbClr val="4A2D83"/>
                </a:solidFill>
                <a:latin typeface="Arial"/>
                <a:cs typeface="Arial"/>
              </a:rPr>
              <a:t>summarizes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28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-15" dirty="0">
                <a:solidFill>
                  <a:srgbClr val="4A2D83"/>
                </a:solidFill>
                <a:latin typeface="Arial"/>
                <a:cs typeface="Arial"/>
              </a:rPr>
              <a:t>process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5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lang="en-US" sz="2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0" dirty="0">
                <a:solidFill>
                  <a:srgbClr val="4A2D83"/>
                </a:solidFill>
                <a:latin typeface="Arial"/>
                <a:cs typeface="Arial"/>
              </a:rPr>
              <a:t>project.</a:t>
            </a:r>
            <a:endParaRPr lang="en-US"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 marR="3491865">
              <a:lnSpc>
                <a:spcPct val="116100"/>
              </a:lnSpc>
            </a:pPr>
            <a:r>
              <a:rPr lang="en-US" sz="2800" b="1" spc="35" dirty="0">
                <a:solidFill>
                  <a:srgbClr val="4A2D83"/>
                </a:solidFill>
                <a:latin typeface="Arial"/>
                <a:cs typeface="Arial"/>
              </a:rPr>
              <a:t>Only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54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28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45" dirty="0">
                <a:solidFill>
                  <a:srgbClr val="4A2D83"/>
                </a:solidFill>
                <a:latin typeface="Arial"/>
                <a:cs typeface="Arial"/>
              </a:rPr>
              <a:t>which</a:t>
            </a:r>
            <a:r>
              <a:rPr lang="en-US" sz="28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2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answer</a:t>
            </a:r>
            <a:r>
              <a:rPr lang="en-US" sz="28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28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lang="en-US" sz="28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28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0" dirty="0">
                <a:solidFill>
                  <a:srgbClr val="4A2D83"/>
                </a:solidFill>
                <a:latin typeface="Arial"/>
                <a:cs typeface="Arial"/>
              </a:rPr>
              <a:t>above </a:t>
            </a:r>
            <a:r>
              <a:rPr lang="en-US" sz="2800" b="1" spc="25" dirty="0">
                <a:solidFill>
                  <a:srgbClr val="4A2D83"/>
                </a:solidFill>
                <a:latin typeface="Arial"/>
                <a:cs typeface="Arial"/>
              </a:rPr>
              <a:t>questions </a:t>
            </a:r>
            <a:r>
              <a:rPr lang="en-US" sz="2800" b="1" spc="35" dirty="0">
                <a:solidFill>
                  <a:srgbClr val="4A2D83"/>
                </a:solidFill>
                <a:latin typeface="Arial"/>
                <a:cs typeface="Arial"/>
              </a:rPr>
              <a:t>was </a:t>
            </a:r>
            <a:r>
              <a:rPr lang="en-US" sz="2800" b="1" spc="-5" dirty="0">
                <a:solidFill>
                  <a:srgbClr val="4A2D83"/>
                </a:solidFill>
                <a:latin typeface="Arial"/>
                <a:cs typeface="Arial"/>
              </a:rPr>
              <a:t>yes </a:t>
            </a:r>
            <a:r>
              <a:rPr lang="en-US" sz="2800" b="1" spc="65" dirty="0">
                <a:solidFill>
                  <a:srgbClr val="4A2D83"/>
                </a:solidFill>
                <a:latin typeface="Arial"/>
                <a:cs typeface="Arial"/>
              </a:rPr>
              <a:t>were </a:t>
            </a:r>
            <a:r>
              <a:rPr lang="en-US" sz="2800" b="1" spc="30" dirty="0">
                <a:solidFill>
                  <a:srgbClr val="4A2D83"/>
                </a:solidFill>
                <a:latin typeface="Arial"/>
                <a:cs typeface="Arial"/>
              </a:rPr>
              <a:t>included </a:t>
            </a:r>
            <a:r>
              <a:rPr lang="en-US" sz="28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lang="en-US" sz="2800" b="1" spc="8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2800" b="1" spc="8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lang="en-US" sz="28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2800" b="1" spc="30" dirty="0">
                <a:solidFill>
                  <a:srgbClr val="4A2D83"/>
                </a:solidFill>
                <a:latin typeface="Arial"/>
                <a:cs typeface="Arial"/>
              </a:rPr>
              <a:t>review.</a:t>
            </a:r>
            <a:endParaRPr lang="en-US" sz="2800" dirty="0">
              <a:latin typeface="Arial"/>
              <a:cs typeface="Arial"/>
            </a:endParaRPr>
          </a:p>
          <a:p>
            <a:endParaRPr lang="en-IN" dirty="0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F220F4A-3537-1360-1890-FA491A0066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6658" y="3552254"/>
            <a:ext cx="3494354" cy="284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42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45B0-1D76-C5B4-0616-173087B5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10" dirty="0">
                <a:solidFill>
                  <a:srgbClr val="4A2D83"/>
                </a:solidFill>
              </a:rPr>
              <a:t>Perf</a:t>
            </a:r>
            <a:r>
              <a:rPr lang="en-US" b="1" spc="-5" dirty="0">
                <a:solidFill>
                  <a:srgbClr val="4A2D83"/>
                </a:solidFill>
              </a:rPr>
              <a:t>o</a:t>
            </a:r>
            <a:r>
              <a:rPr lang="en-US" b="1" spc="-55" dirty="0">
                <a:solidFill>
                  <a:srgbClr val="4A2D83"/>
                </a:solidFill>
              </a:rPr>
              <a:t>rm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Searches</a:t>
            </a:r>
            <a:r>
              <a:rPr lang="en-US" b="1" spc="-27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a</a:t>
            </a:r>
            <a:r>
              <a:rPr lang="en-US" b="1" spc="-70" dirty="0">
                <a:solidFill>
                  <a:srgbClr val="4A2D83"/>
                </a:solidFill>
              </a:rPr>
              <a:t>n</a:t>
            </a:r>
            <a:r>
              <a:rPr lang="en-US" b="1" spc="-10" dirty="0">
                <a:solidFill>
                  <a:srgbClr val="4A2D83"/>
                </a:solidFill>
              </a:rPr>
              <a:t>d</a:t>
            </a:r>
            <a:r>
              <a:rPr lang="en-US" b="1" spc="-254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Screen</a:t>
            </a:r>
            <a:r>
              <a:rPr lang="en-US" b="1" spc="-290" dirty="0">
                <a:solidFill>
                  <a:srgbClr val="4A2D83"/>
                </a:solidFill>
              </a:rPr>
              <a:t> </a:t>
            </a:r>
            <a:r>
              <a:rPr lang="en-US" b="1" spc="-35" dirty="0">
                <a:solidFill>
                  <a:srgbClr val="4A2D83"/>
                </a:solidFill>
              </a:rPr>
              <a:t>Results</a:t>
            </a:r>
            <a:r>
              <a:rPr lang="en-US" b="1" spc="-250" dirty="0">
                <a:solidFill>
                  <a:srgbClr val="4A2D83"/>
                </a:solidFill>
              </a:rPr>
              <a:t> </a:t>
            </a:r>
            <a:r>
              <a:rPr lang="en-US" b="1" spc="-310" dirty="0">
                <a:solidFill>
                  <a:srgbClr val="4A2D83"/>
                </a:solidFill>
              </a:rPr>
              <a:t>(1/5)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79CB-716E-7580-8FFD-A4AE62370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12700" marR="31115">
              <a:lnSpc>
                <a:spcPct val="110100"/>
              </a:lnSpc>
              <a:spcBef>
                <a:spcPts val="95"/>
              </a:spcBef>
            </a:pP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goal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during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identify and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collect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literature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answering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question(s).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95" dirty="0">
                <a:solidFill>
                  <a:srgbClr val="4A2D83"/>
                </a:solidFill>
                <a:latin typeface="Arial"/>
                <a:cs typeface="Arial"/>
              </a:rPr>
              <a:t>want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feel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confident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sample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identified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includes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literature.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19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Enter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database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selected.</a:t>
            </a:r>
            <a:endParaRPr lang="en-US" sz="1400" dirty="0">
              <a:latin typeface="Arial"/>
              <a:cs typeface="Arial"/>
            </a:endParaRPr>
          </a:p>
          <a:p>
            <a:pPr marL="812165" marR="5080" lvl="1" indent="-342900" algn="just">
              <a:lnSpc>
                <a:spcPct val="110100"/>
              </a:lnSpc>
              <a:spcBef>
                <a:spcPts val="635"/>
              </a:spcBef>
              <a:buAutoNum type="alphaLcPeriod"/>
              <a:tabLst>
                <a:tab pos="812800" algn="l"/>
              </a:tabLst>
            </a:pP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Go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ar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ma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uct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rted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another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sorted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relevance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limited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last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couple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years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ensure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43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don’t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miss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new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research).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355600" marR="307975" indent="-342900">
              <a:lnSpc>
                <a:spcPct val="110000"/>
              </a:lnSpc>
              <a:spcBef>
                <a:spcPts val="3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Determine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how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many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which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screen.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Make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sure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database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presents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sorted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relevance,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help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ensure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are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not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able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all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results,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have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those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most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likely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be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relevant.</a:t>
            </a:r>
            <a:endParaRPr lang="en-US" sz="1400" dirty="0">
              <a:latin typeface="Arial"/>
              <a:cs typeface="Arial"/>
            </a:endParaRPr>
          </a:p>
          <a:p>
            <a:pPr marL="812165" marR="46355" lvl="1" indent="-342900">
              <a:lnSpc>
                <a:spcPct val="110000"/>
              </a:lnSpc>
              <a:spcBef>
                <a:spcPts val="64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yield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fewer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100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title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abstracts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all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245745" lvl="1" indent="-342900">
              <a:lnSpc>
                <a:spcPct val="110000"/>
              </a:lnSpc>
              <a:spcBef>
                <a:spcPts val="6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yield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than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100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least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 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50.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good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proportion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them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still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relevant,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continue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next 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20. 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epea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rocess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until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ry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vant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cu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ment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giv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of 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812165" marR="313055" lvl="1" indent="-342900">
              <a:lnSpc>
                <a:spcPct val="110000"/>
              </a:lnSpc>
              <a:spcBef>
                <a:spcPts val="6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Note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 many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pages/results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reviewed for searches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where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did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every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result.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Google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Scholar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stop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showing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after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100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pages.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continuing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see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conducting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add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nal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sea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er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US" sz="14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503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B4FB-9768-B24C-9ECF-7CF2AE90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10" dirty="0">
                <a:solidFill>
                  <a:srgbClr val="4A2D83"/>
                </a:solidFill>
              </a:rPr>
              <a:t>Perf</a:t>
            </a:r>
            <a:r>
              <a:rPr lang="en-US" b="1" spc="-5" dirty="0">
                <a:solidFill>
                  <a:srgbClr val="4A2D83"/>
                </a:solidFill>
              </a:rPr>
              <a:t>o</a:t>
            </a:r>
            <a:r>
              <a:rPr lang="en-US" b="1" spc="-55" dirty="0">
                <a:solidFill>
                  <a:srgbClr val="4A2D83"/>
                </a:solidFill>
              </a:rPr>
              <a:t>rm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Searches</a:t>
            </a:r>
            <a:r>
              <a:rPr lang="en-US" b="1" spc="-27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a</a:t>
            </a:r>
            <a:r>
              <a:rPr lang="en-US" b="1" spc="-70" dirty="0">
                <a:solidFill>
                  <a:srgbClr val="4A2D83"/>
                </a:solidFill>
              </a:rPr>
              <a:t>n</a:t>
            </a:r>
            <a:r>
              <a:rPr lang="en-US" b="1" spc="-10" dirty="0">
                <a:solidFill>
                  <a:srgbClr val="4A2D83"/>
                </a:solidFill>
              </a:rPr>
              <a:t>d</a:t>
            </a:r>
            <a:r>
              <a:rPr lang="en-US" b="1" spc="-254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Screen</a:t>
            </a:r>
            <a:r>
              <a:rPr lang="en-US" b="1" spc="-290" dirty="0">
                <a:solidFill>
                  <a:srgbClr val="4A2D83"/>
                </a:solidFill>
              </a:rPr>
              <a:t> </a:t>
            </a:r>
            <a:r>
              <a:rPr lang="en-US" b="1" spc="-35" dirty="0">
                <a:solidFill>
                  <a:srgbClr val="4A2D83"/>
                </a:solidFill>
              </a:rPr>
              <a:t>Results</a:t>
            </a:r>
            <a:r>
              <a:rPr lang="en-US" b="1" spc="-250" dirty="0">
                <a:solidFill>
                  <a:srgbClr val="4A2D83"/>
                </a:solidFill>
              </a:rPr>
              <a:t> </a:t>
            </a:r>
            <a:r>
              <a:rPr lang="en-US" b="1" spc="-254" dirty="0">
                <a:solidFill>
                  <a:srgbClr val="4A2D83"/>
                </a:solidFill>
              </a:rPr>
              <a:t>(2/5)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F43F4-0E1C-3F79-1016-A4B6BD62D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858870"/>
          </a:xfrm>
        </p:spPr>
        <p:txBody>
          <a:bodyPr>
            <a:normAutofit/>
          </a:bodyPr>
          <a:lstStyle/>
          <a:p>
            <a:pPr marL="355600" marR="43815" indent="-342900">
              <a:lnSpc>
                <a:spcPct val="110000"/>
              </a:lnSpc>
              <a:spcBef>
                <a:spcPts val="10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titles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abstracts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95" dirty="0">
                <a:solidFill>
                  <a:srgbClr val="4A2D83"/>
                </a:solidFill>
                <a:latin typeface="Arial"/>
                <a:cs typeface="Arial"/>
              </a:rPr>
              <a:t>them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against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set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criteria.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Exclude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clearly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indisputably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relevant, </a:t>
            </a:r>
            <a:r>
              <a:rPr lang="en-US"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i.e.,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do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not </a:t>
            </a:r>
            <a:r>
              <a:rPr lang="en-US" sz="1400" b="1" spc="90" dirty="0">
                <a:solidFill>
                  <a:srgbClr val="4A2D83"/>
                </a:solidFill>
                <a:latin typeface="Arial"/>
                <a:cs typeface="Arial"/>
              </a:rPr>
              <a:t>meet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criteria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(see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example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i="1" spc="-50" dirty="0">
                <a:solidFill>
                  <a:srgbClr val="4A2D83"/>
                </a:solidFill>
                <a:latin typeface="Arial"/>
                <a:cs typeface="Arial"/>
              </a:rPr>
              <a:t>Resources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).</a:t>
            </a:r>
            <a:endParaRPr lang="en-US" sz="1400" dirty="0">
              <a:latin typeface="Arial"/>
              <a:cs typeface="Arial"/>
            </a:endParaRPr>
          </a:p>
          <a:p>
            <a:pPr marL="812165" marR="58419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possible, export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or enter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spreadsheet,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add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where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given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meets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each </a:t>
            </a:r>
            <a:r>
              <a:rPr lang="en-US" sz="13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criterion.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Download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save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sources.</a:t>
            </a:r>
            <a:endParaRPr lang="en-US" sz="1400" dirty="0">
              <a:latin typeface="Arial"/>
              <a:cs typeface="Arial"/>
            </a:endParaRPr>
          </a:p>
          <a:p>
            <a:pPr marL="812165" marR="71120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yield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large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number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sources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appear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relevant,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want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than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title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confirm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their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relevance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before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downloading.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355600" marR="81280" indent="-342900">
              <a:lnSpc>
                <a:spcPct val="110000"/>
              </a:lnSpc>
              <a:spcBef>
                <a:spcPts val="300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transparency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about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methods,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track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following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 about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database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string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(see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example</a:t>
            </a:r>
            <a:r>
              <a:rPr lang="en-US"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Tracking</a:t>
            </a:r>
            <a:r>
              <a:rPr lang="en-US"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table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i="1" spc="-55" dirty="0">
                <a:solidFill>
                  <a:srgbClr val="4A2D83"/>
                </a:solidFill>
                <a:latin typeface="Arial"/>
                <a:cs typeface="Arial"/>
              </a:rPr>
              <a:t>Resources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):</a:t>
            </a:r>
            <a:endParaRPr lang="en-US" sz="1400" dirty="0">
              <a:latin typeface="Arial"/>
              <a:cs typeface="Arial"/>
            </a:endParaRPr>
          </a:p>
          <a:p>
            <a:pPr marL="812165" lvl="1" indent="-342900">
              <a:lnSpc>
                <a:spcPct val="100000"/>
              </a:lnSpc>
              <a:spcBef>
                <a:spcPts val="459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</a:t>
            </a:r>
            <a:r>
              <a:rPr lang="en-US" sz="13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searched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marR="278130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(make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sure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filters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add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string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lang="en-US"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given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database)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name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person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who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performed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(if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dividing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>
              <a:lnSpc>
                <a:spcPct val="100000"/>
              </a:lnSpc>
              <a:spcBef>
                <a:spcPts val="160"/>
              </a:spcBef>
            </a:pP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among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people)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lphaLcPeriod" startAt="4"/>
              <a:tabLst>
                <a:tab pos="812165" algn="l"/>
                <a:tab pos="812800" algn="l"/>
              </a:tabLst>
            </a:pP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mb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ts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lphaLcPeriod" startAt="4"/>
              <a:tabLst>
                <a:tab pos="812165" algn="l"/>
                <a:tab pos="812800" algn="l"/>
              </a:tabLst>
            </a:pP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Number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screened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(in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case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turn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up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hundreds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results)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59"/>
              </a:spcBef>
              <a:buAutoNum type="alphaLcPeriod" startAt="4"/>
              <a:tabLst>
                <a:tab pos="812165" algn="l"/>
                <a:tab pos="812800" algn="l"/>
              </a:tabLst>
            </a:pP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mb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va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lang="en-US"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ts</a:t>
            </a:r>
            <a:endParaRPr lang="en-US" sz="1300" dirty="0">
              <a:latin typeface="Lucida Sans Unicode"/>
              <a:cs typeface="Lucida Sans Unicode"/>
            </a:endParaRPr>
          </a:p>
          <a:p>
            <a:pPr marL="812165" lvl="1" indent="-342900">
              <a:lnSpc>
                <a:spcPct val="100000"/>
              </a:lnSpc>
              <a:spcBef>
                <a:spcPts val="455"/>
              </a:spcBef>
              <a:buAutoNum type="alphaLcPeriod" startAt="4"/>
              <a:tabLst>
                <a:tab pos="812165" algn="l"/>
                <a:tab pos="812800" algn="l"/>
              </a:tabLst>
            </a:pP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Number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duplicate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(you</a:t>
            </a:r>
            <a:r>
              <a:rPr lang="en-US"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US"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note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duplicates until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aggregated</a:t>
            </a:r>
            <a:r>
              <a:rPr lang="en-US"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lang="en-US"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lang="en-US"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results)</a:t>
            </a:r>
            <a:endParaRPr lang="en-US" sz="13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9101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0F9AE-ECB4-360A-8773-AF5D24D2B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10" dirty="0">
                <a:solidFill>
                  <a:srgbClr val="4A2D83"/>
                </a:solidFill>
              </a:rPr>
              <a:t>Perf</a:t>
            </a:r>
            <a:r>
              <a:rPr lang="en-US" b="1" spc="-5" dirty="0">
                <a:solidFill>
                  <a:srgbClr val="4A2D83"/>
                </a:solidFill>
              </a:rPr>
              <a:t>o</a:t>
            </a:r>
            <a:r>
              <a:rPr lang="en-US" b="1" spc="-55" dirty="0">
                <a:solidFill>
                  <a:srgbClr val="4A2D83"/>
                </a:solidFill>
              </a:rPr>
              <a:t>rm</a:t>
            </a:r>
            <a:r>
              <a:rPr lang="en-US" b="1" spc="-26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Searches</a:t>
            </a:r>
            <a:r>
              <a:rPr lang="en-US" b="1" spc="-275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a</a:t>
            </a:r>
            <a:r>
              <a:rPr lang="en-US" b="1" spc="-70" dirty="0">
                <a:solidFill>
                  <a:srgbClr val="4A2D83"/>
                </a:solidFill>
              </a:rPr>
              <a:t>n</a:t>
            </a:r>
            <a:r>
              <a:rPr lang="en-US" b="1" spc="-10" dirty="0">
                <a:solidFill>
                  <a:srgbClr val="4A2D83"/>
                </a:solidFill>
              </a:rPr>
              <a:t>d</a:t>
            </a:r>
            <a:r>
              <a:rPr lang="en-US" b="1" spc="-254" dirty="0">
                <a:solidFill>
                  <a:srgbClr val="4A2D83"/>
                </a:solidFill>
              </a:rPr>
              <a:t> </a:t>
            </a:r>
            <a:r>
              <a:rPr lang="en-US" b="1" spc="-60" dirty="0">
                <a:solidFill>
                  <a:srgbClr val="4A2D83"/>
                </a:solidFill>
              </a:rPr>
              <a:t>Screen</a:t>
            </a:r>
            <a:r>
              <a:rPr lang="en-US" b="1" spc="-290" dirty="0">
                <a:solidFill>
                  <a:srgbClr val="4A2D83"/>
                </a:solidFill>
              </a:rPr>
              <a:t> </a:t>
            </a:r>
            <a:r>
              <a:rPr lang="en-US" b="1" spc="-35" dirty="0">
                <a:solidFill>
                  <a:srgbClr val="4A2D83"/>
                </a:solidFill>
              </a:rPr>
              <a:t>Results</a:t>
            </a:r>
            <a:r>
              <a:rPr lang="en-US" b="1" spc="-250" dirty="0">
                <a:solidFill>
                  <a:srgbClr val="4A2D83"/>
                </a:solidFill>
              </a:rPr>
              <a:t> </a:t>
            </a:r>
            <a:r>
              <a:rPr lang="en-US" b="1" spc="-265" dirty="0">
                <a:solidFill>
                  <a:srgbClr val="4A2D83"/>
                </a:solidFill>
              </a:rPr>
              <a:t>(3/5)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46752-6368-AE7C-F81F-36420C802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718"/>
            <a:ext cx="10515600" cy="4805081"/>
          </a:xfrm>
        </p:spPr>
        <p:txBody>
          <a:bodyPr>
            <a:normAutofit/>
          </a:bodyPr>
          <a:lstStyle/>
          <a:p>
            <a:pPr marL="299085" marR="405130" indent="-287020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Document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limitations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searches,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including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noting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titles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sources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not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available</a:t>
            </a:r>
            <a:r>
              <a:rPr lang="en-US"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download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free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charge.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A2D83"/>
              </a:buClr>
              <a:buFont typeface="Arial MT"/>
              <a:buChar char="•"/>
            </a:pPr>
            <a:endParaRPr lang="en-US" sz="2100" dirty="0">
              <a:latin typeface="Arial"/>
              <a:cs typeface="Arial"/>
            </a:endParaRPr>
          </a:p>
          <a:p>
            <a:pPr marL="299085" marR="102235" indent="-287020">
              <a:lnSpc>
                <a:spcPct val="11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UW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students,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published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source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available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online,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UW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library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system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4A2D83"/>
                </a:solidFill>
                <a:latin typeface="Arial"/>
                <a:cs typeface="Arial"/>
              </a:rPr>
              <a:t>see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scan</a:t>
            </a:r>
            <a:r>
              <a:rPr lang="en-US"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might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lang="en-US"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available.</a:t>
            </a:r>
            <a:endParaRPr lang="en-US"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4A2D83"/>
              </a:buClr>
              <a:buFont typeface="Arial MT"/>
              <a:buChar char="•"/>
            </a:pPr>
            <a:endParaRPr lang="en-US" sz="2100" dirty="0">
              <a:latin typeface="Arial"/>
              <a:cs typeface="Arial"/>
            </a:endParaRPr>
          </a:p>
          <a:p>
            <a:pPr marL="299085" marR="5080" indent="-287020">
              <a:lnSpc>
                <a:spcPct val="11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After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60" dirty="0">
                <a:solidFill>
                  <a:srgbClr val="4A2D83"/>
                </a:solidFill>
                <a:latin typeface="Arial"/>
                <a:cs typeface="Arial"/>
              </a:rPr>
              <a:t>initial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searches,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may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find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lack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lang="en-US" sz="1400" b="1" spc="90" dirty="0">
                <a:solidFill>
                  <a:srgbClr val="4A2D83"/>
                </a:solidFill>
                <a:latin typeface="Arial"/>
                <a:cs typeface="Arial"/>
              </a:rPr>
              <a:t>with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evidence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lang="en-US"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certain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aspects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your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research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question(s). 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may </a:t>
            </a:r>
            <a:r>
              <a:rPr lang="en-US" sz="1400" b="1" spc="-5" dirty="0">
                <a:solidFill>
                  <a:srgbClr val="4A2D83"/>
                </a:solidFill>
                <a:latin typeface="Arial"/>
                <a:cs typeface="Arial"/>
              </a:rPr>
              <a:t>choose </a:t>
            </a:r>
            <a:r>
              <a:rPr lang="en-US"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conduct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supplemental </a:t>
            </a:r>
            <a:r>
              <a:rPr lang="en-US" sz="1400" b="1" spc="5" dirty="0">
                <a:solidFill>
                  <a:srgbClr val="4A2D83"/>
                </a:solidFill>
                <a:latin typeface="Arial"/>
                <a:cs typeface="Arial"/>
              </a:rPr>
              <a:t>searches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with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new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strings </a:t>
            </a:r>
            <a:r>
              <a:rPr lang="en-US"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lang="en-US" sz="1400" b="1" spc="70" dirty="0">
                <a:solidFill>
                  <a:srgbClr val="4A2D83"/>
                </a:solidFill>
                <a:latin typeface="Arial"/>
                <a:cs typeface="Arial"/>
              </a:rPr>
              <a:t>target 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gaps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sample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 of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studies,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lang="en-US"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particular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organizations/additional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databases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0" dirty="0">
                <a:solidFill>
                  <a:srgbClr val="4A2D83"/>
                </a:solidFill>
                <a:latin typeface="Arial"/>
                <a:cs typeface="Arial"/>
              </a:rPr>
              <a:t>grey </a:t>
            </a:r>
            <a:r>
              <a:rPr lang="en-US"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literature, </a:t>
            </a:r>
            <a:r>
              <a:rPr lang="en-US"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bibliographies/references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lang="en-US"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lang="en-US"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initially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identified</a:t>
            </a:r>
            <a:r>
              <a:rPr lang="en-US"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additional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0" dirty="0">
                <a:solidFill>
                  <a:srgbClr val="4A2D83"/>
                </a:solidFill>
                <a:latin typeface="Arial"/>
                <a:cs typeface="Arial"/>
              </a:rPr>
              <a:t>publications.</a:t>
            </a:r>
            <a:endParaRPr lang="en-US" sz="1400" dirty="0">
              <a:latin typeface="Arial"/>
              <a:cs typeface="Arial"/>
            </a:endParaRPr>
          </a:p>
          <a:p>
            <a:pPr marL="756285" marR="137795" lvl="1" indent="-287020">
              <a:lnSpc>
                <a:spcPct val="110000"/>
              </a:lnSpc>
              <a:spcBef>
                <a:spcPts val="64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supplemental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lang="en-US"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would</a:t>
            </a:r>
            <a:r>
              <a:rPr lang="en-US"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along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rationale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conducting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them.</a:t>
            </a:r>
            <a:endParaRPr lang="en-US" sz="1400" dirty="0">
              <a:latin typeface="Lucida Sans Unicode"/>
              <a:cs typeface="Lucida Sans Unicode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4A2D83"/>
              </a:buClr>
              <a:buFont typeface="Arial MT"/>
              <a:buChar char="–"/>
            </a:pPr>
            <a:endParaRPr lang="en-US" sz="1900" dirty="0">
              <a:latin typeface="Lucida Sans Unicode"/>
              <a:cs typeface="Lucida Sans Unicode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When</a:t>
            </a:r>
            <a:r>
              <a:rPr lang="en-US"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35" dirty="0">
                <a:solidFill>
                  <a:srgbClr val="4A2D83"/>
                </a:solidFill>
                <a:latin typeface="Arial"/>
                <a:cs typeface="Arial"/>
              </a:rPr>
              <a:t>downloading</a:t>
            </a:r>
            <a:r>
              <a:rPr lang="en-US"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lang="en-US"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25" dirty="0">
                <a:solidFill>
                  <a:srgbClr val="4A2D83"/>
                </a:solidFill>
                <a:latin typeface="Arial"/>
                <a:cs typeface="Arial"/>
              </a:rPr>
              <a:t>results,</a:t>
            </a:r>
            <a:r>
              <a:rPr lang="en-US"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15" dirty="0">
                <a:solidFill>
                  <a:srgbClr val="4A2D83"/>
                </a:solidFill>
                <a:latin typeface="Arial"/>
                <a:cs typeface="Arial"/>
              </a:rPr>
              <a:t>consider</a:t>
            </a:r>
            <a:r>
              <a:rPr lang="en-US"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lang="en-US"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40" dirty="0">
                <a:solidFill>
                  <a:srgbClr val="4A2D83"/>
                </a:solidFill>
                <a:latin typeface="Arial"/>
                <a:cs typeface="Arial"/>
              </a:rPr>
              <a:t>standardized</a:t>
            </a:r>
            <a:r>
              <a:rPr lang="en-US"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lang="en-US" sz="1400" b="1" spc="50" dirty="0">
                <a:solidFill>
                  <a:srgbClr val="4A2D83"/>
                </a:solidFill>
                <a:latin typeface="Arial"/>
                <a:cs typeface="Arial"/>
              </a:rPr>
              <a:t>nomenclature.</a:t>
            </a:r>
            <a:endParaRPr lang="en-US" sz="1400" dirty="0">
              <a:latin typeface="Arial"/>
              <a:cs typeface="Arial"/>
            </a:endParaRPr>
          </a:p>
          <a:p>
            <a:pPr marL="756285" marR="99441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saves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PDF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format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“AuthorLastName1 </a:t>
            </a:r>
            <a:r>
              <a:rPr lang="en-US"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AuthorLastName2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YEAR,”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up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three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authors,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756285" marR="25400">
              <a:lnSpc>
                <a:spcPct val="110000"/>
              </a:lnSpc>
            </a:pP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“AuthorLastName1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et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al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YEAR”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three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authors,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make </a:t>
            </a:r>
            <a:r>
              <a:rPr lang="en-US"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easier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lang="en-US"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track</a:t>
            </a:r>
            <a:r>
              <a:rPr lang="en-US"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documents.</a:t>
            </a:r>
            <a:endParaRPr lang="en-US" sz="1400" dirty="0">
              <a:latin typeface="Lucida Sans Unicode"/>
              <a:cs typeface="Lucida Sans Unicod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849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2244" y="588263"/>
            <a:ext cx="8288020" cy="5681980"/>
          </a:xfrm>
          <a:custGeom>
            <a:avLst/>
            <a:gdLst/>
            <a:ahLst/>
            <a:cxnLst/>
            <a:rect l="l" t="t" r="r" b="b"/>
            <a:pathLst>
              <a:path w="8288020" h="5681980">
                <a:moveTo>
                  <a:pt x="8287511" y="0"/>
                </a:moveTo>
                <a:lnTo>
                  <a:pt x="0" y="0"/>
                </a:lnTo>
                <a:lnTo>
                  <a:pt x="0" y="5681472"/>
                </a:lnTo>
                <a:lnTo>
                  <a:pt x="8287511" y="5681472"/>
                </a:lnTo>
                <a:lnTo>
                  <a:pt x="8287511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39110" y="101413"/>
            <a:ext cx="924265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4A2D83"/>
                </a:solidFill>
              </a:rPr>
              <a:t>Perform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S</a:t>
            </a:r>
            <a:r>
              <a:rPr b="1" spc="-60" dirty="0">
                <a:solidFill>
                  <a:srgbClr val="4A2D83"/>
                </a:solidFill>
              </a:rPr>
              <a:t>earches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45" dirty="0">
                <a:solidFill>
                  <a:srgbClr val="4A2D83"/>
                </a:solidFill>
              </a:rPr>
              <a:t>and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Sc</a:t>
            </a:r>
            <a:r>
              <a:rPr b="1" spc="-40" dirty="0">
                <a:solidFill>
                  <a:srgbClr val="4A2D83"/>
                </a:solidFill>
              </a:rPr>
              <a:t>r</a:t>
            </a:r>
            <a:r>
              <a:rPr b="1" spc="-65" dirty="0">
                <a:solidFill>
                  <a:srgbClr val="4A2D83"/>
                </a:solidFill>
              </a:rPr>
              <a:t>een</a:t>
            </a:r>
            <a:r>
              <a:rPr b="1" spc="-28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R</a:t>
            </a:r>
            <a:r>
              <a:rPr b="1" spc="-30" dirty="0">
                <a:solidFill>
                  <a:srgbClr val="4A2D83"/>
                </a:solidFill>
              </a:rPr>
              <a:t>esults</a:t>
            </a:r>
            <a:r>
              <a:rPr b="1" spc="-240" dirty="0">
                <a:solidFill>
                  <a:srgbClr val="4A2D83"/>
                </a:solidFill>
              </a:rPr>
              <a:t> </a:t>
            </a:r>
            <a:r>
              <a:rPr b="1" spc="-315" dirty="0">
                <a:solidFill>
                  <a:srgbClr val="4A2D83"/>
                </a:solidFill>
              </a:rPr>
              <a:t>(</a:t>
            </a:r>
            <a:r>
              <a:rPr b="1" spc="-5" dirty="0">
                <a:solidFill>
                  <a:srgbClr val="4A2D83"/>
                </a:solidFill>
              </a:rPr>
              <a:t>4</a:t>
            </a:r>
            <a:r>
              <a:rPr b="1" spc="-290" dirty="0">
                <a:solidFill>
                  <a:srgbClr val="4A2D83"/>
                </a:solidFill>
              </a:rPr>
              <a:t>/5)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24143" y="933055"/>
            <a:ext cx="6158865" cy="490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" dirty="0">
                <a:solidFill>
                  <a:srgbClr val="4A2D83"/>
                </a:solidFill>
                <a:latin typeface="Trebuchet MS"/>
                <a:cs typeface="Trebuchet MS"/>
              </a:rPr>
              <a:t>Search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0" dirty="0">
                <a:solidFill>
                  <a:srgbClr val="4A2D83"/>
                </a:solidFill>
                <a:latin typeface="Trebuchet MS"/>
                <a:cs typeface="Trebuchet MS"/>
              </a:rPr>
              <a:t>Results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Tracking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958850">
              <a:spcBef>
                <a:spcPts val="1010"/>
              </a:spcBef>
            </a:pPr>
            <a:r>
              <a:rPr sz="800" dirty="0">
                <a:latin typeface="Trebuchet MS"/>
                <a:cs typeface="Trebuchet MS"/>
              </a:rPr>
              <a:t>Table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spc="-5" dirty="0">
                <a:latin typeface="Trebuchet MS"/>
                <a:cs typeface="Trebuchet MS"/>
              </a:rPr>
              <a:t>A2.1:</a:t>
            </a:r>
            <a:r>
              <a:rPr sz="800" spc="10" dirty="0">
                <a:latin typeface="Trebuchet MS"/>
                <a:cs typeface="Trebuchet MS"/>
              </a:rPr>
              <a:t> </a:t>
            </a:r>
            <a:r>
              <a:rPr sz="800" spc="-5" dirty="0">
                <a:latin typeface="Trebuchet MS"/>
                <a:cs typeface="Trebuchet MS"/>
              </a:rPr>
              <a:t>Scopus</a:t>
            </a:r>
            <a:r>
              <a:rPr sz="800" dirty="0">
                <a:latin typeface="Trebuchet MS"/>
                <a:cs typeface="Trebuchet MS"/>
              </a:rPr>
              <a:t> </a:t>
            </a:r>
            <a:r>
              <a:rPr sz="800" spc="-5" dirty="0">
                <a:latin typeface="Trebuchet MS"/>
                <a:cs typeface="Trebuchet MS"/>
              </a:rPr>
              <a:t>Keyword</a:t>
            </a:r>
            <a:r>
              <a:rPr sz="800" spc="-2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and</a:t>
            </a:r>
            <a:r>
              <a:rPr sz="800" spc="-5" dirty="0">
                <a:latin typeface="Trebuchet MS"/>
                <a:cs typeface="Trebuchet MS"/>
              </a:rPr>
              <a:t> search</a:t>
            </a:r>
            <a:r>
              <a:rPr sz="800" spc="-10" dirty="0">
                <a:latin typeface="Trebuchet MS"/>
                <a:cs typeface="Trebuchet MS"/>
              </a:rPr>
              <a:t> </a:t>
            </a:r>
            <a:r>
              <a:rPr sz="800" dirty="0">
                <a:latin typeface="Trebuchet MS"/>
                <a:cs typeface="Trebuchet MS"/>
              </a:rPr>
              <a:t>results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94881"/>
              </p:ext>
            </p:extLst>
          </p:nvPr>
        </p:nvGraphicFramePr>
        <p:xfrm>
          <a:off x="3200400" y="1443318"/>
          <a:ext cx="5969511" cy="468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6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7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47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6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552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250" dirty="0">
                        <a:latin typeface="Times New Roman"/>
                        <a:cs typeface="Times New Roman"/>
                      </a:endParaRPr>
                    </a:p>
                    <a:p>
                      <a:pPr marL="236854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Keywords</a:t>
                      </a:r>
                      <a:r>
                        <a:rPr sz="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searched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0330" marR="91440" algn="ctr">
                        <a:lnSpc>
                          <a:spcPct val="114999"/>
                        </a:lnSpc>
                        <a:spcBef>
                          <a:spcPts val="70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Total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Num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b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er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of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Search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Results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First-cut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330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Second-cut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4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50" dirty="0">
                        <a:latin typeface="Times New Roman"/>
                        <a:cs typeface="Times New Roman"/>
                      </a:endParaRPr>
                    </a:p>
                    <a:p>
                      <a:pPr marL="113030" marR="69215" indent="-36830">
                        <a:lnSpc>
                          <a:spcPct val="114999"/>
                        </a:lnSpc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Relevant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7470" marR="69850" algn="ctr">
                        <a:lnSpc>
                          <a:spcPct val="114999"/>
                        </a:lnSpc>
                        <a:spcBef>
                          <a:spcPts val="57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Relevant</a:t>
                      </a:r>
                      <a:r>
                        <a:rPr sz="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nd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Empirical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63500" marR="54610" indent="-1270" algn="ctr">
                        <a:lnSpc>
                          <a:spcPct val="1151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Relevant,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m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pirica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nd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Individual/H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H/ Firm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level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27000" marR="120650" algn="ctr">
                        <a:lnSpc>
                          <a:spcPct val="114999"/>
                        </a:lnSpc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,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Empirical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Economy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level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 marL="64769" marR="55880" indent="-1905" algn="ctr">
                        <a:lnSpc>
                          <a:spcPct val="114999"/>
                        </a:lnSpc>
                        <a:spcBef>
                          <a:spcPts val="36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Relevant,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Empirical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and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divid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u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al/H  H/Firm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level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-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Morbidity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 Focus</a:t>
                      </a:r>
                      <a:r>
                        <a:rPr sz="8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Areas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tc>
                  <a:txBody>
                    <a:bodyPr/>
                    <a:lstStyle/>
                    <a:p>
                      <a:pPr marL="120650" marR="111125" algn="ctr">
                        <a:lnSpc>
                          <a:spcPct val="114999"/>
                        </a:lnSpc>
                        <a:spcBef>
                          <a:spcPts val="36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Relevan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,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Empirical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Economy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level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Studies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-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Morbidity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Focus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Areas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B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8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morbidit*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326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104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87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47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44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Tuberculosis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99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rotavirus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8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malaria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109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287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polio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0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28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HIV*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309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79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71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47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57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"Disability</a:t>
                      </a:r>
                      <a:r>
                        <a:rPr sz="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Adjusted</a:t>
                      </a:r>
                      <a:r>
                        <a:rPr sz="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Life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Years"</a:t>
                      </a:r>
                      <a:r>
                        <a:rPr sz="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DALY*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84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3213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57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"Quality</a:t>
                      </a:r>
                      <a:r>
                        <a:rPr sz="8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adjusted</a:t>
                      </a:r>
                      <a:r>
                        <a:rPr sz="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life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year"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QALY*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119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69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69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66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576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comorbidit*</a:t>
                      </a:r>
                      <a:r>
                        <a:rPr sz="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co-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morbidit*</a:t>
                      </a:r>
                      <a:r>
                        <a:rPr sz="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comorbid*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85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4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3189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"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gh</a:t>
                      </a:r>
                      <a:r>
                        <a:rPr sz="800" spc="10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-f</a:t>
                      </a:r>
                      <a:r>
                        <a:rPr sz="800" spc="-15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r-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ag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"</a:t>
                      </a:r>
                      <a:r>
                        <a:rPr sz="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 marR="241935">
                        <a:lnSpc>
                          <a:spcPct val="114999"/>
                        </a:lnSpc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"stature-for-age" OR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he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ght</a:t>
                      </a:r>
                      <a:r>
                        <a:rPr sz="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sz="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(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w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i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ght</a:t>
                      </a:r>
                      <a:r>
                        <a:rPr sz="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AND 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height)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226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9527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25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6644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“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ment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l</a:t>
                      </a:r>
                      <a:r>
                        <a:rPr sz="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he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al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h”</a:t>
                      </a:r>
                      <a:r>
                        <a:rPr sz="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 marR="445134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“Patient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health </a:t>
                      </a:r>
                      <a:r>
                        <a:rPr sz="8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q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uest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nn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ai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r</a:t>
                      </a:r>
                      <a:r>
                        <a:rPr sz="800" spc="-10" dirty="0">
                          <a:latin typeface="Trebuchet MS"/>
                          <a:cs typeface="Trebuchet MS"/>
                        </a:rPr>
                        <a:t>e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”</a:t>
                      </a:r>
                      <a:r>
                        <a:rPr sz="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dirty="0">
                          <a:latin typeface="Trebuchet MS"/>
                          <a:cs typeface="Trebuchet MS"/>
                        </a:rPr>
                        <a:t>OR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  <a:p>
                      <a:pPr marL="62865" marR="300990">
                        <a:lnSpc>
                          <a:spcPct val="114999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“Generalized Anxiety </a:t>
                      </a:r>
                      <a:r>
                        <a:rPr sz="800" spc="-229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800" spc="-5" dirty="0">
                          <a:latin typeface="Trebuchet MS"/>
                          <a:cs typeface="Trebuchet MS"/>
                        </a:rPr>
                        <a:t>Disorder”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291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38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31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95275">
                        <a:lnSpc>
                          <a:spcPct val="100000"/>
                        </a:lnSpc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E4D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288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dirty="0">
                          <a:latin typeface="Trebuchet MS"/>
                          <a:cs typeface="Trebuchet MS"/>
                        </a:rPr>
                        <a:t>TOTAL</a:t>
                      </a: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13492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796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673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467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229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207</a:t>
                      </a:r>
                      <a:endParaRPr sz="80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800" spc="-5" dirty="0">
                          <a:latin typeface="Trebuchet MS"/>
                          <a:cs typeface="Trebuchet MS"/>
                        </a:rPr>
                        <a:t>134</a:t>
                      </a:r>
                      <a:endParaRPr sz="800" dirty="0">
                        <a:latin typeface="Trebuchet MS"/>
                        <a:cs typeface="Trebuchet MS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068827" y="5836108"/>
            <a:ext cx="5863590" cy="2841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Note: The first-cut refers to the </a:t>
            </a:r>
            <a:r>
              <a:rPr sz="800" spc="-5" dirty="0">
                <a:solidFill>
                  <a:srgbClr val="33006E"/>
                </a:solidFill>
                <a:latin typeface="Trebuchet MS"/>
                <a:cs typeface="Trebuchet MS"/>
              </a:rPr>
              <a:t>initial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level of </a:t>
            </a:r>
            <a:r>
              <a:rPr sz="800" spc="-5" dirty="0">
                <a:solidFill>
                  <a:srgbClr val="33006E"/>
                </a:solidFill>
                <a:latin typeface="Trebuchet MS"/>
                <a:cs typeface="Trebuchet MS"/>
              </a:rPr>
              <a:t>coding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done using the title, </a:t>
            </a:r>
            <a:r>
              <a:rPr sz="800" spc="-5" dirty="0">
                <a:solidFill>
                  <a:srgbClr val="33006E"/>
                </a:solidFill>
                <a:latin typeface="Trebuchet MS"/>
                <a:cs typeface="Trebuchet MS"/>
              </a:rPr>
              <a:t>keywords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800" spc="-5" dirty="0">
                <a:solidFill>
                  <a:srgbClr val="33006E"/>
                </a:solidFill>
                <a:latin typeface="Trebuchet MS"/>
                <a:cs typeface="Trebuchet MS"/>
              </a:rPr>
              <a:t>abstract.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The second cut refers to the </a:t>
            </a:r>
            <a:r>
              <a:rPr sz="800" spc="-229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second</a:t>
            </a:r>
            <a:r>
              <a:rPr sz="800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level</a:t>
            </a:r>
            <a:r>
              <a:rPr sz="800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800" spc="-1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spc="-5" dirty="0">
                <a:solidFill>
                  <a:srgbClr val="33006E"/>
                </a:solidFill>
                <a:latin typeface="Trebuchet MS"/>
                <a:cs typeface="Trebuchet MS"/>
              </a:rPr>
              <a:t>coding</a:t>
            </a:r>
            <a:r>
              <a:rPr sz="800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done</a:t>
            </a:r>
            <a:r>
              <a:rPr sz="800" spc="-1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using</a:t>
            </a:r>
            <a:r>
              <a:rPr sz="800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800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text</a:t>
            </a:r>
            <a:r>
              <a:rPr sz="800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of the</a:t>
            </a:r>
            <a:r>
              <a:rPr sz="800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800" dirty="0">
                <a:solidFill>
                  <a:srgbClr val="33006E"/>
                </a:solidFill>
                <a:latin typeface="Trebuchet MS"/>
                <a:cs typeface="Trebuchet MS"/>
              </a:rPr>
              <a:t>studies.</a:t>
            </a:r>
            <a:endParaRPr sz="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6576" y="34686"/>
            <a:ext cx="912936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solidFill>
                  <a:srgbClr val="4A2D83"/>
                </a:solidFill>
              </a:rPr>
              <a:t>Perform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S</a:t>
            </a:r>
            <a:r>
              <a:rPr b="1" spc="-60" dirty="0">
                <a:solidFill>
                  <a:srgbClr val="4A2D83"/>
                </a:solidFill>
              </a:rPr>
              <a:t>earches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45" dirty="0">
                <a:solidFill>
                  <a:srgbClr val="4A2D83"/>
                </a:solidFill>
              </a:rPr>
              <a:t>and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Sc</a:t>
            </a:r>
            <a:r>
              <a:rPr b="1" spc="-40" dirty="0">
                <a:solidFill>
                  <a:srgbClr val="4A2D83"/>
                </a:solidFill>
              </a:rPr>
              <a:t>r</a:t>
            </a:r>
            <a:r>
              <a:rPr b="1" spc="-65" dirty="0">
                <a:solidFill>
                  <a:srgbClr val="4A2D83"/>
                </a:solidFill>
              </a:rPr>
              <a:t>een</a:t>
            </a:r>
            <a:r>
              <a:rPr b="1" spc="-28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R</a:t>
            </a:r>
            <a:r>
              <a:rPr b="1" spc="-30" dirty="0">
                <a:solidFill>
                  <a:srgbClr val="4A2D83"/>
                </a:solidFill>
              </a:rPr>
              <a:t>esults</a:t>
            </a:r>
            <a:r>
              <a:rPr b="1" spc="-240" dirty="0">
                <a:solidFill>
                  <a:srgbClr val="4A2D83"/>
                </a:solidFill>
              </a:rPr>
              <a:t> </a:t>
            </a:r>
            <a:r>
              <a:rPr b="1" spc="-315" dirty="0">
                <a:solidFill>
                  <a:srgbClr val="4A2D83"/>
                </a:solidFill>
              </a:rPr>
              <a:t>(</a:t>
            </a:r>
            <a:r>
              <a:rPr b="1" spc="-260" dirty="0">
                <a:solidFill>
                  <a:srgbClr val="4A2D83"/>
                </a:solidFill>
              </a:rPr>
              <a:t>5/5)</a:t>
            </a:r>
          </a:p>
        </p:txBody>
      </p:sp>
      <p:sp>
        <p:nvSpPr>
          <p:cNvPr id="3" name="object 3"/>
          <p:cNvSpPr/>
          <p:nvPr/>
        </p:nvSpPr>
        <p:spPr>
          <a:xfrm>
            <a:off x="2017059" y="779929"/>
            <a:ext cx="8272113" cy="5728447"/>
          </a:xfrm>
          <a:custGeom>
            <a:avLst/>
            <a:gdLst/>
            <a:ahLst/>
            <a:cxnLst/>
            <a:rect l="l" t="t" r="r" b="b"/>
            <a:pathLst>
              <a:path w="8308975" h="5459095">
                <a:moveTo>
                  <a:pt x="8308848" y="0"/>
                </a:moveTo>
                <a:lnTo>
                  <a:pt x="0" y="0"/>
                </a:lnTo>
                <a:lnTo>
                  <a:pt x="0" y="5458968"/>
                </a:lnTo>
                <a:lnTo>
                  <a:pt x="8308848" y="5458968"/>
                </a:lnTo>
                <a:lnTo>
                  <a:pt x="8308848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65096" y="854202"/>
            <a:ext cx="610044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Screening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Spreadsheet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5095" y="5543804"/>
            <a:ext cx="7739380" cy="4683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*Include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empirical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data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household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firm-level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links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between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morbidity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economic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growth.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27768" y="1134420"/>
            <a:ext cx="6082030" cy="4394835"/>
            <a:chOff x="1303768" y="1134419"/>
            <a:chExt cx="6082030" cy="4394835"/>
          </a:xfrm>
        </p:grpSpPr>
        <p:sp>
          <p:nvSpPr>
            <p:cNvPr id="7" name="object 7"/>
            <p:cNvSpPr/>
            <p:nvPr/>
          </p:nvSpPr>
          <p:spPr>
            <a:xfrm>
              <a:off x="5015444" y="1134419"/>
              <a:ext cx="1353185" cy="782955"/>
            </a:xfrm>
            <a:custGeom>
              <a:avLst/>
              <a:gdLst/>
              <a:ahLst/>
              <a:cxnLst/>
              <a:rect l="l" t="t" r="r" b="b"/>
              <a:pathLst>
                <a:path w="1353185" h="782955">
                  <a:moveTo>
                    <a:pt x="0" y="782890"/>
                  </a:moveTo>
                  <a:lnTo>
                    <a:pt x="1352647" y="782890"/>
                  </a:lnTo>
                  <a:lnTo>
                    <a:pt x="1352647" y="0"/>
                  </a:lnTo>
                  <a:lnTo>
                    <a:pt x="0" y="0"/>
                  </a:lnTo>
                  <a:lnTo>
                    <a:pt x="0" y="78289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62842" y="1134419"/>
              <a:ext cx="1022985" cy="782955"/>
            </a:xfrm>
            <a:custGeom>
              <a:avLst/>
              <a:gdLst/>
              <a:ahLst/>
              <a:cxnLst/>
              <a:rect l="l" t="t" r="r" b="b"/>
              <a:pathLst>
                <a:path w="1022984" h="782955">
                  <a:moveTo>
                    <a:pt x="0" y="782890"/>
                  </a:moveTo>
                  <a:lnTo>
                    <a:pt x="1022413" y="782890"/>
                  </a:lnTo>
                  <a:lnTo>
                    <a:pt x="1022413" y="0"/>
                  </a:lnTo>
                  <a:lnTo>
                    <a:pt x="0" y="0"/>
                  </a:lnTo>
                  <a:lnTo>
                    <a:pt x="0" y="78289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3756" y="1134427"/>
              <a:ext cx="6082030" cy="4394835"/>
            </a:xfrm>
            <a:custGeom>
              <a:avLst/>
              <a:gdLst/>
              <a:ahLst/>
              <a:cxnLst/>
              <a:rect l="l" t="t" r="r" b="b"/>
              <a:pathLst>
                <a:path w="6082030" h="4394835">
                  <a:moveTo>
                    <a:pt x="415366" y="777557"/>
                  </a:moveTo>
                  <a:lnTo>
                    <a:pt x="0" y="777557"/>
                  </a:lnTo>
                  <a:lnTo>
                    <a:pt x="0" y="4394657"/>
                  </a:lnTo>
                  <a:lnTo>
                    <a:pt x="415366" y="4394657"/>
                  </a:lnTo>
                  <a:lnTo>
                    <a:pt x="415366" y="777557"/>
                  </a:lnTo>
                  <a:close/>
                </a:path>
                <a:path w="6082030" h="4394835">
                  <a:moveTo>
                    <a:pt x="6081496" y="0"/>
                  </a:moveTo>
                  <a:lnTo>
                    <a:pt x="6076175" y="0"/>
                  </a:lnTo>
                  <a:lnTo>
                    <a:pt x="6076175" y="782891"/>
                  </a:lnTo>
                  <a:lnTo>
                    <a:pt x="6081496" y="782891"/>
                  </a:lnTo>
                  <a:lnTo>
                    <a:pt x="6081496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15444" y="1911975"/>
              <a:ext cx="1353185" cy="3617595"/>
            </a:xfrm>
            <a:custGeom>
              <a:avLst/>
              <a:gdLst/>
              <a:ahLst/>
              <a:cxnLst/>
              <a:rect l="l" t="t" r="r" b="b"/>
              <a:pathLst>
                <a:path w="1353185" h="3617595">
                  <a:moveTo>
                    <a:pt x="1352647" y="0"/>
                  </a:moveTo>
                  <a:lnTo>
                    <a:pt x="0" y="0"/>
                  </a:lnTo>
                  <a:lnTo>
                    <a:pt x="0" y="3617096"/>
                  </a:lnTo>
                  <a:lnTo>
                    <a:pt x="1352647" y="3617096"/>
                  </a:lnTo>
                  <a:lnTo>
                    <a:pt x="1352647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62842" y="1911975"/>
              <a:ext cx="1022985" cy="3617595"/>
            </a:xfrm>
            <a:custGeom>
              <a:avLst/>
              <a:gdLst/>
              <a:ahLst/>
              <a:cxnLst/>
              <a:rect l="l" t="t" r="r" b="b"/>
              <a:pathLst>
                <a:path w="1022984" h="3617595">
                  <a:moveTo>
                    <a:pt x="1022413" y="0"/>
                  </a:moveTo>
                  <a:lnTo>
                    <a:pt x="0" y="0"/>
                  </a:lnTo>
                  <a:lnTo>
                    <a:pt x="0" y="3617096"/>
                  </a:lnTo>
                  <a:lnTo>
                    <a:pt x="1022413" y="3617096"/>
                  </a:lnTo>
                  <a:lnTo>
                    <a:pt x="1022413" y="0"/>
                  </a:lnTo>
                  <a:close/>
                </a:path>
              </a:pathLst>
            </a:custGeom>
            <a:solidFill>
              <a:srgbClr val="B4C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79935" y="1911975"/>
              <a:ext cx="5715" cy="3617595"/>
            </a:xfrm>
            <a:custGeom>
              <a:avLst/>
              <a:gdLst/>
              <a:ahLst/>
              <a:cxnLst/>
              <a:rect l="l" t="t" r="r" b="b"/>
              <a:pathLst>
                <a:path w="5715" h="3617595">
                  <a:moveTo>
                    <a:pt x="5320" y="0"/>
                  </a:moveTo>
                  <a:lnTo>
                    <a:pt x="0" y="0"/>
                  </a:lnTo>
                  <a:lnTo>
                    <a:pt x="0" y="3617096"/>
                  </a:lnTo>
                  <a:lnTo>
                    <a:pt x="5320" y="3617096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31031" y="1111094"/>
            <a:ext cx="299021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000" b="1" spc="5" dirty="0">
                <a:latin typeface="Calibri"/>
                <a:cs typeface="Calibri"/>
              </a:rPr>
              <a:t>Microeconomic</a:t>
            </a:r>
            <a:r>
              <a:rPr sz="1000" b="1" spc="-20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Studies </a:t>
            </a:r>
            <a:r>
              <a:rPr sz="1000" b="1" dirty="0">
                <a:latin typeface="Calibri"/>
                <a:cs typeface="Calibri"/>
              </a:rPr>
              <a:t>of Morbidity</a:t>
            </a:r>
            <a:r>
              <a:rPr sz="1000" b="1" spc="-3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&amp;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Growth</a:t>
            </a:r>
            <a:r>
              <a:rPr sz="1000" b="1" spc="-15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(Scopus)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42707" y="1175107"/>
            <a:ext cx="1647189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359535" algn="l"/>
              </a:tabLst>
            </a:pPr>
            <a:r>
              <a:rPr sz="500" b="1" dirty="0">
                <a:latin typeface="Calibri"/>
                <a:cs typeface="Calibri"/>
              </a:rPr>
              <a:t>Level</a:t>
            </a:r>
            <a:r>
              <a:rPr sz="500" b="1" spc="15" dirty="0">
                <a:latin typeface="Calibri"/>
                <a:cs typeface="Calibri"/>
              </a:rPr>
              <a:t> </a:t>
            </a:r>
            <a:r>
              <a:rPr sz="500" b="1" spc="-10" dirty="0">
                <a:latin typeface="Calibri"/>
                <a:cs typeface="Calibri"/>
              </a:rPr>
              <a:t>of</a:t>
            </a:r>
            <a:r>
              <a:rPr sz="500" b="1" spc="25" dirty="0">
                <a:latin typeface="Calibri"/>
                <a:cs typeface="Calibri"/>
              </a:rPr>
              <a:t> </a:t>
            </a:r>
            <a:r>
              <a:rPr sz="500" b="1" spc="-5" dirty="0">
                <a:latin typeface="Calibri"/>
                <a:cs typeface="Calibri"/>
              </a:rPr>
              <a:t>Analysis	Empirical?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25709" y="1819494"/>
            <a:ext cx="26162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b="1" spc="-5" dirty="0">
                <a:latin typeface="Calibri"/>
                <a:cs typeface="Calibri"/>
              </a:rPr>
              <a:t>Keyword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6805" y="1819494"/>
            <a:ext cx="14414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b="1" spc="-10" dirty="0">
                <a:latin typeface="Calibri"/>
                <a:cs typeface="Calibri"/>
              </a:rPr>
              <a:t>Y</a:t>
            </a:r>
            <a:r>
              <a:rPr sz="500" b="1" spc="-5" dirty="0">
                <a:latin typeface="Calibri"/>
                <a:cs typeface="Calibri"/>
              </a:rPr>
              <a:t>e</a:t>
            </a:r>
            <a:r>
              <a:rPr sz="500" b="1" dirty="0">
                <a:latin typeface="Calibri"/>
                <a:cs typeface="Calibri"/>
              </a:rPr>
              <a:t>ar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25542" y="1819494"/>
            <a:ext cx="32385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b="1" spc="10" dirty="0">
                <a:latin typeface="Calibri"/>
                <a:cs typeface="Calibri"/>
              </a:rPr>
              <a:t>S</a:t>
            </a:r>
            <a:r>
              <a:rPr sz="500" b="1" spc="-20" dirty="0">
                <a:latin typeface="Calibri"/>
                <a:cs typeface="Calibri"/>
              </a:rPr>
              <a:t>ou</a:t>
            </a:r>
            <a:r>
              <a:rPr sz="500" b="1" spc="-15" dirty="0">
                <a:latin typeface="Calibri"/>
                <a:cs typeface="Calibri"/>
              </a:rPr>
              <a:t>r</a:t>
            </a:r>
            <a:r>
              <a:rPr sz="500" b="1" spc="-5" dirty="0">
                <a:latin typeface="Calibri"/>
                <a:cs typeface="Calibri"/>
              </a:rPr>
              <a:t>c</a:t>
            </a:r>
            <a:r>
              <a:rPr sz="500" b="1" dirty="0">
                <a:latin typeface="Calibri"/>
                <a:cs typeface="Calibri"/>
              </a:rPr>
              <a:t>e</a:t>
            </a:r>
            <a:r>
              <a:rPr sz="500" b="1" spc="5" dirty="0">
                <a:latin typeface="Calibri"/>
                <a:cs typeface="Calibri"/>
              </a:rPr>
              <a:t> </a:t>
            </a:r>
            <a:r>
              <a:rPr sz="500" b="1" spc="-10" dirty="0">
                <a:latin typeface="Calibri"/>
                <a:cs typeface="Calibri"/>
              </a:rPr>
              <a:t>t</a:t>
            </a:r>
            <a:r>
              <a:rPr sz="500" b="1" dirty="0">
                <a:latin typeface="Calibri"/>
                <a:cs typeface="Calibri"/>
              </a:rPr>
              <a:t>i</a:t>
            </a:r>
            <a:r>
              <a:rPr sz="500" b="1" spc="-10" dirty="0">
                <a:latin typeface="Calibri"/>
                <a:cs typeface="Calibri"/>
              </a:rPr>
              <a:t>t</a:t>
            </a:r>
            <a:r>
              <a:rPr sz="500" b="1" dirty="0">
                <a:latin typeface="Calibri"/>
                <a:cs typeface="Calibri"/>
              </a:rPr>
              <a:t>le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7984" y="1819494"/>
            <a:ext cx="24447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b="1" spc="-10" dirty="0">
                <a:latin typeface="Calibri"/>
                <a:cs typeface="Calibri"/>
              </a:rPr>
              <a:t>Abstract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2707" y="1640541"/>
            <a:ext cx="390525" cy="2660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800"/>
              </a:lnSpc>
              <a:spcBef>
                <a:spcPts val="95"/>
              </a:spcBef>
            </a:pPr>
            <a:r>
              <a:rPr sz="500" b="1" spc="-10" dirty="0">
                <a:latin typeface="Calibri"/>
                <a:cs typeface="Calibri"/>
              </a:rPr>
              <a:t>I</a:t>
            </a:r>
            <a:r>
              <a:rPr sz="500" b="1" spc="-20" dirty="0">
                <a:latin typeface="Calibri"/>
                <a:cs typeface="Calibri"/>
              </a:rPr>
              <a:t>nd</a:t>
            </a:r>
            <a:r>
              <a:rPr sz="500" b="1" dirty="0">
                <a:latin typeface="Calibri"/>
                <a:cs typeface="Calibri"/>
              </a:rPr>
              <a:t>i</a:t>
            </a:r>
            <a:r>
              <a:rPr sz="500" b="1" spc="10" dirty="0">
                <a:latin typeface="Calibri"/>
                <a:cs typeface="Calibri"/>
              </a:rPr>
              <a:t>v</a:t>
            </a:r>
            <a:r>
              <a:rPr sz="500" b="1" dirty="0">
                <a:latin typeface="Calibri"/>
                <a:cs typeface="Calibri"/>
              </a:rPr>
              <a:t>i</a:t>
            </a:r>
            <a:r>
              <a:rPr sz="500" b="1" spc="-20" dirty="0">
                <a:latin typeface="Calibri"/>
                <a:cs typeface="Calibri"/>
              </a:rPr>
              <a:t>du</a:t>
            </a:r>
            <a:r>
              <a:rPr sz="500" b="1" dirty="0">
                <a:latin typeface="Calibri"/>
                <a:cs typeface="Calibri"/>
              </a:rPr>
              <a:t>al</a:t>
            </a:r>
            <a:r>
              <a:rPr sz="500" b="1" spc="-10" dirty="0">
                <a:latin typeface="Calibri"/>
                <a:cs typeface="Calibri"/>
              </a:rPr>
              <a:t>/</a:t>
            </a:r>
            <a:r>
              <a:rPr sz="500" b="1" spc="15" dirty="0">
                <a:latin typeface="Calibri"/>
                <a:cs typeface="Calibri"/>
              </a:rPr>
              <a:t>H</a:t>
            </a:r>
            <a:r>
              <a:rPr sz="500" b="1" dirty="0">
                <a:latin typeface="Calibri"/>
                <a:cs typeface="Calibri"/>
              </a:rPr>
              <a:t>H  level </a:t>
            </a:r>
            <a:r>
              <a:rPr sz="500" b="1" spc="-10" dirty="0">
                <a:latin typeface="Calibri"/>
                <a:cs typeface="Calibri"/>
              </a:rPr>
              <a:t>study </a:t>
            </a:r>
            <a:r>
              <a:rPr sz="500" b="1" spc="-5" dirty="0">
                <a:latin typeface="Calibri"/>
                <a:cs typeface="Calibri"/>
              </a:rPr>
              <a:t> (0/1)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68713" y="1725444"/>
            <a:ext cx="1920239" cy="180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  <a:tabLst>
                <a:tab pos="481330" algn="l"/>
                <a:tab pos="933450" algn="l"/>
                <a:tab pos="1407795" algn="l"/>
              </a:tabLst>
            </a:pPr>
            <a:r>
              <a:rPr sz="500" b="1" dirty="0">
                <a:latin typeface="Calibri"/>
                <a:cs typeface="Calibri"/>
              </a:rPr>
              <a:t>Firm level </a:t>
            </a:r>
            <a:r>
              <a:rPr sz="500" b="1" spc="-10" dirty="0">
                <a:latin typeface="Calibri"/>
                <a:cs typeface="Calibri"/>
              </a:rPr>
              <a:t>study</a:t>
            </a:r>
            <a:r>
              <a:rPr sz="500" b="1" spc="90" dirty="0">
                <a:latin typeface="Calibri"/>
                <a:cs typeface="Calibri"/>
              </a:rPr>
              <a:t>  </a:t>
            </a:r>
            <a:r>
              <a:rPr sz="500" b="1" spc="-10" dirty="0">
                <a:latin typeface="Calibri"/>
                <a:cs typeface="Calibri"/>
              </a:rPr>
              <a:t>Economy</a:t>
            </a:r>
            <a:r>
              <a:rPr sz="500" b="1" spc="95" dirty="0">
                <a:latin typeface="Calibri"/>
                <a:cs typeface="Calibri"/>
              </a:rPr>
              <a:t> </a:t>
            </a:r>
            <a:r>
              <a:rPr sz="500" b="1" dirty="0">
                <a:latin typeface="Calibri"/>
                <a:cs typeface="Calibri"/>
              </a:rPr>
              <a:t>level     </a:t>
            </a:r>
            <a:r>
              <a:rPr sz="500" b="1" spc="-5" dirty="0">
                <a:latin typeface="Calibri"/>
                <a:cs typeface="Calibri"/>
              </a:rPr>
              <a:t>Primarily </a:t>
            </a:r>
            <a:r>
              <a:rPr sz="500" b="1" spc="-10" dirty="0">
                <a:latin typeface="Calibri"/>
                <a:cs typeface="Calibri"/>
              </a:rPr>
              <a:t>Theory</a:t>
            </a:r>
            <a:r>
              <a:rPr sz="500" b="1" spc="-5" dirty="0">
                <a:latin typeface="Calibri"/>
                <a:cs typeface="Calibri"/>
              </a:rPr>
              <a:t> Primarily Empirical </a:t>
            </a:r>
            <a:r>
              <a:rPr sz="500" b="1" dirty="0">
                <a:latin typeface="Calibri"/>
                <a:cs typeface="Calibri"/>
              </a:rPr>
              <a:t> </a:t>
            </a:r>
            <a:r>
              <a:rPr sz="500" b="1" spc="-5" dirty="0">
                <a:latin typeface="Calibri"/>
                <a:cs typeface="Calibri"/>
              </a:rPr>
              <a:t>(0/1)	</a:t>
            </a:r>
            <a:r>
              <a:rPr sz="500" b="1" spc="-10" dirty="0">
                <a:latin typeface="Calibri"/>
                <a:cs typeface="Calibri"/>
              </a:rPr>
              <a:t>study</a:t>
            </a:r>
            <a:r>
              <a:rPr sz="500" b="1" spc="25" dirty="0">
                <a:latin typeface="Calibri"/>
                <a:cs typeface="Calibri"/>
              </a:rPr>
              <a:t> </a:t>
            </a:r>
            <a:r>
              <a:rPr sz="500" b="1" spc="-5" dirty="0">
                <a:latin typeface="Calibri"/>
                <a:cs typeface="Calibri"/>
              </a:rPr>
              <a:t>(0/1)	(0/1)	(0/1)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41074" y="1789564"/>
            <a:ext cx="1982470" cy="22249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spcBef>
                <a:spcPts val="335"/>
              </a:spcBef>
              <a:tabLst>
                <a:tab pos="448945" algn="l"/>
              </a:tabLst>
            </a:pPr>
            <a:r>
              <a:rPr sz="500" b="1" spc="-15" dirty="0">
                <a:latin typeface="Calibri"/>
                <a:cs typeface="Calibri"/>
              </a:rPr>
              <a:t>Authors	</a:t>
            </a:r>
            <a:r>
              <a:rPr sz="500" b="1" spc="-5" dirty="0">
                <a:latin typeface="Calibri"/>
                <a:cs typeface="Calibri"/>
              </a:rPr>
              <a:t>Title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40"/>
              </a:spcBef>
            </a:pPr>
            <a:r>
              <a:rPr sz="500" spc="15" dirty="0">
                <a:latin typeface="Calibri"/>
                <a:cs typeface="Calibri"/>
              </a:rPr>
              <a:t>Bockerman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P.,</a:t>
            </a:r>
            <a:r>
              <a:rPr sz="500" spc="19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Stature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l</a:t>
            </a:r>
            <a:r>
              <a:rPr sz="500" spc="-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</a:t>
            </a:r>
            <a:r>
              <a:rPr sz="500" spc="-6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fe-time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labor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market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outcomes:</a:t>
            </a:r>
            <a:r>
              <a:rPr sz="500" spc="5" dirty="0">
                <a:latin typeface="Calibri"/>
                <a:cs typeface="Calibri"/>
              </a:rPr>
              <a:t> Accoun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10186" y="192602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48529" y="192602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41075" y="2032423"/>
            <a:ext cx="19881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10" dirty="0">
                <a:latin typeface="Calibri"/>
                <a:cs typeface="Calibri"/>
              </a:rPr>
              <a:t>Jha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R.,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Gaiha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R </a:t>
            </a:r>
            <a:r>
              <a:rPr sz="500" spc="15" dirty="0">
                <a:latin typeface="Calibri"/>
                <a:cs typeface="Calibri"/>
              </a:rPr>
              <a:t>Body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mass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index,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participation,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duration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work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71316" y="1896240"/>
            <a:ext cx="1193165" cy="21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2013</a:t>
            </a:r>
            <a:r>
              <a:rPr sz="500" spc="1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Labour </a:t>
            </a:r>
            <a:r>
              <a:rPr sz="500" spc="15" dirty="0">
                <a:latin typeface="Calibri"/>
                <a:cs typeface="Calibri"/>
              </a:rPr>
              <a:t>Economics       </a:t>
            </a:r>
            <a:r>
              <a:rPr sz="500" spc="5" dirty="0">
                <a:latin typeface="Calibri"/>
                <a:cs typeface="Calibri"/>
              </a:rPr>
              <a:t>We </a:t>
            </a:r>
            <a:r>
              <a:rPr sz="500" spc="25" dirty="0">
                <a:latin typeface="Calibri"/>
                <a:cs typeface="Calibri"/>
              </a:rPr>
              <a:t>use </a:t>
            </a:r>
            <a:r>
              <a:rPr sz="500" spc="15" dirty="0">
                <a:latin typeface="Calibri"/>
                <a:cs typeface="Calibri"/>
              </a:rPr>
              <a:t>twin 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</a:t>
            </a:r>
            <a:r>
              <a:rPr sz="500" dirty="0">
                <a:latin typeface="Calibri"/>
                <a:cs typeface="Calibri"/>
              </a:rPr>
              <a:t>3 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J</a:t>
            </a:r>
            <a:r>
              <a:rPr sz="500" spc="25" dirty="0">
                <a:latin typeface="Calibri"/>
                <a:cs typeface="Calibri"/>
              </a:rPr>
              <a:t>ou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l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50" dirty="0">
                <a:latin typeface="Calibri"/>
                <a:cs typeface="Calibri"/>
              </a:rPr>
              <a:t>sia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25" dirty="0">
                <a:latin typeface="Calibri"/>
                <a:cs typeface="Calibri"/>
              </a:rPr>
              <a:t>D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s</a:t>
            </a:r>
            <a:r>
              <a:rPr sz="500" spc="25" dirty="0">
                <a:latin typeface="Calibri"/>
                <a:cs typeface="Calibri"/>
              </a:rPr>
              <a:t>p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</a:t>
            </a:r>
            <a:r>
              <a:rPr sz="500" spc="-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ts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v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0186" y="203242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48529" y="203242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41074" y="2139028"/>
            <a:ext cx="1974214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10" dirty="0">
                <a:latin typeface="Calibri"/>
                <a:cs typeface="Calibri"/>
              </a:rPr>
              <a:t>Kan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K.,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Lee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M.-J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Lose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weight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for</a:t>
            </a:r>
            <a:r>
              <a:rPr sz="500" dirty="0">
                <a:latin typeface="Calibri"/>
                <a:cs typeface="Calibri"/>
              </a:rPr>
              <a:t> a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raise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only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overweight: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Marginal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71315" y="2139028"/>
            <a:ext cx="117856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</a:t>
            </a:r>
            <a:r>
              <a:rPr sz="500" dirty="0">
                <a:latin typeface="Calibri"/>
                <a:cs typeface="Calibri"/>
              </a:rPr>
              <a:t>2 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J</a:t>
            </a:r>
            <a:r>
              <a:rPr sz="500" spc="25" dirty="0">
                <a:latin typeface="Calibri"/>
                <a:cs typeface="Calibri"/>
              </a:rPr>
              <a:t>ou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l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25" dirty="0">
                <a:latin typeface="Calibri"/>
                <a:cs typeface="Calibri"/>
              </a:rPr>
              <a:t>pp</a:t>
            </a:r>
            <a:r>
              <a:rPr sz="500" spc="50" dirty="0">
                <a:latin typeface="Calibri"/>
                <a:cs typeface="Calibri"/>
              </a:rPr>
              <a:t>li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c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S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 s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25" dirty="0">
                <a:latin typeface="Calibri"/>
                <a:cs typeface="Calibri"/>
              </a:rPr>
              <a:t>ud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10186" y="213902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48529" y="213902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71316" y="2245563"/>
            <a:ext cx="115760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2011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HumaPrevious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esti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10186" y="224556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848529" y="224556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71316" y="2351957"/>
            <a:ext cx="116776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2011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Scottish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Journal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PoObesity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rates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10186" y="235195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848529" y="235195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41074" y="2215774"/>
            <a:ext cx="1982470" cy="325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9800"/>
              </a:lnSpc>
              <a:spcBef>
                <a:spcPts val="95"/>
              </a:spcBef>
              <a:tabLst>
                <a:tab pos="448945" algn="l"/>
              </a:tabLst>
            </a:pPr>
            <a:r>
              <a:rPr sz="500" spc="20" dirty="0">
                <a:latin typeface="Calibri"/>
                <a:cs typeface="Calibri"/>
              </a:rPr>
              <a:t>Han </a:t>
            </a:r>
            <a:r>
              <a:rPr sz="500" dirty="0">
                <a:latin typeface="Calibri"/>
                <a:cs typeface="Calibri"/>
              </a:rPr>
              <a:t>E., </a:t>
            </a:r>
            <a:r>
              <a:rPr sz="500" spc="5" dirty="0">
                <a:latin typeface="Calibri"/>
                <a:cs typeface="Calibri"/>
              </a:rPr>
              <a:t>Norton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Direct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20" dirty="0">
                <a:latin typeface="Calibri"/>
                <a:cs typeface="Calibri"/>
              </a:rPr>
              <a:t>indirect </a:t>
            </a:r>
            <a:r>
              <a:rPr sz="500" spc="10" dirty="0">
                <a:latin typeface="Calibri"/>
                <a:cs typeface="Calibri"/>
              </a:rPr>
              <a:t>effects of </a:t>
            </a:r>
            <a:r>
              <a:rPr sz="500" spc="20" dirty="0">
                <a:latin typeface="Calibri"/>
                <a:cs typeface="Calibri"/>
              </a:rPr>
              <a:t>body weight </a:t>
            </a:r>
            <a:r>
              <a:rPr sz="500" spc="10" dirty="0">
                <a:latin typeface="Calibri"/>
                <a:cs typeface="Calibri"/>
              </a:rPr>
              <a:t>on </a:t>
            </a:r>
            <a:r>
              <a:rPr sz="500" spc="30" dirty="0">
                <a:latin typeface="Calibri"/>
                <a:cs typeface="Calibri"/>
              </a:rPr>
              <a:t>adult </a:t>
            </a:r>
            <a:r>
              <a:rPr sz="500" dirty="0">
                <a:latin typeface="Calibri"/>
                <a:cs typeface="Calibri"/>
              </a:rPr>
              <a:t>w 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Brown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H.	</a:t>
            </a:r>
            <a:r>
              <a:rPr sz="500" spc="15" dirty="0">
                <a:latin typeface="Calibri"/>
                <a:cs typeface="Calibri"/>
              </a:rPr>
              <a:t>Marriage, </a:t>
            </a:r>
            <a:r>
              <a:rPr sz="500" spc="10" dirty="0">
                <a:latin typeface="Calibri"/>
                <a:cs typeface="Calibri"/>
              </a:rPr>
              <a:t>BMI,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Wages: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double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selection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appro 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z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-20" dirty="0">
                <a:latin typeface="Calibri"/>
                <a:cs typeface="Calibri"/>
              </a:rPr>
              <a:t>y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20" dirty="0">
                <a:latin typeface="Calibri"/>
                <a:cs typeface="Calibri"/>
              </a:rPr>
              <a:t>C</a:t>
            </a:r>
            <a:r>
              <a:rPr sz="500" spc="-5" dirty="0">
                <a:latin typeface="Calibri"/>
                <a:cs typeface="Calibri"/>
              </a:rPr>
              <a:t>.</a:t>
            </a:r>
            <a:r>
              <a:rPr sz="500" dirty="0">
                <a:latin typeface="Calibri"/>
                <a:cs typeface="Calibri"/>
              </a:rPr>
              <a:t>,</a:t>
            </a:r>
            <a:r>
              <a:rPr sz="500" spc="10" dirty="0">
                <a:latin typeface="Calibri"/>
                <a:cs typeface="Calibri"/>
              </a:rPr>
              <a:t> W</a:t>
            </a:r>
            <a:r>
              <a:rPr sz="500" dirty="0">
                <a:latin typeface="Calibri"/>
                <a:cs typeface="Calibri"/>
              </a:rPr>
              <a:t>o</a:t>
            </a:r>
            <a:r>
              <a:rPr sz="500" spc="-3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F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m</a:t>
            </a:r>
            <a:r>
              <a:rPr sz="500" spc="25" dirty="0">
                <a:latin typeface="Calibri"/>
                <a:cs typeface="Calibri"/>
              </a:rPr>
              <a:t>u</a:t>
            </a:r>
            <a:r>
              <a:rPr sz="500" spc="50" dirty="0">
                <a:latin typeface="Calibri"/>
                <a:cs typeface="Calibri"/>
              </a:rPr>
              <a:t>s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50" dirty="0">
                <a:latin typeface="Calibri"/>
                <a:cs typeface="Calibri"/>
              </a:rPr>
              <a:t>l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s</a:t>
            </a:r>
            <a:r>
              <a:rPr sz="500" dirty="0">
                <a:latin typeface="Calibri"/>
                <a:cs typeface="Calibri"/>
              </a:rPr>
              <a:t>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w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910186" y="2458562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848529" y="2458562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41074" y="2565097"/>
            <a:ext cx="133604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10" dirty="0">
                <a:latin typeface="Calibri"/>
                <a:cs typeface="Calibri"/>
              </a:rPr>
              <a:t>K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dirty="0">
                <a:latin typeface="Calibri"/>
                <a:cs typeface="Calibri"/>
              </a:rPr>
              <a:t>tt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spc="-5" dirty="0">
                <a:latin typeface="Calibri"/>
                <a:cs typeface="Calibri"/>
              </a:rPr>
              <a:t>.</a:t>
            </a:r>
            <a:r>
              <a:rPr sz="500" dirty="0">
                <a:latin typeface="Calibri"/>
                <a:cs typeface="Calibri"/>
              </a:rPr>
              <a:t>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dirty="0">
                <a:latin typeface="Calibri"/>
                <a:cs typeface="Calibri"/>
              </a:rPr>
              <a:t>h  </a:t>
            </a:r>
            <a:r>
              <a:rPr sz="500" spc="-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Do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s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s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i</a:t>
            </a:r>
            <a:r>
              <a:rPr sz="500" spc="-6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z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m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5" dirty="0">
                <a:latin typeface="Calibri"/>
                <a:cs typeface="Calibri"/>
              </a:rPr>
              <a:t>t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r 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25" dirty="0">
                <a:latin typeface="Calibri"/>
                <a:cs typeface="Calibri"/>
              </a:rPr>
              <a:t>u</a:t>
            </a:r>
            <a:r>
              <a:rPr sz="500" spc="50" dirty="0">
                <a:latin typeface="Calibri"/>
                <a:cs typeface="Calibri"/>
              </a:rPr>
              <a:t>s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50" dirty="0">
                <a:latin typeface="Calibri"/>
                <a:cs typeface="Calibri"/>
              </a:rPr>
              <a:t>alia</a:t>
            </a:r>
            <a:r>
              <a:rPr sz="500" dirty="0">
                <a:latin typeface="Calibri"/>
                <a:cs typeface="Calibri"/>
              </a:rPr>
              <a:t>?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10186" y="256509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848529" y="256509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41075" y="2671491"/>
            <a:ext cx="17722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0" dirty="0">
                <a:latin typeface="Calibri"/>
                <a:cs typeface="Calibri"/>
              </a:rPr>
              <a:t>Han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E.,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Norton </a:t>
            </a:r>
            <a:r>
              <a:rPr sz="500" spc="20" dirty="0">
                <a:latin typeface="Calibri"/>
                <a:cs typeface="Calibri"/>
              </a:rPr>
              <a:t> Weight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wages: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Fat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versus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lean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paychecks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10186" y="267149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848529" y="267149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41075" y="2778096"/>
            <a:ext cx="1990089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5" dirty="0">
                <a:latin typeface="Calibri"/>
                <a:cs typeface="Calibri"/>
              </a:rPr>
              <a:t>Johansson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E.,  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Obesity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labour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market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success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Finland: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di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371316" y="2428631"/>
            <a:ext cx="1185545" cy="433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800"/>
              </a:lnSpc>
              <a:spcBef>
                <a:spcPts val="100"/>
              </a:spcBef>
              <a:tabLst>
                <a:tab pos="779145" algn="l"/>
              </a:tabLst>
            </a:pPr>
            <a:r>
              <a:rPr sz="500" spc="-5" dirty="0">
                <a:latin typeface="Calibri"/>
                <a:cs typeface="Calibri"/>
              </a:rPr>
              <a:t>2011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20" dirty="0">
                <a:latin typeface="Calibri"/>
                <a:cs typeface="Calibri"/>
              </a:rPr>
              <a:t>HumaRecent </a:t>
            </a:r>
            <a:r>
              <a:rPr sz="500" spc="25" dirty="0">
                <a:latin typeface="Calibri"/>
                <a:cs typeface="Calibri"/>
              </a:rPr>
              <a:t>studie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2010</a:t>
            </a:r>
            <a:r>
              <a:rPr sz="500" spc="10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 </a:t>
            </a:r>
            <a:r>
              <a:rPr sz="500" spc="10" dirty="0">
                <a:latin typeface="Calibri"/>
                <a:cs typeface="Calibri"/>
              </a:rPr>
              <a:t>Record	</a:t>
            </a:r>
            <a:r>
              <a:rPr sz="500" spc="5" dirty="0">
                <a:latin typeface="Calibri"/>
                <a:cs typeface="Calibri"/>
              </a:rPr>
              <a:t>We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estimate 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2009</a:t>
            </a:r>
            <a:r>
              <a:rPr sz="500" spc="1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Health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     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Past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empirica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2009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HumaThis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ex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10186" y="2778096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48529" y="2778096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71315" y="2884631"/>
            <a:ext cx="116967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2009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HumaThis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10186" y="288463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848529" y="288463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71316" y="2991024"/>
            <a:ext cx="118681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2008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HumaThis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910186" y="299102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848529" y="299102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241074" y="2854841"/>
            <a:ext cx="2010410" cy="3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100"/>
              </a:spcBef>
              <a:tabLst>
                <a:tab pos="448945" algn="l"/>
              </a:tabLst>
            </a:pPr>
            <a:r>
              <a:rPr sz="500" spc="20" dirty="0">
                <a:latin typeface="Calibri"/>
                <a:cs typeface="Calibri"/>
              </a:rPr>
              <a:t>Cawley </a:t>
            </a:r>
            <a:r>
              <a:rPr sz="500" dirty="0">
                <a:latin typeface="Calibri"/>
                <a:cs typeface="Calibri"/>
              </a:rPr>
              <a:t>J., </a:t>
            </a:r>
            <a:r>
              <a:rPr sz="500" spc="20" dirty="0">
                <a:latin typeface="Calibri"/>
                <a:cs typeface="Calibri"/>
              </a:rPr>
              <a:t>Han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Obesity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30" dirty="0">
                <a:latin typeface="Calibri"/>
                <a:cs typeface="Calibri"/>
              </a:rPr>
              <a:t>labor </a:t>
            </a:r>
            <a:r>
              <a:rPr sz="500" spc="20" dirty="0">
                <a:latin typeface="Calibri"/>
                <a:cs typeface="Calibri"/>
              </a:rPr>
              <a:t>market </a:t>
            </a:r>
            <a:r>
              <a:rPr sz="500" spc="15" dirty="0">
                <a:latin typeface="Calibri"/>
                <a:cs typeface="Calibri"/>
              </a:rPr>
              <a:t>outcomes</a:t>
            </a:r>
            <a:r>
              <a:rPr sz="500" spc="20" dirty="0">
                <a:latin typeface="Calibri"/>
                <a:cs typeface="Calibri"/>
              </a:rPr>
              <a:t> among </a:t>
            </a:r>
            <a:r>
              <a:rPr sz="500" spc="30" dirty="0">
                <a:latin typeface="Calibri"/>
                <a:cs typeface="Calibri"/>
              </a:rPr>
              <a:t>legal </a:t>
            </a:r>
            <a:r>
              <a:rPr sz="500" spc="20" dirty="0">
                <a:latin typeface="Calibri"/>
                <a:cs typeface="Calibri"/>
              </a:rPr>
              <a:t>imm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Greve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J.	</a:t>
            </a:r>
            <a:r>
              <a:rPr sz="500" spc="20" dirty="0">
                <a:latin typeface="Calibri"/>
                <a:cs typeface="Calibri"/>
              </a:rPr>
              <a:t>Obesity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labor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market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outcomes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Denmark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40"/>
              </a:spcBef>
            </a:pPr>
            <a:r>
              <a:rPr sz="500" spc="20" dirty="0">
                <a:latin typeface="Calibri"/>
                <a:cs typeface="Calibri"/>
              </a:rPr>
              <a:t>Gates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D.M.,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Su</a:t>
            </a:r>
            <a:r>
              <a:rPr sz="500" spc="9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Obesity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presenteeism: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impact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body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mass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910186" y="309763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48529" y="309763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825709" y="1896240"/>
            <a:ext cx="132080" cy="1410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9800"/>
              </a:lnSpc>
              <a:spcBef>
                <a:spcPts val="95"/>
              </a:spcBef>
            </a:pP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  </a:t>
            </a:r>
            <a:r>
              <a:rPr sz="500" spc="15" dirty="0">
                <a:latin typeface="Calibri"/>
                <a:cs typeface="Calibri"/>
              </a:rPr>
              <a:t>B</a:t>
            </a:r>
            <a:r>
              <a:rPr sz="500" spc="-15" dirty="0">
                <a:latin typeface="Calibri"/>
                <a:cs typeface="Calibri"/>
              </a:rPr>
              <a:t>M</a:t>
            </a:r>
            <a:r>
              <a:rPr sz="500" dirty="0">
                <a:latin typeface="Calibri"/>
                <a:cs typeface="Calibri"/>
              </a:rPr>
              <a:t>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241075" y="3204165"/>
            <a:ext cx="196913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5" dirty="0">
                <a:latin typeface="Calibri"/>
                <a:cs typeface="Calibri"/>
              </a:rPr>
              <a:t>Sullivan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P.W.,</a:t>
            </a:r>
            <a:r>
              <a:rPr sz="500" spc="29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Cardiovascular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ri</a:t>
            </a:r>
            <a:r>
              <a:rPr sz="500" spc="-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sk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factor </a:t>
            </a:r>
            <a:r>
              <a:rPr sz="500" spc="15" dirty="0">
                <a:latin typeface="Calibri"/>
                <a:cs typeface="Calibri"/>
              </a:rPr>
              <a:t>clusters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employment </a:t>
            </a:r>
            <a:r>
              <a:rPr sz="500" dirty="0">
                <a:latin typeface="Calibri"/>
                <a:cs typeface="Calibri"/>
              </a:rPr>
              <a:t>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910186" y="3204165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848529" y="3204165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371316" y="3067699"/>
            <a:ext cx="1190625" cy="325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9700"/>
              </a:lnSpc>
              <a:spcBef>
                <a:spcPts val="100"/>
              </a:spcBef>
              <a:tabLst>
                <a:tab pos="779145" algn="l"/>
              </a:tabLst>
            </a:pPr>
            <a:r>
              <a:rPr sz="500" spc="-5" dirty="0">
                <a:latin typeface="Calibri"/>
                <a:cs typeface="Calibri"/>
              </a:rPr>
              <a:t>2008 </a:t>
            </a:r>
            <a:r>
              <a:rPr sz="500" spc="15" dirty="0">
                <a:latin typeface="Calibri"/>
                <a:cs typeface="Calibri"/>
              </a:rPr>
              <a:t>Journal </a:t>
            </a:r>
            <a:r>
              <a:rPr sz="500" spc="10" dirty="0">
                <a:latin typeface="Calibri"/>
                <a:cs typeface="Calibri"/>
              </a:rPr>
              <a:t>of </a:t>
            </a:r>
            <a:r>
              <a:rPr sz="500" spc="15" dirty="0">
                <a:latin typeface="Calibri"/>
                <a:cs typeface="Calibri"/>
              </a:rPr>
              <a:t>Occupatio </a:t>
            </a:r>
            <a:r>
              <a:rPr sz="500" spc="5" dirty="0">
                <a:latin typeface="Calibri"/>
                <a:cs typeface="Calibri"/>
              </a:rPr>
              <a:t>OBJECTIVE: </a:t>
            </a:r>
            <a:r>
              <a:rPr sz="500" dirty="0">
                <a:latin typeface="Calibri"/>
                <a:cs typeface="Calibri"/>
              </a:rPr>
              <a:t>To 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200</a:t>
            </a:r>
            <a:r>
              <a:rPr sz="500" dirty="0">
                <a:latin typeface="Calibri"/>
                <a:cs typeface="Calibri"/>
              </a:rPr>
              <a:t>7 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V</a:t>
            </a:r>
            <a:r>
              <a:rPr sz="500" spc="50" dirty="0">
                <a:latin typeface="Calibri"/>
                <a:cs typeface="Calibri"/>
              </a:rPr>
              <a:t>al</a:t>
            </a:r>
            <a:r>
              <a:rPr sz="500" spc="25" dirty="0">
                <a:latin typeface="Calibri"/>
                <a:cs typeface="Calibri"/>
              </a:rPr>
              <a:t>u</a:t>
            </a:r>
            <a:r>
              <a:rPr sz="50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 i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spc="50" dirty="0">
                <a:latin typeface="Calibri"/>
                <a:cs typeface="Calibri"/>
              </a:rPr>
              <a:t>al</a:t>
            </a:r>
            <a:r>
              <a:rPr sz="500" dirty="0">
                <a:latin typeface="Calibri"/>
                <a:cs typeface="Calibri"/>
              </a:rPr>
              <a:t>th	O</a:t>
            </a:r>
            <a:r>
              <a:rPr sz="500" spc="25" dirty="0">
                <a:latin typeface="Calibri"/>
                <a:cs typeface="Calibri"/>
              </a:rPr>
              <a:t>b</a:t>
            </a:r>
            <a:r>
              <a:rPr sz="500" dirty="0">
                <a:latin typeface="Calibri"/>
                <a:cs typeface="Calibri"/>
              </a:rPr>
              <a:t>j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-20" dirty="0">
                <a:latin typeface="Calibri"/>
                <a:cs typeface="Calibri"/>
              </a:rPr>
              <a:t>v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: </a:t>
            </a:r>
            <a:r>
              <a:rPr sz="500" spc="5" dirty="0">
                <a:latin typeface="Calibri"/>
                <a:cs typeface="Calibri"/>
              </a:rPr>
              <a:t>T</a:t>
            </a:r>
            <a:r>
              <a:rPr sz="500" spc="25" dirty="0">
                <a:latin typeface="Calibri"/>
                <a:cs typeface="Calibri"/>
              </a:rPr>
              <a:t>h</a:t>
            </a:r>
            <a:r>
              <a:rPr sz="500" dirty="0">
                <a:latin typeface="Calibri"/>
                <a:cs typeface="Calibri"/>
              </a:rPr>
              <a:t>e  </a:t>
            </a:r>
            <a:r>
              <a:rPr sz="500" spc="-5" dirty="0">
                <a:latin typeface="Calibri"/>
                <a:cs typeface="Calibri"/>
              </a:rPr>
              <a:t>2013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HumaIf </a:t>
            </a:r>
            <a:r>
              <a:rPr sz="500" spc="5" dirty="0">
                <a:latin typeface="Calibri"/>
                <a:cs typeface="Calibri"/>
              </a:rPr>
              <a:t>the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positive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10186" y="331055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848529" y="331055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825709" y="3280556"/>
            <a:ext cx="2410460" cy="21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00"/>
              </a:spcBef>
              <a:tabLst>
                <a:tab pos="864235" algn="l"/>
              </a:tabLst>
            </a:pPr>
            <a:r>
              <a:rPr sz="500" spc="20" dirty="0">
                <a:latin typeface="Calibri"/>
                <a:cs typeface="Calibri"/>
              </a:rPr>
              <a:t>Calorie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intake</a:t>
            </a:r>
            <a:r>
              <a:rPr sz="500" spc="-1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Price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G.N.	</a:t>
            </a:r>
            <a:r>
              <a:rPr sz="500" spc="10" dirty="0">
                <a:latin typeface="Calibri"/>
                <a:cs typeface="Calibri"/>
              </a:rPr>
              <a:t>The </a:t>
            </a:r>
            <a:r>
              <a:rPr sz="500" spc="25" dirty="0">
                <a:latin typeface="Calibri"/>
                <a:cs typeface="Calibri"/>
              </a:rPr>
              <a:t>allometry </a:t>
            </a:r>
            <a:r>
              <a:rPr sz="500" spc="10" dirty="0">
                <a:latin typeface="Calibri"/>
                <a:cs typeface="Calibri"/>
              </a:rPr>
              <a:t>of </a:t>
            </a:r>
            <a:r>
              <a:rPr sz="500" spc="30" dirty="0">
                <a:latin typeface="Calibri"/>
                <a:cs typeface="Calibri"/>
              </a:rPr>
              <a:t>metabolism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20" dirty="0">
                <a:latin typeface="Calibri"/>
                <a:cs typeface="Calibri"/>
              </a:rPr>
              <a:t>stature: </a:t>
            </a:r>
            <a:r>
              <a:rPr sz="500" spc="15" dirty="0">
                <a:latin typeface="Calibri"/>
                <a:cs typeface="Calibri"/>
              </a:rPr>
              <a:t>Worker </a:t>
            </a:r>
            <a:r>
              <a:rPr sz="500" spc="20" dirty="0">
                <a:latin typeface="Calibri"/>
                <a:cs typeface="Calibri"/>
              </a:rPr>
              <a:t>fat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Calorie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intake</a:t>
            </a:r>
            <a:r>
              <a:rPr sz="500" spc="-2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Mushtaq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K.,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Ga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examination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calorie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demand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relationship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Pa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1315" y="3417164"/>
            <a:ext cx="118364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2007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Pakistan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Journal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NThis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ha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910186" y="341716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848529" y="341716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825710" y="3523699"/>
            <a:ext cx="238950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0" dirty="0">
                <a:latin typeface="Calibri"/>
                <a:cs typeface="Calibri"/>
              </a:rPr>
              <a:t>Calorie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intake</a:t>
            </a:r>
            <a:r>
              <a:rPr sz="500" spc="-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Glick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P.,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Sahn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DHealth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productivity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heterogeneous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urban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la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371315" y="3523699"/>
            <a:ext cx="118364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1998</a:t>
            </a:r>
            <a:r>
              <a:rPr sz="500" spc="1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Applied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   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effects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910186" y="352369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848529" y="352369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71316" y="3630093"/>
            <a:ext cx="11753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2014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Journal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Developm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Taller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worker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910186" y="363009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848529" y="363009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241074" y="3600091"/>
            <a:ext cx="1992630" cy="21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00"/>
              </a:spcBef>
              <a:tabLst>
                <a:tab pos="448945" algn="l"/>
              </a:tabLst>
            </a:pPr>
            <a:r>
              <a:rPr sz="500" spc="10" dirty="0">
                <a:latin typeface="Calibri"/>
                <a:cs typeface="Calibri"/>
              </a:rPr>
              <a:t>Vogl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T.S.	</a:t>
            </a:r>
            <a:r>
              <a:rPr sz="500" spc="20" dirty="0">
                <a:latin typeface="Calibri"/>
                <a:cs typeface="Calibri"/>
              </a:rPr>
              <a:t>Height, </a:t>
            </a:r>
            <a:r>
              <a:rPr sz="500" spc="35" dirty="0">
                <a:latin typeface="Calibri"/>
                <a:cs typeface="Calibri"/>
              </a:rPr>
              <a:t>skills,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30" dirty="0">
                <a:latin typeface="Calibri"/>
                <a:cs typeface="Calibri"/>
              </a:rPr>
              <a:t>labor </a:t>
            </a:r>
            <a:r>
              <a:rPr sz="500" spc="20" dirty="0">
                <a:latin typeface="Calibri"/>
                <a:cs typeface="Calibri"/>
              </a:rPr>
              <a:t>market </a:t>
            </a:r>
            <a:r>
              <a:rPr sz="500" spc="15" dirty="0">
                <a:latin typeface="Calibri"/>
                <a:cs typeface="Calibri"/>
              </a:rPr>
              <a:t>outcomes </a:t>
            </a:r>
            <a:r>
              <a:rPr sz="500" spc="25" dirty="0">
                <a:latin typeface="Calibri"/>
                <a:cs typeface="Calibri"/>
              </a:rPr>
              <a:t>in </a:t>
            </a:r>
            <a:r>
              <a:rPr sz="500" spc="10" dirty="0">
                <a:latin typeface="Calibri"/>
                <a:cs typeface="Calibri"/>
              </a:rPr>
              <a:t>Mexico 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Ramos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Cobl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Impact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Cognitive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Noncognitive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Skills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Pr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5371315" y="3736699"/>
            <a:ext cx="115189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2013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Developing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Economi</a:t>
            </a:r>
            <a:r>
              <a:rPr sz="500" spc="114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Professional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910186" y="373669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848529" y="3736699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371315" y="3843234"/>
            <a:ext cx="116967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2012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Review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This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st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910186" y="384323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848529" y="384323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41075" y="3813444"/>
            <a:ext cx="1977389" cy="22249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spcBef>
                <a:spcPts val="335"/>
              </a:spcBef>
            </a:pPr>
            <a:r>
              <a:rPr sz="500" spc="20" dirty="0">
                <a:latin typeface="Calibri"/>
                <a:cs typeface="Calibri"/>
              </a:rPr>
              <a:t>Lindqvist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E.      </a:t>
            </a:r>
            <a:r>
              <a:rPr sz="500" spc="9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Height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leadership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40"/>
              </a:spcBef>
            </a:pPr>
            <a:r>
              <a:rPr sz="500" spc="5" dirty="0">
                <a:latin typeface="Calibri"/>
                <a:cs typeface="Calibri"/>
              </a:rPr>
              <a:t>MacKe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A.,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LePo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Social,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societal,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economic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burden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mal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de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deb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71315" y="3949627"/>
            <a:ext cx="118110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2012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Journal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0" dirty="0">
                <a:latin typeface="Calibri"/>
                <a:cs typeface="Calibri"/>
              </a:rPr>
              <a:t> Neurology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Mal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de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debar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910186" y="394962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848529" y="394962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241074" y="4050913"/>
            <a:ext cx="1961514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30" dirty="0">
                <a:latin typeface="Calibri"/>
                <a:cs typeface="Calibri"/>
              </a:rPr>
              <a:t>Sakellariou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C.</a:t>
            </a:r>
            <a:r>
              <a:rPr sz="500" spc="2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Central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government versus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private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sector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wages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371316" y="4050913"/>
            <a:ext cx="117665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2012</a:t>
            </a:r>
            <a:r>
              <a:rPr sz="500" spc="1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Applied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   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importan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910186" y="404559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848529" y="4045593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241075" y="4162768"/>
            <a:ext cx="197675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30" dirty="0">
                <a:latin typeface="Calibri"/>
                <a:cs typeface="Calibri"/>
              </a:rPr>
              <a:t>Aslam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M.,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Bari</a:t>
            </a:r>
            <a:r>
              <a:rPr sz="500" spc="12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Returns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schooling,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ability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cognitive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skills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P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6910186" y="416276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848529" y="4162768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241075" y="4269161"/>
            <a:ext cx="198183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30" dirty="0">
                <a:latin typeface="Calibri"/>
                <a:cs typeface="Calibri"/>
              </a:rPr>
              <a:t>Hall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-10" dirty="0">
                <a:latin typeface="Calibri"/>
                <a:cs typeface="Calibri"/>
              </a:rPr>
              <a:t>M.,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Farkas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Adolescent</a:t>
            </a:r>
            <a:r>
              <a:rPr sz="500" spc="15" dirty="0">
                <a:latin typeface="Calibri"/>
                <a:cs typeface="Calibri"/>
              </a:rPr>
              <a:t> cognitive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skills,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attitudinal/behavioral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tr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910186" y="426916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848529" y="426916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241074" y="4375767"/>
            <a:ext cx="197485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0" dirty="0">
                <a:latin typeface="Calibri"/>
                <a:cs typeface="Calibri"/>
              </a:rPr>
              <a:t>Lindqvist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E.,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Ve</a:t>
            </a:r>
            <a:r>
              <a:rPr sz="500" spc="-2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labor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market</a:t>
            </a:r>
            <a:r>
              <a:rPr sz="500" spc="10" dirty="0">
                <a:latin typeface="Calibri"/>
                <a:cs typeface="Calibri"/>
              </a:rPr>
              <a:t> returns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cognitive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noncogniti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371315" y="4132978"/>
            <a:ext cx="1187450" cy="325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9800"/>
              </a:lnSpc>
              <a:spcBef>
                <a:spcPts val="95"/>
              </a:spcBef>
              <a:tabLst>
                <a:tab pos="779145" algn="l"/>
              </a:tabLst>
            </a:pPr>
            <a:r>
              <a:rPr sz="500" spc="-5" dirty="0">
                <a:latin typeface="Calibri"/>
                <a:cs typeface="Calibri"/>
              </a:rPr>
              <a:t>2012 </a:t>
            </a:r>
            <a:r>
              <a:rPr sz="500" spc="20" dirty="0">
                <a:latin typeface="Calibri"/>
                <a:cs typeface="Calibri"/>
              </a:rPr>
              <a:t>Education </a:t>
            </a:r>
            <a:r>
              <a:rPr sz="500" spc="15" dirty="0">
                <a:latin typeface="Calibri"/>
                <a:cs typeface="Calibri"/>
              </a:rPr>
              <a:t>Economics </a:t>
            </a:r>
            <a:r>
              <a:rPr sz="500" spc="20" dirty="0">
                <a:latin typeface="Calibri"/>
                <a:cs typeface="Calibri"/>
              </a:rPr>
              <a:t>This study </a:t>
            </a:r>
            <a:r>
              <a:rPr sz="500" spc="25" dirty="0">
                <a:latin typeface="Calibri"/>
                <a:cs typeface="Calibri"/>
              </a:rPr>
              <a:t>inv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2011</a:t>
            </a:r>
            <a:r>
              <a:rPr sz="500" spc="1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Social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Forces	</a:t>
            </a:r>
            <a:r>
              <a:rPr sz="500" spc="5" dirty="0">
                <a:latin typeface="Calibri"/>
                <a:cs typeface="Calibri"/>
              </a:rPr>
              <a:t>We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use pane 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2011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American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use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data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910186" y="437576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848529" y="4375767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241074" y="4482301"/>
            <a:ext cx="197866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15" dirty="0">
                <a:latin typeface="Calibri"/>
                <a:cs typeface="Calibri"/>
              </a:rPr>
              <a:t>Hartog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Van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PIf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You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Are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So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Smart, Why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Aren't You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Entrepreneur?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910186" y="448230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848529" y="448230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241074" y="4588695"/>
            <a:ext cx="197993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0" dirty="0">
                <a:latin typeface="Calibri"/>
                <a:cs typeface="Calibri"/>
              </a:rPr>
              <a:t>Jones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G.,</a:t>
            </a:r>
            <a:r>
              <a:rPr sz="500" spc="15" dirty="0">
                <a:latin typeface="Calibri"/>
                <a:cs typeface="Calibri"/>
              </a:rPr>
              <a:t> SchneIQ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the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production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function: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Evidence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from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immigra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10186" y="4588695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7831578" y="4588695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8848529" y="4588695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41075" y="4695301"/>
            <a:ext cx="1990089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25" dirty="0">
                <a:latin typeface="Calibri"/>
                <a:cs typeface="Calibri"/>
              </a:rPr>
              <a:t>Heineck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G.,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An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returns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to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cognitive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abilities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personality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trai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6910186" y="469530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848529" y="4695301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3241074" y="4801856"/>
            <a:ext cx="198882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15" dirty="0">
                <a:latin typeface="Calibri"/>
                <a:cs typeface="Calibri"/>
              </a:rPr>
              <a:t>Anger</a:t>
            </a:r>
            <a:r>
              <a:rPr sz="500" dirty="0">
                <a:latin typeface="Calibri"/>
                <a:cs typeface="Calibri"/>
              </a:rPr>
              <a:t> S.,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Heine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Cognitive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abilities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earnings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-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fi</a:t>
            </a:r>
            <a:r>
              <a:rPr sz="500" spc="-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rst </a:t>
            </a:r>
            <a:r>
              <a:rPr sz="500" spc="20" dirty="0">
                <a:latin typeface="Calibri"/>
                <a:cs typeface="Calibri"/>
              </a:rPr>
              <a:t>evidence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for</a:t>
            </a:r>
            <a:r>
              <a:rPr sz="500" dirty="0">
                <a:latin typeface="Calibri"/>
                <a:cs typeface="Calibri"/>
              </a:rPr>
              <a:t> G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5371315" y="4452512"/>
            <a:ext cx="1192530" cy="4330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9800"/>
              </a:lnSpc>
              <a:spcBef>
                <a:spcPts val="95"/>
              </a:spcBef>
            </a:pPr>
            <a:r>
              <a:rPr sz="500" spc="-5" dirty="0">
                <a:latin typeface="Calibri"/>
                <a:cs typeface="Calibri"/>
              </a:rPr>
              <a:t>2010 </a:t>
            </a:r>
            <a:r>
              <a:rPr sz="500" spc="15" dirty="0">
                <a:latin typeface="Calibri"/>
                <a:cs typeface="Calibri"/>
              </a:rPr>
              <a:t>Journal </a:t>
            </a:r>
            <a:r>
              <a:rPr sz="500" spc="10" dirty="0">
                <a:latin typeface="Calibri"/>
                <a:cs typeface="Calibri"/>
              </a:rPr>
              <a:t>of </a:t>
            </a:r>
            <a:r>
              <a:rPr sz="500" spc="15" dirty="0">
                <a:latin typeface="Calibri"/>
                <a:cs typeface="Calibri"/>
              </a:rPr>
              <a:t>Economics How </a:t>
            </a:r>
            <a:r>
              <a:rPr sz="500" spc="25" dirty="0">
                <a:latin typeface="Calibri"/>
                <a:cs typeface="Calibri"/>
              </a:rPr>
              <a:t>valuable 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2010 </a:t>
            </a:r>
            <a:r>
              <a:rPr sz="500" spc="15" dirty="0">
                <a:latin typeface="Calibri"/>
                <a:cs typeface="Calibri"/>
              </a:rPr>
              <a:t>Economic </a:t>
            </a:r>
            <a:r>
              <a:rPr sz="500" spc="20" dirty="0">
                <a:latin typeface="Calibri"/>
                <a:cs typeface="Calibri"/>
              </a:rPr>
              <a:t>Inquiry</a:t>
            </a:r>
            <a:r>
              <a:rPr sz="500" spc="15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We </a:t>
            </a:r>
            <a:r>
              <a:rPr sz="500" spc="25" dirty="0">
                <a:latin typeface="Calibri"/>
                <a:cs typeface="Calibri"/>
              </a:rPr>
              <a:t>show </a:t>
            </a:r>
            <a:r>
              <a:rPr sz="500" spc="15" dirty="0">
                <a:latin typeface="Calibri"/>
                <a:cs typeface="Calibri"/>
              </a:rPr>
              <a:t>that 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2010 </a:t>
            </a:r>
            <a:r>
              <a:rPr sz="500" spc="20" dirty="0">
                <a:latin typeface="Calibri"/>
                <a:cs typeface="Calibri"/>
              </a:rPr>
              <a:t>Labour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We </a:t>
            </a:r>
            <a:r>
              <a:rPr sz="500" spc="10" dirty="0">
                <a:latin typeface="Calibri"/>
                <a:cs typeface="Calibri"/>
              </a:rPr>
              <a:t>provide </a:t>
            </a:r>
            <a:r>
              <a:rPr sz="500" dirty="0">
                <a:latin typeface="Calibri"/>
                <a:cs typeface="Calibri"/>
              </a:rPr>
              <a:t>th 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2010</a:t>
            </a:r>
            <a:r>
              <a:rPr sz="500" spc="8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Applied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L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We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provide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fi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6910186" y="4801856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848529" y="4801856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3241075" y="4908250"/>
            <a:ext cx="197929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30" dirty="0">
                <a:latin typeface="Calibri"/>
                <a:cs typeface="Calibri"/>
              </a:rPr>
              <a:t>Field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E.,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Roble</a:t>
            </a:r>
            <a:r>
              <a:rPr sz="500" spc="12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Iodine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deficiency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schooling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attainment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in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Tanza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371315" y="4908250"/>
            <a:ext cx="1198880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2009</a:t>
            </a:r>
            <a:r>
              <a:rPr sz="500" spc="9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American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</a:t>
            </a:r>
            <a:r>
              <a:rPr sz="500" spc="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Cognitive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dam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910186" y="490825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7831578" y="490825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8848529" y="490825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241075" y="5014820"/>
            <a:ext cx="197040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McGurk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S.R.,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M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Cognitive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training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supported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employment</a:t>
            </a:r>
            <a:r>
              <a:rPr sz="500" spc="1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for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pe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6910186" y="501482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8848529" y="501482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5371315" y="4984854"/>
            <a:ext cx="1195070" cy="21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00"/>
              </a:spcBef>
              <a:tabLst>
                <a:tab pos="779145" algn="l"/>
              </a:tabLst>
            </a:pPr>
            <a:r>
              <a:rPr sz="500" spc="-5" dirty="0">
                <a:latin typeface="Calibri"/>
                <a:cs typeface="Calibri"/>
              </a:rPr>
              <a:t>2005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Schizophrenia </a:t>
            </a:r>
            <a:r>
              <a:rPr sz="500" spc="30" dirty="0">
                <a:latin typeface="Calibri"/>
                <a:cs typeface="Calibri"/>
              </a:rPr>
              <a:t>Bullet </a:t>
            </a:r>
            <a:r>
              <a:rPr sz="500" spc="20" dirty="0">
                <a:latin typeface="Calibri"/>
                <a:cs typeface="Calibri"/>
              </a:rPr>
              <a:t>This study </a:t>
            </a:r>
            <a:r>
              <a:rPr sz="500" spc="10" dirty="0">
                <a:latin typeface="Calibri"/>
                <a:cs typeface="Calibri"/>
              </a:rPr>
              <a:t>exa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2005</a:t>
            </a:r>
            <a:r>
              <a:rPr sz="500" spc="10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Fiscal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Studies	</a:t>
            </a:r>
            <a:r>
              <a:rPr sz="500" spc="5" dirty="0">
                <a:latin typeface="Calibri"/>
                <a:cs typeface="Calibri"/>
              </a:rPr>
              <a:t>We</a:t>
            </a:r>
            <a:r>
              <a:rPr sz="500" spc="25" dirty="0">
                <a:latin typeface="Calibri"/>
                <a:cs typeface="Calibri"/>
              </a:rPr>
              <a:t> evaluate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6910186" y="512139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848529" y="5121390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5371316" y="5227784"/>
            <a:ext cx="116903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2004</a:t>
            </a:r>
            <a:r>
              <a:rPr sz="500" spc="8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Economics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2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Educati</a:t>
            </a:r>
            <a:r>
              <a:rPr sz="500" spc="-1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This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paper</a:t>
            </a:r>
            <a:r>
              <a:rPr sz="500" spc="-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te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6910186" y="522778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8848529" y="5227784"/>
            <a:ext cx="5778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dirty="0">
                <a:latin typeface="Calibri"/>
                <a:cs typeface="Calibri"/>
              </a:rPr>
              <a:t>1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825710" y="3600090"/>
            <a:ext cx="29273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9800"/>
              </a:lnSpc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  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825710" y="5440922"/>
            <a:ext cx="292735" cy="897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t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241075" y="5091600"/>
            <a:ext cx="1988185" cy="4334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100"/>
              </a:spcBef>
              <a:tabLst>
                <a:tab pos="448945" algn="l"/>
              </a:tabLst>
            </a:pPr>
            <a:r>
              <a:rPr sz="500" spc="20" dirty="0">
                <a:latin typeface="Calibri"/>
                <a:cs typeface="Calibri"/>
              </a:rPr>
              <a:t>Goodman </a:t>
            </a:r>
            <a:r>
              <a:rPr sz="500" spc="-5" dirty="0">
                <a:latin typeface="Calibri"/>
                <a:cs typeface="Calibri"/>
              </a:rPr>
              <a:t>A., </a:t>
            </a:r>
            <a:r>
              <a:rPr sz="500" dirty="0">
                <a:latin typeface="Calibri"/>
                <a:cs typeface="Calibri"/>
              </a:rPr>
              <a:t>S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Early education </a:t>
            </a:r>
            <a:r>
              <a:rPr sz="500" spc="25" dirty="0">
                <a:latin typeface="Calibri"/>
                <a:cs typeface="Calibri"/>
              </a:rPr>
              <a:t>and </a:t>
            </a:r>
            <a:r>
              <a:rPr sz="500" spc="20" dirty="0">
                <a:latin typeface="Calibri"/>
                <a:cs typeface="Calibri"/>
              </a:rPr>
              <a:t>children's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outcomes: </a:t>
            </a:r>
            <a:r>
              <a:rPr sz="500" spc="15" dirty="0">
                <a:latin typeface="Calibri"/>
                <a:cs typeface="Calibri"/>
              </a:rPr>
              <a:t>How </a:t>
            </a:r>
            <a:r>
              <a:rPr sz="500" spc="25" dirty="0">
                <a:latin typeface="Calibri"/>
                <a:cs typeface="Calibri"/>
              </a:rPr>
              <a:t>long </a:t>
            </a:r>
            <a:r>
              <a:rPr sz="500" dirty="0">
                <a:latin typeface="Calibri"/>
                <a:cs typeface="Calibri"/>
              </a:rPr>
              <a:t>d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Tyler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J.H.	</a:t>
            </a:r>
            <a:r>
              <a:rPr sz="500" spc="30" dirty="0">
                <a:latin typeface="Calibri"/>
                <a:cs typeface="Calibri"/>
              </a:rPr>
              <a:t>Basic</a:t>
            </a:r>
            <a:r>
              <a:rPr sz="500" spc="5" dirty="0">
                <a:latin typeface="Calibri"/>
                <a:cs typeface="Calibri"/>
              </a:rPr>
              <a:t> </a:t>
            </a:r>
            <a:r>
              <a:rPr sz="500" spc="35" dirty="0">
                <a:latin typeface="Calibri"/>
                <a:cs typeface="Calibri"/>
              </a:rPr>
              <a:t>skills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the</a:t>
            </a:r>
            <a:r>
              <a:rPr sz="500" spc="50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earnings</a:t>
            </a:r>
            <a:r>
              <a:rPr sz="500" spc="6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of</a:t>
            </a:r>
            <a:r>
              <a:rPr sz="500" spc="30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dropouts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35"/>
              </a:spcBef>
              <a:tabLst>
                <a:tab pos="448945" algn="l"/>
              </a:tabLst>
            </a:pPr>
            <a:r>
              <a:rPr sz="500" spc="5" dirty="0">
                <a:latin typeface="Calibri"/>
                <a:cs typeface="Calibri"/>
              </a:rPr>
              <a:t>Mitra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A.	</a:t>
            </a:r>
            <a:r>
              <a:rPr sz="500" spc="20" dirty="0">
                <a:latin typeface="Calibri"/>
                <a:cs typeface="Calibri"/>
              </a:rPr>
              <a:t>Mathematics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skill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35" dirty="0">
                <a:latin typeface="Calibri"/>
                <a:cs typeface="Calibri"/>
              </a:rPr>
              <a:t> </a:t>
            </a:r>
            <a:r>
              <a:rPr sz="500" spc="30" dirty="0">
                <a:latin typeface="Calibri"/>
                <a:cs typeface="Calibri"/>
              </a:rPr>
              <a:t>male-female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wages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40"/>
              </a:spcBef>
            </a:pPr>
            <a:r>
              <a:rPr sz="500" spc="20" dirty="0">
                <a:latin typeface="Calibri"/>
                <a:cs typeface="Calibri"/>
              </a:rPr>
              <a:t>Cawley</a:t>
            </a:r>
            <a:r>
              <a:rPr sz="500" spc="-10" dirty="0">
                <a:latin typeface="Calibri"/>
                <a:cs typeface="Calibri"/>
              </a:rPr>
              <a:t> </a:t>
            </a:r>
            <a:r>
              <a:rPr sz="500" dirty="0">
                <a:latin typeface="Calibri"/>
                <a:cs typeface="Calibri"/>
              </a:rPr>
              <a:t>J.,</a:t>
            </a:r>
            <a:r>
              <a:rPr sz="500" spc="15" dirty="0">
                <a:latin typeface="Calibri"/>
                <a:cs typeface="Calibri"/>
              </a:rPr>
              <a:t> Heck</a:t>
            </a:r>
            <a:r>
              <a:rPr sz="50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Three</a:t>
            </a:r>
            <a:r>
              <a:rPr sz="500" spc="5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observations</a:t>
            </a:r>
            <a:r>
              <a:rPr sz="500" spc="65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on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wages</a:t>
            </a:r>
            <a:r>
              <a:rPr sz="500" spc="7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and</a:t>
            </a:r>
            <a:r>
              <a:rPr sz="500" spc="4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measured</a:t>
            </a:r>
            <a:r>
              <a:rPr sz="500" spc="45" dirty="0">
                <a:latin typeface="Calibri"/>
                <a:cs typeface="Calibri"/>
              </a:rPr>
              <a:t> </a:t>
            </a:r>
            <a:r>
              <a:rPr sz="500" spc="20" dirty="0">
                <a:latin typeface="Calibri"/>
                <a:cs typeface="Calibri"/>
              </a:rPr>
              <a:t>cognitiv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371316" y="5304391"/>
            <a:ext cx="3535045" cy="222497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spcBef>
                <a:spcPts val="335"/>
              </a:spcBef>
              <a:tabLst>
                <a:tab pos="1551305" algn="l"/>
                <a:tab pos="3489325" algn="l"/>
              </a:tabLst>
            </a:pPr>
            <a:r>
              <a:rPr sz="500" spc="-5" dirty="0">
                <a:latin typeface="Calibri"/>
                <a:cs typeface="Calibri"/>
              </a:rPr>
              <a:t>200</a:t>
            </a:r>
            <a:r>
              <a:rPr sz="500" dirty="0">
                <a:latin typeface="Calibri"/>
                <a:cs typeface="Calibri"/>
              </a:rPr>
              <a:t>2 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J</a:t>
            </a:r>
            <a:r>
              <a:rPr sz="500" spc="25" dirty="0">
                <a:latin typeface="Calibri"/>
                <a:cs typeface="Calibri"/>
              </a:rPr>
              <a:t>ou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l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f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15" dirty="0">
                <a:latin typeface="Calibri"/>
                <a:cs typeface="Calibri"/>
              </a:rPr>
              <a:t>S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spc="10" dirty="0">
                <a:latin typeface="Calibri"/>
                <a:cs typeface="Calibri"/>
              </a:rPr>
              <a:t>-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</a:t>
            </a:r>
            <a:r>
              <a:rPr sz="500" dirty="0">
                <a:latin typeface="Calibri"/>
                <a:cs typeface="Calibri"/>
              </a:rPr>
              <a:t>n</a:t>
            </a:r>
            <a:r>
              <a:rPr sz="500" spc="-7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U</a:t>
            </a:r>
            <a:r>
              <a:rPr sz="500" spc="50" dirty="0">
                <a:latin typeface="Calibri"/>
                <a:cs typeface="Calibri"/>
              </a:rPr>
              <a:t>si</a:t>
            </a:r>
            <a:r>
              <a:rPr sz="500" spc="25" dirty="0">
                <a:latin typeface="Calibri"/>
                <a:cs typeface="Calibri"/>
              </a:rPr>
              <a:t>n</a:t>
            </a:r>
            <a:r>
              <a:rPr sz="500" dirty="0">
                <a:latin typeface="Calibri"/>
                <a:cs typeface="Calibri"/>
              </a:rPr>
              <a:t>g</a:t>
            </a:r>
            <a:r>
              <a:rPr sz="500" spc="25" dirty="0">
                <a:latin typeface="Calibri"/>
                <a:cs typeface="Calibri"/>
              </a:rPr>
              <a:t> d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dirty="0">
                <a:latin typeface="Calibri"/>
                <a:cs typeface="Calibri"/>
              </a:rPr>
              <a:t>ta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10" dirty="0">
                <a:latin typeface="Calibri"/>
                <a:cs typeface="Calibri"/>
              </a:rPr>
              <a:t>f</a:t>
            </a:r>
            <a:r>
              <a:rPr sz="500" spc="-10" dirty="0">
                <a:latin typeface="Calibri"/>
                <a:cs typeface="Calibri"/>
              </a:rPr>
              <a:t>r</a:t>
            </a:r>
            <a:r>
              <a:rPr sz="500" dirty="0">
                <a:latin typeface="Calibri"/>
                <a:cs typeface="Calibri"/>
              </a:rPr>
              <a:t>o	1	1</a:t>
            </a:r>
            <a:endParaRPr sz="500">
              <a:latin typeface="Calibri"/>
              <a:cs typeface="Calibri"/>
            </a:endParaRPr>
          </a:p>
          <a:p>
            <a:pPr marL="12700">
              <a:spcBef>
                <a:spcPts val="240"/>
              </a:spcBef>
              <a:tabLst>
                <a:tab pos="1551305" algn="l"/>
                <a:tab pos="2946400" algn="l"/>
                <a:tab pos="3489325" algn="l"/>
              </a:tabLst>
            </a:pPr>
            <a:r>
              <a:rPr sz="500" spc="-5" dirty="0">
                <a:latin typeface="Calibri"/>
                <a:cs typeface="Calibri"/>
              </a:rPr>
              <a:t>200</a:t>
            </a:r>
            <a:r>
              <a:rPr sz="500" dirty="0">
                <a:latin typeface="Calibri"/>
                <a:cs typeface="Calibri"/>
              </a:rPr>
              <a:t>1 </a:t>
            </a:r>
            <a:r>
              <a:rPr sz="500" spc="-25" dirty="0">
                <a:latin typeface="Calibri"/>
                <a:cs typeface="Calibri"/>
              </a:rPr>
              <a:t> </a:t>
            </a:r>
            <a:r>
              <a:rPr sz="500" spc="-5" dirty="0">
                <a:latin typeface="Calibri"/>
                <a:cs typeface="Calibri"/>
              </a:rPr>
              <a:t>L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spc="25" dirty="0">
                <a:latin typeface="Calibri"/>
                <a:cs typeface="Calibri"/>
              </a:rPr>
              <a:t>bou</a:t>
            </a:r>
            <a:r>
              <a:rPr sz="500" dirty="0">
                <a:latin typeface="Calibri"/>
                <a:cs typeface="Calibri"/>
              </a:rPr>
              <a:t>r </a:t>
            </a:r>
            <a:r>
              <a:rPr sz="500" spc="5" dirty="0">
                <a:latin typeface="Calibri"/>
                <a:cs typeface="Calibri"/>
              </a:rPr>
              <a:t>E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spc="25" dirty="0">
                <a:latin typeface="Calibri"/>
                <a:cs typeface="Calibri"/>
              </a:rPr>
              <a:t>ono</a:t>
            </a:r>
            <a:r>
              <a:rPr sz="500" spc="15" dirty="0">
                <a:latin typeface="Calibri"/>
                <a:cs typeface="Calibri"/>
              </a:rPr>
              <a:t>m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spc="-5" dirty="0">
                <a:latin typeface="Calibri"/>
                <a:cs typeface="Calibri"/>
              </a:rPr>
              <a:t>c</a:t>
            </a:r>
            <a:r>
              <a:rPr sz="500" dirty="0">
                <a:latin typeface="Calibri"/>
                <a:cs typeface="Calibri"/>
              </a:rPr>
              <a:t>s      </a:t>
            </a:r>
            <a:r>
              <a:rPr sz="500" spc="25" dirty="0">
                <a:latin typeface="Calibri"/>
                <a:cs typeface="Calibri"/>
              </a:rPr>
              <a:t> </a:t>
            </a:r>
            <a:r>
              <a:rPr sz="500" spc="5" dirty="0">
                <a:latin typeface="Calibri"/>
                <a:cs typeface="Calibri"/>
              </a:rPr>
              <a:t>T</a:t>
            </a:r>
            <a:r>
              <a:rPr sz="500" spc="25" dirty="0">
                <a:latin typeface="Calibri"/>
                <a:cs typeface="Calibri"/>
              </a:rPr>
              <a:t>h</a:t>
            </a:r>
            <a:r>
              <a:rPr sz="500" spc="50" dirty="0">
                <a:latin typeface="Calibri"/>
                <a:cs typeface="Calibri"/>
              </a:rPr>
              <a:t>i</a:t>
            </a:r>
            <a:r>
              <a:rPr sz="500" dirty="0">
                <a:latin typeface="Calibri"/>
                <a:cs typeface="Calibri"/>
              </a:rPr>
              <a:t>s </a:t>
            </a:r>
            <a:r>
              <a:rPr sz="500" spc="-50" dirty="0">
                <a:latin typeface="Calibri"/>
                <a:cs typeface="Calibri"/>
              </a:rPr>
              <a:t> </a:t>
            </a:r>
            <a:r>
              <a:rPr sz="500" spc="25" dirty="0">
                <a:latin typeface="Calibri"/>
                <a:cs typeface="Calibri"/>
              </a:rPr>
              <a:t>p</a:t>
            </a:r>
            <a:r>
              <a:rPr sz="500" spc="50" dirty="0">
                <a:latin typeface="Calibri"/>
                <a:cs typeface="Calibri"/>
              </a:rPr>
              <a:t>a</a:t>
            </a:r>
            <a:r>
              <a:rPr sz="500" spc="25" dirty="0">
                <a:latin typeface="Calibri"/>
                <a:cs typeface="Calibri"/>
              </a:rPr>
              <a:t>p</a:t>
            </a:r>
            <a:r>
              <a:rPr sz="500" spc="40" dirty="0">
                <a:latin typeface="Calibri"/>
                <a:cs typeface="Calibri"/>
              </a:rPr>
              <a:t>e</a:t>
            </a:r>
            <a:r>
              <a:rPr sz="500" dirty="0">
                <a:latin typeface="Calibri"/>
                <a:cs typeface="Calibri"/>
              </a:rPr>
              <a:t>r </a:t>
            </a:r>
            <a:r>
              <a:rPr sz="500" spc="50" dirty="0">
                <a:latin typeface="Calibri"/>
                <a:cs typeface="Calibri"/>
              </a:rPr>
              <a:t>s</a:t>
            </a:r>
            <a:r>
              <a:rPr sz="500" dirty="0">
                <a:latin typeface="Calibri"/>
                <a:cs typeface="Calibri"/>
              </a:rPr>
              <a:t>u	1	1	1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2822447" y="1129078"/>
            <a:ext cx="6087110" cy="4400550"/>
            <a:chOff x="1298447" y="1129078"/>
            <a:chExt cx="6087110" cy="4400550"/>
          </a:xfrm>
        </p:grpSpPr>
        <p:sp>
          <p:nvSpPr>
            <p:cNvPr id="136" name="object 136"/>
            <p:cNvSpPr/>
            <p:nvPr/>
          </p:nvSpPr>
          <p:spPr>
            <a:xfrm>
              <a:off x="1301108" y="1131773"/>
              <a:ext cx="3712210" cy="0"/>
            </a:xfrm>
            <a:custGeom>
              <a:avLst/>
              <a:gdLst/>
              <a:ahLst/>
              <a:cxnLst/>
              <a:rect l="l" t="t" r="r" b="b"/>
              <a:pathLst>
                <a:path w="3712210">
                  <a:moveTo>
                    <a:pt x="0" y="0"/>
                  </a:moveTo>
                  <a:lnTo>
                    <a:pt x="3711711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298447" y="1129078"/>
              <a:ext cx="3717290" cy="5715"/>
            </a:xfrm>
            <a:custGeom>
              <a:avLst/>
              <a:gdLst/>
              <a:ahLst/>
              <a:cxnLst/>
              <a:rect l="l" t="t" r="r" b="b"/>
              <a:pathLst>
                <a:path w="3717290" h="5715">
                  <a:moveTo>
                    <a:pt x="3716996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716996" y="5319"/>
                  </a:lnTo>
                  <a:lnTo>
                    <a:pt x="3716996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716472" y="11317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713812" y="11290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5320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5320" y="53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153083" y="11317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150459" y="11290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5320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5320" y="53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692237" y="11317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689541" y="11290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5320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5320" y="53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000976" y="113177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998351" y="1129078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5320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5320" y="531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301108" y="1286185"/>
              <a:ext cx="3712210" cy="0"/>
            </a:xfrm>
            <a:custGeom>
              <a:avLst/>
              <a:gdLst/>
              <a:ahLst/>
              <a:cxnLst/>
              <a:rect l="l" t="t" r="r" b="b"/>
              <a:pathLst>
                <a:path w="3712210">
                  <a:moveTo>
                    <a:pt x="0" y="0"/>
                  </a:moveTo>
                  <a:lnTo>
                    <a:pt x="3711711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298447" y="1283561"/>
              <a:ext cx="3717290" cy="5715"/>
            </a:xfrm>
            <a:custGeom>
              <a:avLst/>
              <a:gdLst/>
              <a:ahLst/>
              <a:cxnLst/>
              <a:rect l="l" t="t" r="r" b="b"/>
              <a:pathLst>
                <a:path w="3717290" h="5715">
                  <a:moveTo>
                    <a:pt x="3716996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716996" y="5319"/>
                  </a:lnTo>
                  <a:lnTo>
                    <a:pt x="3716996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301108" y="1392791"/>
              <a:ext cx="3712210" cy="0"/>
            </a:xfrm>
            <a:custGeom>
              <a:avLst/>
              <a:gdLst/>
              <a:ahLst/>
              <a:cxnLst/>
              <a:rect l="l" t="t" r="r" b="b"/>
              <a:pathLst>
                <a:path w="3712210">
                  <a:moveTo>
                    <a:pt x="0" y="0"/>
                  </a:moveTo>
                  <a:lnTo>
                    <a:pt x="3711711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298447" y="1390096"/>
              <a:ext cx="3717290" cy="5715"/>
            </a:xfrm>
            <a:custGeom>
              <a:avLst/>
              <a:gdLst/>
              <a:ahLst/>
              <a:cxnLst/>
              <a:rect l="l" t="t" r="r" b="b"/>
              <a:pathLst>
                <a:path w="3717290" h="5715">
                  <a:moveTo>
                    <a:pt x="3716996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716996" y="5319"/>
                  </a:lnTo>
                  <a:lnTo>
                    <a:pt x="3716996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301108" y="1131773"/>
              <a:ext cx="0" cy="777875"/>
            </a:xfrm>
            <a:custGeom>
              <a:avLst/>
              <a:gdLst/>
              <a:ahLst/>
              <a:cxnLst/>
              <a:rect l="l" t="t" r="r" b="b"/>
              <a:pathLst>
                <a:path h="777875">
                  <a:moveTo>
                    <a:pt x="0" y="0"/>
                  </a:moveTo>
                  <a:lnTo>
                    <a:pt x="0" y="777520"/>
                  </a:lnTo>
                </a:path>
              </a:pathLst>
            </a:custGeom>
            <a:ln w="5320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298447" y="1129149"/>
              <a:ext cx="5715" cy="782955"/>
            </a:xfrm>
            <a:custGeom>
              <a:avLst/>
              <a:gdLst/>
              <a:ahLst/>
              <a:cxnLst/>
              <a:rect l="l" t="t" r="r" b="b"/>
              <a:pathLst>
                <a:path w="5715" h="782955">
                  <a:moveTo>
                    <a:pt x="5320" y="0"/>
                  </a:moveTo>
                  <a:lnTo>
                    <a:pt x="0" y="0"/>
                  </a:lnTo>
                  <a:lnTo>
                    <a:pt x="0" y="782840"/>
                  </a:lnTo>
                  <a:lnTo>
                    <a:pt x="5320" y="78284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716472" y="1291505"/>
              <a:ext cx="0" cy="617855"/>
            </a:xfrm>
            <a:custGeom>
              <a:avLst/>
              <a:gdLst/>
              <a:ahLst/>
              <a:cxnLst/>
              <a:rect l="l" t="t" r="r" b="b"/>
              <a:pathLst>
                <a:path h="617855">
                  <a:moveTo>
                    <a:pt x="0" y="0"/>
                  </a:moveTo>
                  <a:lnTo>
                    <a:pt x="0" y="617789"/>
                  </a:lnTo>
                </a:path>
              </a:pathLst>
            </a:custGeom>
            <a:ln w="5320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713812" y="1288880"/>
              <a:ext cx="5715" cy="623570"/>
            </a:xfrm>
            <a:custGeom>
              <a:avLst/>
              <a:gdLst/>
              <a:ahLst/>
              <a:cxnLst/>
              <a:rect l="l" t="t" r="r" b="b"/>
              <a:pathLst>
                <a:path w="5714" h="623569">
                  <a:moveTo>
                    <a:pt x="5320" y="0"/>
                  </a:moveTo>
                  <a:lnTo>
                    <a:pt x="0" y="0"/>
                  </a:lnTo>
                  <a:lnTo>
                    <a:pt x="0" y="623108"/>
                  </a:lnTo>
                  <a:lnTo>
                    <a:pt x="5320" y="623108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721793" y="1914614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719132" y="1911989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721793" y="2021220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719132" y="2018524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721793" y="2127613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719132" y="2124917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721793" y="2234148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719132" y="2231523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721793" y="2340754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719132" y="2338058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721793" y="2447147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719132" y="2444451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721793" y="255368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719132" y="2551057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721793" y="2660288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719132" y="2657592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721793" y="2766681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719132" y="2763986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721793" y="2873216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719132" y="2870591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721793" y="297982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719132" y="2977126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721793" y="3086215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719132" y="3083520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721793" y="3192750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719132" y="3190125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721793" y="3299356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719132" y="3296660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721793" y="3405749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719132" y="3403054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721793" y="3512284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719132" y="3509659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721793" y="3618890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719132" y="3616194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721793" y="3725283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719132" y="3722587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721793" y="3831818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719132" y="3829193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721793" y="3938424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719132" y="3935728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721793" y="4044817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719132" y="4042157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496"/>
                  </a:lnTo>
                  <a:lnTo>
                    <a:pt x="3296311" y="5496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721793" y="415135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719132" y="4148727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721793" y="4257958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719132" y="4255262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721793" y="436449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719132" y="4361868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1721793" y="4470886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719132" y="4468261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721793" y="457749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719132" y="4574796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721793" y="4684026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719132" y="4681402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721793" y="4790420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719132" y="4787795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1721793" y="4897011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719132" y="4894352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721793" y="5003582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719132" y="5000922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721793" y="5109975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1719132" y="5107315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1721793" y="5216545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1719132" y="5213886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1721793" y="5323116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719132" y="5320456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1721793" y="5429509"/>
              <a:ext cx="3291204" cy="0"/>
            </a:xfrm>
            <a:custGeom>
              <a:avLst/>
              <a:gdLst/>
              <a:ahLst/>
              <a:cxnLst/>
              <a:rect l="l" t="t" r="r" b="b"/>
              <a:pathLst>
                <a:path w="3291204">
                  <a:moveTo>
                    <a:pt x="0" y="0"/>
                  </a:moveTo>
                  <a:lnTo>
                    <a:pt x="3291026" y="0"/>
                  </a:lnTo>
                </a:path>
              </a:pathLst>
            </a:custGeom>
            <a:ln w="5319">
              <a:solidFill>
                <a:srgbClr val="D3D3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1719132" y="5426849"/>
              <a:ext cx="3296920" cy="5715"/>
            </a:xfrm>
            <a:custGeom>
              <a:avLst/>
              <a:gdLst/>
              <a:ahLst/>
              <a:cxnLst/>
              <a:rect l="l" t="t" r="r" b="b"/>
              <a:pathLst>
                <a:path w="3296920" h="5714">
                  <a:moveTo>
                    <a:pt x="3296311" y="0"/>
                  </a:moveTo>
                  <a:lnTo>
                    <a:pt x="0" y="0"/>
                  </a:lnTo>
                  <a:lnTo>
                    <a:pt x="0" y="5319"/>
                  </a:lnTo>
                  <a:lnTo>
                    <a:pt x="3296311" y="5319"/>
                  </a:lnTo>
                  <a:lnTo>
                    <a:pt x="3296311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150423" y="1291505"/>
              <a:ext cx="5715" cy="4237990"/>
            </a:xfrm>
            <a:custGeom>
              <a:avLst/>
              <a:gdLst/>
              <a:ahLst/>
              <a:cxnLst/>
              <a:rect l="l" t="t" r="r" b="b"/>
              <a:pathLst>
                <a:path w="5714" h="4237990">
                  <a:moveTo>
                    <a:pt x="5320" y="0"/>
                  </a:moveTo>
                  <a:lnTo>
                    <a:pt x="0" y="0"/>
                  </a:lnTo>
                  <a:lnTo>
                    <a:pt x="0" y="4237566"/>
                  </a:lnTo>
                  <a:lnTo>
                    <a:pt x="5320" y="4237566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150459" y="1288902"/>
              <a:ext cx="5715" cy="4240530"/>
            </a:xfrm>
            <a:custGeom>
              <a:avLst/>
              <a:gdLst/>
              <a:ahLst/>
              <a:cxnLst/>
              <a:rect l="l" t="t" r="r" b="b"/>
              <a:pathLst>
                <a:path w="5714" h="4240530">
                  <a:moveTo>
                    <a:pt x="5320" y="0"/>
                  </a:moveTo>
                  <a:lnTo>
                    <a:pt x="0" y="0"/>
                  </a:lnTo>
                  <a:lnTo>
                    <a:pt x="0" y="4240169"/>
                  </a:lnTo>
                  <a:lnTo>
                    <a:pt x="5320" y="424016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689577" y="1291505"/>
              <a:ext cx="5715" cy="4237990"/>
            </a:xfrm>
            <a:custGeom>
              <a:avLst/>
              <a:gdLst/>
              <a:ahLst/>
              <a:cxnLst/>
              <a:rect l="l" t="t" r="r" b="b"/>
              <a:pathLst>
                <a:path w="5714" h="4237990">
                  <a:moveTo>
                    <a:pt x="5320" y="0"/>
                  </a:moveTo>
                  <a:lnTo>
                    <a:pt x="0" y="0"/>
                  </a:lnTo>
                  <a:lnTo>
                    <a:pt x="0" y="4237566"/>
                  </a:lnTo>
                  <a:lnTo>
                    <a:pt x="5320" y="4237566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689541" y="1288902"/>
              <a:ext cx="5715" cy="4240530"/>
            </a:xfrm>
            <a:custGeom>
              <a:avLst/>
              <a:gdLst/>
              <a:ahLst/>
              <a:cxnLst/>
              <a:rect l="l" t="t" r="r" b="b"/>
              <a:pathLst>
                <a:path w="5714" h="4240530">
                  <a:moveTo>
                    <a:pt x="5320" y="0"/>
                  </a:moveTo>
                  <a:lnTo>
                    <a:pt x="0" y="0"/>
                  </a:lnTo>
                  <a:lnTo>
                    <a:pt x="0" y="4240169"/>
                  </a:lnTo>
                  <a:lnTo>
                    <a:pt x="5320" y="424016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998316" y="1291505"/>
              <a:ext cx="5715" cy="4237990"/>
            </a:xfrm>
            <a:custGeom>
              <a:avLst/>
              <a:gdLst/>
              <a:ahLst/>
              <a:cxnLst/>
              <a:rect l="l" t="t" r="r" b="b"/>
              <a:pathLst>
                <a:path w="5714" h="4237990">
                  <a:moveTo>
                    <a:pt x="5320" y="0"/>
                  </a:moveTo>
                  <a:lnTo>
                    <a:pt x="0" y="0"/>
                  </a:lnTo>
                  <a:lnTo>
                    <a:pt x="0" y="4237566"/>
                  </a:lnTo>
                  <a:lnTo>
                    <a:pt x="5320" y="4237566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998351" y="1288902"/>
              <a:ext cx="5715" cy="4240530"/>
            </a:xfrm>
            <a:custGeom>
              <a:avLst/>
              <a:gdLst/>
              <a:ahLst/>
              <a:cxnLst/>
              <a:rect l="l" t="t" r="r" b="b"/>
              <a:pathLst>
                <a:path w="5714" h="4240530">
                  <a:moveTo>
                    <a:pt x="5320" y="0"/>
                  </a:moveTo>
                  <a:lnTo>
                    <a:pt x="0" y="0"/>
                  </a:lnTo>
                  <a:lnTo>
                    <a:pt x="0" y="4240169"/>
                  </a:lnTo>
                  <a:lnTo>
                    <a:pt x="5320" y="4240169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4610685" y="1131773"/>
              <a:ext cx="5715" cy="4397375"/>
            </a:xfrm>
            <a:custGeom>
              <a:avLst/>
              <a:gdLst/>
              <a:ahLst/>
              <a:cxnLst/>
              <a:rect l="l" t="t" r="r" b="b"/>
              <a:pathLst>
                <a:path w="5714" h="4397375">
                  <a:moveTo>
                    <a:pt x="5320" y="0"/>
                  </a:moveTo>
                  <a:lnTo>
                    <a:pt x="0" y="0"/>
                  </a:lnTo>
                  <a:lnTo>
                    <a:pt x="0" y="4397298"/>
                  </a:lnTo>
                  <a:lnTo>
                    <a:pt x="5320" y="4397298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4610721" y="1129099"/>
              <a:ext cx="5715" cy="4400550"/>
            </a:xfrm>
            <a:custGeom>
              <a:avLst/>
              <a:gdLst/>
              <a:ahLst/>
              <a:cxnLst/>
              <a:rect l="l" t="t" r="r" b="b"/>
              <a:pathLst>
                <a:path w="5714" h="4400550">
                  <a:moveTo>
                    <a:pt x="5320" y="0"/>
                  </a:moveTo>
                  <a:lnTo>
                    <a:pt x="0" y="0"/>
                  </a:lnTo>
                  <a:lnTo>
                    <a:pt x="0" y="4399972"/>
                  </a:lnTo>
                  <a:lnTo>
                    <a:pt x="5320" y="4399972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5015480" y="1392791"/>
              <a:ext cx="5715" cy="4136390"/>
            </a:xfrm>
            <a:custGeom>
              <a:avLst/>
              <a:gdLst/>
              <a:ahLst/>
              <a:cxnLst/>
              <a:rect l="l" t="t" r="r" b="b"/>
              <a:pathLst>
                <a:path w="5714" h="4136390">
                  <a:moveTo>
                    <a:pt x="5320" y="0"/>
                  </a:moveTo>
                  <a:lnTo>
                    <a:pt x="0" y="0"/>
                  </a:lnTo>
                  <a:lnTo>
                    <a:pt x="0" y="4136280"/>
                  </a:lnTo>
                  <a:lnTo>
                    <a:pt x="5320" y="413628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5015444" y="1390117"/>
              <a:ext cx="5715" cy="4139565"/>
            </a:xfrm>
            <a:custGeom>
              <a:avLst/>
              <a:gdLst/>
              <a:ahLst/>
              <a:cxnLst/>
              <a:rect l="l" t="t" r="r" b="b"/>
              <a:pathLst>
                <a:path w="5714" h="4139565">
                  <a:moveTo>
                    <a:pt x="5320" y="0"/>
                  </a:moveTo>
                  <a:lnTo>
                    <a:pt x="0" y="0"/>
                  </a:lnTo>
                  <a:lnTo>
                    <a:pt x="0" y="4138954"/>
                  </a:lnTo>
                  <a:lnTo>
                    <a:pt x="5320" y="413895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5441485" y="1398111"/>
              <a:ext cx="5715" cy="4131310"/>
            </a:xfrm>
            <a:custGeom>
              <a:avLst/>
              <a:gdLst/>
              <a:ahLst/>
              <a:cxnLst/>
              <a:rect l="l" t="t" r="r" b="b"/>
              <a:pathLst>
                <a:path w="5714" h="4131310">
                  <a:moveTo>
                    <a:pt x="5320" y="0"/>
                  </a:moveTo>
                  <a:lnTo>
                    <a:pt x="0" y="0"/>
                  </a:lnTo>
                  <a:lnTo>
                    <a:pt x="0" y="4130960"/>
                  </a:lnTo>
                  <a:lnTo>
                    <a:pt x="5320" y="413096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5441450" y="1395437"/>
              <a:ext cx="5715" cy="4133850"/>
            </a:xfrm>
            <a:custGeom>
              <a:avLst/>
              <a:gdLst/>
              <a:ahLst/>
              <a:cxnLst/>
              <a:rect l="l" t="t" r="r" b="b"/>
              <a:pathLst>
                <a:path w="5714" h="4133850">
                  <a:moveTo>
                    <a:pt x="5320" y="0"/>
                  </a:moveTo>
                  <a:lnTo>
                    <a:pt x="0" y="0"/>
                  </a:lnTo>
                  <a:lnTo>
                    <a:pt x="0" y="4133634"/>
                  </a:lnTo>
                  <a:lnTo>
                    <a:pt x="5320" y="413363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5910197" y="1398111"/>
              <a:ext cx="5715" cy="4131310"/>
            </a:xfrm>
            <a:custGeom>
              <a:avLst/>
              <a:gdLst/>
              <a:ahLst/>
              <a:cxnLst/>
              <a:rect l="l" t="t" r="r" b="b"/>
              <a:pathLst>
                <a:path w="5714" h="4131310">
                  <a:moveTo>
                    <a:pt x="5320" y="0"/>
                  </a:moveTo>
                  <a:lnTo>
                    <a:pt x="0" y="0"/>
                  </a:lnTo>
                  <a:lnTo>
                    <a:pt x="0" y="4130960"/>
                  </a:lnTo>
                  <a:lnTo>
                    <a:pt x="5320" y="413096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5910233" y="1395437"/>
              <a:ext cx="5715" cy="4133850"/>
            </a:xfrm>
            <a:custGeom>
              <a:avLst/>
              <a:gdLst/>
              <a:ahLst/>
              <a:cxnLst/>
              <a:rect l="l" t="t" r="r" b="b"/>
              <a:pathLst>
                <a:path w="5714" h="4133850">
                  <a:moveTo>
                    <a:pt x="5320" y="0"/>
                  </a:moveTo>
                  <a:lnTo>
                    <a:pt x="0" y="0"/>
                  </a:lnTo>
                  <a:lnTo>
                    <a:pt x="0" y="4133634"/>
                  </a:lnTo>
                  <a:lnTo>
                    <a:pt x="5320" y="413363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6362806" y="1398111"/>
              <a:ext cx="5715" cy="4131310"/>
            </a:xfrm>
            <a:custGeom>
              <a:avLst/>
              <a:gdLst/>
              <a:ahLst/>
              <a:cxnLst/>
              <a:rect l="l" t="t" r="r" b="b"/>
              <a:pathLst>
                <a:path w="5714" h="4131310">
                  <a:moveTo>
                    <a:pt x="5320" y="0"/>
                  </a:moveTo>
                  <a:lnTo>
                    <a:pt x="0" y="0"/>
                  </a:lnTo>
                  <a:lnTo>
                    <a:pt x="0" y="4130960"/>
                  </a:lnTo>
                  <a:lnTo>
                    <a:pt x="5320" y="413096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6362842" y="1395437"/>
              <a:ext cx="5715" cy="4133850"/>
            </a:xfrm>
            <a:custGeom>
              <a:avLst/>
              <a:gdLst/>
              <a:ahLst/>
              <a:cxnLst/>
              <a:rect l="l" t="t" r="r" b="b"/>
              <a:pathLst>
                <a:path w="5714" h="4133850">
                  <a:moveTo>
                    <a:pt x="5320" y="0"/>
                  </a:moveTo>
                  <a:lnTo>
                    <a:pt x="0" y="0"/>
                  </a:lnTo>
                  <a:lnTo>
                    <a:pt x="0" y="4133634"/>
                  </a:lnTo>
                  <a:lnTo>
                    <a:pt x="5320" y="413363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6836698" y="1398111"/>
              <a:ext cx="5715" cy="4131310"/>
            </a:xfrm>
            <a:custGeom>
              <a:avLst/>
              <a:gdLst/>
              <a:ahLst/>
              <a:cxnLst/>
              <a:rect l="l" t="t" r="r" b="b"/>
              <a:pathLst>
                <a:path w="5715" h="4131310">
                  <a:moveTo>
                    <a:pt x="5320" y="0"/>
                  </a:moveTo>
                  <a:lnTo>
                    <a:pt x="0" y="0"/>
                  </a:lnTo>
                  <a:lnTo>
                    <a:pt x="0" y="4130960"/>
                  </a:lnTo>
                  <a:lnTo>
                    <a:pt x="5320" y="4130960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6836662" y="1395437"/>
              <a:ext cx="5715" cy="4133850"/>
            </a:xfrm>
            <a:custGeom>
              <a:avLst/>
              <a:gdLst/>
              <a:ahLst/>
              <a:cxnLst/>
              <a:rect l="l" t="t" r="r" b="b"/>
              <a:pathLst>
                <a:path w="5715" h="4133850">
                  <a:moveTo>
                    <a:pt x="5320" y="0"/>
                  </a:moveTo>
                  <a:lnTo>
                    <a:pt x="0" y="0"/>
                  </a:lnTo>
                  <a:lnTo>
                    <a:pt x="0" y="4133634"/>
                  </a:lnTo>
                  <a:lnTo>
                    <a:pt x="5320" y="413363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379970" y="1131773"/>
              <a:ext cx="5715" cy="4397375"/>
            </a:xfrm>
            <a:custGeom>
              <a:avLst/>
              <a:gdLst/>
              <a:ahLst/>
              <a:cxnLst/>
              <a:rect l="l" t="t" r="r" b="b"/>
              <a:pathLst>
                <a:path w="5715" h="4397375">
                  <a:moveTo>
                    <a:pt x="5285" y="0"/>
                  </a:moveTo>
                  <a:lnTo>
                    <a:pt x="0" y="0"/>
                  </a:lnTo>
                  <a:lnTo>
                    <a:pt x="0" y="4397298"/>
                  </a:lnTo>
                  <a:lnTo>
                    <a:pt x="5285" y="4397298"/>
                  </a:lnTo>
                  <a:lnTo>
                    <a:pt x="528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379932" y="1129105"/>
              <a:ext cx="5715" cy="4400550"/>
            </a:xfrm>
            <a:custGeom>
              <a:avLst/>
              <a:gdLst/>
              <a:ahLst/>
              <a:cxnLst/>
              <a:rect l="l" t="t" r="r" b="b"/>
              <a:pathLst>
                <a:path w="5715" h="4400550">
                  <a:moveTo>
                    <a:pt x="5321" y="0"/>
                  </a:moveTo>
                  <a:lnTo>
                    <a:pt x="0" y="0"/>
                  </a:lnTo>
                  <a:lnTo>
                    <a:pt x="0" y="4399978"/>
                  </a:lnTo>
                  <a:lnTo>
                    <a:pt x="5321" y="4399978"/>
                  </a:lnTo>
                  <a:lnTo>
                    <a:pt x="5321" y="159778"/>
                  </a:lnTo>
                  <a:lnTo>
                    <a:pt x="5321" y="154457"/>
                  </a:lnTo>
                  <a:lnTo>
                    <a:pt x="5321" y="529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5023460" y="1390131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5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5020764" y="1390096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5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5023460" y="1911954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5020764" y="1911989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5023460" y="2018560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5020764" y="2018524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5023460" y="2124953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5020764" y="2124917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5023460" y="2231488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5020764" y="2231523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5023460" y="2338094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5020764" y="2338058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5023460" y="2444487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5020764" y="2444451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5023460" y="255102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5020764" y="2551057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5023460" y="2657628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5020764" y="2657592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5023460" y="2764021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5020764" y="2763985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5023460" y="2870556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5020764" y="2870591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5023460" y="297716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5020764" y="2977126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5023460" y="3083555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5020764" y="3083519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5023460" y="3190090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5020764" y="3190125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5023460" y="3296696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5020764" y="3296660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5023460" y="3403089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5020764" y="3403053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5023460" y="3509624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5020764" y="3509659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023460" y="3616230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5020764" y="3616194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5023460" y="3722623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5020764" y="3722587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5023460" y="3829158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020764" y="3829193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023460" y="3935764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020764" y="3935728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023460" y="4042157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020764" y="4042157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496"/>
                  </a:moveTo>
                  <a:lnTo>
                    <a:pt x="2364490" y="5496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49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023460" y="414869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020764" y="4148727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023460" y="4255298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020764" y="4255262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023460" y="4361833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5020764" y="4361868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5023460" y="4468226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5020764" y="4468261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023460" y="457483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020764" y="4574796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023460" y="4681367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020764" y="4681402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5023460" y="4787760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5020764" y="4787795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5023460" y="489435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020764" y="4894352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5023460" y="5000922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5020764" y="5000922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5023460" y="5107315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5020764" y="5107315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5023460" y="5213886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5020764" y="5213886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5023460" y="5320456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5020764" y="5320456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5023460" y="5426849"/>
              <a:ext cx="2362200" cy="5715"/>
            </a:xfrm>
            <a:custGeom>
              <a:avLst/>
              <a:gdLst/>
              <a:ahLst/>
              <a:cxnLst/>
              <a:rect l="l" t="t" r="r" b="b"/>
              <a:pathLst>
                <a:path w="2362200" h="5714">
                  <a:moveTo>
                    <a:pt x="0" y="5319"/>
                  </a:moveTo>
                  <a:lnTo>
                    <a:pt x="2361795" y="5319"/>
                  </a:lnTo>
                  <a:lnTo>
                    <a:pt x="2361795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5020764" y="5426849"/>
              <a:ext cx="2364740" cy="5715"/>
            </a:xfrm>
            <a:custGeom>
              <a:avLst/>
              <a:gdLst/>
              <a:ahLst/>
              <a:cxnLst/>
              <a:rect l="l" t="t" r="r" b="b"/>
              <a:pathLst>
                <a:path w="2364740" h="5714">
                  <a:moveTo>
                    <a:pt x="0" y="5319"/>
                  </a:moveTo>
                  <a:lnTo>
                    <a:pt x="2364490" y="5319"/>
                  </a:lnTo>
                  <a:lnTo>
                    <a:pt x="2364490" y="0"/>
                  </a:lnTo>
                  <a:lnTo>
                    <a:pt x="0" y="0"/>
                  </a:lnTo>
                  <a:lnTo>
                    <a:pt x="0" y="5319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2" name="object 3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3361" y="1816058"/>
              <a:ext cx="90450" cy="90611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60008" y="1816058"/>
              <a:ext cx="90450" cy="90611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8878" y="1816058"/>
              <a:ext cx="90628" cy="90611"/>
            </a:xfrm>
            <a:prstGeom prst="rect">
              <a:avLst/>
            </a:prstGeom>
          </p:spPr>
        </p:pic>
        <p:pic>
          <p:nvPicPr>
            <p:cNvPr id="315" name="object 3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7900" y="1816058"/>
              <a:ext cx="90450" cy="90611"/>
            </a:xfrm>
            <a:prstGeom prst="rect">
              <a:avLst/>
            </a:prstGeom>
          </p:spPr>
        </p:pic>
        <p:pic>
          <p:nvPicPr>
            <p:cNvPr id="316" name="object 3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70" y="1816058"/>
              <a:ext cx="90450" cy="90611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4993" y="1816058"/>
              <a:ext cx="90450" cy="90611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0999" y="1816058"/>
              <a:ext cx="90450" cy="90611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9570" y="1816058"/>
              <a:ext cx="90628" cy="90611"/>
            </a:xfrm>
            <a:prstGeom prst="rect">
              <a:avLst/>
            </a:prstGeom>
          </p:spPr>
        </p:pic>
        <p:pic>
          <p:nvPicPr>
            <p:cNvPr id="320" name="object 3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178" y="1816058"/>
              <a:ext cx="90628" cy="90611"/>
            </a:xfrm>
            <a:prstGeom prst="rect">
              <a:avLst/>
            </a:prstGeom>
          </p:spPr>
        </p:pic>
        <p:pic>
          <p:nvPicPr>
            <p:cNvPr id="321" name="object 3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46211" y="1816058"/>
              <a:ext cx="90450" cy="90611"/>
            </a:xfrm>
            <a:prstGeom prst="rect">
              <a:avLst/>
            </a:prstGeom>
          </p:spPr>
        </p:pic>
        <p:pic>
          <p:nvPicPr>
            <p:cNvPr id="322" name="object 3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89342" y="1816058"/>
              <a:ext cx="90628" cy="906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1999" y="456949"/>
            <a:ext cx="870477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>
                <a:solidFill>
                  <a:srgbClr val="4A2D83"/>
                </a:solidFill>
              </a:rPr>
              <a:t>Document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50" dirty="0">
                <a:solidFill>
                  <a:srgbClr val="4A2D83"/>
                </a:solidFill>
              </a:rPr>
              <a:t>Screening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40" dirty="0">
                <a:solidFill>
                  <a:srgbClr val="4A2D83"/>
                </a:solidFill>
              </a:rPr>
              <a:t>Process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00" dirty="0">
                <a:solidFill>
                  <a:srgbClr val="4A2D83"/>
                </a:solidFill>
              </a:rPr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999" y="1388928"/>
            <a:ext cx="10838329" cy="4376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3820">
              <a:lnSpc>
                <a:spcPct val="110100"/>
              </a:lnSpc>
              <a:spcBef>
                <a:spcPts val="95"/>
              </a:spcBef>
            </a:pP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Systematically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documenting your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process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helps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increase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transparency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around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methods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confidence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present.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However,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rigorous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documentation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appropriate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948055">
              <a:lnSpc>
                <a:spcPct val="110000"/>
              </a:lnSpc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intended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when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determining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rigorous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should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be.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spcBef>
                <a:spcPts val="55"/>
              </a:spcBef>
            </a:pPr>
            <a:endParaRPr sz="1300" dirty="0">
              <a:latin typeface="Lucida Sans Unicode"/>
              <a:cs typeface="Lucida Sans Unicode"/>
            </a:endParaRPr>
          </a:p>
          <a:p>
            <a:pPr marL="355600" marR="99060" indent="-342900">
              <a:lnSpc>
                <a:spcPct val="11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When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feasible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(if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using 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Scopus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other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databases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allow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export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spreadsheet,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if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quantity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small),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record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spreadsheet.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enables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go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back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include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sources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if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scope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changes,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explain your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inclusion/exclusion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decisions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others.</a:t>
            </a:r>
            <a:endParaRPr sz="1400" dirty="0">
              <a:latin typeface="Arial"/>
              <a:cs typeface="Arial"/>
            </a:endParaRPr>
          </a:p>
          <a:p>
            <a:pPr marL="355600" indent="-342900">
              <a:spcBef>
                <a:spcPts val="47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cannot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export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results,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only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enter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documents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endParaRPr sz="1400" dirty="0">
              <a:latin typeface="Arial"/>
              <a:cs typeface="Arial"/>
            </a:endParaRPr>
          </a:p>
          <a:p>
            <a:pPr marL="355600">
              <a:spcBef>
                <a:spcPts val="165"/>
              </a:spcBef>
            </a:pP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they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meet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initial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title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abstract.</a:t>
            </a:r>
            <a:endParaRPr sz="1400" dirty="0">
              <a:latin typeface="Arial"/>
              <a:cs typeface="Arial"/>
            </a:endParaRPr>
          </a:p>
          <a:p>
            <a:pPr marL="355600" marR="98425" indent="-342900">
              <a:lnSpc>
                <a:spcPct val="110000"/>
              </a:lnSpc>
              <a:spcBef>
                <a:spcPts val="305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include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basic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about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(i.e.,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citation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information),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abstract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(if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possible),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hyperlink,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column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criterion.</a:t>
            </a:r>
            <a:endParaRPr sz="1400" dirty="0">
              <a:latin typeface="Arial"/>
              <a:cs typeface="Arial"/>
            </a:endParaRPr>
          </a:p>
          <a:p>
            <a:pPr marL="812165" marR="5080" lvl="1" indent="-342900">
              <a:spcBef>
                <a:spcPts val="73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saves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time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searching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citations/links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later,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descriptive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60325" lvl="1" indent="-342900">
              <a:spcBef>
                <a:spcPts val="34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Yes,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No,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“not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specified”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criterion.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 clear from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title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meets your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criteria,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“?”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appropriate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cell.</a:t>
            </a:r>
            <a:endParaRPr sz="1400" dirty="0">
              <a:latin typeface="Lucida Sans Unicode"/>
              <a:cs typeface="Lucida Sans Unicode"/>
            </a:endParaRPr>
          </a:p>
          <a:p>
            <a:pPr marL="812165" lvl="1" indent="-342900">
              <a:spcBef>
                <a:spcPts val="3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clearly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endParaRPr sz="1400" dirty="0">
              <a:latin typeface="Lucida Sans Unicode"/>
              <a:cs typeface="Lucida Sans Unicode"/>
            </a:endParaRPr>
          </a:p>
          <a:p>
            <a:pPr marL="812165"/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em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ain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iter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ia.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84184"/>
            <a:ext cx="860615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0" dirty="0">
                <a:solidFill>
                  <a:srgbClr val="4A2D83"/>
                </a:solidFill>
              </a:rPr>
              <a:t>Document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50" dirty="0">
                <a:solidFill>
                  <a:srgbClr val="4A2D83"/>
                </a:solidFill>
              </a:rPr>
              <a:t>Screening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40" dirty="0">
                <a:solidFill>
                  <a:srgbClr val="4A2D83"/>
                </a:solidFill>
              </a:rPr>
              <a:t>Process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245" dirty="0">
                <a:solidFill>
                  <a:srgbClr val="4A2D83"/>
                </a:solidFill>
              </a:rPr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173776"/>
            <a:ext cx="10668000" cy="49550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63525" indent="-342900">
              <a:lnSpc>
                <a:spcPct val="110100"/>
              </a:lnSpc>
              <a:spcBef>
                <a:spcPts val="95"/>
              </a:spcBef>
              <a:buAutoNum type="arabicPeriod" startAt="4"/>
              <a:tabLst>
                <a:tab pos="354965" algn="l"/>
                <a:tab pos="355600" algn="l"/>
              </a:tabLst>
            </a:pP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may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also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wish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some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initial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descriptive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about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5" dirty="0">
                <a:solidFill>
                  <a:srgbClr val="4A2D83"/>
                </a:solidFill>
                <a:latin typeface="Arial"/>
                <a:cs typeface="Arial"/>
              </a:rPr>
              <a:t>at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stage,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case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want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further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refine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example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geography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methodology.</a:t>
            </a:r>
            <a:endParaRPr sz="1400" dirty="0">
              <a:latin typeface="Arial"/>
              <a:cs typeface="Arial"/>
            </a:endParaRPr>
          </a:p>
          <a:p>
            <a:pPr marL="812165" marR="438150" lvl="1" indent="-342900">
              <a:spcBef>
                <a:spcPts val="7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would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allow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prioritize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subset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review,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becomes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too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big.</a:t>
            </a:r>
            <a:endParaRPr sz="1400" dirty="0">
              <a:latin typeface="Lucida Sans Unicode"/>
              <a:cs typeface="Lucida Sans Unicode"/>
            </a:endParaRPr>
          </a:p>
          <a:p>
            <a:pPr marL="355600" indent="-342900">
              <a:spcBef>
                <a:spcPts val="70"/>
              </a:spcBef>
              <a:buAutoNum type="arabicPeriod" startAt="4"/>
              <a:tabLst>
                <a:tab pos="354965" algn="l"/>
                <a:tab pos="355600" algn="l"/>
              </a:tabLst>
            </a:pP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At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end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process,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endParaRPr sz="1400" dirty="0">
              <a:latin typeface="Arial"/>
              <a:cs typeface="Arial"/>
            </a:endParaRPr>
          </a:p>
          <a:p>
            <a:pPr marL="355600">
              <a:spcBef>
                <a:spcPts val="170"/>
              </a:spcBef>
            </a:pP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result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various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searches.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also</a:t>
            </a:r>
            <a:endParaRPr sz="1400" dirty="0">
              <a:latin typeface="Arial"/>
              <a:cs typeface="Arial"/>
            </a:endParaRPr>
          </a:p>
          <a:p>
            <a:pPr marL="355600" marR="85725">
              <a:lnSpc>
                <a:spcPct val="110000"/>
              </a:lnSpc>
            </a:pP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columns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coded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results.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serve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basis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identifying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review.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55"/>
              </a:spcBef>
            </a:pPr>
            <a:endParaRPr sz="1850" dirty="0">
              <a:latin typeface="Arial"/>
              <a:cs typeface="Arial"/>
            </a:endParaRPr>
          </a:p>
          <a:p>
            <a:pPr marL="299085" marR="336550" indent="-287020">
              <a:lnSpc>
                <a:spcPct val="1101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Make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sure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includes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source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(author,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title,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year,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publication),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process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used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source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(database,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string,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date),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criteria.</a:t>
            </a:r>
            <a:endParaRPr sz="1400" dirty="0">
              <a:latin typeface="Arial"/>
              <a:cs typeface="Arial"/>
            </a:endParaRPr>
          </a:p>
          <a:p>
            <a:pPr marL="299085" marR="410209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some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cases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appropriate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reasons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excluding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sources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clearly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irrelevant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(e.g.,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“relevant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but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empirical”).</a:t>
            </a:r>
            <a:endParaRPr sz="1400" dirty="0">
              <a:latin typeface="Arial"/>
              <a:cs typeface="Arial"/>
            </a:endParaRPr>
          </a:p>
          <a:p>
            <a:pPr marL="756285" marR="5080" indent="-287020">
              <a:lnSpc>
                <a:spcPct val="110000"/>
              </a:lnSpc>
              <a:spcBef>
                <a:spcPts val="635"/>
              </a:spcBef>
              <a:tabLst>
                <a:tab pos="756285" algn="l"/>
              </a:tabLst>
            </a:pPr>
            <a:r>
              <a:rPr sz="1400" dirty="0">
                <a:solidFill>
                  <a:srgbClr val="4A2D83"/>
                </a:solidFill>
                <a:latin typeface="Arial MT"/>
                <a:cs typeface="Arial MT"/>
              </a:rPr>
              <a:t>–	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level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detail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excluded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papers depends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aim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review—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empirical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papers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yam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diseases,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say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“of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186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papers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topic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yam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diseases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since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2010,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27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papers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empirical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data”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record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both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empirical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(the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focus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review)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non-empirical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(not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focus,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 relevant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background). 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track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spcBef>
                <a:spcPts val="50"/>
              </a:spcBef>
            </a:pPr>
            <a:endParaRPr sz="1500" dirty="0">
              <a:latin typeface="Lucida Sans Unicode"/>
              <a:cs typeface="Lucida Sans Unicode"/>
            </a:endParaRPr>
          </a:p>
          <a:p>
            <a:pPr marL="12700"/>
            <a:r>
              <a:rPr sz="1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Search</a:t>
            </a:r>
            <a:r>
              <a:rPr sz="1400" b="1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Results</a:t>
            </a:r>
            <a:r>
              <a:rPr sz="1400" b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Tracking</a:t>
            </a:r>
            <a:r>
              <a:rPr sz="14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 spc="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Arial"/>
                <a:cs typeface="Arial"/>
              </a:rPr>
              <a:t>Template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1" y="447984"/>
            <a:ext cx="1003154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5" dirty="0">
                <a:solidFill>
                  <a:srgbClr val="4A2D83"/>
                </a:solidFill>
              </a:rPr>
              <a:t>Confirm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Sample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70" dirty="0">
                <a:solidFill>
                  <a:srgbClr val="4A2D83"/>
                </a:solidFill>
              </a:rPr>
              <a:t>of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30" dirty="0">
                <a:solidFill>
                  <a:srgbClr val="4A2D83"/>
                </a:solidFill>
              </a:rPr>
              <a:t>Studies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40" dirty="0">
                <a:solidFill>
                  <a:srgbClr val="4A2D83"/>
                </a:solidFill>
              </a:rPr>
              <a:t>for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300" dirty="0">
                <a:solidFill>
                  <a:srgbClr val="4A2D83"/>
                </a:solidFill>
              </a:rPr>
              <a:t>(1/2)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1" y="1381772"/>
            <a:ext cx="10847293" cy="15542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855">
              <a:lnSpc>
                <a:spcPct val="110000"/>
              </a:lnSpc>
              <a:spcBef>
                <a:spcPts val="100"/>
              </a:spcBef>
            </a:pP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Before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proceeding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studies,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must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first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confirm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review.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goals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confirming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to:</a:t>
            </a:r>
            <a:endParaRPr sz="1400" dirty="0">
              <a:latin typeface="Arial"/>
              <a:cs typeface="Arial"/>
            </a:endParaRPr>
          </a:p>
          <a:p>
            <a:pPr marL="743585" marR="280670" indent="-285115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modifications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refinements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scope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bas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ava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abl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;</a:t>
            </a:r>
            <a:endParaRPr sz="1400" dirty="0">
              <a:latin typeface="Lucida Sans Unicode"/>
              <a:cs typeface="Lucida Sans Unicode"/>
            </a:endParaRPr>
          </a:p>
          <a:p>
            <a:pPr marL="743585" marR="5080" indent="-285115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confirm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relevance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initially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appeared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looking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title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excluded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upon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further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scrutiny;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endParaRPr sz="1400" dirty="0">
              <a:latin typeface="Lucida Sans Unicode"/>
              <a:cs typeface="Lucida Sans Unicode"/>
            </a:endParaRPr>
          </a:p>
          <a:p>
            <a:pPr marL="743585" indent="-285115">
              <a:spcBef>
                <a:spcPts val="470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gaps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target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supplemental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searches;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472" y="3179901"/>
            <a:ext cx="10739717" cy="25401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Consider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whether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want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apply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additional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studies.</a:t>
            </a:r>
            <a:endParaRPr sz="1400" dirty="0">
              <a:latin typeface="Arial"/>
              <a:cs typeface="Arial"/>
            </a:endParaRPr>
          </a:p>
          <a:p>
            <a:pPr marL="812165" marR="210820" lvl="1" indent="-342900">
              <a:spcBef>
                <a:spcPts val="73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particularly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important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identified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than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choose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further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type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study,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note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quasi-experimental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experimental.</a:t>
            </a:r>
            <a:endParaRPr sz="1400" dirty="0">
              <a:latin typeface="Lucida Sans Unicode"/>
              <a:cs typeface="Lucida Sans Unicode"/>
            </a:endParaRPr>
          </a:p>
          <a:p>
            <a:pPr marL="355600" marR="347980" indent="-342900">
              <a:lnSpc>
                <a:spcPct val="110000"/>
              </a:lnSpc>
              <a:spcBef>
                <a:spcPts val="204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initially appeared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looking </a:t>
            </a:r>
            <a:r>
              <a:rPr sz="1400" b="1" spc="105" dirty="0">
                <a:solidFill>
                  <a:srgbClr val="4A2D83"/>
                </a:solidFill>
                <a:latin typeface="Arial"/>
                <a:cs typeface="Arial"/>
              </a:rPr>
              <a:t>at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title/abstract,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confirm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they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briefly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scanning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full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text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conducting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second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including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additional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criteria.</a:t>
            </a:r>
            <a:endParaRPr sz="1400" dirty="0">
              <a:latin typeface="Arial"/>
              <a:cs typeface="Arial"/>
            </a:endParaRPr>
          </a:p>
          <a:p>
            <a:pPr marL="355600" marR="511809" indent="-342900">
              <a:lnSpc>
                <a:spcPct val="110000"/>
              </a:lnSpc>
              <a:spcBef>
                <a:spcPts val="30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Note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changes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whether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given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meets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changing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criteria.</a:t>
            </a:r>
            <a:endParaRPr sz="1400" dirty="0">
              <a:latin typeface="Arial"/>
              <a:cs typeface="Arial"/>
            </a:endParaRPr>
          </a:p>
          <a:p>
            <a:pPr marL="812165" marR="146685" lvl="1" indent="-342900">
              <a:spcBef>
                <a:spcPts val="73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Keep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longer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confirm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them;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them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“No”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meeting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7632" y="543430"/>
            <a:ext cx="1038117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5" dirty="0">
                <a:solidFill>
                  <a:srgbClr val="4A2D83"/>
                </a:solidFill>
              </a:rPr>
              <a:t>Confirm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Sample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70" dirty="0">
                <a:solidFill>
                  <a:srgbClr val="4A2D83"/>
                </a:solidFill>
              </a:rPr>
              <a:t>of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30" dirty="0">
                <a:solidFill>
                  <a:srgbClr val="4A2D83"/>
                </a:solidFill>
              </a:rPr>
              <a:t>Studies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40" dirty="0">
                <a:solidFill>
                  <a:srgbClr val="4A2D83"/>
                </a:solidFill>
              </a:rPr>
              <a:t>for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45" dirty="0">
                <a:solidFill>
                  <a:srgbClr val="4A2D83"/>
                </a:solidFill>
              </a:rPr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7632" y="1375585"/>
            <a:ext cx="10659035" cy="4677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01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4.	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Determine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whether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there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gaps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aspects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scope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addressed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identified.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Consider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conducting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supplemental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target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these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gaps.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7632" y="3133700"/>
            <a:ext cx="10659035" cy="24909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2860" indent="-342900">
              <a:lnSpc>
                <a:spcPct val="110000"/>
              </a:lnSpc>
              <a:spcBef>
                <a:spcPts val="100"/>
              </a:spcBef>
              <a:buAutoNum type="arabicPeriod" startAt="5"/>
              <a:tabLst>
                <a:tab pos="354965" algn="l"/>
                <a:tab pos="355600" algn="l"/>
              </a:tabLst>
            </a:pP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coded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additional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descriptive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about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during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phase,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consider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whether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prioritize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according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info.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process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narrowing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only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necessary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large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number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based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initial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criteria.</a:t>
            </a:r>
            <a:endParaRPr sz="1400" dirty="0">
              <a:latin typeface="Arial"/>
              <a:cs typeface="Arial"/>
            </a:endParaRPr>
          </a:p>
          <a:p>
            <a:pPr marL="812165" marR="238760" lvl="1" indent="-342900" algn="just">
              <a:spcBef>
                <a:spcPts val="715"/>
              </a:spcBef>
              <a:buAutoNum type="alphaLcPeriod"/>
              <a:tabLst>
                <a:tab pos="812800" algn="l"/>
              </a:tabLst>
            </a:pP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So,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150</a:t>
            </a:r>
            <a:r>
              <a:rPr sz="13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restrict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3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quasi-experimental </a:t>
            </a:r>
            <a:r>
              <a:rPr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experimental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results,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manageable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higher-quality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sample.</a:t>
            </a:r>
            <a:endParaRPr sz="1300" dirty="0">
              <a:latin typeface="Lucida Sans Unicode"/>
              <a:cs typeface="Lucida Sans Unicode"/>
            </a:endParaRPr>
          </a:p>
          <a:p>
            <a:pPr marL="812165" marR="5080" lvl="1" indent="-342900" algn="just">
              <a:spcBef>
                <a:spcPts val="310"/>
              </a:spcBef>
              <a:buAutoNum type="alphaLcPeriod"/>
              <a:tabLst>
                <a:tab pos="812800" algn="l"/>
              </a:tabLst>
            </a:pP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Common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prioritization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year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 publication 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(i.e.,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filtering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old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papers);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number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citations;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methodology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(i.e.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experimental, 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quasi-experimental,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etc.);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focus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subpopulations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interest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(i.e.,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geography,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gender,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income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level,</a:t>
            </a:r>
            <a:r>
              <a:rPr sz="13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age).</a:t>
            </a:r>
            <a:endParaRPr sz="1300" dirty="0">
              <a:latin typeface="Lucida Sans Unicode"/>
              <a:cs typeface="Lucida Sans Unicode"/>
            </a:endParaRPr>
          </a:p>
          <a:p>
            <a:pPr marL="812165" marR="124460" lvl="1" indent="-342900">
              <a:spcBef>
                <a:spcPts val="31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300" spc="45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sure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narrow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subpopulation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don’t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discard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from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broader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group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helps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construct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comparative. If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find studies reporting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youth,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there are no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 reporting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adults included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evidence,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youth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more </a:t>
            </a:r>
            <a:r>
              <a:rPr sz="13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broadly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generalizable.</a:t>
            </a:r>
            <a:endParaRPr sz="13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7633" y="5830823"/>
            <a:ext cx="10659035" cy="729046"/>
          </a:xfrm>
          <a:prstGeom prst="rect">
            <a:avLst/>
          </a:prstGeom>
          <a:solidFill>
            <a:srgbClr val="F9F6EB"/>
          </a:solidFill>
        </p:spPr>
        <p:txBody>
          <a:bodyPr vert="horz" wrap="square" lIns="0" tIns="81915" rIns="0" bIns="0" rtlCol="0">
            <a:spAutoFit/>
          </a:bodyPr>
          <a:lstStyle/>
          <a:p>
            <a:pPr marL="182880" marR="394335">
              <a:spcBef>
                <a:spcPts val="645"/>
              </a:spcBef>
            </a:pP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EPAR </a:t>
            </a:r>
            <a:r>
              <a:rPr sz="1400" i="1" spc="-40" dirty="0">
                <a:solidFill>
                  <a:srgbClr val="33006E"/>
                </a:solidFill>
                <a:latin typeface="Trebuchet MS"/>
                <a:cs typeface="Trebuchet MS"/>
              </a:rPr>
              <a:t>Technical </a:t>
            </a:r>
            <a:r>
              <a:rPr sz="1400" i="1" spc="-30" dirty="0">
                <a:solidFill>
                  <a:srgbClr val="33006E"/>
                </a:solidFill>
                <a:latin typeface="Trebuchet MS"/>
                <a:cs typeface="Trebuchet MS"/>
              </a:rPr>
              <a:t>Report </a:t>
            </a:r>
            <a:r>
              <a:rPr sz="1400" i="1" spc="20" dirty="0">
                <a:solidFill>
                  <a:srgbClr val="33006E"/>
                </a:solidFill>
                <a:latin typeface="Trebuchet MS"/>
                <a:cs typeface="Trebuchet MS"/>
              </a:rPr>
              <a:t>#293: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research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question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states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that </a:t>
            </a:r>
            <a:r>
              <a:rPr sz="14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we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are 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analyzing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morbidity’s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“impact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on”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growth,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rather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than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morbidity’s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“association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with”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growth.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35" dirty="0">
                <a:solidFill>
                  <a:srgbClr val="33006E"/>
                </a:solidFill>
                <a:latin typeface="Lucida Sans Unicode"/>
                <a:cs typeface="Lucida Sans Unicode"/>
              </a:rPr>
              <a:t>We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therefore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prioritize </a:t>
            </a:r>
            <a:r>
              <a:rPr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evidence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from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experimental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(e.g.,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randomized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controlled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trials)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large-N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analyses.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632" y="2123998"/>
            <a:ext cx="10593402" cy="729046"/>
          </a:xfrm>
          <a:prstGeom prst="rect">
            <a:avLst/>
          </a:prstGeom>
          <a:solidFill>
            <a:srgbClr val="F9F6EB"/>
          </a:solidFill>
        </p:spPr>
        <p:txBody>
          <a:bodyPr vert="horz" wrap="square" lIns="0" tIns="81915" rIns="0" bIns="0" rtlCol="0">
            <a:spAutoFit/>
          </a:bodyPr>
          <a:lstStyle/>
          <a:p>
            <a:pPr marL="182245">
              <a:spcBef>
                <a:spcPts val="645"/>
              </a:spcBef>
            </a:pP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EPAR</a:t>
            </a:r>
            <a:r>
              <a:rPr sz="1400" i="1" spc="-6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33006E"/>
                </a:solidFill>
                <a:latin typeface="Trebuchet MS"/>
                <a:cs typeface="Trebuchet MS"/>
              </a:rPr>
              <a:t>Technical</a:t>
            </a:r>
            <a:r>
              <a:rPr sz="1400" i="1" spc="-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30" dirty="0">
                <a:solidFill>
                  <a:srgbClr val="33006E"/>
                </a:solidFill>
                <a:latin typeface="Trebuchet MS"/>
                <a:cs typeface="Trebuchet MS"/>
              </a:rPr>
              <a:t>Report</a:t>
            </a:r>
            <a:r>
              <a:rPr sz="1400" i="1" spc="-8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20" dirty="0">
                <a:solidFill>
                  <a:srgbClr val="33006E"/>
                </a:solidFill>
                <a:latin typeface="Trebuchet MS"/>
                <a:cs typeface="Trebuchet MS"/>
              </a:rPr>
              <a:t>#359:</a:t>
            </a:r>
            <a:r>
              <a:rPr sz="14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33006E"/>
                </a:solidFill>
                <a:latin typeface="Lucida Sans Unicode"/>
                <a:cs typeface="Lucida Sans Unicode"/>
              </a:rPr>
              <a:t>We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conducted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supplementary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searches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using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Google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Scholar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</a:t>
            </a:r>
            <a:endParaRPr sz="1400" dirty="0">
              <a:latin typeface="Lucida Sans Unicode"/>
              <a:cs typeface="Lucida Sans Unicode"/>
            </a:endParaRPr>
          </a:p>
          <a:p>
            <a:pPr marL="182245" marR="192405"/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identify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additional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universal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basic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income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using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terms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“universal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basic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income” </a:t>
            </a:r>
            <a:r>
              <a:rPr sz="1400" spc="-4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UBI,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only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two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our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initial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sample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discussed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this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type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cash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transfer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program.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4423" y="568803"/>
            <a:ext cx="1088315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80" dirty="0">
                <a:solidFill>
                  <a:srgbClr val="4A2D83"/>
                </a:solidFill>
              </a:rPr>
              <a:t>Check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5" dirty="0">
                <a:solidFill>
                  <a:srgbClr val="4A2D83"/>
                </a:solidFill>
              </a:rPr>
              <a:t>P</a:t>
            </a:r>
            <a:r>
              <a:rPr b="1" spc="-15" dirty="0">
                <a:solidFill>
                  <a:srgbClr val="4A2D83"/>
                </a:solidFill>
              </a:rPr>
              <a:t>o</a:t>
            </a:r>
            <a:r>
              <a:rPr b="1" spc="-10" dirty="0">
                <a:solidFill>
                  <a:srgbClr val="4A2D83"/>
                </a:solidFill>
              </a:rPr>
              <a:t>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423" y="2273155"/>
            <a:ext cx="10883153" cy="289707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spcBef>
                <a:spcPts val="295"/>
              </a:spcBef>
            </a:pP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At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point,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after</a:t>
            </a:r>
            <a:r>
              <a:rPr sz="1600" b="1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35" dirty="0">
                <a:solidFill>
                  <a:srgbClr val="4A2D83"/>
                </a:solidFill>
                <a:latin typeface="Arial"/>
                <a:cs typeface="Arial"/>
              </a:rPr>
              <a:t>completing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A2D83"/>
                </a:solidFill>
                <a:latin typeface="Arial"/>
                <a:cs typeface="Arial"/>
              </a:rPr>
              <a:t>searches</a:t>
            </a: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05" dirty="0">
                <a:solidFill>
                  <a:srgbClr val="4A2D83"/>
                </a:solidFill>
                <a:latin typeface="Arial"/>
                <a:cs typeface="Arial"/>
              </a:rPr>
              <a:t>them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endParaRPr sz="1600" dirty="0">
              <a:latin typeface="Arial"/>
              <a:cs typeface="Arial"/>
            </a:endParaRPr>
          </a:p>
          <a:p>
            <a:pPr marL="12700">
              <a:spcBef>
                <a:spcPts val="195"/>
              </a:spcBef>
            </a:pP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relevance,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5" dirty="0">
                <a:solidFill>
                  <a:srgbClr val="4A2D83"/>
                </a:solidFill>
                <a:latin typeface="Arial"/>
                <a:cs typeface="Arial"/>
              </a:rPr>
              <a:t>following:</a:t>
            </a:r>
            <a:endParaRPr sz="1600" dirty="0">
              <a:latin typeface="Arial"/>
              <a:cs typeface="Arial"/>
            </a:endParaRPr>
          </a:p>
          <a:p>
            <a:pPr marL="756285" marR="41910" indent="-287020">
              <a:lnSpc>
                <a:spcPct val="11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complete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listing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met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did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meet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criteria,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600" spc="-4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icate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le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tud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wil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6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endParaRPr sz="1600" dirty="0">
              <a:latin typeface="Lucida Sans Unicode"/>
              <a:cs typeface="Lucida Sans Unicode"/>
            </a:endParaRPr>
          </a:p>
          <a:p>
            <a:pPr marL="756285" marR="5080" indent="-287020">
              <a:lnSpc>
                <a:spcPct val="11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separate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tab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summarizing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</a:t>
            </a:r>
            <a:r>
              <a:rPr sz="1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600" spc="-4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their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endParaRPr sz="1600" dirty="0">
              <a:latin typeface="Lucida Sans Unicode"/>
              <a:cs typeface="Lucida Sans Unicode"/>
            </a:endParaRPr>
          </a:p>
          <a:p>
            <a:pPr marL="756285" indent="-287020">
              <a:spcBef>
                <a:spcPts val="87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PD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le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tud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endParaRPr sz="1600" dirty="0">
              <a:latin typeface="Lucida Sans Unicode"/>
              <a:cs typeface="Lucida Sans Unicode"/>
            </a:endParaRPr>
          </a:p>
          <a:p>
            <a:pPr>
              <a:spcBef>
                <a:spcPts val="65"/>
              </a:spcBef>
            </a:pPr>
            <a:endParaRPr sz="2950" dirty="0">
              <a:latin typeface="Lucida Sans Unicode"/>
              <a:cs typeface="Lucida Sans Unicode"/>
            </a:endParaRPr>
          </a:p>
          <a:p>
            <a:pPr marL="12700" marR="673100">
              <a:lnSpc>
                <a:spcPct val="110000"/>
              </a:lnSpc>
            </a:pP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65" dirty="0">
                <a:solidFill>
                  <a:srgbClr val="4A2D83"/>
                </a:solidFill>
                <a:latin typeface="Arial"/>
                <a:cs typeface="Arial"/>
              </a:rPr>
              <a:t>three,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4A2D83"/>
                </a:solidFill>
                <a:latin typeface="Arial"/>
                <a:cs typeface="Arial"/>
              </a:rPr>
              <a:t>ready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A2D83"/>
                </a:solidFill>
                <a:latin typeface="Arial"/>
                <a:cs typeface="Arial"/>
              </a:rPr>
              <a:t>begin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4A2D83"/>
                </a:solidFill>
                <a:latin typeface="Arial"/>
                <a:cs typeface="Arial"/>
              </a:rPr>
              <a:t>developing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4A2D83"/>
                </a:solidFill>
                <a:latin typeface="Arial"/>
                <a:cs typeface="Arial"/>
              </a:rPr>
              <a:t>review </a:t>
            </a:r>
            <a:r>
              <a:rPr sz="1600" b="1" spc="-4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5" dirty="0">
                <a:solidFill>
                  <a:srgbClr val="4A2D83"/>
                </a:solidFill>
                <a:latin typeface="Arial"/>
                <a:cs typeface="Arial"/>
              </a:rPr>
              <a:t>framework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5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6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5" dirty="0">
                <a:solidFill>
                  <a:srgbClr val="4A2D83"/>
                </a:solidFill>
                <a:latin typeface="Arial"/>
                <a:cs typeface="Arial"/>
              </a:rPr>
              <a:t>gathered.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1403603"/>
              <a:ext cx="1370076" cy="685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08170" y="3352038"/>
              <a:ext cx="0" cy="1593850"/>
            </a:xfrm>
            <a:custGeom>
              <a:avLst/>
              <a:gdLst/>
              <a:ahLst/>
              <a:cxnLst/>
              <a:rect l="l" t="t" r="r" b="b"/>
              <a:pathLst>
                <a:path h="1593850">
                  <a:moveTo>
                    <a:pt x="0" y="0"/>
                  </a:moveTo>
                  <a:lnTo>
                    <a:pt x="0" y="1593595"/>
                  </a:lnTo>
                </a:path>
              </a:pathLst>
            </a:custGeom>
            <a:ln w="28956">
              <a:solidFill>
                <a:srgbClr val="30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74519" y="417560"/>
            <a:ext cx="7546340" cy="633507"/>
          </a:xfrm>
          <a:prstGeom prst="rect">
            <a:avLst/>
          </a:prstGeom>
        </p:spPr>
        <p:txBody>
          <a:bodyPr vert="horz" wrap="square" lIns="0" tIns="81280" rIns="0" bIns="0" rtlCol="0" anchor="ctr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75" dirty="0">
                <a:solidFill>
                  <a:srgbClr val="4A2D83"/>
                </a:solidFill>
              </a:rPr>
              <a:t>Develop</a:t>
            </a:r>
            <a:r>
              <a:rPr sz="4000" spc="-545" dirty="0">
                <a:solidFill>
                  <a:srgbClr val="4A2D83"/>
                </a:solidFill>
              </a:rPr>
              <a:t> </a:t>
            </a:r>
            <a:r>
              <a:rPr sz="4000" spc="-145" dirty="0">
                <a:solidFill>
                  <a:srgbClr val="4A2D83"/>
                </a:solidFill>
              </a:rPr>
              <a:t>Review</a:t>
            </a:r>
            <a:r>
              <a:rPr sz="4000" spc="-560" dirty="0">
                <a:solidFill>
                  <a:srgbClr val="4A2D83"/>
                </a:solidFill>
              </a:rPr>
              <a:t> </a:t>
            </a:r>
            <a:r>
              <a:rPr sz="4000" spc="-145" dirty="0">
                <a:solidFill>
                  <a:srgbClr val="4A2D83"/>
                </a:solidFill>
              </a:rPr>
              <a:t>Frame</a:t>
            </a:r>
            <a:r>
              <a:rPr sz="4000" spc="-195" dirty="0">
                <a:solidFill>
                  <a:srgbClr val="4A2D83"/>
                </a:solidFill>
              </a:rPr>
              <a:t>w</a:t>
            </a:r>
            <a:r>
              <a:rPr sz="4000" spc="-30" dirty="0">
                <a:solidFill>
                  <a:srgbClr val="4A2D83"/>
                </a:solidFill>
              </a:rPr>
              <a:t>ork  </a:t>
            </a:r>
            <a:r>
              <a:rPr sz="4000" spc="-100" dirty="0">
                <a:solidFill>
                  <a:srgbClr val="4A2D83"/>
                </a:solidFill>
              </a:rPr>
              <a:t>and</a:t>
            </a:r>
            <a:r>
              <a:rPr sz="4000" spc="-570" dirty="0">
                <a:solidFill>
                  <a:srgbClr val="4A2D83"/>
                </a:solidFill>
              </a:rPr>
              <a:t> </a:t>
            </a:r>
            <a:r>
              <a:rPr sz="4000" spc="-160" dirty="0">
                <a:solidFill>
                  <a:srgbClr val="4A2D83"/>
                </a:solidFill>
              </a:rPr>
              <a:t>Co</a:t>
            </a:r>
            <a:r>
              <a:rPr sz="4000" spc="-175" dirty="0">
                <a:solidFill>
                  <a:srgbClr val="4A2D83"/>
                </a:solidFill>
              </a:rPr>
              <a:t>de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2262023" y="1759711"/>
            <a:ext cx="7496809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next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involves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developing 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organize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6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retrieve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600" spc="-4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systematically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reviewing</a:t>
            </a:r>
            <a:r>
              <a:rPr sz="1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62758" y="2796286"/>
            <a:ext cx="6336030" cy="2887345"/>
            <a:chOff x="1238758" y="2796285"/>
            <a:chExt cx="6336030" cy="2887345"/>
          </a:xfrm>
        </p:grpSpPr>
        <p:sp>
          <p:nvSpPr>
            <p:cNvPr id="10" name="object 10"/>
            <p:cNvSpPr/>
            <p:nvPr/>
          </p:nvSpPr>
          <p:spPr>
            <a:xfrm>
              <a:off x="1245108" y="2802635"/>
              <a:ext cx="6323330" cy="548640"/>
            </a:xfrm>
            <a:custGeom>
              <a:avLst/>
              <a:gdLst/>
              <a:ahLst/>
              <a:cxnLst/>
              <a:rect l="l" t="t" r="r" b="b"/>
              <a:pathLst>
                <a:path w="6323330" h="548639">
                  <a:moveTo>
                    <a:pt x="6231636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179" y="492811"/>
                  </a:lnTo>
                  <a:lnTo>
                    <a:pt x="26765" y="521874"/>
                  </a:lnTo>
                  <a:lnTo>
                    <a:pt x="55828" y="541460"/>
                  </a:lnTo>
                  <a:lnTo>
                    <a:pt x="91439" y="548639"/>
                  </a:lnTo>
                  <a:lnTo>
                    <a:pt x="6231636" y="548639"/>
                  </a:lnTo>
                  <a:lnTo>
                    <a:pt x="6267247" y="541460"/>
                  </a:lnTo>
                  <a:lnTo>
                    <a:pt x="6296310" y="521874"/>
                  </a:lnTo>
                  <a:lnTo>
                    <a:pt x="6315896" y="492811"/>
                  </a:lnTo>
                  <a:lnTo>
                    <a:pt x="6323075" y="457200"/>
                  </a:lnTo>
                  <a:lnTo>
                    <a:pt x="6323075" y="91439"/>
                  </a:lnTo>
                  <a:lnTo>
                    <a:pt x="6315896" y="55828"/>
                  </a:lnTo>
                  <a:lnTo>
                    <a:pt x="6296310" y="26765"/>
                  </a:lnTo>
                  <a:lnTo>
                    <a:pt x="6267247" y="7179"/>
                  </a:lnTo>
                  <a:lnTo>
                    <a:pt x="6231636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45108" y="2802635"/>
              <a:ext cx="6323330" cy="548640"/>
            </a:xfrm>
            <a:custGeom>
              <a:avLst/>
              <a:gdLst/>
              <a:ahLst/>
              <a:cxnLst/>
              <a:rect l="l" t="t" r="r" b="b"/>
              <a:pathLst>
                <a:path w="6323330" h="5486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6231636" y="0"/>
                  </a:lnTo>
                  <a:lnTo>
                    <a:pt x="6267247" y="7179"/>
                  </a:lnTo>
                  <a:lnTo>
                    <a:pt x="6296310" y="26765"/>
                  </a:lnTo>
                  <a:lnTo>
                    <a:pt x="6315896" y="55828"/>
                  </a:lnTo>
                  <a:lnTo>
                    <a:pt x="6323075" y="91439"/>
                  </a:lnTo>
                  <a:lnTo>
                    <a:pt x="6323075" y="457200"/>
                  </a:lnTo>
                  <a:lnTo>
                    <a:pt x="6315896" y="492811"/>
                  </a:lnTo>
                  <a:lnTo>
                    <a:pt x="6296310" y="521874"/>
                  </a:lnTo>
                  <a:lnTo>
                    <a:pt x="6267247" y="541460"/>
                  </a:lnTo>
                  <a:lnTo>
                    <a:pt x="6231636" y="548639"/>
                  </a:lnTo>
                  <a:lnTo>
                    <a:pt x="91439" y="548639"/>
                  </a:lnTo>
                  <a:lnTo>
                    <a:pt x="55828" y="541460"/>
                  </a:lnTo>
                  <a:lnTo>
                    <a:pt x="26765" y="521874"/>
                  </a:lnTo>
                  <a:lnTo>
                    <a:pt x="7179" y="492811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192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5108" y="3395471"/>
              <a:ext cx="6323330" cy="914400"/>
            </a:xfrm>
            <a:custGeom>
              <a:avLst/>
              <a:gdLst/>
              <a:ahLst/>
              <a:cxnLst/>
              <a:rect l="l" t="t" r="r" b="b"/>
              <a:pathLst>
                <a:path w="6323330" h="914400">
                  <a:moveTo>
                    <a:pt x="6170675" y="0"/>
                  </a:moveTo>
                  <a:lnTo>
                    <a:pt x="152400" y="0"/>
                  </a:lnTo>
                  <a:lnTo>
                    <a:pt x="104217" y="7766"/>
                  </a:lnTo>
                  <a:lnTo>
                    <a:pt x="62380" y="29394"/>
                  </a:lnTo>
                  <a:lnTo>
                    <a:pt x="29394" y="62380"/>
                  </a:lnTo>
                  <a:lnTo>
                    <a:pt x="7766" y="104217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6" y="810182"/>
                  </a:lnTo>
                  <a:lnTo>
                    <a:pt x="29394" y="852019"/>
                  </a:lnTo>
                  <a:lnTo>
                    <a:pt x="62380" y="885005"/>
                  </a:lnTo>
                  <a:lnTo>
                    <a:pt x="104217" y="906633"/>
                  </a:lnTo>
                  <a:lnTo>
                    <a:pt x="152400" y="914400"/>
                  </a:lnTo>
                  <a:lnTo>
                    <a:pt x="6170675" y="914400"/>
                  </a:lnTo>
                  <a:lnTo>
                    <a:pt x="6218858" y="906633"/>
                  </a:lnTo>
                  <a:lnTo>
                    <a:pt x="6260695" y="885005"/>
                  </a:lnTo>
                  <a:lnTo>
                    <a:pt x="6293681" y="852019"/>
                  </a:lnTo>
                  <a:lnTo>
                    <a:pt x="6315309" y="810182"/>
                  </a:lnTo>
                  <a:lnTo>
                    <a:pt x="6323075" y="762000"/>
                  </a:lnTo>
                  <a:lnTo>
                    <a:pt x="6323075" y="152400"/>
                  </a:lnTo>
                  <a:lnTo>
                    <a:pt x="6315309" y="104217"/>
                  </a:lnTo>
                  <a:lnTo>
                    <a:pt x="6293681" y="62380"/>
                  </a:lnTo>
                  <a:lnTo>
                    <a:pt x="6260695" y="29394"/>
                  </a:lnTo>
                  <a:lnTo>
                    <a:pt x="6218858" y="7766"/>
                  </a:lnTo>
                  <a:lnTo>
                    <a:pt x="6170675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5108" y="3395471"/>
              <a:ext cx="6323330" cy="914400"/>
            </a:xfrm>
            <a:custGeom>
              <a:avLst/>
              <a:gdLst/>
              <a:ahLst/>
              <a:cxnLst/>
              <a:rect l="l" t="t" r="r" b="b"/>
              <a:pathLst>
                <a:path w="6323330" h="914400">
                  <a:moveTo>
                    <a:pt x="0" y="152400"/>
                  </a:moveTo>
                  <a:lnTo>
                    <a:pt x="7766" y="104217"/>
                  </a:lnTo>
                  <a:lnTo>
                    <a:pt x="29394" y="62380"/>
                  </a:lnTo>
                  <a:lnTo>
                    <a:pt x="62380" y="29394"/>
                  </a:lnTo>
                  <a:lnTo>
                    <a:pt x="104217" y="7766"/>
                  </a:lnTo>
                  <a:lnTo>
                    <a:pt x="152400" y="0"/>
                  </a:lnTo>
                  <a:lnTo>
                    <a:pt x="6170675" y="0"/>
                  </a:lnTo>
                  <a:lnTo>
                    <a:pt x="6218858" y="7766"/>
                  </a:lnTo>
                  <a:lnTo>
                    <a:pt x="6260695" y="29394"/>
                  </a:lnTo>
                  <a:lnTo>
                    <a:pt x="6293681" y="62380"/>
                  </a:lnTo>
                  <a:lnTo>
                    <a:pt x="6315309" y="104217"/>
                  </a:lnTo>
                  <a:lnTo>
                    <a:pt x="6323075" y="152400"/>
                  </a:lnTo>
                  <a:lnTo>
                    <a:pt x="6323075" y="762000"/>
                  </a:lnTo>
                  <a:lnTo>
                    <a:pt x="6315309" y="810182"/>
                  </a:lnTo>
                  <a:lnTo>
                    <a:pt x="6293681" y="852019"/>
                  </a:lnTo>
                  <a:lnTo>
                    <a:pt x="6260695" y="885005"/>
                  </a:lnTo>
                  <a:lnTo>
                    <a:pt x="6218858" y="906633"/>
                  </a:lnTo>
                  <a:lnTo>
                    <a:pt x="6170675" y="914400"/>
                  </a:lnTo>
                  <a:lnTo>
                    <a:pt x="152400" y="914400"/>
                  </a:lnTo>
                  <a:lnTo>
                    <a:pt x="104217" y="906633"/>
                  </a:lnTo>
                  <a:lnTo>
                    <a:pt x="62380" y="885005"/>
                  </a:lnTo>
                  <a:lnTo>
                    <a:pt x="29394" y="852019"/>
                  </a:lnTo>
                  <a:lnTo>
                    <a:pt x="7766" y="810182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2192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45108" y="4352543"/>
              <a:ext cx="6323330" cy="548640"/>
            </a:xfrm>
            <a:custGeom>
              <a:avLst/>
              <a:gdLst/>
              <a:ahLst/>
              <a:cxnLst/>
              <a:rect l="l" t="t" r="r" b="b"/>
              <a:pathLst>
                <a:path w="6323330" h="548639">
                  <a:moveTo>
                    <a:pt x="6231636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57199"/>
                  </a:lnTo>
                  <a:lnTo>
                    <a:pt x="7179" y="492811"/>
                  </a:lnTo>
                  <a:lnTo>
                    <a:pt x="26765" y="521874"/>
                  </a:lnTo>
                  <a:lnTo>
                    <a:pt x="55828" y="541460"/>
                  </a:lnTo>
                  <a:lnTo>
                    <a:pt x="91439" y="548639"/>
                  </a:lnTo>
                  <a:lnTo>
                    <a:pt x="6231636" y="548639"/>
                  </a:lnTo>
                  <a:lnTo>
                    <a:pt x="6267247" y="541460"/>
                  </a:lnTo>
                  <a:lnTo>
                    <a:pt x="6296310" y="521874"/>
                  </a:lnTo>
                  <a:lnTo>
                    <a:pt x="6315896" y="492811"/>
                  </a:lnTo>
                  <a:lnTo>
                    <a:pt x="6323075" y="457199"/>
                  </a:lnTo>
                  <a:lnTo>
                    <a:pt x="6323075" y="91439"/>
                  </a:lnTo>
                  <a:lnTo>
                    <a:pt x="6315896" y="55828"/>
                  </a:lnTo>
                  <a:lnTo>
                    <a:pt x="6296310" y="26765"/>
                  </a:lnTo>
                  <a:lnTo>
                    <a:pt x="6267247" y="7179"/>
                  </a:lnTo>
                  <a:lnTo>
                    <a:pt x="6231636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45108" y="4352543"/>
              <a:ext cx="6323330" cy="548640"/>
            </a:xfrm>
            <a:custGeom>
              <a:avLst/>
              <a:gdLst/>
              <a:ahLst/>
              <a:cxnLst/>
              <a:rect l="l" t="t" r="r" b="b"/>
              <a:pathLst>
                <a:path w="6323330" h="5486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6231636" y="0"/>
                  </a:lnTo>
                  <a:lnTo>
                    <a:pt x="6267247" y="7179"/>
                  </a:lnTo>
                  <a:lnTo>
                    <a:pt x="6296310" y="26765"/>
                  </a:lnTo>
                  <a:lnTo>
                    <a:pt x="6315896" y="55828"/>
                  </a:lnTo>
                  <a:lnTo>
                    <a:pt x="6323075" y="91439"/>
                  </a:lnTo>
                  <a:lnTo>
                    <a:pt x="6323075" y="457199"/>
                  </a:lnTo>
                  <a:lnTo>
                    <a:pt x="6315896" y="492811"/>
                  </a:lnTo>
                  <a:lnTo>
                    <a:pt x="6296310" y="521874"/>
                  </a:lnTo>
                  <a:lnTo>
                    <a:pt x="6267247" y="541460"/>
                  </a:lnTo>
                  <a:lnTo>
                    <a:pt x="6231636" y="548639"/>
                  </a:lnTo>
                  <a:lnTo>
                    <a:pt x="91439" y="548639"/>
                  </a:lnTo>
                  <a:lnTo>
                    <a:pt x="55828" y="541460"/>
                  </a:lnTo>
                  <a:lnTo>
                    <a:pt x="26765" y="521874"/>
                  </a:lnTo>
                  <a:lnTo>
                    <a:pt x="7179" y="492811"/>
                  </a:lnTo>
                  <a:lnTo>
                    <a:pt x="0" y="457199"/>
                  </a:lnTo>
                  <a:lnTo>
                    <a:pt x="0" y="91439"/>
                  </a:lnTo>
                  <a:close/>
                </a:path>
              </a:pathLst>
            </a:custGeom>
            <a:ln w="12192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45108" y="4945379"/>
              <a:ext cx="6323330" cy="731520"/>
            </a:xfrm>
            <a:custGeom>
              <a:avLst/>
              <a:gdLst/>
              <a:ahLst/>
              <a:cxnLst/>
              <a:rect l="l" t="t" r="r" b="b"/>
              <a:pathLst>
                <a:path w="6323330" h="731520">
                  <a:moveTo>
                    <a:pt x="6201156" y="0"/>
                  </a:moveTo>
                  <a:lnTo>
                    <a:pt x="121919" y="0"/>
                  </a:lnTo>
                  <a:lnTo>
                    <a:pt x="74473" y="9584"/>
                  </a:lnTo>
                  <a:lnTo>
                    <a:pt x="35718" y="35718"/>
                  </a:lnTo>
                  <a:lnTo>
                    <a:pt x="9584" y="74473"/>
                  </a:lnTo>
                  <a:lnTo>
                    <a:pt x="0" y="121920"/>
                  </a:lnTo>
                  <a:lnTo>
                    <a:pt x="0" y="609600"/>
                  </a:lnTo>
                  <a:lnTo>
                    <a:pt x="9584" y="657057"/>
                  </a:lnTo>
                  <a:lnTo>
                    <a:pt x="35718" y="695810"/>
                  </a:lnTo>
                  <a:lnTo>
                    <a:pt x="74473" y="721939"/>
                  </a:lnTo>
                  <a:lnTo>
                    <a:pt x="121919" y="731520"/>
                  </a:lnTo>
                  <a:lnTo>
                    <a:pt x="6201156" y="731520"/>
                  </a:lnTo>
                  <a:lnTo>
                    <a:pt x="6248602" y="721939"/>
                  </a:lnTo>
                  <a:lnTo>
                    <a:pt x="6287357" y="695810"/>
                  </a:lnTo>
                  <a:lnTo>
                    <a:pt x="6313491" y="657057"/>
                  </a:lnTo>
                  <a:lnTo>
                    <a:pt x="6323075" y="609600"/>
                  </a:lnTo>
                  <a:lnTo>
                    <a:pt x="6323075" y="121920"/>
                  </a:lnTo>
                  <a:lnTo>
                    <a:pt x="6313491" y="74473"/>
                  </a:lnTo>
                  <a:lnTo>
                    <a:pt x="6287357" y="35718"/>
                  </a:lnTo>
                  <a:lnTo>
                    <a:pt x="6248602" y="9584"/>
                  </a:lnTo>
                  <a:lnTo>
                    <a:pt x="6201156" y="0"/>
                  </a:lnTo>
                  <a:close/>
                </a:path>
              </a:pathLst>
            </a:custGeom>
            <a:solidFill>
              <a:srgbClr val="D3A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5108" y="4945379"/>
              <a:ext cx="6323330" cy="731520"/>
            </a:xfrm>
            <a:custGeom>
              <a:avLst/>
              <a:gdLst/>
              <a:ahLst/>
              <a:cxnLst/>
              <a:rect l="l" t="t" r="r" b="b"/>
              <a:pathLst>
                <a:path w="6323330" h="731520">
                  <a:moveTo>
                    <a:pt x="0" y="121920"/>
                  </a:moveTo>
                  <a:lnTo>
                    <a:pt x="9584" y="74473"/>
                  </a:lnTo>
                  <a:lnTo>
                    <a:pt x="35718" y="35718"/>
                  </a:lnTo>
                  <a:lnTo>
                    <a:pt x="74473" y="9584"/>
                  </a:lnTo>
                  <a:lnTo>
                    <a:pt x="121919" y="0"/>
                  </a:lnTo>
                  <a:lnTo>
                    <a:pt x="6201156" y="0"/>
                  </a:lnTo>
                  <a:lnTo>
                    <a:pt x="6248602" y="9584"/>
                  </a:lnTo>
                  <a:lnTo>
                    <a:pt x="6287357" y="35718"/>
                  </a:lnTo>
                  <a:lnTo>
                    <a:pt x="6313491" y="74473"/>
                  </a:lnTo>
                  <a:lnTo>
                    <a:pt x="6323075" y="121920"/>
                  </a:lnTo>
                  <a:lnTo>
                    <a:pt x="6323075" y="609600"/>
                  </a:lnTo>
                  <a:lnTo>
                    <a:pt x="6313491" y="657057"/>
                  </a:lnTo>
                  <a:lnTo>
                    <a:pt x="6287357" y="695810"/>
                  </a:lnTo>
                  <a:lnTo>
                    <a:pt x="6248602" y="721939"/>
                  </a:lnTo>
                  <a:lnTo>
                    <a:pt x="6201156" y="731520"/>
                  </a:lnTo>
                  <a:lnTo>
                    <a:pt x="121919" y="731520"/>
                  </a:lnTo>
                  <a:lnTo>
                    <a:pt x="74473" y="721939"/>
                  </a:lnTo>
                  <a:lnTo>
                    <a:pt x="35718" y="695810"/>
                  </a:lnTo>
                  <a:lnTo>
                    <a:pt x="9584" y="657057"/>
                  </a:lnTo>
                  <a:lnTo>
                    <a:pt x="0" y="609600"/>
                  </a:lnTo>
                  <a:lnTo>
                    <a:pt x="0" y="121920"/>
                  </a:lnTo>
                  <a:close/>
                </a:path>
              </a:pathLst>
            </a:custGeom>
            <a:ln w="12191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891408" y="2830448"/>
            <a:ext cx="6071870" cy="2792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35" algn="ctr">
              <a:spcBef>
                <a:spcPts val="95"/>
              </a:spcBef>
            </a:pPr>
            <a:r>
              <a:rPr sz="1000" b="1" spc="95" dirty="0">
                <a:solidFill>
                  <a:srgbClr val="33006E"/>
                </a:solidFill>
                <a:latin typeface="Arial"/>
                <a:cs typeface="Arial"/>
              </a:rPr>
              <a:t>Develop </a:t>
            </a:r>
            <a:r>
              <a:rPr sz="1000" b="1" spc="229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25" dirty="0">
                <a:solidFill>
                  <a:srgbClr val="33006E"/>
                </a:solidFill>
                <a:latin typeface="Arial"/>
                <a:cs typeface="Arial"/>
              </a:rPr>
              <a:t>Literature </a:t>
            </a:r>
            <a:r>
              <a:rPr sz="1000" b="1" spc="18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90" dirty="0">
                <a:solidFill>
                  <a:srgbClr val="33006E"/>
                </a:solidFill>
                <a:latin typeface="Arial"/>
                <a:cs typeface="Arial"/>
              </a:rPr>
              <a:t>Review </a:t>
            </a:r>
            <a:r>
              <a:rPr sz="1000" b="1" spc="22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20" dirty="0">
                <a:solidFill>
                  <a:srgbClr val="33006E"/>
                </a:solidFill>
                <a:latin typeface="Arial"/>
                <a:cs typeface="Arial"/>
              </a:rPr>
              <a:t>Framework</a:t>
            </a:r>
            <a:endParaRPr sz="1000">
              <a:latin typeface="Arial"/>
              <a:cs typeface="Arial"/>
            </a:endParaRPr>
          </a:p>
          <a:p>
            <a:pPr marL="213995" marR="202565" algn="ctr"/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Create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framework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organizing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review,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based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theory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2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structured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to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facilitate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analysis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answer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different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aspects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question(s)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25"/>
              </a:spcBef>
            </a:pPr>
            <a:endParaRPr sz="1100">
              <a:latin typeface="Trebuchet MS"/>
              <a:cs typeface="Trebuchet MS"/>
            </a:endParaRPr>
          </a:p>
          <a:p>
            <a:pPr marL="146050" marR="135890" indent="-16510" algn="ctr"/>
            <a:r>
              <a:rPr sz="1000" b="1" spc="65" dirty="0">
                <a:solidFill>
                  <a:srgbClr val="33006E"/>
                </a:solidFill>
                <a:latin typeface="Arial"/>
                <a:cs typeface="Arial"/>
              </a:rPr>
              <a:t>Set</a:t>
            </a:r>
            <a:r>
              <a:rPr sz="1000" b="1" spc="409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33006E"/>
                </a:solidFill>
                <a:latin typeface="Arial"/>
                <a:cs typeface="Arial"/>
              </a:rPr>
              <a:t>Up  </a:t>
            </a:r>
            <a:r>
              <a:rPr sz="1000" b="1" spc="45" dirty="0">
                <a:solidFill>
                  <a:srgbClr val="33006E"/>
                </a:solidFill>
                <a:latin typeface="Arial"/>
                <a:cs typeface="Arial"/>
              </a:rPr>
              <a:t>a </a:t>
            </a:r>
            <a:r>
              <a:rPr sz="1000" b="1" spc="5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33006E"/>
                </a:solidFill>
                <a:latin typeface="Arial"/>
                <a:cs typeface="Arial"/>
              </a:rPr>
              <a:t>Coding   </a:t>
            </a:r>
            <a:r>
              <a:rPr sz="1000" b="1" spc="100" dirty="0">
                <a:solidFill>
                  <a:srgbClr val="33006E"/>
                </a:solidFill>
                <a:latin typeface="Arial"/>
                <a:cs typeface="Arial"/>
              </a:rPr>
              <a:t>Spreadsheet  </a:t>
            </a:r>
            <a:r>
              <a:rPr sz="1000" b="1" spc="65" dirty="0">
                <a:solidFill>
                  <a:srgbClr val="33006E"/>
                </a:solidFill>
                <a:latin typeface="Arial"/>
                <a:cs typeface="Arial"/>
              </a:rPr>
              <a:t>Based   on   </a:t>
            </a:r>
            <a:r>
              <a:rPr sz="1000" b="1" spc="125" dirty="0">
                <a:solidFill>
                  <a:srgbClr val="33006E"/>
                </a:solidFill>
                <a:latin typeface="Arial"/>
                <a:cs typeface="Arial"/>
              </a:rPr>
              <a:t>Literature  </a:t>
            </a:r>
            <a:r>
              <a:rPr sz="1000" b="1" spc="90" dirty="0">
                <a:solidFill>
                  <a:srgbClr val="33006E"/>
                </a:solidFill>
                <a:latin typeface="Arial"/>
                <a:cs typeface="Arial"/>
              </a:rPr>
              <a:t>Review  </a:t>
            </a:r>
            <a:r>
              <a:rPr sz="1000" b="1" spc="120" dirty="0">
                <a:solidFill>
                  <a:srgbClr val="33006E"/>
                </a:solidFill>
                <a:latin typeface="Arial"/>
                <a:cs typeface="Arial"/>
              </a:rPr>
              <a:t>Framework </a:t>
            </a:r>
            <a:r>
              <a:rPr sz="1000" b="1" spc="12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Create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spreadsheet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 systematically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recording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from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according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 </a:t>
            </a:r>
            <a:r>
              <a:rPr sz="1000" i="1" spc="-2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review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coding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framework;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this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process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(1)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ensures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you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do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not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miss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endParaRPr sz="1000">
              <a:latin typeface="Trebuchet MS"/>
              <a:cs typeface="Trebuchet MS"/>
            </a:endParaRPr>
          </a:p>
          <a:p>
            <a:pPr marL="635" algn="ctr"/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answering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question(s),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(2)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organizes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from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way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that</a:t>
            </a:r>
            <a:endParaRPr sz="1000">
              <a:latin typeface="Trebuchet MS"/>
              <a:cs typeface="Trebuchet MS"/>
            </a:endParaRPr>
          </a:p>
          <a:p>
            <a:pPr marL="3810" algn="ctr"/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makes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75" dirty="0">
                <a:solidFill>
                  <a:srgbClr val="33006E"/>
                </a:solidFill>
                <a:latin typeface="Trebuchet MS"/>
                <a:cs typeface="Trebuchet MS"/>
              </a:rPr>
              <a:t>it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easy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conduct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analyses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write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up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results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30"/>
              </a:spcBef>
            </a:pPr>
            <a:endParaRPr sz="1100">
              <a:latin typeface="Trebuchet MS"/>
              <a:cs typeface="Trebuchet MS"/>
            </a:endParaRPr>
          </a:p>
          <a:p>
            <a:pPr marR="2540" algn="ctr"/>
            <a:r>
              <a:rPr sz="1000" b="1" spc="60" dirty="0">
                <a:solidFill>
                  <a:srgbClr val="33006E"/>
                </a:solidFill>
                <a:latin typeface="Arial"/>
                <a:cs typeface="Arial"/>
              </a:rPr>
              <a:t>Code </a:t>
            </a:r>
            <a:r>
              <a:rPr sz="1000" b="1" spc="229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30" dirty="0">
                <a:solidFill>
                  <a:srgbClr val="33006E"/>
                </a:solidFill>
                <a:latin typeface="Arial"/>
                <a:cs typeface="Arial"/>
              </a:rPr>
              <a:t>Information </a:t>
            </a:r>
            <a:r>
              <a:rPr sz="1000" b="1" spc="19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20" dirty="0">
                <a:solidFill>
                  <a:srgbClr val="33006E"/>
                </a:solidFill>
                <a:latin typeface="Arial"/>
                <a:cs typeface="Arial"/>
              </a:rPr>
              <a:t>from </a:t>
            </a:r>
            <a:r>
              <a:rPr sz="1000" b="1" spc="18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65" dirty="0">
                <a:solidFill>
                  <a:srgbClr val="33006E"/>
                </a:solidFill>
                <a:latin typeface="Arial"/>
                <a:cs typeface="Arial"/>
              </a:rPr>
              <a:t>Body </a:t>
            </a:r>
            <a:r>
              <a:rPr sz="1000" b="1" spc="24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33006E"/>
                </a:solidFill>
                <a:latin typeface="Arial"/>
                <a:cs typeface="Arial"/>
              </a:rPr>
              <a:t>of </a:t>
            </a:r>
            <a:r>
              <a:rPr sz="1000" b="1" spc="22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Evidence</a:t>
            </a:r>
            <a:endParaRPr sz="1000">
              <a:latin typeface="Arial"/>
              <a:cs typeface="Arial"/>
            </a:endParaRPr>
          </a:p>
          <a:p>
            <a:pPr marL="172720" marR="162560" algn="ctr"/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Systematically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read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through your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body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enter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information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into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appropriate </a:t>
            </a:r>
            <a:r>
              <a:rPr sz="1000" i="1" spc="-2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sections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coding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spreadsheet</a:t>
            </a:r>
            <a:endParaRPr sz="1000">
              <a:latin typeface="Trebuchet MS"/>
              <a:cs typeface="Trebuchet MS"/>
            </a:endParaRPr>
          </a:p>
          <a:p>
            <a:pPr>
              <a:spcBef>
                <a:spcPts val="20"/>
              </a:spcBef>
            </a:pPr>
            <a:endParaRPr sz="1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000" b="1" spc="90" dirty="0">
                <a:solidFill>
                  <a:srgbClr val="33006E"/>
                </a:solidFill>
                <a:latin typeface="Arial"/>
                <a:cs typeface="Arial"/>
              </a:rPr>
              <a:t>Review </a:t>
            </a:r>
            <a:r>
              <a:rPr sz="1000" b="1" spc="17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70" dirty="0">
                <a:solidFill>
                  <a:srgbClr val="33006E"/>
                </a:solidFill>
                <a:latin typeface="Arial"/>
                <a:cs typeface="Arial"/>
              </a:rPr>
              <a:t>Coding</a:t>
            </a:r>
            <a:endParaRPr sz="1000">
              <a:latin typeface="Arial"/>
              <a:cs typeface="Arial"/>
            </a:endParaRPr>
          </a:p>
          <a:p>
            <a:pPr marL="12700" marR="5080" indent="8890" algn="just"/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Consider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modifications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coding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spreadsheet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better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answer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research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questions;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conduct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intermediate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reviews of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coding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decisions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ensure consistency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(particularly for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group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work,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but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can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also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apply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to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reviews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conducted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by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single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person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75" dirty="0">
                <a:solidFill>
                  <a:srgbClr val="33006E"/>
                </a:solidFill>
                <a:latin typeface="Trebuchet MS"/>
                <a:cs typeface="Trebuchet MS"/>
              </a:rPr>
              <a:t>if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understanding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how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to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best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code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changes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over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course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review)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86088" y="4534916"/>
            <a:ext cx="483234" cy="869315"/>
            <a:chOff x="7562088" y="4534915"/>
            <a:chExt cx="483234" cy="869315"/>
          </a:xfrm>
        </p:grpSpPr>
        <p:sp>
          <p:nvSpPr>
            <p:cNvPr id="20" name="object 20"/>
            <p:cNvSpPr/>
            <p:nvPr/>
          </p:nvSpPr>
          <p:spPr>
            <a:xfrm>
              <a:off x="7575042" y="4547869"/>
              <a:ext cx="457200" cy="464820"/>
            </a:xfrm>
            <a:custGeom>
              <a:avLst/>
              <a:gdLst/>
              <a:ahLst/>
              <a:cxnLst/>
              <a:rect l="l" t="t" r="r" b="b"/>
              <a:pathLst>
                <a:path w="457200" h="464820">
                  <a:moveTo>
                    <a:pt x="114300" y="0"/>
                  </a:moveTo>
                  <a:lnTo>
                    <a:pt x="0" y="143509"/>
                  </a:lnTo>
                  <a:lnTo>
                    <a:pt x="114300" y="307339"/>
                  </a:lnTo>
                  <a:lnTo>
                    <a:pt x="114300" y="210819"/>
                  </a:lnTo>
                  <a:lnTo>
                    <a:pt x="170289" y="223728"/>
                  </a:lnTo>
                  <a:lnTo>
                    <a:pt x="222709" y="241301"/>
                  </a:lnTo>
                  <a:lnTo>
                    <a:pt x="271088" y="263181"/>
                  </a:lnTo>
                  <a:lnTo>
                    <a:pt x="314951" y="289009"/>
                  </a:lnTo>
                  <a:lnTo>
                    <a:pt x="353825" y="318426"/>
                  </a:lnTo>
                  <a:lnTo>
                    <a:pt x="387237" y="351075"/>
                  </a:lnTo>
                  <a:lnTo>
                    <a:pt x="414712" y="386595"/>
                  </a:lnTo>
                  <a:lnTo>
                    <a:pt x="435778" y="424630"/>
                  </a:lnTo>
                  <a:lnTo>
                    <a:pt x="449960" y="464819"/>
                  </a:lnTo>
                  <a:lnTo>
                    <a:pt x="456720" y="423586"/>
                  </a:lnTo>
                  <a:lnTo>
                    <a:pt x="455965" y="382954"/>
                  </a:lnTo>
                  <a:lnTo>
                    <a:pt x="448055" y="343318"/>
                  </a:lnTo>
                  <a:lnTo>
                    <a:pt x="433352" y="305072"/>
                  </a:lnTo>
                  <a:lnTo>
                    <a:pt x="412213" y="268611"/>
                  </a:lnTo>
                  <a:lnTo>
                    <a:pt x="385000" y="234330"/>
                  </a:lnTo>
                  <a:lnTo>
                    <a:pt x="352072" y="202624"/>
                  </a:lnTo>
                  <a:lnTo>
                    <a:pt x="313788" y="173886"/>
                  </a:lnTo>
                  <a:lnTo>
                    <a:pt x="270509" y="148512"/>
                  </a:lnTo>
                  <a:lnTo>
                    <a:pt x="222595" y="126897"/>
                  </a:lnTo>
                  <a:lnTo>
                    <a:pt x="170405" y="109434"/>
                  </a:lnTo>
                  <a:lnTo>
                    <a:pt x="114300" y="96519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330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75042" y="4955539"/>
              <a:ext cx="457200" cy="435609"/>
            </a:xfrm>
            <a:custGeom>
              <a:avLst/>
              <a:gdLst/>
              <a:ahLst/>
              <a:cxnLst/>
              <a:rect l="l" t="t" r="r" b="b"/>
              <a:pathLst>
                <a:path w="457200" h="435610">
                  <a:moveTo>
                    <a:pt x="457200" y="0"/>
                  </a:moveTo>
                  <a:lnTo>
                    <a:pt x="453637" y="40297"/>
                  </a:lnTo>
                  <a:lnTo>
                    <a:pt x="443234" y="79103"/>
                  </a:lnTo>
                  <a:lnTo>
                    <a:pt x="426421" y="116115"/>
                  </a:lnTo>
                  <a:lnTo>
                    <a:pt x="403626" y="151033"/>
                  </a:lnTo>
                  <a:lnTo>
                    <a:pt x="375277" y="183555"/>
                  </a:lnTo>
                  <a:lnTo>
                    <a:pt x="341803" y="213380"/>
                  </a:lnTo>
                  <a:lnTo>
                    <a:pt x="303633" y="240206"/>
                  </a:lnTo>
                  <a:lnTo>
                    <a:pt x="261195" y="263732"/>
                  </a:lnTo>
                  <a:lnTo>
                    <a:pt x="214919" y="283656"/>
                  </a:lnTo>
                  <a:lnTo>
                    <a:pt x="165232" y="299677"/>
                  </a:lnTo>
                  <a:lnTo>
                    <a:pt x="112565" y="311494"/>
                  </a:lnTo>
                  <a:lnTo>
                    <a:pt x="57344" y="318805"/>
                  </a:lnTo>
                  <a:lnTo>
                    <a:pt x="0" y="321310"/>
                  </a:lnTo>
                  <a:lnTo>
                    <a:pt x="0" y="435610"/>
                  </a:lnTo>
                  <a:lnTo>
                    <a:pt x="57344" y="433105"/>
                  </a:lnTo>
                  <a:lnTo>
                    <a:pt x="112565" y="425794"/>
                  </a:lnTo>
                  <a:lnTo>
                    <a:pt x="165232" y="413977"/>
                  </a:lnTo>
                  <a:lnTo>
                    <a:pt x="214919" y="397956"/>
                  </a:lnTo>
                  <a:lnTo>
                    <a:pt x="261195" y="378032"/>
                  </a:lnTo>
                  <a:lnTo>
                    <a:pt x="303633" y="354506"/>
                  </a:lnTo>
                  <a:lnTo>
                    <a:pt x="341803" y="327680"/>
                  </a:lnTo>
                  <a:lnTo>
                    <a:pt x="375277" y="297855"/>
                  </a:lnTo>
                  <a:lnTo>
                    <a:pt x="403626" y="265333"/>
                  </a:lnTo>
                  <a:lnTo>
                    <a:pt x="426421" y="230415"/>
                  </a:lnTo>
                  <a:lnTo>
                    <a:pt x="443234" y="193403"/>
                  </a:lnTo>
                  <a:lnTo>
                    <a:pt x="453637" y="154597"/>
                  </a:lnTo>
                  <a:lnTo>
                    <a:pt x="457200" y="1143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2900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75042" y="4547869"/>
              <a:ext cx="457200" cy="843280"/>
            </a:xfrm>
            <a:custGeom>
              <a:avLst/>
              <a:gdLst/>
              <a:ahLst/>
              <a:cxnLst/>
              <a:rect l="l" t="t" r="r" b="b"/>
              <a:pathLst>
                <a:path w="457200" h="843279">
                  <a:moveTo>
                    <a:pt x="457200" y="407669"/>
                  </a:moveTo>
                  <a:lnTo>
                    <a:pt x="453637" y="447967"/>
                  </a:lnTo>
                  <a:lnTo>
                    <a:pt x="443234" y="486773"/>
                  </a:lnTo>
                  <a:lnTo>
                    <a:pt x="426421" y="523785"/>
                  </a:lnTo>
                  <a:lnTo>
                    <a:pt x="403626" y="558703"/>
                  </a:lnTo>
                  <a:lnTo>
                    <a:pt x="375277" y="591225"/>
                  </a:lnTo>
                  <a:lnTo>
                    <a:pt x="341803" y="621050"/>
                  </a:lnTo>
                  <a:lnTo>
                    <a:pt x="303633" y="647876"/>
                  </a:lnTo>
                  <a:lnTo>
                    <a:pt x="261195" y="671402"/>
                  </a:lnTo>
                  <a:lnTo>
                    <a:pt x="214919" y="691326"/>
                  </a:lnTo>
                  <a:lnTo>
                    <a:pt x="165232" y="707347"/>
                  </a:lnTo>
                  <a:lnTo>
                    <a:pt x="112565" y="719164"/>
                  </a:lnTo>
                  <a:lnTo>
                    <a:pt x="57344" y="726475"/>
                  </a:lnTo>
                  <a:lnTo>
                    <a:pt x="0" y="728979"/>
                  </a:lnTo>
                  <a:lnTo>
                    <a:pt x="0" y="843279"/>
                  </a:lnTo>
                  <a:lnTo>
                    <a:pt x="57344" y="840775"/>
                  </a:lnTo>
                  <a:lnTo>
                    <a:pt x="112565" y="833464"/>
                  </a:lnTo>
                  <a:lnTo>
                    <a:pt x="165232" y="821647"/>
                  </a:lnTo>
                  <a:lnTo>
                    <a:pt x="214919" y="805626"/>
                  </a:lnTo>
                  <a:lnTo>
                    <a:pt x="261195" y="785702"/>
                  </a:lnTo>
                  <a:lnTo>
                    <a:pt x="303633" y="762176"/>
                  </a:lnTo>
                  <a:lnTo>
                    <a:pt x="341803" y="735350"/>
                  </a:lnTo>
                  <a:lnTo>
                    <a:pt x="375277" y="705525"/>
                  </a:lnTo>
                  <a:lnTo>
                    <a:pt x="403626" y="673003"/>
                  </a:lnTo>
                  <a:lnTo>
                    <a:pt x="426421" y="638085"/>
                  </a:lnTo>
                  <a:lnTo>
                    <a:pt x="443234" y="601073"/>
                  </a:lnTo>
                  <a:lnTo>
                    <a:pt x="453637" y="562267"/>
                  </a:lnTo>
                  <a:lnTo>
                    <a:pt x="457200" y="521969"/>
                  </a:lnTo>
                  <a:lnTo>
                    <a:pt x="457200" y="407669"/>
                  </a:lnTo>
                  <a:lnTo>
                    <a:pt x="453762" y="368216"/>
                  </a:lnTo>
                  <a:lnTo>
                    <a:pt x="443690" y="330016"/>
                  </a:lnTo>
                  <a:lnTo>
                    <a:pt x="427346" y="293395"/>
                  </a:lnTo>
                  <a:lnTo>
                    <a:pt x="405093" y="258681"/>
                  </a:lnTo>
                  <a:lnTo>
                    <a:pt x="377293" y="226200"/>
                  </a:lnTo>
                  <a:lnTo>
                    <a:pt x="344308" y="196279"/>
                  </a:lnTo>
                  <a:lnTo>
                    <a:pt x="306501" y="169245"/>
                  </a:lnTo>
                  <a:lnTo>
                    <a:pt x="264234" y="145425"/>
                  </a:lnTo>
                  <a:lnTo>
                    <a:pt x="217870" y="125147"/>
                  </a:lnTo>
                  <a:lnTo>
                    <a:pt x="167771" y="108736"/>
                  </a:lnTo>
                  <a:lnTo>
                    <a:pt x="114300" y="96519"/>
                  </a:lnTo>
                  <a:lnTo>
                    <a:pt x="114300" y="0"/>
                  </a:lnTo>
                  <a:lnTo>
                    <a:pt x="0" y="143509"/>
                  </a:lnTo>
                  <a:lnTo>
                    <a:pt x="114300" y="307339"/>
                  </a:lnTo>
                  <a:lnTo>
                    <a:pt x="114300" y="210819"/>
                  </a:lnTo>
                  <a:lnTo>
                    <a:pt x="170289" y="223728"/>
                  </a:lnTo>
                  <a:lnTo>
                    <a:pt x="222709" y="241301"/>
                  </a:lnTo>
                  <a:lnTo>
                    <a:pt x="271088" y="263181"/>
                  </a:lnTo>
                  <a:lnTo>
                    <a:pt x="314951" y="289009"/>
                  </a:lnTo>
                  <a:lnTo>
                    <a:pt x="353825" y="318426"/>
                  </a:lnTo>
                  <a:lnTo>
                    <a:pt x="387237" y="351075"/>
                  </a:lnTo>
                  <a:lnTo>
                    <a:pt x="414712" y="386595"/>
                  </a:lnTo>
                  <a:lnTo>
                    <a:pt x="435778" y="424630"/>
                  </a:lnTo>
                  <a:lnTo>
                    <a:pt x="449960" y="464819"/>
                  </a:lnTo>
                </a:path>
              </a:pathLst>
            </a:custGeom>
            <a:ln w="25908">
              <a:solidFill>
                <a:srgbClr val="220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388" y="640522"/>
            <a:ext cx="1086522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D</a:t>
            </a:r>
            <a:r>
              <a:rPr b="1" spc="-25" dirty="0">
                <a:solidFill>
                  <a:srgbClr val="4A2D83"/>
                </a:solidFill>
              </a:rPr>
              <a:t>e</a:t>
            </a:r>
            <a:r>
              <a:rPr b="1" spc="-35" dirty="0">
                <a:solidFill>
                  <a:srgbClr val="4A2D83"/>
                </a:solidFill>
              </a:rPr>
              <a:t>v</a:t>
            </a:r>
            <a:r>
              <a:rPr b="1" spc="-30" dirty="0">
                <a:solidFill>
                  <a:srgbClr val="4A2D83"/>
                </a:solidFill>
              </a:rPr>
              <a:t>elop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L</a:t>
            </a:r>
            <a:r>
              <a:rPr b="1" spc="-30" dirty="0">
                <a:solidFill>
                  <a:srgbClr val="4A2D83"/>
                </a:solidFill>
              </a:rPr>
              <a:t>iterature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Fr</a:t>
            </a:r>
            <a:r>
              <a:rPr b="1" spc="-40" dirty="0">
                <a:solidFill>
                  <a:srgbClr val="4A2D83"/>
                </a:solidFill>
              </a:rPr>
              <a:t>a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85" dirty="0">
                <a:solidFill>
                  <a:srgbClr val="4A2D83"/>
                </a:solidFill>
              </a:rPr>
              <a:t>ewo</a:t>
            </a:r>
            <a:r>
              <a:rPr b="1" spc="-20" dirty="0">
                <a:solidFill>
                  <a:srgbClr val="4A2D83"/>
                </a:solidFill>
              </a:rPr>
              <a:t>rk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310" dirty="0">
                <a:solidFill>
                  <a:srgbClr val="4A2D83"/>
                </a:solidFill>
              </a:rPr>
              <a:t>(1/5)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3388" y="1829225"/>
            <a:ext cx="10650070" cy="43882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4295">
              <a:lnSpc>
                <a:spcPct val="120000"/>
              </a:lnSpc>
              <a:spcBef>
                <a:spcPts val="95"/>
              </a:spcBef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developing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outline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organize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key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review,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based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theory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structured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facilitate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analysis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answer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different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aspects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question(s).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Developing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makes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question,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goals,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causal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pathways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explicit. This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particularly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important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aims to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answer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“why”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certain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observed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explain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differences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contexts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spcBef>
                <a:spcPts val="20"/>
              </a:spcBef>
            </a:pPr>
            <a:endParaRPr sz="1550" dirty="0">
              <a:latin typeface="Lucida Sans Unicode"/>
              <a:cs typeface="Lucida Sans Unicode"/>
            </a:endParaRPr>
          </a:p>
          <a:p>
            <a:pPr marL="12700"/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What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framework?</a:t>
            </a:r>
            <a:endParaRPr sz="1400" dirty="0">
              <a:latin typeface="Arial"/>
              <a:cs typeface="Arial"/>
            </a:endParaRPr>
          </a:p>
          <a:p>
            <a:pPr marL="743585" marR="553720" indent="-285115">
              <a:lnSpc>
                <a:spcPct val="110000"/>
              </a:lnSpc>
              <a:spcBef>
                <a:spcPts val="50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outline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types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pull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endParaRPr sz="1400" dirty="0">
              <a:latin typeface="Lucida Sans Unicode"/>
              <a:cs typeface="Lucida Sans Unicode"/>
            </a:endParaRPr>
          </a:p>
          <a:p>
            <a:pPr marL="743585" indent="-285115">
              <a:spcBef>
                <a:spcPts val="165"/>
              </a:spcBef>
              <a:buFont typeface="Arial MT"/>
              <a:buChar char="•"/>
              <a:tabLst>
                <a:tab pos="743585" algn="l"/>
                <a:tab pos="744220" algn="l"/>
              </a:tabLst>
            </a:pP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ga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ni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za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onal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fac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ie</a:t>
            </a:r>
            <a:r>
              <a:rPr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20000"/>
              </a:lnSpc>
              <a:spcBef>
                <a:spcPts val="1120"/>
              </a:spcBef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Usually,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initial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developed prior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search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screening,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based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theoretical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expectations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preliminary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searches.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can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refined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during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identify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new,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 information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would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valuable</a:t>
            </a:r>
            <a:r>
              <a:rPr sz="14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260350">
              <a:lnSpc>
                <a:spcPct val="120000"/>
              </a:lnSpc>
              <a:spcBef>
                <a:spcPts val="1465"/>
              </a:spcBef>
            </a:pP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It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25" dirty="0">
                <a:solidFill>
                  <a:srgbClr val="4A2D83"/>
                </a:solidFill>
                <a:latin typeface="Trebuchet MS"/>
                <a:cs typeface="Trebuchet MS"/>
              </a:rPr>
              <a:t>can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be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helpful</a:t>
            </a:r>
            <a:r>
              <a:rPr sz="1400" i="1" spc="-10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to </a:t>
            </a: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organize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4A2D83"/>
                </a:solidFill>
                <a:latin typeface="Trebuchet MS"/>
                <a:cs typeface="Trebuchet MS"/>
              </a:rPr>
              <a:t>your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review</a:t>
            </a:r>
            <a:r>
              <a:rPr sz="1400" i="1" spc="-10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framework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into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5" dirty="0">
                <a:solidFill>
                  <a:srgbClr val="4A2D83"/>
                </a:solidFill>
                <a:latin typeface="Trebuchet MS"/>
                <a:cs typeface="Trebuchet MS"/>
              </a:rPr>
              <a:t>a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bulleted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outline</a:t>
            </a:r>
            <a:r>
              <a:rPr sz="1400" i="1" spc="-11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that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includes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all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 </a:t>
            </a:r>
            <a:r>
              <a:rPr sz="1400" i="1" spc="-40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the </a:t>
            </a: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information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you 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will </a:t>
            </a:r>
            <a:r>
              <a:rPr sz="1400" i="1" spc="-30" dirty="0">
                <a:solidFill>
                  <a:srgbClr val="4A2D83"/>
                </a:solidFill>
                <a:latin typeface="Trebuchet MS"/>
                <a:cs typeface="Trebuchet MS"/>
              </a:rPr>
              <a:t>seek 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to </a:t>
            </a:r>
            <a:r>
              <a:rPr sz="1400" i="1" spc="-5" dirty="0">
                <a:solidFill>
                  <a:srgbClr val="4A2D83"/>
                </a:solidFill>
                <a:latin typeface="Trebuchet MS"/>
                <a:cs typeface="Trebuchet MS"/>
              </a:rPr>
              <a:t>draw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out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 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the 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literature.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You 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may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not </a:t>
            </a:r>
            <a:r>
              <a:rPr sz="1400" i="1" spc="-30" dirty="0">
                <a:solidFill>
                  <a:srgbClr val="4A2D83"/>
                </a:solidFill>
                <a:latin typeface="Trebuchet MS"/>
                <a:cs typeface="Trebuchet MS"/>
              </a:rPr>
              <a:t>find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evidence 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on </a:t>
            </a:r>
            <a:r>
              <a:rPr sz="1400" i="1" spc="4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everything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in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4A2D83"/>
                </a:solidFill>
                <a:latin typeface="Trebuchet MS"/>
                <a:cs typeface="Trebuchet MS"/>
              </a:rPr>
              <a:t>your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review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framework,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but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that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does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not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mean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you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10" dirty="0">
                <a:solidFill>
                  <a:srgbClr val="4A2D83"/>
                </a:solidFill>
                <a:latin typeface="Trebuchet MS"/>
                <a:cs typeface="Trebuchet MS"/>
              </a:rPr>
              <a:t>should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not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10" dirty="0">
                <a:solidFill>
                  <a:srgbClr val="4A2D83"/>
                </a:solidFill>
                <a:latin typeface="Trebuchet MS"/>
                <a:cs typeface="Trebuchet MS"/>
              </a:rPr>
              <a:t>look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125" dirty="0">
                <a:solidFill>
                  <a:srgbClr val="4A2D83"/>
                </a:solidFill>
                <a:latin typeface="Trebuchet MS"/>
                <a:cs typeface="Trebuchet MS"/>
              </a:rPr>
              <a:t>it.</a:t>
            </a:r>
            <a:endParaRPr sz="1400" dirty="0">
              <a:latin typeface="Trebuchet MS"/>
              <a:cs typeface="Trebuchet MS"/>
            </a:endParaRPr>
          </a:p>
          <a:p>
            <a:pPr marL="12700">
              <a:spcBef>
                <a:spcPts val="33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Remember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that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finding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no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evidence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on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5" dirty="0">
                <a:solidFill>
                  <a:srgbClr val="4A2D83"/>
                </a:solidFill>
                <a:latin typeface="Trebuchet MS"/>
                <a:cs typeface="Trebuchet MS"/>
              </a:rPr>
              <a:t>a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particular</a:t>
            </a:r>
            <a:r>
              <a:rPr sz="1400" i="1" spc="-10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point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is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itself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5" dirty="0">
                <a:solidFill>
                  <a:srgbClr val="4A2D83"/>
                </a:solidFill>
                <a:latin typeface="Trebuchet MS"/>
                <a:cs typeface="Trebuchet MS"/>
              </a:rPr>
              <a:t>a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finding!</a:t>
            </a: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176" y="541910"/>
            <a:ext cx="1069489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D</a:t>
            </a:r>
            <a:r>
              <a:rPr b="1" spc="-25" dirty="0">
                <a:solidFill>
                  <a:srgbClr val="4A2D83"/>
                </a:solidFill>
              </a:rPr>
              <a:t>e</a:t>
            </a:r>
            <a:r>
              <a:rPr b="1" spc="-35" dirty="0">
                <a:solidFill>
                  <a:srgbClr val="4A2D83"/>
                </a:solidFill>
              </a:rPr>
              <a:t>v</a:t>
            </a:r>
            <a:r>
              <a:rPr b="1" spc="-30" dirty="0">
                <a:solidFill>
                  <a:srgbClr val="4A2D83"/>
                </a:solidFill>
              </a:rPr>
              <a:t>elop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L</a:t>
            </a:r>
            <a:r>
              <a:rPr b="1" spc="-30" dirty="0">
                <a:solidFill>
                  <a:srgbClr val="4A2D83"/>
                </a:solidFill>
              </a:rPr>
              <a:t>iterature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Fr</a:t>
            </a:r>
            <a:r>
              <a:rPr b="1" spc="-40" dirty="0">
                <a:solidFill>
                  <a:srgbClr val="4A2D83"/>
                </a:solidFill>
              </a:rPr>
              <a:t>a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85" dirty="0">
                <a:solidFill>
                  <a:srgbClr val="4A2D83"/>
                </a:solidFill>
              </a:rPr>
              <a:t>ewo</a:t>
            </a:r>
            <a:r>
              <a:rPr b="1" spc="-20" dirty="0">
                <a:solidFill>
                  <a:srgbClr val="4A2D83"/>
                </a:solidFill>
              </a:rPr>
              <a:t>rk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254" dirty="0">
                <a:solidFill>
                  <a:srgbClr val="4A2D83"/>
                </a:solidFill>
              </a:rPr>
              <a:t>(2/5)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871" y="1666834"/>
            <a:ext cx="10793505" cy="448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9065" indent="-342900" algn="just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Using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question/scope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noted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during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preliminary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searches,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develop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organize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review.</a:t>
            </a:r>
            <a:endParaRPr sz="1400" dirty="0">
              <a:latin typeface="Arial"/>
              <a:cs typeface="Arial"/>
            </a:endParaRPr>
          </a:p>
          <a:p>
            <a:pPr marL="812165" lvl="1" indent="-342900"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Break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down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its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component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hypotheses.</a:t>
            </a:r>
            <a:endParaRPr sz="1400" dirty="0">
              <a:latin typeface="Lucida Sans Unicode"/>
              <a:cs typeface="Lucida Sans Unicode"/>
            </a:endParaRPr>
          </a:p>
          <a:p>
            <a:pPr marL="812165" lvl="1" indent="-342900">
              <a:spcBef>
                <a:spcPts val="46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Draw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existing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theories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link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activities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interventions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5080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Think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critically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say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review,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ana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z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413384" lvl="2" indent="-401320">
              <a:lnSpc>
                <a:spcPct val="110100"/>
              </a:lnSpc>
              <a:spcBef>
                <a:spcPts val="30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important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 by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geography? </a:t>
            </a:r>
            <a:r>
              <a:rPr sz="1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intervention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acte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st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?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?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40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catego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tco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.g.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gen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ral 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health,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reproductive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health,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nutritional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health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outcomes)?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13970" lvl="2" indent="-401320">
              <a:lnSpc>
                <a:spcPct val="110000"/>
              </a:lnSpc>
              <a:spcBef>
                <a:spcPts val="30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5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retrieve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literature,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ud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812165" lvl="1" indent="-342900">
              <a:spcBef>
                <a:spcPts val="46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ga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ni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ze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vant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categor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83185" lvl="2" indent="-401320">
              <a:lnSpc>
                <a:spcPct val="110000"/>
              </a:lnSpc>
              <a:spcBef>
                <a:spcPts val="305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x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: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acte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ti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nter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acte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ti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opu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 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characteristics,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area.</a:t>
            </a:r>
            <a:endParaRPr sz="1400" dirty="0">
              <a:latin typeface="Lucida Sans Unicode"/>
              <a:cs typeface="Lucida Sans Unicode"/>
            </a:endParaRPr>
          </a:p>
          <a:p>
            <a:pPr marL="355600" marR="215265" indent="-342900" algn="just">
              <a:lnSpc>
                <a:spcPct val="110000"/>
              </a:lnSpc>
              <a:spcBef>
                <a:spcPts val="300"/>
              </a:spcBef>
              <a:buAutoNum type="arabicPeriod"/>
              <a:tabLst>
                <a:tab pos="355600" algn="l"/>
              </a:tabLst>
            </a:pP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(Optional)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good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time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check-in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clients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others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(your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audience,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faculty,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outside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experts)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get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feedback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ensure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proposed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appropriate:</a:t>
            </a:r>
            <a:endParaRPr sz="1400" dirty="0">
              <a:latin typeface="Arial"/>
              <a:cs typeface="Arial"/>
            </a:endParaRPr>
          </a:p>
          <a:p>
            <a:pPr marL="812165" lvl="1" indent="-342900"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hyp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ass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pti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test?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137795" lvl="1" indent="-342900">
              <a:lnSpc>
                <a:spcPct val="110000"/>
              </a:lnSpc>
              <a:spcBef>
                <a:spcPts val="30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key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characteristics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interest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answer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aspects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question?</a:t>
            </a:r>
            <a:endParaRPr sz="1400" dirty="0">
              <a:latin typeface="Lucida Sans Unicode"/>
              <a:cs typeface="Lucida Sans Unicode"/>
            </a:endParaRPr>
          </a:p>
          <a:p>
            <a:pPr marL="812165" lvl="1" indent="-342900">
              <a:spcBef>
                <a:spcPts val="47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organized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facilitate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analysis?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777" y="416155"/>
            <a:ext cx="1106244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D</a:t>
            </a:r>
            <a:r>
              <a:rPr b="1" spc="-25" dirty="0">
                <a:solidFill>
                  <a:srgbClr val="4A2D83"/>
                </a:solidFill>
              </a:rPr>
              <a:t>e</a:t>
            </a:r>
            <a:r>
              <a:rPr b="1" spc="-35" dirty="0">
                <a:solidFill>
                  <a:srgbClr val="4A2D83"/>
                </a:solidFill>
              </a:rPr>
              <a:t>v</a:t>
            </a:r>
            <a:r>
              <a:rPr b="1" spc="-30" dirty="0">
                <a:solidFill>
                  <a:srgbClr val="4A2D83"/>
                </a:solidFill>
              </a:rPr>
              <a:t>elop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L</a:t>
            </a:r>
            <a:r>
              <a:rPr b="1" spc="-30" dirty="0">
                <a:solidFill>
                  <a:srgbClr val="4A2D83"/>
                </a:solidFill>
              </a:rPr>
              <a:t>iterature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Fr</a:t>
            </a:r>
            <a:r>
              <a:rPr b="1" spc="-40" dirty="0">
                <a:solidFill>
                  <a:srgbClr val="4A2D83"/>
                </a:solidFill>
              </a:rPr>
              <a:t>a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85" dirty="0">
                <a:solidFill>
                  <a:srgbClr val="4A2D83"/>
                </a:solidFill>
              </a:rPr>
              <a:t>ewo</a:t>
            </a:r>
            <a:r>
              <a:rPr b="1" spc="-20" dirty="0">
                <a:solidFill>
                  <a:srgbClr val="4A2D83"/>
                </a:solidFill>
              </a:rPr>
              <a:t>rk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265" dirty="0">
                <a:solidFill>
                  <a:srgbClr val="4A2D83"/>
                </a:solidFill>
              </a:rPr>
              <a:t>(3/5)</a:t>
            </a:r>
          </a:p>
        </p:txBody>
      </p:sp>
      <p:sp>
        <p:nvSpPr>
          <p:cNvPr id="3" name="object 3"/>
          <p:cNvSpPr/>
          <p:nvPr/>
        </p:nvSpPr>
        <p:spPr>
          <a:xfrm>
            <a:off x="699247" y="1299882"/>
            <a:ext cx="10712823" cy="4983952"/>
          </a:xfrm>
          <a:custGeom>
            <a:avLst/>
            <a:gdLst/>
            <a:ahLst/>
            <a:cxnLst/>
            <a:rect l="l" t="t" r="r" b="b"/>
            <a:pathLst>
              <a:path w="8257540" h="5709285">
                <a:moveTo>
                  <a:pt x="8257032" y="0"/>
                </a:moveTo>
                <a:lnTo>
                  <a:pt x="0" y="0"/>
                </a:lnTo>
                <a:lnTo>
                  <a:pt x="0" y="5708904"/>
                </a:lnTo>
                <a:lnTo>
                  <a:pt x="8257032" y="5708904"/>
                </a:lnTo>
                <a:lnTo>
                  <a:pt x="8257032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248" y="1371600"/>
            <a:ext cx="3890682" cy="43017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Selection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review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framework</a:t>
            </a:r>
            <a:endParaRPr sz="1400" dirty="0">
              <a:latin typeface="Trebuchet MS"/>
              <a:cs typeface="Trebuchet MS"/>
            </a:endParaRPr>
          </a:p>
          <a:p>
            <a:pPr marL="12700">
              <a:spcBef>
                <a:spcPts val="335"/>
              </a:spcBef>
            </a:pPr>
            <a:r>
              <a:rPr sz="1400" i="1" spc="-120" dirty="0">
                <a:solidFill>
                  <a:srgbClr val="4A2D83"/>
                </a:solidFill>
                <a:latin typeface="Trebuchet MS"/>
                <a:cs typeface="Trebuchet MS"/>
              </a:rPr>
              <a:t>(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ab</a:t>
            </a:r>
            <a:r>
              <a:rPr sz="1400" i="1" spc="45" dirty="0">
                <a:solidFill>
                  <a:srgbClr val="4A2D83"/>
                </a:solidFill>
                <a:latin typeface="Trebuchet MS"/>
                <a:cs typeface="Trebuchet MS"/>
              </a:rPr>
              <a:t>b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r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e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via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t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ed</a:t>
            </a:r>
            <a:r>
              <a:rPr sz="1400" i="1" spc="-120" dirty="0">
                <a:solidFill>
                  <a:srgbClr val="4A2D83"/>
                </a:solidFill>
                <a:latin typeface="Trebuchet MS"/>
                <a:cs typeface="Trebuchet MS"/>
              </a:rPr>
              <a:t>)</a:t>
            </a:r>
            <a:r>
              <a:rPr sz="1400" i="1" spc="-16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u="sng" spc="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</a:t>
            </a:r>
            <a:r>
              <a:rPr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P</a:t>
            </a:r>
            <a:r>
              <a:rPr sz="1400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A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</a:t>
            </a:r>
            <a:r>
              <a:rPr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20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ec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hni</a:t>
            </a:r>
            <a:r>
              <a:rPr sz="1400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c</a:t>
            </a:r>
            <a:r>
              <a:rPr sz="1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a</a:t>
            </a:r>
            <a:r>
              <a:rPr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l</a:t>
            </a:r>
            <a:r>
              <a:rPr sz="1400" u="sng" spc="-1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</a:t>
            </a:r>
            <a:r>
              <a:rPr sz="1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ep</a:t>
            </a:r>
            <a:r>
              <a:rPr sz="1400" u="sng" spc="-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or</a:t>
            </a:r>
            <a:r>
              <a:rPr sz="1400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</a:t>
            </a:r>
            <a:r>
              <a:rPr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#359</a:t>
            </a:r>
            <a:endParaRPr sz="1400" dirty="0">
              <a:latin typeface="Lucida Sans Unicode"/>
              <a:cs typeface="Lucida Sans Unicode"/>
            </a:endParaRPr>
          </a:p>
          <a:p>
            <a:pPr marL="184785" marR="405130" indent="-172720">
              <a:lnSpc>
                <a:spcPct val="120000"/>
              </a:lnSpc>
              <a:spcBef>
                <a:spcPts val="305"/>
              </a:spcBef>
              <a:buFont typeface="Arial MT"/>
              <a:buChar char="•"/>
              <a:tabLst>
                <a:tab pos="18542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gani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z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ll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 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cu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nt.</a:t>
            </a:r>
            <a:endParaRPr sz="1400" dirty="0">
              <a:latin typeface="Lucida Sans Unicode"/>
              <a:cs typeface="Lucida Sans Unicode"/>
            </a:endParaRPr>
          </a:p>
          <a:p>
            <a:pPr marL="184785" indent="-172720">
              <a:spcBef>
                <a:spcPts val="635"/>
              </a:spcBef>
              <a:buFont typeface="Arial MT"/>
              <a:buChar char="•"/>
              <a:tabLst>
                <a:tab pos="1854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rs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cu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184785" marR="16510" indent="-172720" algn="just">
              <a:lnSpc>
                <a:spcPct val="120100"/>
              </a:lnSpc>
              <a:spcBef>
                <a:spcPts val="300"/>
              </a:spcBef>
              <a:buFont typeface="Arial MT"/>
              <a:buChar char="•"/>
              <a:tabLst>
                <a:tab pos="185420" algn="l"/>
              </a:tabLst>
            </a:pP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ap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 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cash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ans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og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ud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he 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reviews.</a:t>
            </a:r>
            <a:endParaRPr sz="1400" dirty="0">
              <a:latin typeface="Lucida Sans Unicode"/>
              <a:cs typeface="Lucida Sans Unicode"/>
            </a:endParaRPr>
          </a:p>
          <a:p>
            <a:pPr marL="184785" marR="5080" indent="-172720" algn="just">
              <a:lnSpc>
                <a:spcPct val="120000"/>
              </a:lnSpc>
              <a:spcBef>
                <a:spcPts val="300"/>
              </a:spcBef>
              <a:buFont typeface="Arial MT"/>
              <a:buChar char="•"/>
              <a:tabLst>
                <a:tab pos="185420" algn="l"/>
              </a:tabLst>
            </a:pPr>
            <a:r>
              <a:rPr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xt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thod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 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reviews.</a:t>
            </a:r>
            <a:endParaRPr sz="1400" dirty="0">
              <a:latin typeface="Lucida Sans Unicode"/>
              <a:cs typeface="Lucida Sans Unicode"/>
            </a:endParaRPr>
          </a:p>
          <a:p>
            <a:pPr marL="184785" indent="-172720" algn="just">
              <a:spcBef>
                <a:spcPts val="635"/>
              </a:spcBef>
              <a:buFont typeface="Arial MT"/>
              <a:buChar char="•"/>
              <a:tabLst>
                <a:tab pos="1854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st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ati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endParaRPr sz="1400" dirty="0">
              <a:latin typeface="Lucida Sans Unicode"/>
              <a:cs typeface="Lucida Sans Unicode"/>
            </a:endParaRPr>
          </a:p>
          <a:p>
            <a:pPr marL="184785" algn="just">
              <a:spcBef>
                <a:spcPts val="335"/>
              </a:spcBef>
            </a:pP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nd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ngs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spcBef>
                <a:spcPts val="5"/>
              </a:spcBef>
            </a:pPr>
            <a:endParaRPr sz="1700" dirty="0">
              <a:latin typeface="Lucida Sans Unicode"/>
              <a:cs typeface="Lucida Sans Unicode"/>
            </a:endParaRPr>
          </a:p>
          <a:p>
            <a:pPr marL="12700" marR="174625">
              <a:lnSpc>
                <a:spcPct val="120100"/>
              </a:lnSpc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organized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allow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comparison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analysis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across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reviews,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geographies,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outcomes.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7717" y="1299882"/>
            <a:ext cx="3801036" cy="49839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0965" y="243476"/>
            <a:ext cx="1074868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D</a:t>
            </a:r>
            <a:r>
              <a:rPr b="1" spc="-25" dirty="0">
                <a:solidFill>
                  <a:srgbClr val="4A2D83"/>
                </a:solidFill>
              </a:rPr>
              <a:t>e</a:t>
            </a:r>
            <a:r>
              <a:rPr b="1" spc="-35" dirty="0">
                <a:solidFill>
                  <a:srgbClr val="4A2D83"/>
                </a:solidFill>
              </a:rPr>
              <a:t>v</a:t>
            </a:r>
            <a:r>
              <a:rPr b="1" spc="-30" dirty="0">
                <a:solidFill>
                  <a:srgbClr val="4A2D83"/>
                </a:solidFill>
              </a:rPr>
              <a:t>elop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L</a:t>
            </a:r>
            <a:r>
              <a:rPr b="1" spc="-30" dirty="0">
                <a:solidFill>
                  <a:srgbClr val="4A2D83"/>
                </a:solidFill>
              </a:rPr>
              <a:t>iterature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Fr</a:t>
            </a:r>
            <a:r>
              <a:rPr b="1" spc="-40" dirty="0">
                <a:solidFill>
                  <a:srgbClr val="4A2D83"/>
                </a:solidFill>
              </a:rPr>
              <a:t>a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85" dirty="0">
                <a:solidFill>
                  <a:srgbClr val="4A2D83"/>
                </a:solidFill>
              </a:rPr>
              <a:t>ewo</a:t>
            </a:r>
            <a:r>
              <a:rPr b="1" spc="-20" dirty="0">
                <a:solidFill>
                  <a:srgbClr val="4A2D83"/>
                </a:solidFill>
              </a:rPr>
              <a:t>rk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135" dirty="0">
                <a:solidFill>
                  <a:srgbClr val="4A2D83"/>
                </a:solidFill>
              </a:rPr>
              <a:t>(</a:t>
            </a:r>
            <a:r>
              <a:rPr b="1" spc="-175" dirty="0">
                <a:solidFill>
                  <a:srgbClr val="4A2D83"/>
                </a:solidFill>
              </a:rPr>
              <a:t>4</a:t>
            </a:r>
            <a:r>
              <a:rPr b="1" spc="-290" dirty="0">
                <a:solidFill>
                  <a:srgbClr val="4A2D83"/>
                </a:solidFill>
              </a:rPr>
              <a:t>/5)</a:t>
            </a:r>
          </a:p>
        </p:txBody>
      </p:sp>
      <p:sp>
        <p:nvSpPr>
          <p:cNvPr id="3" name="object 3"/>
          <p:cNvSpPr/>
          <p:nvPr/>
        </p:nvSpPr>
        <p:spPr>
          <a:xfrm>
            <a:off x="770965" y="1106655"/>
            <a:ext cx="10748681" cy="5035064"/>
          </a:xfrm>
          <a:custGeom>
            <a:avLst/>
            <a:gdLst/>
            <a:ahLst/>
            <a:cxnLst/>
            <a:rect l="l" t="t" r="r" b="b"/>
            <a:pathLst>
              <a:path w="8240395" h="5410200">
                <a:moveTo>
                  <a:pt x="8240268" y="0"/>
                </a:moveTo>
                <a:lnTo>
                  <a:pt x="0" y="0"/>
                </a:lnTo>
                <a:lnTo>
                  <a:pt x="0" y="5410200"/>
                </a:lnTo>
                <a:lnTo>
                  <a:pt x="8240268" y="5410200"/>
                </a:lnTo>
                <a:lnTo>
                  <a:pt x="8240268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51647" y="1106654"/>
            <a:ext cx="10667999" cy="1274323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spcBef>
                <a:spcPts val="56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theoretical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4A2D83"/>
                </a:solidFill>
                <a:latin typeface="Trebuchet MS"/>
                <a:cs typeface="Trebuchet MS"/>
              </a:rPr>
              <a:t>grounding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review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framework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10000"/>
              </a:lnSpc>
              <a:spcBef>
                <a:spcPts val="300"/>
              </a:spcBef>
            </a:pP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causal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fundamentally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through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disease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disability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reducing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productivity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(lost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income,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compromised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physical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cognitive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inputs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decrease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firm outputs)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expenditures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diverted from investment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health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care.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These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pathways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theorized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via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three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avenues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(individual/HH-level,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firm-level,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economy-level)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pictured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below.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See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full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detail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pathway.</a:t>
            </a:r>
            <a:endParaRPr sz="1400" dirty="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648" y="2380977"/>
            <a:ext cx="6592823" cy="358749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211" y="226906"/>
            <a:ext cx="11008659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D</a:t>
            </a:r>
            <a:r>
              <a:rPr b="1" spc="-25" dirty="0">
                <a:solidFill>
                  <a:srgbClr val="4A2D83"/>
                </a:solidFill>
              </a:rPr>
              <a:t>e</a:t>
            </a:r>
            <a:r>
              <a:rPr b="1" spc="-35" dirty="0">
                <a:solidFill>
                  <a:srgbClr val="4A2D83"/>
                </a:solidFill>
              </a:rPr>
              <a:t>v</a:t>
            </a:r>
            <a:r>
              <a:rPr b="1" spc="-30" dirty="0">
                <a:solidFill>
                  <a:srgbClr val="4A2D83"/>
                </a:solidFill>
              </a:rPr>
              <a:t>elop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75" dirty="0">
                <a:solidFill>
                  <a:srgbClr val="4A2D83"/>
                </a:solidFill>
              </a:rPr>
              <a:t>L</a:t>
            </a:r>
            <a:r>
              <a:rPr b="1" spc="-30" dirty="0">
                <a:solidFill>
                  <a:srgbClr val="4A2D83"/>
                </a:solidFill>
              </a:rPr>
              <a:t>iterature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Fr</a:t>
            </a:r>
            <a:r>
              <a:rPr b="1" spc="-40" dirty="0">
                <a:solidFill>
                  <a:srgbClr val="4A2D83"/>
                </a:solidFill>
              </a:rPr>
              <a:t>a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85" dirty="0">
                <a:solidFill>
                  <a:srgbClr val="4A2D83"/>
                </a:solidFill>
              </a:rPr>
              <a:t>ewo</a:t>
            </a:r>
            <a:r>
              <a:rPr b="1" spc="-20" dirty="0">
                <a:solidFill>
                  <a:srgbClr val="4A2D83"/>
                </a:solidFill>
              </a:rPr>
              <a:t>rk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270" dirty="0">
                <a:solidFill>
                  <a:srgbClr val="4A2D83"/>
                </a:solidFill>
              </a:rPr>
              <a:t>(5/5)</a:t>
            </a:r>
          </a:p>
        </p:txBody>
      </p:sp>
      <p:sp>
        <p:nvSpPr>
          <p:cNvPr id="3" name="object 3"/>
          <p:cNvSpPr/>
          <p:nvPr/>
        </p:nvSpPr>
        <p:spPr>
          <a:xfrm>
            <a:off x="708211" y="1129553"/>
            <a:ext cx="11008659" cy="5055221"/>
          </a:xfrm>
          <a:custGeom>
            <a:avLst/>
            <a:gdLst/>
            <a:ahLst/>
            <a:cxnLst/>
            <a:rect l="l" t="t" r="r" b="b"/>
            <a:pathLst>
              <a:path w="8242300" h="5511165">
                <a:moveTo>
                  <a:pt x="8241792" y="0"/>
                </a:moveTo>
                <a:lnTo>
                  <a:pt x="0" y="0"/>
                </a:lnTo>
                <a:lnTo>
                  <a:pt x="0" y="5510784"/>
                </a:lnTo>
                <a:lnTo>
                  <a:pt x="8241792" y="5510784"/>
                </a:lnTo>
                <a:lnTo>
                  <a:pt x="8241792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5435" y="1035431"/>
            <a:ext cx="10381130" cy="1037976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spcBef>
                <a:spcPts val="570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theoretical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4A2D83"/>
                </a:solidFill>
                <a:latin typeface="Trebuchet MS"/>
                <a:cs typeface="Trebuchet MS"/>
              </a:rPr>
              <a:t>grounding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review</a:t>
            </a:r>
            <a:r>
              <a:rPr sz="1400" i="1" spc="-11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framework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9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5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12700" marR="5080">
              <a:lnSpc>
                <a:spcPct val="110000"/>
              </a:lnSpc>
              <a:spcBef>
                <a:spcPts val="305"/>
              </a:spcBef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 child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 in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greater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school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absenteeism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reduced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educational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attainment,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lower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adult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productivity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implications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reduced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household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income.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further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draw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connection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lower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adult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productivity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reduced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output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lower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growth,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economy-level.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5893" y="4976597"/>
            <a:ext cx="7849870" cy="964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framework for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to economic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both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growth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well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various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identified.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35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framework,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pathway.</a:t>
            </a:r>
            <a:endParaRPr sz="14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6551" y="2260093"/>
            <a:ext cx="3360420" cy="23393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9247" y="193228"/>
            <a:ext cx="10963835" cy="136640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5" dirty="0">
                <a:solidFill>
                  <a:srgbClr val="4A2D83"/>
                </a:solidFill>
              </a:rPr>
              <a:t>Set</a:t>
            </a:r>
            <a:r>
              <a:rPr b="1" spc="-235" dirty="0">
                <a:solidFill>
                  <a:srgbClr val="4A2D83"/>
                </a:solidFill>
              </a:rPr>
              <a:t> </a:t>
            </a:r>
            <a:r>
              <a:rPr b="1" spc="5" dirty="0">
                <a:solidFill>
                  <a:srgbClr val="4A2D83"/>
                </a:solidFill>
              </a:rPr>
              <a:t>Up</a:t>
            </a:r>
            <a:r>
              <a:rPr b="1" spc="-204" dirty="0">
                <a:solidFill>
                  <a:srgbClr val="4A2D83"/>
                </a:solidFill>
              </a:rPr>
              <a:t> </a:t>
            </a:r>
            <a:r>
              <a:rPr b="1" spc="-80" dirty="0">
                <a:solidFill>
                  <a:srgbClr val="4A2D83"/>
                </a:solidFill>
              </a:rPr>
              <a:t>a</a:t>
            </a:r>
            <a:r>
              <a:rPr b="1" spc="-225" dirty="0">
                <a:solidFill>
                  <a:srgbClr val="4A2D83"/>
                </a:solidFill>
              </a:rPr>
              <a:t> </a:t>
            </a:r>
            <a:r>
              <a:rPr b="1" spc="-50" dirty="0">
                <a:solidFill>
                  <a:srgbClr val="4A2D83"/>
                </a:solidFill>
              </a:rPr>
              <a:t>Coding</a:t>
            </a:r>
            <a:r>
              <a:rPr b="1" spc="-200" dirty="0">
                <a:solidFill>
                  <a:srgbClr val="4A2D83"/>
                </a:solidFill>
              </a:rPr>
              <a:t> </a:t>
            </a:r>
            <a:r>
              <a:rPr b="1" spc="-45" dirty="0">
                <a:solidFill>
                  <a:srgbClr val="4A2D83"/>
                </a:solidFill>
              </a:rPr>
              <a:t>Spreadsheet</a:t>
            </a:r>
            <a:r>
              <a:rPr b="1" spc="-220" dirty="0">
                <a:solidFill>
                  <a:srgbClr val="4A2D83"/>
                </a:solidFill>
              </a:rPr>
              <a:t> </a:t>
            </a:r>
            <a:r>
              <a:rPr b="1" spc="-45" dirty="0">
                <a:solidFill>
                  <a:srgbClr val="4A2D83"/>
                </a:solidFill>
              </a:rPr>
              <a:t>Based</a:t>
            </a:r>
            <a:r>
              <a:rPr b="1" spc="-210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on</a:t>
            </a:r>
            <a:r>
              <a:rPr b="1" spc="-225" dirty="0">
                <a:solidFill>
                  <a:srgbClr val="4A2D83"/>
                </a:solidFill>
              </a:rPr>
              <a:t> </a:t>
            </a:r>
            <a:r>
              <a:rPr b="1" spc="-30" dirty="0">
                <a:solidFill>
                  <a:srgbClr val="4A2D83"/>
                </a:solidFill>
              </a:rPr>
              <a:t>Literature</a:t>
            </a:r>
            <a:r>
              <a:rPr b="1" spc="-22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Review</a:t>
            </a:r>
            <a:r>
              <a:rPr b="1" spc="-235" dirty="0">
                <a:solidFill>
                  <a:srgbClr val="4A2D83"/>
                </a:solidFill>
              </a:rPr>
              <a:t> </a:t>
            </a:r>
            <a:r>
              <a:rPr b="1" spc="-50" dirty="0">
                <a:solidFill>
                  <a:srgbClr val="4A2D83"/>
                </a:solidFill>
              </a:rPr>
              <a:t>Framework</a:t>
            </a:r>
            <a:r>
              <a:rPr b="1" spc="-204" dirty="0">
                <a:solidFill>
                  <a:srgbClr val="4A2D83"/>
                </a:solidFill>
              </a:rPr>
              <a:t> </a:t>
            </a:r>
            <a:r>
              <a:rPr b="1" spc="-250" dirty="0">
                <a:solidFill>
                  <a:srgbClr val="4A2D83"/>
                </a:solidFill>
              </a:rPr>
              <a:t>(1/4)</a:t>
            </a:r>
            <a:endParaRPr b="1" dirty="0"/>
          </a:p>
        </p:txBody>
      </p:sp>
      <p:sp>
        <p:nvSpPr>
          <p:cNvPr id="3" name="object 3"/>
          <p:cNvSpPr txBox="1"/>
          <p:nvPr/>
        </p:nvSpPr>
        <p:spPr>
          <a:xfrm>
            <a:off x="699247" y="1855094"/>
            <a:ext cx="10963835" cy="4440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After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identified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our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review,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create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systematically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recording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from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according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framework.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 goals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creating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(1)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ensure you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 not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miss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relevant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answering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(2)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studies in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way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makes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easy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conduct analyses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write up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results.</a:t>
            </a:r>
            <a:endParaRPr sz="1400" dirty="0">
              <a:latin typeface="Lucida Sans Unicode"/>
              <a:cs typeface="Lucida Sans Unicode"/>
            </a:endParaRPr>
          </a:p>
          <a:p>
            <a:pPr>
              <a:spcBef>
                <a:spcPts val="65"/>
              </a:spcBef>
            </a:pPr>
            <a:endParaRPr sz="1550" dirty="0">
              <a:latin typeface="Lucida Sans Unicode"/>
              <a:cs typeface="Lucida Sans Unicode"/>
            </a:endParaRPr>
          </a:p>
          <a:p>
            <a:pPr marL="355600" marR="39370" indent="-342900">
              <a:lnSpc>
                <a:spcPct val="11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Begin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creating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spreadsheet.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Using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columns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spreadsheet,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save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new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version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new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title.</a:t>
            </a:r>
            <a:endParaRPr sz="1400" dirty="0">
              <a:latin typeface="Arial"/>
              <a:cs typeface="Arial"/>
            </a:endParaRPr>
          </a:p>
          <a:p>
            <a:pPr marL="812165" marR="80010" lvl="1" indent="-342900">
              <a:spcBef>
                <a:spcPts val="7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Delete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duplicates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meet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criteria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only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final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should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retained.</a:t>
            </a:r>
            <a:endParaRPr sz="1400" dirty="0">
              <a:latin typeface="Lucida Sans Unicode"/>
              <a:cs typeface="Lucida Sans Unicode"/>
            </a:endParaRPr>
          </a:p>
          <a:p>
            <a:pPr lvl="1">
              <a:spcBef>
                <a:spcPts val="70"/>
              </a:spcBef>
              <a:buClr>
                <a:srgbClr val="4A2D83"/>
              </a:buClr>
              <a:buFont typeface="Lucida Sans Unicode"/>
              <a:buAutoNum type="alphaLcPeriod"/>
            </a:pPr>
            <a:endParaRPr sz="1400" dirty="0">
              <a:latin typeface="Lucida Sans Unicode"/>
              <a:cs typeface="Lucida Sans Unicode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Add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following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columns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(if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already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created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screening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spreadsheet):</a:t>
            </a:r>
            <a:endParaRPr sz="1400" dirty="0">
              <a:latin typeface="Arial"/>
              <a:cs typeface="Arial"/>
            </a:endParaRPr>
          </a:p>
          <a:p>
            <a:pPr marL="812165" marR="97790" lvl="1" indent="-342900">
              <a:spcBef>
                <a:spcPts val="39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General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e.g.,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citation,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year,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has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been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peer-reviewed</a:t>
            </a:r>
            <a:endParaRPr sz="1400" dirty="0">
              <a:latin typeface="Lucida Sans Unicode"/>
              <a:cs typeface="Lucida Sans Unicode"/>
            </a:endParaRPr>
          </a:p>
          <a:p>
            <a:pPr marL="812165" lvl="1" indent="-342900">
              <a:buAutoNum type="alphaLcPeriod"/>
              <a:tabLst>
                <a:tab pos="812165" algn="l"/>
                <a:tab pos="81280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ee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586740" lvl="1" indent="-342900">
              <a:spcBef>
                <a:spcPts val="3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about the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methodology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(if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appropriate)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 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country/countri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years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d,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hypothes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pe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depende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nt 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var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p,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type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xpe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nt,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tc.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367665" lvl="2" indent="-401320">
              <a:spcBef>
                <a:spcPts val="32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empirical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sample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size,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representation, </a:t>
            </a:r>
            <a:r>
              <a:rPr sz="1300" spc="-3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sampling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methodology,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unit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analysis,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etc.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Also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note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endParaRPr sz="1300" dirty="0">
              <a:latin typeface="Lucida Sans Unicode"/>
              <a:cs typeface="Lucida Sans Unicode"/>
            </a:endParaRPr>
          </a:p>
          <a:p>
            <a:pPr marL="1327785" marR="129539"/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assumptions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authors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made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could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change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reader’s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interpretation </a:t>
            </a:r>
            <a:r>
              <a:rPr sz="1300" spc="-4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 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“we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assumed that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differential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rates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ARV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adoption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did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affect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deaths</a:t>
            </a:r>
            <a:r>
              <a:rPr sz="13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earlier</a:t>
            </a:r>
            <a:r>
              <a:rPr sz="13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HIV/AIDS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cases”).</a:t>
            </a:r>
            <a:endParaRPr sz="13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5480" y="4364735"/>
            <a:ext cx="8321040" cy="2308860"/>
          </a:xfrm>
          <a:custGeom>
            <a:avLst/>
            <a:gdLst/>
            <a:ahLst/>
            <a:cxnLst/>
            <a:rect l="l" t="t" r="r" b="b"/>
            <a:pathLst>
              <a:path w="8321040" h="2308859">
                <a:moveTo>
                  <a:pt x="8321040" y="0"/>
                </a:moveTo>
                <a:lnTo>
                  <a:pt x="0" y="0"/>
                </a:lnTo>
                <a:lnTo>
                  <a:pt x="0" y="2308860"/>
                </a:lnTo>
                <a:lnTo>
                  <a:pt x="8321040" y="2308860"/>
                </a:lnTo>
                <a:lnTo>
                  <a:pt x="8321040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45459" y="141173"/>
            <a:ext cx="10919012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000" b="1" spc="-35" dirty="0">
                <a:solidFill>
                  <a:srgbClr val="4A2D83"/>
                </a:solidFill>
                <a:latin typeface="Verdana"/>
                <a:cs typeface="Verdana"/>
              </a:rPr>
              <a:t>Set</a:t>
            </a:r>
            <a:r>
              <a:rPr sz="2000" b="1" spc="-23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5" dirty="0">
                <a:solidFill>
                  <a:srgbClr val="4A2D83"/>
                </a:solidFill>
                <a:latin typeface="Verdana"/>
                <a:cs typeface="Verdana"/>
              </a:rPr>
              <a:t>Up</a:t>
            </a:r>
            <a:r>
              <a:rPr sz="2000" b="1" spc="-204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80" dirty="0">
                <a:solidFill>
                  <a:srgbClr val="4A2D83"/>
                </a:solidFill>
                <a:latin typeface="Verdana"/>
                <a:cs typeface="Verdana"/>
              </a:rPr>
              <a:t>a</a:t>
            </a:r>
            <a:r>
              <a:rPr sz="20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50" dirty="0">
                <a:solidFill>
                  <a:srgbClr val="4A2D83"/>
                </a:solidFill>
                <a:latin typeface="Verdana"/>
                <a:cs typeface="Verdana"/>
              </a:rPr>
              <a:t>Coding</a:t>
            </a:r>
            <a:r>
              <a:rPr sz="2000" b="1" spc="-20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45" dirty="0">
                <a:solidFill>
                  <a:srgbClr val="4A2D83"/>
                </a:solidFill>
                <a:latin typeface="Verdana"/>
                <a:cs typeface="Verdana"/>
              </a:rPr>
              <a:t>Spreadsheet</a:t>
            </a:r>
            <a:r>
              <a:rPr sz="2000" b="1" spc="-22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45" dirty="0">
                <a:solidFill>
                  <a:srgbClr val="4A2D83"/>
                </a:solidFill>
                <a:latin typeface="Verdana"/>
                <a:cs typeface="Verdana"/>
              </a:rPr>
              <a:t>Based</a:t>
            </a:r>
            <a:r>
              <a:rPr sz="2000" b="1" spc="-21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20" dirty="0">
                <a:solidFill>
                  <a:srgbClr val="4A2D83"/>
                </a:solidFill>
                <a:latin typeface="Verdana"/>
                <a:cs typeface="Verdana"/>
              </a:rPr>
              <a:t>on</a:t>
            </a:r>
            <a:r>
              <a:rPr sz="2000" b="1" spc="-229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30" dirty="0">
                <a:solidFill>
                  <a:srgbClr val="4A2D83"/>
                </a:solidFill>
                <a:latin typeface="Verdana"/>
                <a:cs typeface="Verdana"/>
              </a:rPr>
              <a:t>Literature</a:t>
            </a:r>
            <a:r>
              <a:rPr sz="20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60" dirty="0">
                <a:solidFill>
                  <a:srgbClr val="4A2D83"/>
                </a:solidFill>
                <a:latin typeface="Verdana"/>
                <a:cs typeface="Verdana"/>
              </a:rPr>
              <a:t>Review</a:t>
            </a:r>
            <a:r>
              <a:rPr sz="2000" b="1" spc="-23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2000" b="1" spc="-50" dirty="0">
                <a:solidFill>
                  <a:srgbClr val="4A2D83"/>
                </a:solidFill>
                <a:latin typeface="Verdana"/>
                <a:cs typeface="Verdana"/>
              </a:rPr>
              <a:t>Framework</a:t>
            </a:r>
            <a:r>
              <a:rPr sz="2000" b="1" spc="-204" dirty="0">
                <a:solidFill>
                  <a:srgbClr val="4A2D83"/>
                </a:solidFill>
                <a:latin typeface="Verdana"/>
                <a:cs typeface="Verdana"/>
              </a:rPr>
              <a:t> (2/4)</a:t>
            </a:r>
            <a:endParaRPr sz="2000" dirty="0">
              <a:latin typeface="Verdana"/>
              <a:cs typeface="Verdana"/>
            </a:endParaRPr>
          </a:p>
          <a:p>
            <a:pPr>
              <a:spcBef>
                <a:spcPts val="50"/>
              </a:spcBef>
            </a:pPr>
            <a:endParaRPr sz="1900" dirty="0">
              <a:latin typeface="Verdana"/>
              <a:cs typeface="Verdana"/>
            </a:endParaRPr>
          </a:p>
          <a:p>
            <a:pPr marL="1274445" indent="-343535">
              <a:buAutoNum type="alphaLcPeriod" startAt="4"/>
              <a:tabLst>
                <a:tab pos="1274445" algn="l"/>
                <a:tab pos="1275080" algn="l"/>
              </a:tabLst>
            </a:pP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Add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nts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rk.</a:t>
            </a:r>
            <a:endParaRPr sz="1400" dirty="0">
              <a:latin typeface="Lucida Sans Unicode"/>
              <a:cs typeface="Lucida Sans Unicode"/>
            </a:endParaRPr>
          </a:p>
          <a:p>
            <a:pPr marL="1789430" marR="292735" lvl="1" indent="-401320">
              <a:lnSpc>
                <a:spcPts val="1850"/>
              </a:lnSpc>
              <a:spcBef>
                <a:spcPts val="85"/>
              </a:spcBef>
              <a:buAutoNum type="romanLcPeriod"/>
              <a:tabLst>
                <a:tab pos="1789430" algn="l"/>
                <a:tab pos="1790064" algn="l"/>
              </a:tabLst>
            </a:pP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400" spc="-360" dirty="0">
                <a:solidFill>
                  <a:srgbClr val="4A2D83"/>
                </a:solidFill>
                <a:latin typeface="Lucida Sans Unicode"/>
                <a:cs typeface="Lucida Sans Unicode"/>
              </a:rPr>
              <a:t>-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top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.g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ipto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acte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tics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 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nter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nti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n/p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ol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tco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IN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asu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tc.</a:t>
            </a:r>
            <a:endParaRPr sz="1400" dirty="0">
              <a:latin typeface="Lucida Sans Unicode"/>
              <a:cs typeface="Lucida Sans Unicode"/>
            </a:endParaRPr>
          </a:p>
          <a:p>
            <a:pPr marL="1789430" marR="184785" lvl="1" indent="-401320">
              <a:lnSpc>
                <a:spcPct val="110000"/>
              </a:lnSpc>
              <a:spcBef>
                <a:spcPts val="210"/>
              </a:spcBef>
              <a:buAutoNum type="romanLcPeriod"/>
              <a:tabLst>
                <a:tab pos="1789430" algn="l"/>
                <a:tab pos="1790064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element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framework,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add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asking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related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element.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“does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IN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X?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(Y/N)”,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“What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type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intervention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outcome?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(positive,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negative,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mixed,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lang="en-IN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gni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nt,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)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”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lang="en-IN" sz="1400" spc="-70" dirty="0">
              <a:solidFill>
                <a:srgbClr val="4A2D83"/>
              </a:solidFill>
              <a:latin typeface="Lucida Sans Unicode"/>
              <a:cs typeface="Lucida Sans Unicode"/>
            </a:endParaRPr>
          </a:p>
          <a:p>
            <a:pPr marL="2475230" marR="238125" lvl="2" indent="-4013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475230" algn="l"/>
                <a:tab pos="2475865" algn="l"/>
              </a:tabLst>
            </a:pPr>
            <a:r>
              <a:rPr sz="1400" spc="7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sti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6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s/N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categ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tions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ma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 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easier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information.</a:t>
            </a:r>
            <a:endParaRPr sz="1400" dirty="0">
              <a:latin typeface="Lucida Sans Unicode"/>
              <a:cs typeface="Lucida Sans Unicode"/>
            </a:endParaRPr>
          </a:p>
          <a:p>
            <a:pPr marL="2475230" marR="312420" lvl="2" indent="-4013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475230" algn="l"/>
                <a:tab pos="2475865" algn="l"/>
              </a:tabLst>
            </a:pPr>
            <a:r>
              <a:rPr sz="1400" spc="20" dirty="0">
                <a:solidFill>
                  <a:srgbClr val="4A2D83"/>
                </a:solidFill>
                <a:latin typeface="Lucida Sans Unicode"/>
                <a:cs typeface="Lucida Sans Unicode"/>
              </a:rPr>
              <a:t>When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phrased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solicit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categorical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responses,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specify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categories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beforehand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consistent.</a:t>
            </a:r>
            <a:endParaRPr lang="en-IN" sz="1400" spc="-35" dirty="0">
              <a:solidFill>
                <a:srgbClr val="4A2D83"/>
              </a:solidFill>
              <a:latin typeface="Lucida Sans Unicode"/>
              <a:cs typeface="Lucida Sans Unicode"/>
            </a:endParaRPr>
          </a:p>
          <a:p>
            <a:pPr marL="2073910" marR="312420" lvl="2">
              <a:lnSpc>
                <a:spcPct val="110000"/>
              </a:lnSpc>
              <a:spcBef>
                <a:spcPts val="300"/>
              </a:spcBef>
              <a:tabLst>
                <a:tab pos="2475230" algn="l"/>
                <a:tab pos="2475865" algn="l"/>
              </a:tabLst>
            </a:pPr>
            <a:r>
              <a:rPr lang="en-IN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iii.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qu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sti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n,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ud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j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nt</a:t>
            </a:r>
            <a:r>
              <a:rPr lang="en-US"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“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rib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”</a:t>
            </a:r>
            <a:r>
              <a:rPr lang="en-US"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lang="en-US"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lang="en-US"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um</a:t>
            </a:r>
            <a:r>
              <a:rPr lang="en-US"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whe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 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lang="en-US"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lang="en-US"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qualitative</a:t>
            </a:r>
            <a:r>
              <a:rPr lang="en-US"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description</a:t>
            </a:r>
            <a:r>
              <a:rPr lang="en-US"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lang="en-US"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lang="en-US"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lang="en-US"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lang="en-US"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decision.</a:t>
            </a:r>
            <a:endParaRPr lang="en-US" sz="1400" dirty="0">
              <a:latin typeface="Lucida Sans Unicode"/>
              <a:cs typeface="Lucida Sans Unicode"/>
            </a:endParaRPr>
          </a:p>
          <a:p>
            <a:pPr marL="2073910" marR="312420" lvl="2">
              <a:lnSpc>
                <a:spcPct val="110000"/>
              </a:lnSpc>
              <a:spcBef>
                <a:spcPts val="300"/>
              </a:spcBef>
              <a:tabLst>
                <a:tab pos="2475230" algn="l"/>
                <a:tab pos="2475865" algn="l"/>
              </a:tabLst>
            </a:pPr>
            <a:endParaRPr lang="en-IN" sz="1400" spc="-35" dirty="0">
              <a:solidFill>
                <a:srgbClr val="4A2D83"/>
              </a:solidFill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459" y="4388358"/>
            <a:ext cx="10919011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Example</a:t>
            </a:r>
            <a:r>
              <a:rPr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33006E"/>
                </a:solidFill>
                <a:latin typeface="Trebuchet MS"/>
                <a:cs typeface="Trebuchet MS"/>
              </a:rPr>
              <a:t>from</a:t>
            </a:r>
            <a:r>
              <a:rPr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33006E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12700" marR="558800">
              <a:spcBef>
                <a:spcPts val="5"/>
              </a:spcBef>
            </a:pP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The coding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spreadsheet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columns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separate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distinctions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 measures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economic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growth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used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study.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So,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(life-expectancy,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stunting,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etc.)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has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a </a:t>
            </a:r>
            <a:r>
              <a:rPr sz="14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different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column,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grouped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under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“morbidity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measures”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coded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according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indicator:</a:t>
            </a:r>
            <a:endParaRPr sz="1400" dirty="0">
              <a:latin typeface="Lucida Sans Unicode"/>
              <a:cs typeface="Lucida Sans Unicode"/>
            </a:endParaRPr>
          </a:p>
          <a:p>
            <a:pPr marL="184785" marR="197485" indent="-172720">
              <a:spcBef>
                <a:spcPts val="5"/>
              </a:spcBef>
              <a:buFont typeface="Arial MT"/>
              <a:buChar char="•"/>
              <a:tabLst>
                <a:tab pos="185420" algn="l"/>
              </a:tabLst>
            </a:pPr>
            <a:r>
              <a:rPr sz="1300" b="1" spc="30" dirty="0">
                <a:solidFill>
                  <a:srgbClr val="33006E"/>
                </a:solidFill>
                <a:latin typeface="Arial"/>
                <a:cs typeface="Arial"/>
              </a:rPr>
              <a:t>Measures</a:t>
            </a:r>
            <a:r>
              <a:rPr sz="1300" b="1" spc="-2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b="1" spc="35" dirty="0">
                <a:solidFill>
                  <a:srgbClr val="33006E"/>
                </a:solidFill>
                <a:latin typeface="Arial"/>
                <a:cs typeface="Arial"/>
              </a:rPr>
              <a:t>of</a:t>
            </a:r>
            <a:r>
              <a:rPr sz="1300" b="1" spc="-3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b="1" spc="50" dirty="0">
                <a:solidFill>
                  <a:srgbClr val="33006E"/>
                </a:solidFill>
                <a:latin typeface="Arial"/>
                <a:cs typeface="Arial"/>
              </a:rPr>
              <a:t>morbidity</a:t>
            </a:r>
            <a:r>
              <a:rPr sz="1300" b="1" spc="1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direct</a:t>
            </a:r>
            <a:r>
              <a:rPr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</a:t>
            </a:r>
            <a:r>
              <a:rPr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(e.g.,</a:t>
            </a:r>
            <a:r>
              <a:rPr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life</a:t>
            </a:r>
            <a:r>
              <a:rPr sz="13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expectancy,</a:t>
            </a:r>
            <a:r>
              <a:rPr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self-reported</a:t>
            </a:r>
            <a:r>
              <a:rPr sz="13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health),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disability </a:t>
            </a:r>
            <a:r>
              <a:rPr sz="1300" spc="-3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adjusted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health</a:t>
            </a:r>
            <a:r>
              <a:rPr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metrics,</a:t>
            </a:r>
            <a:r>
              <a:rPr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nutritional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measures,</a:t>
            </a:r>
            <a:r>
              <a:rPr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cognition</a:t>
            </a:r>
            <a:endParaRPr sz="1300" dirty="0">
              <a:latin typeface="Lucida Sans Unicode"/>
              <a:cs typeface="Lucida Sans Unicode"/>
            </a:endParaRPr>
          </a:p>
          <a:p>
            <a:pPr marL="184785" marR="5080" indent="-172720">
              <a:buFont typeface="Arial MT"/>
              <a:buChar char="•"/>
              <a:tabLst>
                <a:tab pos="185420" algn="l"/>
              </a:tabLst>
            </a:pPr>
            <a:r>
              <a:rPr sz="1300" b="1" spc="30" dirty="0">
                <a:solidFill>
                  <a:srgbClr val="33006E"/>
                </a:solidFill>
                <a:latin typeface="Arial"/>
                <a:cs typeface="Arial"/>
              </a:rPr>
              <a:t>Measures</a:t>
            </a:r>
            <a:r>
              <a:rPr sz="1300" b="1" spc="-1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b="1" spc="35" dirty="0">
                <a:solidFill>
                  <a:srgbClr val="33006E"/>
                </a:solidFill>
                <a:latin typeface="Arial"/>
                <a:cs typeface="Arial"/>
              </a:rPr>
              <a:t>of</a:t>
            </a:r>
            <a:r>
              <a:rPr sz="1300" b="1" spc="-2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b="1" spc="15" dirty="0">
                <a:solidFill>
                  <a:srgbClr val="33006E"/>
                </a:solidFill>
                <a:latin typeface="Arial"/>
                <a:cs typeface="Arial"/>
              </a:rPr>
              <a:t>economic</a:t>
            </a:r>
            <a:r>
              <a:rPr sz="1300" b="1" spc="-4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b="1" spc="45" dirty="0">
                <a:solidFill>
                  <a:srgbClr val="33006E"/>
                </a:solidFill>
                <a:latin typeface="Arial"/>
                <a:cs typeface="Arial"/>
              </a:rPr>
              <a:t>impact</a:t>
            </a:r>
            <a:r>
              <a:rPr sz="1300" b="1" spc="1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includes</a:t>
            </a:r>
            <a:r>
              <a:rPr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GDP</a:t>
            </a:r>
            <a:r>
              <a:rPr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20" dirty="0">
                <a:solidFill>
                  <a:srgbClr val="33006E"/>
                </a:solidFill>
                <a:latin typeface="Lucida Sans Unicode"/>
                <a:cs typeface="Lucida Sans Unicode"/>
              </a:rPr>
              <a:t>GNP</a:t>
            </a:r>
            <a:r>
              <a:rPr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measures,</a:t>
            </a:r>
            <a:r>
              <a:rPr sz="13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household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income</a:t>
            </a:r>
            <a:r>
              <a:rPr sz="13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average</a:t>
            </a:r>
            <a:r>
              <a:rPr sz="13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income, </a:t>
            </a:r>
            <a:r>
              <a:rPr sz="1300" spc="-3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FDI,</a:t>
            </a:r>
            <a:r>
              <a:rPr sz="13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wages,</a:t>
            </a:r>
            <a:r>
              <a:rPr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productivity,</a:t>
            </a:r>
            <a:r>
              <a:rPr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absenteeism,</a:t>
            </a:r>
            <a:r>
              <a:rPr sz="13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employment,</a:t>
            </a:r>
            <a:r>
              <a:rPr sz="13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savings,</a:t>
            </a:r>
            <a:r>
              <a:rPr sz="13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3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education/human</a:t>
            </a:r>
            <a:r>
              <a:rPr sz="13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capital</a:t>
            </a:r>
            <a:endParaRPr sz="1300" dirty="0">
              <a:latin typeface="Lucida Sans Unicode"/>
              <a:cs typeface="Lucida Sans Unicode"/>
            </a:endParaRPr>
          </a:p>
          <a:p>
            <a:pPr marL="12700" marR="7620">
              <a:spcBef>
                <a:spcPts val="955"/>
              </a:spcBef>
            </a:pP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Other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columns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distinguish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level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pathway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discussed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study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(individual/household,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firm, </a:t>
            </a:r>
            <a:r>
              <a:rPr sz="1400" spc="-4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economy-wide)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pathway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developed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review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framework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(e.g.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wages,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absenteeism).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141" y="1790678"/>
            <a:ext cx="10874188" cy="3836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35" dirty="0">
                <a:solidFill>
                  <a:srgbClr val="4A2D83"/>
                </a:solidFill>
                <a:latin typeface="Verdana"/>
                <a:cs typeface="Verdana"/>
              </a:rPr>
              <a:t>Set</a:t>
            </a:r>
            <a:r>
              <a:rPr sz="1600" b="1" spc="-23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5" dirty="0">
                <a:solidFill>
                  <a:srgbClr val="4A2D83"/>
                </a:solidFill>
                <a:latin typeface="Verdana"/>
                <a:cs typeface="Verdana"/>
              </a:rPr>
              <a:t>Up</a:t>
            </a:r>
            <a:r>
              <a:rPr sz="1600" b="1" spc="-204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80" dirty="0">
                <a:solidFill>
                  <a:srgbClr val="4A2D83"/>
                </a:solidFill>
                <a:latin typeface="Verdana"/>
                <a:cs typeface="Verdana"/>
              </a:rPr>
              <a:t>a</a:t>
            </a:r>
            <a:r>
              <a:rPr sz="16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50" dirty="0">
                <a:solidFill>
                  <a:srgbClr val="4A2D83"/>
                </a:solidFill>
                <a:latin typeface="Verdana"/>
                <a:cs typeface="Verdana"/>
              </a:rPr>
              <a:t>Coding</a:t>
            </a:r>
            <a:r>
              <a:rPr sz="1600" b="1" spc="-20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45" dirty="0">
                <a:solidFill>
                  <a:srgbClr val="4A2D83"/>
                </a:solidFill>
                <a:latin typeface="Verdana"/>
                <a:cs typeface="Verdana"/>
              </a:rPr>
              <a:t>Spreadsheet</a:t>
            </a:r>
            <a:r>
              <a:rPr sz="1600" b="1" spc="-22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45" dirty="0">
                <a:solidFill>
                  <a:srgbClr val="4A2D83"/>
                </a:solidFill>
                <a:latin typeface="Verdana"/>
                <a:cs typeface="Verdana"/>
              </a:rPr>
              <a:t>Based</a:t>
            </a:r>
            <a:r>
              <a:rPr sz="1600" b="1" spc="-21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4A2D83"/>
                </a:solidFill>
                <a:latin typeface="Verdana"/>
                <a:cs typeface="Verdana"/>
              </a:rPr>
              <a:t>on</a:t>
            </a:r>
            <a:r>
              <a:rPr sz="16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solidFill>
                  <a:srgbClr val="4A2D83"/>
                </a:solidFill>
                <a:latin typeface="Verdana"/>
                <a:cs typeface="Verdana"/>
              </a:rPr>
              <a:t>Literature</a:t>
            </a:r>
            <a:r>
              <a:rPr sz="16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60" dirty="0">
                <a:solidFill>
                  <a:srgbClr val="4A2D83"/>
                </a:solidFill>
                <a:latin typeface="Verdana"/>
                <a:cs typeface="Verdana"/>
              </a:rPr>
              <a:t>Review</a:t>
            </a:r>
            <a:r>
              <a:rPr sz="1600" b="1" spc="-24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50" dirty="0">
                <a:solidFill>
                  <a:srgbClr val="4A2D83"/>
                </a:solidFill>
                <a:latin typeface="Verdana"/>
                <a:cs typeface="Verdana"/>
              </a:rPr>
              <a:t>Framework</a:t>
            </a:r>
            <a:r>
              <a:rPr sz="1600" b="1" spc="-204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215" dirty="0">
                <a:solidFill>
                  <a:srgbClr val="4A2D83"/>
                </a:solidFill>
                <a:latin typeface="Verdana"/>
                <a:cs typeface="Verdana"/>
              </a:rPr>
              <a:t>(3/4)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dirty="0">
              <a:latin typeface="Verdana"/>
              <a:cs typeface="Verdana"/>
            </a:endParaRPr>
          </a:p>
          <a:p>
            <a:pPr marL="760730" marR="538480" indent="-287020">
              <a:lnSpc>
                <a:spcPct val="110000"/>
              </a:lnSpc>
              <a:buFont typeface="Arial MT"/>
              <a:buChar char="•"/>
              <a:tabLst>
                <a:tab pos="760730" algn="l"/>
                <a:tab pos="761365" algn="l"/>
              </a:tabLst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qualitative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descriptions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succinct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but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include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necessary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interpreting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justifying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decision.</a:t>
            </a:r>
            <a:endParaRPr sz="1400" dirty="0">
              <a:latin typeface="Arial"/>
              <a:cs typeface="Arial"/>
            </a:endParaRPr>
          </a:p>
          <a:p>
            <a:pPr marL="1217930" marR="39370" indent="-287020">
              <a:lnSpc>
                <a:spcPct val="110000"/>
              </a:lnSpc>
              <a:spcBef>
                <a:spcPts val="640"/>
              </a:spcBef>
              <a:tabLst>
                <a:tab pos="1217930" algn="l"/>
              </a:tabLst>
            </a:pPr>
            <a:r>
              <a:rPr sz="1400" dirty="0">
                <a:solidFill>
                  <a:srgbClr val="4A2D83"/>
                </a:solidFill>
                <a:latin typeface="Arial MT"/>
                <a:cs typeface="Arial MT"/>
              </a:rPr>
              <a:t>–	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Think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writing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technical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(e.g.,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quote,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specify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page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number).</a:t>
            </a:r>
            <a:endParaRPr sz="1400" dirty="0">
              <a:latin typeface="Lucida Sans Unicode"/>
              <a:cs typeface="Lucida Sans Unicode"/>
            </a:endParaRPr>
          </a:p>
          <a:p>
            <a:pPr marL="760730" marR="11493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760730" algn="l"/>
                <a:tab pos="761365" algn="l"/>
              </a:tabLst>
            </a:pP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Color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categories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questions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ease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reference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(e.g.,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set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questions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describing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components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interventions,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set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describing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 populations,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describing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outcomes).</a:t>
            </a:r>
            <a:endParaRPr sz="1400" dirty="0">
              <a:latin typeface="Arial"/>
              <a:cs typeface="Arial"/>
            </a:endParaRPr>
          </a:p>
          <a:p>
            <a:pPr marL="760730" marR="11493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760730" algn="l"/>
                <a:tab pos="761365" algn="l"/>
              </a:tabLst>
            </a:pP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Think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about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how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use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analysis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(e.g.,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whether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want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create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tables)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structure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accordingly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4A2D83"/>
                </a:solidFill>
                <a:latin typeface="Arial"/>
                <a:cs typeface="Arial"/>
              </a:rPr>
              <a:t>–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example,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structure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column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categorical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variables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subsequent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“describe”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column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include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description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qualitative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information.</a:t>
            </a:r>
            <a:endParaRPr sz="1400" dirty="0">
              <a:latin typeface="Arial"/>
              <a:cs typeface="Arial"/>
            </a:endParaRPr>
          </a:p>
          <a:p>
            <a:pPr marL="760730" indent="-287020">
              <a:spcBef>
                <a:spcPts val="470"/>
              </a:spcBef>
              <a:buFont typeface="Arial MT"/>
              <a:buChar char="•"/>
              <a:tabLst>
                <a:tab pos="760730" algn="l"/>
                <a:tab pos="761365" algn="l"/>
              </a:tabLst>
            </a:pP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know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upfront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what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structure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work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best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80" dirty="0">
                <a:solidFill>
                  <a:srgbClr val="4A2D83"/>
                </a:solidFill>
                <a:latin typeface="Arial"/>
                <a:cs typeface="Arial"/>
              </a:rPr>
              <a:t>–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make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good</a:t>
            </a:r>
            <a:endParaRPr sz="1400" dirty="0">
              <a:latin typeface="Arial"/>
              <a:cs typeface="Arial"/>
            </a:endParaRPr>
          </a:p>
          <a:p>
            <a:pPr marL="760730">
              <a:spcBef>
                <a:spcPts val="170"/>
              </a:spcBef>
            </a:pP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possible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5" dirty="0">
                <a:solidFill>
                  <a:srgbClr val="4A2D83"/>
                </a:solidFill>
                <a:latin typeface="Arial"/>
                <a:cs typeface="Arial"/>
              </a:rPr>
              <a:t>at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outset,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but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open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revising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it.</a:t>
            </a:r>
            <a:endParaRPr sz="1400" dirty="0">
              <a:latin typeface="Arial"/>
              <a:cs typeface="Arial"/>
            </a:endParaRPr>
          </a:p>
          <a:p>
            <a:pPr marL="760730" marR="71247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760730" algn="l"/>
                <a:tab pos="761365" algn="l"/>
              </a:tabLst>
            </a:pP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Overall,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want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able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state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confidently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collected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reviewed </a:t>
            </a:r>
            <a:r>
              <a:rPr sz="1400" b="1" spc="95" dirty="0">
                <a:solidFill>
                  <a:srgbClr val="4A2D83"/>
                </a:solidFill>
                <a:latin typeface="Arial"/>
                <a:cs typeface="Arial"/>
              </a:rPr>
              <a:t>them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collect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consistent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way.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0146" y="113538"/>
            <a:ext cx="795655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spc="-35" dirty="0">
                <a:solidFill>
                  <a:srgbClr val="4A2D83"/>
                </a:solidFill>
                <a:latin typeface="Verdana"/>
                <a:cs typeface="Verdana"/>
              </a:rPr>
              <a:t>Set</a:t>
            </a:r>
            <a:r>
              <a:rPr sz="1600" b="1" spc="-23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5" dirty="0">
                <a:solidFill>
                  <a:srgbClr val="4A2D83"/>
                </a:solidFill>
                <a:latin typeface="Verdana"/>
                <a:cs typeface="Verdana"/>
              </a:rPr>
              <a:t>Up</a:t>
            </a:r>
            <a:r>
              <a:rPr sz="1600" b="1" spc="-204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80" dirty="0">
                <a:solidFill>
                  <a:srgbClr val="4A2D83"/>
                </a:solidFill>
                <a:latin typeface="Verdana"/>
                <a:cs typeface="Verdana"/>
              </a:rPr>
              <a:t>a</a:t>
            </a:r>
            <a:r>
              <a:rPr sz="1600" b="1" spc="-229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50" dirty="0">
                <a:solidFill>
                  <a:srgbClr val="4A2D83"/>
                </a:solidFill>
                <a:latin typeface="Verdana"/>
                <a:cs typeface="Verdana"/>
              </a:rPr>
              <a:t>Coding</a:t>
            </a:r>
            <a:r>
              <a:rPr sz="1600" b="1" spc="-20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45" dirty="0">
                <a:solidFill>
                  <a:srgbClr val="4A2D83"/>
                </a:solidFill>
                <a:latin typeface="Verdana"/>
                <a:cs typeface="Verdana"/>
              </a:rPr>
              <a:t>Spreadsheet</a:t>
            </a:r>
            <a:r>
              <a:rPr sz="1600" b="1" spc="-22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45" dirty="0">
                <a:solidFill>
                  <a:srgbClr val="4A2D83"/>
                </a:solidFill>
                <a:latin typeface="Verdana"/>
                <a:cs typeface="Verdana"/>
              </a:rPr>
              <a:t>Based</a:t>
            </a:r>
            <a:r>
              <a:rPr sz="1600" b="1" spc="-21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25" dirty="0">
                <a:solidFill>
                  <a:srgbClr val="4A2D83"/>
                </a:solidFill>
                <a:latin typeface="Verdana"/>
                <a:cs typeface="Verdana"/>
              </a:rPr>
              <a:t>on</a:t>
            </a:r>
            <a:r>
              <a:rPr sz="1600" b="1" spc="-225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30" dirty="0">
                <a:solidFill>
                  <a:srgbClr val="4A2D83"/>
                </a:solidFill>
                <a:latin typeface="Verdana"/>
                <a:cs typeface="Verdana"/>
              </a:rPr>
              <a:t>Literature</a:t>
            </a:r>
            <a:r>
              <a:rPr sz="1600" b="1" spc="-229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60" dirty="0">
                <a:solidFill>
                  <a:srgbClr val="4A2D83"/>
                </a:solidFill>
                <a:latin typeface="Verdana"/>
                <a:cs typeface="Verdana"/>
              </a:rPr>
              <a:t>Review</a:t>
            </a:r>
            <a:r>
              <a:rPr sz="1600" b="1" spc="-240" dirty="0">
                <a:solidFill>
                  <a:srgbClr val="4A2D83"/>
                </a:solidFill>
                <a:latin typeface="Verdana"/>
                <a:cs typeface="Verdana"/>
              </a:rPr>
              <a:t> </a:t>
            </a:r>
            <a:r>
              <a:rPr sz="1600" b="1" spc="-50" dirty="0">
                <a:solidFill>
                  <a:srgbClr val="4A2D83"/>
                </a:solidFill>
                <a:latin typeface="Verdana"/>
                <a:cs typeface="Verdana"/>
              </a:rPr>
              <a:t>Framework</a:t>
            </a:r>
            <a:r>
              <a:rPr sz="1600" b="1" spc="-190" dirty="0">
                <a:solidFill>
                  <a:srgbClr val="4A2D83"/>
                </a:solidFill>
                <a:latin typeface="Verdana"/>
                <a:cs typeface="Verdana"/>
              </a:rPr>
              <a:t> (4/4)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30909" y="731520"/>
            <a:ext cx="8330565" cy="5154295"/>
          </a:xfrm>
          <a:custGeom>
            <a:avLst/>
            <a:gdLst/>
            <a:ahLst/>
            <a:cxnLst/>
            <a:rect l="l" t="t" r="r" b="b"/>
            <a:pathLst>
              <a:path w="8330565" h="5154295">
                <a:moveTo>
                  <a:pt x="8330183" y="0"/>
                </a:moveTo>
                <a:lnTo>
                  <a:pt x="0" y="0"/>
                </a:lnTo>
                <a:lnTo>
                  <a:pt x="0" y="5154168"/>
                </a:lnTo>
                <a:lnTo>
                  <a:pt x="8330183" y="5154168"/>
                </a:lnTo>
                <a:lnTo>
                  <a:pt x="8330183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01697" y="899922"/>
            <a:ext cx="585851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coding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spreadsheet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10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#359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7045" y="1173480"/>
            <a:ext cx="7677911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106" y="711814"/>
            <a:ext cx="1072178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solidFill>
                  <a:srgbClr val="4A2D83"/>
                </a:solidFill>
              </a:rPr>
              <a:t>Code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170" dirty="0">
                <a:solidFill>
                  <a:srgbClr val="4A2D83"/>
                </a:solidFill>
              </a:rPr>
              <a:t>I</a:t>
            </a:r>
            <a:r>
              <a:rPr b="1" spc="-229" dirty="0">
                <a:solidFill>
                  <a:srgbClr val="4A2D83"/>
                </a:solidFill>
              </a:rPr>
              <a:t>n</a:t>
            </a:r>
            <a:r>
              <a:rPr b="1" spc="55" dirty="0">
                <a:solidFill>
                  <a:srgbClr val="4A2D83"/>
                </a:solidFill>
              </a:rPr>
              <a:t>f</a:t>
            </a:r>
            <a:r>
              <a:rPr b="1" spc="80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</a:t>
            </a:r>
            <a:r>
              <a:rPr b="1" spc="-85" dirty="0">
                <a:solidFill>
                  <a:srgbClr val="4A2D83"/>
                </a:solidFill>
              </a:rPr>
              <a:t>m</a:t>
            </a:r>
            <a:r>
              <a:rPr b="1" spc="-25" dirty="0">
                <a:solidFill>
                  <a:srgbClr val="4A2D83"/>
                </a:solidFill>
              </a:rPr>
              <a:t>ation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35" dirty="0">
                <a:solidFill>
                  <a:srgbClr val="4A2D83"/>
                </a:solidFill>
              </a:rPr>
              <a:t>fr</a:t>
            </a:r>
            <a:r>
              <a:rPr b="1" spc="45" dirty="0">
                <a:solidFill>
                  <a:srgbClr val="4A2D83"/>
                </a:solidFill>
              </a:rPr>
              <a:t>o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B</a:t>
            </a:r>
            <a:r>
              <a:rPr b="1" spc="-25" dirty="0">
                <a:solidFill>
                  <a:srgbClr val="4A2D83"/>
                </a:solidFill>
              </a:rPr>
              <a:t>o</a:t>
            </a:r>
            <a:r>
              <a:rPr b="1" spc="10" dirty="0">
                <a:solidFill>
                  <a:srgbClr val="4A2D83"/>
                </a:solidFill>
              </a:rPr>
              <a:t>dy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Evidence</a:t>
            </a:r>
            <a:r>
              <a:rPr b="1" spc="-275" dirty="0">
                <a:solidFill>
                  <a:srgbClr val="4A2D83"/>
                </a:solidFill>
              </a:rPr>
              <a:t> (1/6)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106" y="2106106"/>
            <a:ext cx="11053482" cy="404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goal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during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systematically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read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through your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enter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appropriate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sections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spreadsheet,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such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confidence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captured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evidence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way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across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sample.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 dirty="0">
              <a:latin typeface="Arial"/>
              <a:cs typeface="Arial"/>
            </a:endParaRPr>
          </a:p>
          <a:p>
            <a:pPr>
              <a:spcBef>
                <a:spcPts val="35"/>
              </a:spcBef>
            </a:pPr>
            <a:endParaRPr sz="1750" dirty="0">
              <a:latin typeface="Arial"/>
              <a:cs typeface="Arial"/>
            </a:endParaRPr>
          </a:p>
          <a:p>
            <a:pPr marL="355600" indent="-342900">
              <a:buAutoNum type="arabicPeriod"/>
              <a:tabLst>
                <a:tab pos="354965" algn="l"/>
                <a:tab pos="355600" algn="l"/>
              </a:tabLst>
            </a:pP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each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study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sample.</a:t>
            </a:r>
            <a:endParaRPr sz="1400" dirty="0">
              <a:latin typeface="Arial"/>
              <a:cs typeface="Arial"/>
            </a:endParaRPr>
          </a:p>
          <a:p>
            <a:pPr marL="355600" indent="-342900">
              <a:spcBef>
                <a:spcPts val="36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read,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apply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framework:</a:t>
            </a:r>
            <a:endParaRPr sz="1400" dirty="0">
              <a:latin typeface="Arial"/>
              <a:cs typeface="Arial"/>
            </a:endParaRPr>
          </a:p>
          <a:p>
            <a:pPr marL="812165" lvl="1" indent="-342900">
              <a:spcBef>
                <a:spcPts val="6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(or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not)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address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it.</a:t>
            </a:r>
            <a:endParaRPr sz="1400" dirty="0">
              <a:latin typeface="Lucida Sans Unicode"/>
              <a:cs typeface="Lucida Sans Unicode"/>
            </a:endParaRPr>
          </a:p>
          <a:p>
            <a:pPr marL="1327785" lvl="2" indent="-401320">
              <a:spcBef>
                <a:spcPts val="54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20" dirty="0">
                <a:solidFill>
                  <a:srgbClr val="4A2D83"/>
                </a:solidFill>
                <a:latin typeface="Lucida Sans Unicode"/>
                <a:cs typeface="Lucida Sans Unicode"/>
              </a:rPr>
              <a:t>When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code,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flag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areas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doesn’t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fit.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109220" lvl="2" indent="-401320">
              <a:spcBef>
                <a:spcPts val="54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After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few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should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adjust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better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data.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working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group,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make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align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around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decisions.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473075" lvl="1" indent="-342900">
              <a:spcBef>
                <a:spcPts val="53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Yes/No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addressed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given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“not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specified”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leave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cell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blank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opposed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“No”.</a:t>
            </a:r>
            <a:endParaRPr sz="1400" dirty="0">
              <a:latin typeface="Lucida Sans Unicode"/>
              <a:cs typeface="Lucida Sans Unicode"/>
            </a:endParaRPr>
          </a:p>
          <a:p>
            <a:pPr marL="1327785" marR="128270" lvl="2" indent="-401320">
              <a:spcBef>
                <a:spcPts val="540"/>
              </a:spcBef>
              <a:buAutoNum type="romanLcPeriod"/>
              <a:tabLst>
                <a:tab pos="1327785" algn="l"/>
                <a:tab pos="132842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accuracy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descriptions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studies.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10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50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positive impacts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women’s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empowerment,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does not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mean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40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non-positive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impacts. 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Ten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may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report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negative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significant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impacts,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30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reporting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outcome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area.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436" y="552019"/>
            <a:ext cx="1074868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solidFill>
                  <a:srgbClr val="4A2D83"/>
                </a:solidFill>
              </a:rPr>
              <a:t>Code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170" dirty="0">
                <a:solidFill>
                  <a:srgbClr val="4A2D83"/>
                </a:solidFill>
              </a:rPr>
              <a:t>I</a:t>
            </a:r>
            <a:r>
              <a:rPr b="1" spc="-229" dirty="0">
                <a:solidFill>
                  <a:srgbClr val="4A2D83"/>
                </a:solidFill>
              </a:rPr>
              <a:t>n</a:t>
            </a:r>
            <a:r>
              <a:rPr b="1" spc="55" dirty="0">
                <a:solidFill>
                  <a:srgbClr val="4A2D83"/>
                </a:solidFill>
              </a:rPr>
              <a:t>f</a:t>
            </a:r>
            <a:r>
              <a:rPr b="1" spc="80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</a:t>
            </a:r>
            <a:r>
              <a:rPr b="1" spc="-85" dirty="0">
                <a:solidFill>
                  <a:srgbClr val="4A2D83"/>
                </a:solidFill>
              </a:rPr>
              <a:t>m</a:t>
            </a:r>
            <a:r>
              <a:rPr b="1" spc="-25" dirty="0">
                <a:solidFill>
                  <a:srgbClr val="4A2D83"/>
                </a:solidFill>
              </a:rPr>
              <a:t>ation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35" dirty="0">
                <a:solidFill>
                  <a:srgbClr val="4A2D83"/>
                </a:solidFill>
              </a:rPr>
              <a:t>fr</a:t>
            </a:r>
            <a:r>
              <a:rPr b="1" spc="45" dirty="0">
                <a:solidFill>
                  <a:srgbClr val="4A2D83"/>
                </a:solidFill>
              </a:rPr>
              <a:t>o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B</a:t>
            </a:r>
            <a:r>
              <a:rPr b="1" spc="-25" dirty="0">
                <a:solidFill>
                  <a:srgbClr val="4A2D83"/>
                </a:solidFill>
              </a:rPr>
              <a:t>o</a:t>
            </a:r>
            <a:r>
              <a:rPr b="1" spc="10" dirty="0">
                <a:solidFill>
                  <a:srgbClr val="4A2D83"/>
                </a:solidFill>
              </a:rPr>
              <a:t>dy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Evidence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225" dirty="0">
                <a:solidFill>
                  <a:srgbClr val="4A2D83"/>
                </a:solidFill>
              </a:rPr>
              <a:t>(2/6)</a:t>
            </a:r>
          </a:p>
        </p:txBody>
      </p:sp>
      <p:sp>
        <p:nvSpPr>
          <p:cNvPr id="3" name="object 3"/>
          <p:cNvSpPr/>
          <p:nvPr/>
        </p:nvSpPr>
        <p:spPr>
          <a:xfrm>
            <a:off x="1947673" y="3855720"/>
            <a:ext cx="8296909" cy="2339340"/>
          </a:xfrm>
          <a:custGeom>
            <a:avLst/>
            <a:gdLst/>
            <a:ahLst/>
            <a:cxnLst/>
            <a:rect l="l" t="t" r="r" b="b"/>
            <a:pathLst>
              <a:path w="8296909" h="2339340">
                <a:moveTo>
                  <a:pt x="8296656" y="0"/>
                </a:moveTo>
                <a:lnTo>
                  <a:pt x="0" y="0"/>
                </a:lnTo>
                <a:lnTo>
                  <a:pt x="0" y="2339340"/>
                </a:lnTo>
                <a:lnTo>
                  <a:pt x="8296656" y="2339340"/>
                </a:lnTo>
                <a:lnTo>
                  <a:pt x="8296656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2682" y="1720623"/>
            <a:ext cx="10685930" cy="4585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8625" marR="600710" indent="-342900">
              <a:lnSpc>
                <a:spcPct val="110000"/>
              </a:lnSpc>
              <a:spcBef>
                <a:spcPts val="100"/>
              </a:spcBef>
              <a:buAutoNum type="arabicPeriod" startAt="3"/>
              <a:tabLst>
                <a:tab pos="428625" algn="l"/>
                <a:tab pos="429259" algn="l"/>
              </a:tabLst>
            </a:pP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record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rationale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decisions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“describe”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columns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(see </a:t>
            </a:r>
            <a:r>
              <a:rPr sz="1400" spc="-430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EPAR</a:t>
            </a:r>
            <a:r>
              <a:rPr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Technical</a:t>
            </a:r>
            <a:r>
              <a:rPr sz="1400" u="sng" spc="-1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Report</a:t>
            </a:r>
            <a:r>
              <a:rPr sz="1400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6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#351</a:t>
            </a:r>
            <a:r>
              <a:rPr sz="1400" spc="-95" dirty="0">
                <a:solidFill>
                  <a:srgbClr val="006FC0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BD-BE)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:</a:t>
            </a:r>
            <a:endParaRPr sz="1400" dirty="0">
              <a:latin typeface="Arial"/>
              <a:cs typeface="Arial"/>
            </a:endParaRPr>
          </a:p>
          <a:p>
            <a:pPr marL="885825" marR="745490" lvl="1" indent="-342900">
              <a:spcBef>
                <a:spcPts val="730"/>
              </a:spcBef>
              <a:buAutoNum type="alphaLcPeriod"/>
              <a:tabLst>
                <a:tab pos="885825" algn="l"/>
                <a:tab pos="88646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j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ct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asu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nc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ud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nf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directly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spreadsheet.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Listing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rationale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extra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ensures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ons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ten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whe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r.</a:t>
            </a:r>
            <a:endParaRPr sz="1400" dirty="0">
              <a:latin typeface="Lucida Sans Unicode"/>
              <a:cs typeface="Lucida Sans Unicode"/>
            </a:endParaRPr>
          </a:p>
          <a:p>
            <a:pPr marL="885825" marR="487045" lvl="1" indent="-342900">
              <a:spcBef>
                <a:spcPts val="640"/>
              </a:spcBef>
              <a:buAutoNum type="alphaLcPeriod"/>
              <a:tabLst>
                <a:tab pos="885825" algn="l"/>
                <a:tab pos="88646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justifications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distinguishable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subgroups,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add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 coding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them.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about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digital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combined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digital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financial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services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(DFS)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divided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two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questions: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DFS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digital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services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DFS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non-digital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services.</a:t>
            </a:r>
            <a:endParaRPr sz="1400" dirty="0">
              <a:latin typeface="Lucida Sans Unicode"/>
              <a:cs typeface="Lucida Sans Unicode"/>
            </a:endParaRPr>
          </a:p>
          <a:p>
            <a:pPr marL="885825" marR="398780" lvl="1" indent="-342900">
              <a:spcBef>
                <a:spcPts val="635"/>
              </a:spcBef>
              <a:buAutoNum type="alphaLcPeriod"/>
              <a:tabLst>
                <a:tab pos="885825" algn="l"/>
                <a:tab pos="88646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“Describe”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 provide useful qualitative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supplement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tables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figures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writing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up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review.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Recording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page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numbers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direct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quotes can help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rp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ati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lu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mns.</a:t>
            </a:r>
            <a:endParaRPr sz="1400" dirty="0">
              <a:latin typeface="Lucida Sans Unicode"/>
              <a:cs typeface="Lucida Sans Unicode"/>
            </a:endParaRPr>
          </a:p>
          <a:p>
            <a:pPr marL="12700">
              <a:spcBef>
                <a:spcPts val="1515"/>
              </a:spcBef>
            </a:pP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33006E"/>
                </a:solidFill>
                <a:latin typeface="Trebuchet MS"/>
                <a:cs typeface="Trebuchet MS"/>
              </a:rPr>
              <a:t>coding</a:t>
            </a:r>
            <a:r>
              <a:rPr sz="1400" i="1" spc="-6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(column</a:t>
            </a:r>
            <a:r>
              <a:rPr sz="1400" i="1" spc="-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dirty="0">
                <a:solidFill>
                  <a:srgbClr val="33006E"/>
                </a:solidFill>
                <a:latin typeface="Trebuchet MS"/>
                <a:cs typeface="Trebuchet MS"/>
              </a:rPr>
              <a:t>heading</a:t>
            </a:r>
            <a:r>
              <a:rPr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followed</a:t>
            </a:r>
            <a:r>
              <a:rPr sz="1400" i="1" spc="-10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33006E"/>
                </a:solidFill>
                <a:latin typeface="Trebuchet MS"/>
                <a:cs typeface="Trebuchet MS"/>
              </a:rPr>
              <a:t>by</a:t>
            </a:r>
            <a:r>
              <a:rPr sz="14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33006E"/>
                </a:solidFill>
                <a:latin typeface="Trebuchet MS"/>
                <a:cs typeface="Trebuchet MS"/>
              </a:rPr>
              <a:t>what</a:t>
            </a:r>
            <a:r>
              <a:rPr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33006E"/>
                </a:solidFill>
                <a:latin typeface="Trebuchet MS"/>
                <a:cs typeface="Trebuchet MS"/>
              </a:rPr>
              <a:t>is</a:t>
            </a:r>
            <a:r>
              <a:rPr sz="1400" i="1" spc="-6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entered</a:t>
            </a:r>
            <a:r>
              <a:rPr sz="1400" i="1" spc="-10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4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55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400" i="1" spc="-8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65" dirty="0">
                <a:solidFill>
                  <a:srgbClr val="33006E"/>
                </a:solidFill>
                <a:latin typeface="Trebuchet MS"/>
                <a:cs typeface="Trebuchet MS"/>
              </a:rPr>
              <a:t>cell</a:t>
            </a:r>
            <a:r>
              <a:rPr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33006E"/>
                </a:solidFill>
                <a:latin typeface="Trebuchet MS"/>
                <a:cs typeface="Trebuchet MS"/>
              </a:rPr>
              <a:t>for</a:t>
            </a:r>
            <a:r>
              <a:rPr sz="1400" i="1" spc="-7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that</a:t>
            </a:r>
            <a:r>
              <a:rPr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65" dirty="0">
                <a:solidFill>
                  <a:srgbClr val="33006E"/>
                </a:solidFill>
                <a:latin typeface="Trebuchet MS"/>
                <a:cs typeface="Trebuchet MS"/>
              </a:rPr>
              <a:t>study/row):</a:t>
            </a:r>
            <a:endParaRPr sz="1400" dirty="0">
              <a:latin typeface="Trebuchet MS"/>
              <a:cs typeface="Trebuchet MS"/>
            </a:endParaRPr>
          </a:p>
          <a:p>
            <a:pPr marL="756285" indent="-287655"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“Number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countries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study”: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1</a:t>
            </a:r>
            <a:endParaRPr sz="1400" dirty="0">
              <a:latin typeface="Lucida Sans Unicode"/>
              <a:cs typeface="Lucida Sans Unicode"/>
            </a:endParaRPr>
          </a:p>
          <a:p>
            <a:pPr marL="756285" indent="-287655"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“Country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(specify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country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name,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“multiple”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if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more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than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one)”: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Tanzania</a:t>
            </a:r>
            <a:endParaRPr sz="1400" dirty="0">
              <a:latin typeface="Lucida Sans Unicode"/>
              <a:cs typeface="Lucida Sans Unicode"/>
            </a:endParaRPr>
          </a:p>
          <a:p>
            <a:pPr marL="1213485" marR="116839" lvl="1" indent="-287020">
              <a:buFont typeface="Arial MT"/>
              <a:buChar char="•"/>
              <a:tabLst>
                <a:tab pos="1213485" algn="l"/>
                <a:tab pos="1214120" algn="l"/>
              </a:tabLst>
            </a:pP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associated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“Describe”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column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could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names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countries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33006E"/>
                </a:solidFill>
                <a:latin typeface="Lucida Sans Unicode"/>
                <a:cs typeface="Lucida Sans Unicode"/>
              </a:rPr>
              <a:t>when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there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more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than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one,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about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included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country,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such </a:t>
            </a:r>
            <a:r>
              <a:rPr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as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“Rural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areas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Northern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Zone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Lake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Zone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only”.</a:t>
            </a:r>
            <a:endParaRPr sz="1400" dirty="0">
              <a:latin typeface="Lucida Sans Unicode"/>
              <a:cs typeface="Lucida Sans Unicode"/>
            </a:endParaRPr>
          </a:p>
          <a:p>
            <a:pPr marL="756285" indent="-287655"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“Su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b</a:t>
            </a:r>
            <a:r>
              <a:rPr sz="1400" spc="-360" dirty="0">
                <a:solidFill>
                  <a:srgbClr val="33006E"/>
                </a:solidFill>
                <a:latin typeface="Lucida Sans Unicode"/>
                <a:cs typeface="Lucida Sans Unicode"/>
              </a:rPr>
              <a:t>-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Saha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Af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ca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?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Y/N”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: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Y</a:t>
            </a:r>
            <a:endParaRPr sz="1400" dirty="0">
              <a:latin typeface="Lucida Sans Unicode"/>
              <a:cs typeface="Lucida Sans Unicode"/>
            </a:endParaRPr>
          </a:p>
          <a:p>
            <a:pPr marL="756285" indent="-287655">
              <a:buFont typeface="Arial MT"/>
              <a:buChar char="•"/>
              <a:tabLst>
                <a:tab pos="756285" algn="l"/>
                <a:tab pos="756920" algn="l"/>
              </a:tabLst>
            </a:pP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“Impact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nutrition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(positive,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negative,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mixed,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not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significant)”: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positive</a:t>
            </a:r>
            <a:endParaRPr sz="1400" dirty="0">
              <a:latin typeface="Lucida Sans Unicode"/>
              <a:cs typeface="Lucida Sans Unicode"/>
            </a:endParaRPr>
          </a:p>
          <a:p>
            <a:pPr marL="1213485" lvl="1" indent="-287655">
              <a:buFont typeface="Arial MT"/>
              <a:buChar char="•"/>
              <a:tabLst>
                <a:tab pos="1213485" algn="l"/>
                <a:tab pos="1214120" algn="l"/>
              </a:tabLst>
            </a:pP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associated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“Describe”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column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would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include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more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detail,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such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33006E"/>
                </a:solidFill>
                <a:latin typeface="Lucida Sans Unicode"/>
                <a:cs typeface="Lucida Sans Unicode"/>
              </a:rPr>
              <a:t>“.3%</a:t>
            </a:r>
            <a:endParaRPr sz="1400" dirty="0">
              <a:latin typeface="Lucida Sans Unicode"/>
              <a:cs typeface="Lucida Sans Unicode"/>
            </a:endParaRPr>
          </a:p>
          <a:p>
            <a:pPr marL="1213485"/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increase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school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absences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associated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with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65" dirty="0">
                <a:solidFill>
                  <a:srgbClr val="33006E"/>
                </a:solidFill>
                <a:latin typeface="Lucida Sans Unicode"/>
                <a:cs typeface="Lucida Sans Unicode"/>
              </a:rPr>
              <a:t>1%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decrease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measures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wasting”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871" y="532945"/>
            <a:ext cx="10856258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solidFill>
                  <a:srgbClr val="4A2D83"/>
                </a:solidFill>
              </a:rPr>
              <a:t>Code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170" dirty="0">
                <a:solidFill>
                  <a:srgbClr val="4A2D83"/>
                </a:solidFill>
              </a:rPr>
              <a:t>I</a:t>
            </a:r>
            <a:r>
              <a:rPr b="1" spc="-229" dirty="0">
                <a:solidFill>
                  <a:srgbClr val="4A2D83"/>
                </a:solidFill>
              </a:rPr>
              <a:t>n</a:t>
            </a:r>
            <a:r>
              <a:rPr b="1" spc="55" dirty="0">
                <a:solidFill>
                  <a:srgbClr val="4A2D83"/>
                </a:solidFill>
              </a:rPr>
              <a:t>f</a:t>
            </a:r>
            <a:r>
              <a:rPr b="1" spc="80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</a:t>
            </a:r>
            <a:r>
              <a:rPr b="1" spc="-85" dirty="0">
                <a:solidFill>
                  <a:srgbClr val="4A2D83"/>
                </a:solidFill>
              </a:rPr>
              <a:t>m</a:t>
            </a:r>
            <a:r>
              <a:rPr b="1" spc="-25" dirty="0">
                <a:solidFill>
                  <a:srgbClr val="4A2D83"/>
                </a:solidFill>
              </a:rPr>
              <a:t>ation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35" dirty="0">
                <a:solidFill>
                  <a:srgbClr val="4A2D83"/>
                </a:solidFill>
              </a:rPr>
              <a:t>fr</a:t>
            </a:r>
            <a:r>
              <a:rPr b="1" spc="45" dirty="0">
                <a:solidFill>
                  <a:srgbClr val="4A2D83"/>
                </a:solidFill>
              </a:rPr>
              <a:t>o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B</a:t>
            </a:r>
            <a:r>
              <a:rPr b="1" spc="-25" dirty="0">
                <a:solidFill>
                  <a:srgbClr val="4A2D83"/>
                </a:solidFill>
              </a:rPr>
              <a:t>o</a:t>
            </a:r>
            <a:r>
              <a:rPr b="1" spc="10" dirty="0">
                <a:solidFill>
                  <a:srgbClr val="4A2D83"/>
                </a:solidFill>
              </a:rPr>
              <a:t>dy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Evidence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235" dirty="0">
                <a:solidFill>
                  <a:srgbClr val="4A2D83"/>
                </a:solidFill>
              </a:rPr>
              <a:t>(3/6)</a:t>
            </a:r>
          </a:p>
        </p:txBody>
      </p:sp>
      <p:sp>
        <p:nvSpPr>
          <p:cNvPr id="3" name="object 3"/>
          <p:cNvSpPr/>
          <p:nvPr/>
        </p:nvSpPr>
        <p:spPr>
          <a:xfrm>
            <a:off x="1947673" y="3768852"/>
            <a:ext cx="8296909" cy="2435860"/>
          </a:xfrm>
          <a:custGeom>
            <a:avLst/>
            <a:gdLst/>
            <a:ahLst/>
            <a:cxnLst/>
            <a:rect l="l" t="t" r="r" b="b"/>
            <a:pathLst>
              <a:path w="8296909" h="2435860">
                <a:moveTo>
                  <a:pt x="8296656" y="0"/>
                </a:moveTo>
                <a:lnTo>
                  <a:pt x="0" y="0"/>
                </a:lnTo>
                <a:lnTo>
                  <a:pt x="0" y="2435352"/>
                </a:lnTo>
                <a:lnTo>
                  <a:pt x="8296656" y="2435352"/>
                </a:lnTo>
                <a:lnTo>
                  <a:pt x="8296656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67871" y="1443268"/>
            <a:ext cx="10856258" cy="5082032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428625" indent="-343535">
              <a:spcBef>
                <a:spcPts val="825"/>
              </a:spcBef>
              <a:buAutoNum type="arabicPeriod" startAt="4"/>
              <a:tabLst>
                <a:tab pos="428625" algn="l"/>
                <a:tab pos="429259" algn="l"/>
              </a:tabLst>
            </a:pP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working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group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coders,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calibrate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group:</a:t>
            </a:r>
            <a:endParaRPr sz="1400" dirty="0">
              <a:latin typeface="Arial"/>
              <a:cs typeface="Arial"/>
            </a:endParaRPr>
          </a:p>
          <a:p>
            <a:pPr marL="885825" lvl="1" indent="-343535">
              <a:spcBef>
                <a:spcPts val="735"/>
              </a:spcBef>
              <a:buAutoNum type="alphaLcPeriod"/>
              <a:tabLst>
                <a:tab pos="885825" algn="l"/>
                <a:tab pos="88646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Once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several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(~5),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convene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process</a:t>
            </a:r>
            <a:endParaRPr sz="1400" dirty="0">
              <a:latin typeface="Lucida Sans Unicode"/>
              <a:cs typeface="Lucida Sans Unicode"/>
            </a:endParaRPr>
          </a:p>
          <a:p>
            <a:pPr marL="885825"/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ensure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everyone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consistently.</a:t>
            </a:r>
            <a:endParaRPr sz="1400" dirty="0">
              <a:latin typeface="Lucida Sans Unicode"/>
              <a:cs typeface="Lucida Sans Unicode"/>
            </a:endParaRPr>
          </a:p>
          <a:p>
            <a:pPr marL="885825" marR="307975" lvl="1" indent="-342900">
              <a:spcBef>
                <a:spcPts val="635"/>
              </a:spcBef>
              <a:buAutoNum type="alphaLcPeriod" startAt="2"/>
              <a:tabLst>
                <a:tab pos="885825" algn="l"/>
                <a:tab pos="88646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Make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same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format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question,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allow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(i.e.,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entering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words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Yes/No/Mixed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num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0s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1s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)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885825" lvl="1" indent="-343535">
              <a:spcBef>
                <a:spcPts val="635"/>
              </a:spcBef>
              <a:buAutoNum type="alphaLcPeriod" startAt="2"/>
              <a:tabLst>
                <a:tab pos="885825" algn="l"/>
                <a:tab pos="88646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Make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everyone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following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same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reasoning</a:t>
            </a:r>
            <a:r>
              <a:rPr sz="14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evaluating</a:t>
            </a:r>
            <a:endParaRPr sz="1400" dirty="0">
              <a:latin typeface="Lucida Sans Unicode"/>
              <a:cs typeface="Lucida Sans Unicode"/>
            </a:endParaRPr>
          </a:p>
          <a:p>
            <a:pPr marL="885825">
              <a:spcBef>
                <a:spcPts val="5"/>
              </a:spcBef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urc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standa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ds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885825" marR="750570" lvl="1" indent="-342900">
              <a:spcBef>
                <a:spcPts val="635"/>
              </a:spcBef>
              <a:buAutoNum type="alphaLcPeriod" startAt="4"/>
              <a:tabLst>
                <a:tab pos="885825" algn="l"/>
                <a:tab pos="886460" algn="l"/>
              </a:tabLst>
            </a:pP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Determine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not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selected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sufficient: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add,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reframe?</a:t>
            </a:r>
            <a:endParaRPr sz="1400" dirty="0">
              <a:latin typeface="Lucida Sans Unicode"/>
              <a:cs typeface="Lucida Sans Unicode"/>
            </a:endParaRPr>
          </a:p>
          <a:p>
            <a:pPr marL="885825" lvl="1" indent="-343535">
              <a:spcBef>
                <a:spcPts val="635"/>
              </a:spcBef>
              <a:buAutoNum type="alphaLcPeriod" startAt="4"/>
              <a:tabLst>
                <a:tab pos="885825" algn="l"/>
                <a:tab pos="886460" algn="l"/>
              </a:tabLst>
            </a:pPr>
            <a:r>
              <a:rPr sz="1400" spc="6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tions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ons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sten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t: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tions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ight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yo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endParaRPr sz="1400" dirty="0">
              <a:latin typeface="Lucida Sans Unicode"/>
              <a:cs typeface="Lucida Sans Unicode"/>
            </a:endParaRPr>
          </a:p>
          <a:p>
            <a:pPr marL="885825"/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Yes/No?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some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cases,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unclear,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mixed,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somewhat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viable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options.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05000"/>
              </a:lnSpc>
              <a:spcBef>
                <a:spcPts val="1310"/>
              </a:spcBef>
            </a:pPr>
            <a:r>
              <a:rPr sz="1400" i="1" spc="-25" dirty="0">
                <a:solidFill>
                  <a:srgbClr val="33006E"/>
                </a:solidFill>
                <a:latin typeface="Trebuchet MS"/>
                <a:cs typeface="Trebuchet MS"/>
              </a:rPr>
              <a:t>Examples:</a:t>
            </a:r>
            <a:r>
              <a:rPr sz="1400" i="1" spc="-9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33006E"/>
                </a:solidFill>
                <a:latin typeface="Lucida Sans Unicode"/>
                <a:cs typeface="Lucida Sans Unicode"/>
              </a:rPr>
              <a:t>We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usually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code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one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study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per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row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(as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review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economic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growth), </a:t>
            </a:r>
            <a:r>
              <a:rPr sz="1400" spc="-4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but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if </a:t>
            </a:r>
            <a:r>
              <a:rPr sz="14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we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want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compare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across countries,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programs,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products,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for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example, </a:t>
            </a:r>
            <a:r>
              <a:rPr sz="1400" spc="10" dirty="0">
                <a:solidFill>
                  <a:srgbClr val="33006E"/>
                </a:solidFill>
                <a:latin typeface="Lucida Sans Unicode"/>
                <a:cs typeface="Lucida Sans Unicode"/>
              </a:rPr>
              <a:t>we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may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aggregate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from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discussing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a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given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country,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program,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product</a:t>
            </a:r>
            <a:endParaRPr sz="1400" dirty="0">
              <a:latin typeface="Lucida Sans Unicode"/>
              <a:cs typeface="Lucida Sans Unicode"/>
            </a:endParaRPr>
          </a:p>
          <a:p>
            <a:pPr marL="12700" marR="221615">
              <a:lnSpc>
                <a:spcPct val="105000"/>
              </a:lnSpc>
            </a:pP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into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a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single row.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For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example,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coding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spreadsheet for 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EPAR’s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review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land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tenure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technologies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(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EPAR</a:t>
            </a:r>
            <a:r>
              <a:rPr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Technical</a:t>
            </a:r>
            <a:r>
              <a:rPr sz="1400" u="sng" spc="-1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Report</a:t>
            </a:r>
            <a:r>
              <a:rPr sz="1400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#357</a:t>
            </a:r>
            <a:r>
              <a:rPr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)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aggregates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from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into </a:t>
            </a:r>
            <a:r>
              <a:rPr sz="1400" spc="-4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rows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where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unit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 analysis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was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a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specific technology,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 the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coding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spreadsheet for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65" dirty="0">
                <a:solidFill>
                  <a:srgbClr val="33006E"/>
                </a:solidFill>
                <a:latin typeface="Lucida Sans Unicode"/>
                <a:cs typeface="Lucida Sans Unicode"/>
              </a:rPr>
              <a:t>EPAR’s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review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digital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financial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services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consumer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protection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regulations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developing</a:t>
            </a:r>
            <a:endParaRPr sz="1400" dirty="0">
              <a:latin typeface="Lucida Sans Unicode"/>
              <a:cs typeface="Lucida Sans Unicode"/>
            </a:endParaRPr>
          </a:p>
          <a:p>
            <a:pPr marL="12700">
              <a:spcBef>
                <a:spcPts val="85"/>
              </a:spcBef>
            </a:pP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countries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(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EPAR</a:t>
            </a:r>
            <a:r>
              <a:rPr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Technical</a:t>
            </a:r>
            <a:r>
              <a:rPr sz="1400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Report</a:t>
            </a:r>
            <a:r>
              <a:rPr sz="1400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#324</a:t>
            </a:r>
            <a:r>
              <a:rPr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)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aggregates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from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studies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into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rows</a:t>
            </a:r>
            <a:endParaRPr sz="1400" dirty="0">
              <a:latin typeface="Lucida Sans Unicode"/>
              <a:cs typeface="Lucida Sans Unicode"/>
            </a:endParaRPr>
          </a:p>
          <a:p>
            <a:pPr marL="12700">
              <a:spcBef>
                <a:spcPts val="85"/>
              </a:spcBef>
            </a:pPr>
            <a:r>
              <a:rPr sz="1400" dirty="0">
                <a:solidFill>
                  <a:srgbClr val="33006E"/>
                </a:solidFill>
                <a:latin typeface="Lucida Sans Unicode"/>
                <a:cs typeface="Lucida Sans Unicode"/>
              </a:rPr>
              <a:t>where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unit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analysis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was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individual</a:t>
            </a:r>
            <a:r>
              <a:rPr sz="1400" spc="-12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country.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coding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spreadsheets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for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each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these</a:t>
            </a:r>
            <a:endParaRPr sz="1400" dirty="0">
              <a:latin typeface="Lucida Sans Unicode"/>
              <a:cs typeface="Lucida Sans Unicode"/>
            </a:endParaRPr>
          </a:p>
          <a:p>
            <a:pPr marL="12700">
              <a:spcBef>
                <a:spcPts val="85"/>
              </a:spcBef>
            </a:pP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projects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available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respective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project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webpages.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647" y="1451680"/>
            <a:ext cx="10775575" cy="5005556"/>
          </a:xfrm>
          <a:custGeom>
            <a:avLst/>
            <a:gdLst/>
            <a:ahLst/>
            <a:cxnLst/>
            <a:rect l="l" t="t" r="r" b="b"/>
            <a:pathLst>
              <a:path w="8324215" h="5968365">
                <a:moveTo>
                  <a:pt x="8324088" y="0"/>
                </a:moveTo>
                <a:lnTo>
                  <a:pt x="0" y="0"/>
                </a:lnTo>
                <a:lnTo>
                  <a:pt x="0" y="5967984"/>
                </a:lnTo>
                <a:lnTo>
                  <a:pt x="8324088" y="5967984"/>
                </a:lnTo>
                <a:lnTo>
                  <a:pt x="8324088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647" y="585369"/>
            <a:ext cx="1077557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solidFill>
                  <a:srgbClr val="4A2D83"/>
                </a:solidFill>
              </a:rPr>
              <a:t>Code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170" dirty="0">
                <a:solidFill>
                  <a:srgbClr val="4A2D83"/>
                </a:solidFill>
              </a:rPr>
              <a:t>I</a:t>
            </a:r>
            <a:r>
              <a:rPr b="1" spc="-229" dirty="0">
                <a:solidFill>
                  <a:srgbClr val="4A2D83"/>
                </a:solidFill>
              </a:rPr>
              <a:t>n</a:t>
            </a:r>
            <a:r>
              <a:rPr b="1" spc="55" dirty="0">
                <a:solidFill>
                  <a:srgbClr val="4A2D83"/>
                </a:solidFill>
              </a:rPr>
              <a:t>f</a:t>
            </a:r>
            <a:r>
              <a:rPr b="1" spc="80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</a:t>
            </a:r>
            <a:r>
              <a:rPr b="1" spc="-85" dirty="0">
                <a:solidFill>
                  <a:srgbClr val="4A2D83"/>
                </a:solidFill>
              </a:rPr>
              <a:t>m</a:t>
            </a:r>
            <a:r>
              <a:rPr b="1" spc="-25" dirty="0">
                <a:solidFill>
                  <a:srgbClr val="4A2D83"/>
                </a:solidFill>
              </a:rPr>
              <a:t>ation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35" dirty="0">
                <a:solidFill>
                  <a:srgbClr val="4A2D83"/>
                </a:solidFill>
              </a:rPr>
              <a:t>fr</a:t>
            </a:r>
            <a:r>
              <a:rPr b="1" spc="45" dirty="0">
                <a:solidFill>
                  <a:srgbClr val="4A2D83"/>
                </a:solidFill>
              </a:rPr>
              <a:t>o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B</a:t>
            </a:r>
            <a:r>
              <a:rPr b="1" spc="-25" dirty="0">
                <a:solidFill>
                  <a:srgbClr val="4A2D83"/>
                </a:solidFill>
              </a:rPr>
              <a:t>o</a:t>
            </a:r>
            <a:r>
              <a:rPr b="1" spc="10" dirty="0">
                <a:solidFill>
                  <a:srgbClr val="4A2D83"/>
                </a:solidFill>
              </a:rPr>
              <a:t>dy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Evidence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135" dirty="0">
                <a:solidFill>
                  <a:srgbClr val="4A2D83"/>
                </a:solidFill>
              </a:rPr>
              <a:t>(</a:t>
            </a:r>
            <a:r>
              <a:rPr b="1" spc="-175" dirty="0">
                <a:solidFill>
                  <a:srgbClr val="4A2D83"/>
                </a:solidFill>
              </a:rPr>
              <a:t>4</a:t>
            </a:r>
            <a:r>
              <a:rPr b="1" spc="-235" dirty="0">
                <a:solidFill>
                  <a:srgbClr val="4A2D83"/>
                </a:solidFill>
              </a:rPr>
              <a:t>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03831" y="1505813"/>
            <a:ext cx="6593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coding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at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55" dirty="0">
                <a:solidFill>
                  <a:srgbClr val="4A2D83"/>
                </a:solidFill>
                <a:latin typeface="Trebuchet MS"/>
                <a:cs typeface="Trebuchet MS"/>
              </a:rPr>
              <a:t>the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country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75" dirty="0">
                <a:solidFill>
                  <a:srgbClr val="4A2D83"/>
                </a:solidFill>
                <a:latin typeface="Trebuchet MS"/>
                <a:cs typeface="Trebuchet MS"/>
              </a:rPr>
              <a:t>level</a:t>
            </a:r>
            <a:r>
              <a:rPr sz="14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#324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646" y="5578856"/>
            <a:ext cx="10775575" cy="723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spc="35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collected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digital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financial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services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regulations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selected 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low-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middle-income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countries.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row, 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coded information from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they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applied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noted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info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“describe”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columns.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sources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recorded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“references”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column.</a:t>
            </a:r>
            <a:endParaRPr sz="1400" dirty="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0552" y="1788854"/>
            <a:ext cx="7930896" cy="361362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763" y="748098"/>
            <a:ext cx="1080247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5" dirty="0">
                <a:solidFill>
                  <a:srgbClr val="4A2D83"/>
                </a:solidFill>
              </a:rPr>
              <a:t>Code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170" dirty="0">
                <a:solidFill>
                  <a:srgbClr val="4A2D83"/>
                </a:solidFill>
              </a:rPr>
              <a:t>I</a:t>
            </a:r>
            <a:r>
              <a:rPr b="1" spc="-229" dirty="0">
                <a:solidFill>
                  <a:srgbClr val="4A2D83"/>
                </a:solidFill>
              </a:rPr>
              <a:t>n</a:t>
            </a:r>
            <a:r>
              <a:rPr b="1" spc="55" dirty="0">
                <a:solidFill>
                  <a:srgbClr val="4A2D83"/>
                </a:solidFill>
              </a:rPr>
              <a:t>f</a:t>
            </a:r>
            <a:r>
              <a:rPr b="1" spc="80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</a:t>
            </a:r>
            <a:r>
              <a:rPr b="1" spc="-85" dirty="0">
                <a:solidFill>
                  <a:srgbClr val="4A2D83"/>
                </a:solidFill>
              </a:rPr>
              <a:t>m</a:t>
            </a:r>
            <a:r>
              <a:rPr b="1" spc="-25" dirty="0">
                <a:solidFill>
                  <a:srgbClr val="4A2D83"/>
                </a:solidFill>
              </a:rPr>
              <a:t>ation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35" dirty="0">
                <a:solidFill>
                  <a:srgbClr val="4A2D83"/>
                </a:solidFill>
              </a:rPr>
              <a:t>fr</a:t>
            </a:r>
            <a:r>
              <a:rPr b="1" spc="45" dirty="0">
                <a:solidFill>
                  <a:srgbClr val="4A2D83"/>
                </a:solidFill>
              </a:rPr>
              <a:t>o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B</a:t>
            </a:r>
            <a:r>
              <a:rPr b="1" spc="-25" dirty="0">
                <a:solidFill>
                  <a:srgbClr val="4A2D83"/>
                </a:solidFill>
              </a:rPr>
              <a:t>o</a:t>
            </a:r>
            <a:r>
              <a:rPr b="1" spc="10" dirty="0">
                <a:solidFill>
                  <a:srgbClr val="4A2D83"/>
                </a:solidFill>
              </a:rPr>
              <a:t>dy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35" dirty="0">
                <a:solidFill>
                  <a:srgbClr val="4A2D83"/>
                </a:solidFill>
              </a:rPr>
              <a:t>Evidence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235" dirty="0">
                <a:solidFill>
                  <a:srgbClr val="4A2D83"/>
                </a:solidFill>
              </a:rPr>
              <a:t>(5/6)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4764" y="2401940"/>
            <a:ext cx="10802471" cy="3831498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99085" indent="-287020">
              <a:spcBef>
                <a:spcPts val="26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Due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length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time,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able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every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single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source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its</a:t>
            </a:r>
            <a:endParaRPr sz="1400" dirty="0">
              <a:latin typeface="Arial"/>
              <a:cs typeface="Arial"/>
            </a:endParaRPr>
          </a:p>
          <a:p>
            <a:pPr marL="299085" marR="320675">
              <a:lnSpc>
                <a:spcPts val="1850"/>
              </a:lnSpc>
              <a:spcBef>
                <a:spcPts val="90"/>
              </a:spcBef>
            </a:pP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entirety.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“Ctrl+F”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key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words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(may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differ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column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considering)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surrounding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sections.</a:t>
            </a:r>
            <a:endParaRPr sz="1400" dirty="0">
              <a:latin typeface="Arial"/>
              <a:cs typeface="Arial"/>
            </a:endParaRPr>
          </a:p>
          <a:p>
            <a:pPr marL="756285" marR="280670" lvl="1" indent="-287020">
              <a:lnSpc>
                <a:spcPct val="110000"/>
              </a:lnSpc>
              <a:spcBef>
                <a:spcPts val="5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Pay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attention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methods,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sections.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introduction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background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provide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context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well.</a:t>
            </a:r>
            <a:endParaRPr sz="1400" dirty="0">
              <a:latin typeface="Lucida Sans Unicode"/>
              <a:cs typeface="Lucida Sans Unicode"/>
            </a:endParaRPr>
          </a:p>
          <a:p>
            <a:pPr marL="299085" marR="7620" indent="-287020">
              <a:lnSpc>
                <a:spcPct val="1101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Look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different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ways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think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about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questions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you’ve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asked. 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variable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previously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interpreted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Yes/No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may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grey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area.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Consider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breaking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ambiguous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question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several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specific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questions.</a:t>
            </a:r>
            <a:endParaRPr sz="14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E.g.,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originally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Y/N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“Are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caps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cash-in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cash-out?” 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code,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realize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caps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on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transaction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amounts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i="1" dirty="0">
                <a:solidFill>
                  <a:srgbClr val="4A2D83"/>
                </a:solidFill>
                <a:latin typeface="Trebuchet MS"/>
                <a:cs typeface="Trebuchet MS"/>
              </a:rPr>
              <a:t>or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account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balances.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Break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out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two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separate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Y/N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description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cap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“Describe”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column.</a:t>
            </a:r>
            <a:endParaRPr sz="1400" dirty="0">
              <a:latin typeface="Lucida Sans Unicode"/>
              <a:cs typeface="Lucida Sans Unicode"/>
            </a:endParaRPr>
          </a:p>
          <a:p>
            <a:pPr marL="299085" marR="173355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If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find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information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does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neatly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fit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think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about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changing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existing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question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adding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new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question.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tool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organize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evidence,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not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hinder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accurately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collecting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evidence.</a:t>
            </a:r>
            <a:endParaRPr sz="1400" dirty="0">
              <a:latin typeface="Arial"/>
              <a:cs typeface="Arial"/>
            </a:endParaRPr>
          </a:p>
          <a:p>
            <a:pPr marL="299085" marR="36195" indent="-287020">
              <a:lnSpc>
                <a:spcPct val="1101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If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working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group,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communicate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frequently! 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Discuss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changes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fellow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coders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ensure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make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changes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versions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3059" y="1371599"/>
            <a:ext cx="11035553" cy="5295899"/>
          </a:xfrm>
          <a:custGeom>
            <a:avLst/>
            <a:gdLst/>
            <a:ahLst/>
            <a:cxnLst/>
            <a:rect l="l" t="t" r="r" b="b"/>
            <a:pathLst>
              <a:path w="8269605" h="5935980">
                <a:moveTo>
                  <a:pt x="8269223" y="0"/>
                </a:moveTo>
                <a:lnTo>
                  <a:pt x="0" y="0"/>
                </a:lnTo>
                <a:lnTo>
                  <a:pt x="0" y="5935980"/>
                </a:lnTo>
                <a:lnTo>
                  <a:pt x="8269223" y="5935980"/>
                </a:lnTo>
                <a:lnTo>
                  <a:pt x="8269223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8222" y="495483"/>
            <a:ext cx="1095038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95" dirty="0">
                <a:solidFill>
                  <a:srgbClr val="4A2D83"/>
                </a:solidFill>
              </a:rPr>
              <a:t>C</a:t>
            </a:r>
            <a:r>
              <a:rPr b="1" spc="-35" dirty="0">
                <a:solidFill>
                  <a:srgbClr val="4A2D83"/>
                </a:solidFill>
              </a:rPr>
              <a:t>ode</a:t>
            </a:r>
            <a:r>
              <a:rPr b="1" spc="-26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Inf</a:t>
            </a:r>
            <a:r>
              <a:rPr b="1" spc="-85" dirty="0">
                <a:solidFill>
                  <a:srgbClr val="4A2D83"/>
                </a:solidFill>
              </a:rPr>
              <a:t>o</a:t>
            </a:r>
            <a:r>
              <a:rPr b="1" spc="-35" dirty="0">
                <a:solidFill>
                  <a:srgbClr val="4A2D83"/>
                </a:solidFill>
              </a:rPr>
              <a:t>rmation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5" dirty="0">
                <a:solidFill>
                  <a:srgbClr val="4A2D83"/>
                </a:solidFill>
              </a:rPr>
              <a:t>from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5" dirty="0">
                <a:solidFill>
                  <a:srgbClr val="4A2D83"/>
                </a:solidFill>
              </a:rPr>
              <a:t>Body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o</a:t>
            </a:r>
            <a:r>
              <a:rPr b="1" spc="150" dirty="0">
                <a:solidFill>
                  <a:srgbClr val="4A2D83"/>
                </a:solidFill>
              </a:rPr>
              <a:t>f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dirty="0">
                <a:solidFill>
                  <a:srgbClr val="4A2D83"/>
                </a:solidFill>
              </a:rPr>
              <a:t>Ev</a:t>
            </a:r>
            <a:r>
              <a:rPr b="1" spc="5" dirty="0">
                <a:solidFill>
                  <a:srgbClr val="4A2D83"/>
                </a:solidFill>
              </a:rPr>
              <a:t>i</a:t>
            </a:r>
            <a:r>
              <a:rPr b="1" spc="-60" dirty="0">
                <a:solidFill>
                  <a:srgbClr val="4A2D83"/>
                </a:solidFill>
              </a:rPr>
              <a:t>dence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315" dirty="0">
                <a:solidFill>
                  <a:srgbClr val="4A2D83"/>
                </a:solidFill>
              </a:rPr>
              <a:t>(</a:t>
            </a:r>
            <a:r>
              <a:rPr b="1" spc="-175" dirty="0">
                <a:solidFill>
                  <a:srgbClr val="4A2D83"/>
                </a:solidFill>
              </a:rPr>
              <a:t>6/6)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3232" y="1371599"/>
            <a:ext cx="506984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coding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9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for</a:t>
            </a:r>
            <a:r>
              <a:rPr sz="1400" i="1" spc="-5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652" y="5168837"/>
            <a:ext cx="11035553" cy="1434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spc="35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first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captured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basic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characteristics such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author(s),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title,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abstract,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geography,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design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(experimental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quasi-experimental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studies,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meta-analyses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systematic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reviews), etc. 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further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included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measures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economic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impact,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outlined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framework,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yes/no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entries coded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1/0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facilitate analysis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tables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adjacent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cells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provide qualitative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descriptions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(not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shown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above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figure).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Finally,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study, 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coded information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specific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pathways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connecting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economic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growth.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full</a:t>
            </a:r>
            <a:r>
              <a:rPr sz="1400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coding</a:t>
            </a:r>
            <a:r>
              <a:rPr sz="1400" u="sng" spc="-1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spreadsheet</a:t>
            </a:r>
            <a:r>
              <a:rPr sz="1400" spc="-95" dirty="0">
                <a:solidFill>
                  <a:srgbClr val="006FC0"/>
                </a:solid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available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website.</a:t>
            </a:r>
            <a:endParaRPr sz="1400" dirty="0">
              <a:latin typeface="Lucida Sans Unicode"/>
              <a:cs typeface="Lucida Sans Unicod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26172"/>
              </p:ext>
            </p:extLst>
          </p:nvPr>
        </p:nvGraphicFramePr>
        <p:xfrm>
          <a:off x="578222" y="1689163"/>
          <a:ext cx="10950388" cy="33629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8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6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1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8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3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32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32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8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32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49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88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Calibri"/>
                          <a:cs typeface="Calibri"/>
                        </a:rPr>
                        <a:t>MEASURES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3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MORBIDITY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600" b="1" spc="-2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b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T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600" b="1" spc="-20" dirty="0">
                          <a:latin typeface="Calibri"/>
                          <a:cs typeface="Calibri"/>
                        </a:rPr>
                        <a:t>GEOGRAPHY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b="1" spc="1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ec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9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ts val="680"/>
                        </a:lnSpc>
                      </a:pPr>
                      <a:r>
                        <a:rPr sz="600" b="1" spc="-25" dirty="0">
                          <a:latin typeface="Calibri"/>
                          <a:cs typeface="Calibri"/>
                        </a:rPr>
                        <a:t>Keyword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 marR="12065">
                        <a:lnSpc>
                          <a:spcPts val="680"/>
                        </a:lnSpc>
                      </a:pPr>
                      <a:r>
                        <a:rPr sz="600" b="1" spc="-35" dirty="0">
                          <a:latin typeface="Calibri"/>
                          <a:cs typeface="Calibri"/>
                        </a:rPr>
                        <a:t>Authors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 marR="3175">
                        <a:lnSpc>
                          <a:spcPts val="680"/>
                        </a:lnSpc>
                      </a:pPr>
                      <a:r>
                        <a:rPr sz="600" b="1" spc="-20" dirty="0">
                          <a:latin typeface="Calibri"/>
                          <a:cs typeface="Calibri"/>
                        </a:rPr>
                        <a:t>Title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604" marR="85725">
                        <a:lnSpc>
                          <a:spcPct val="113700"/>
                        </a:lnSpc>
                        <a:spcBef>
                          <a:spcPts val="430"/>
                        </a:spcBef>
                      </a:pPr>
                      <a:r>
                        <a:rPr sz="600" b="1" spc="-20" dirty="0">
                          <a:latin typeface="Calibri"/>
                          <a:cs typeface="Calibri"/>
                        </a:rPr>
                        <a:t>Disease-specific </a:t>
                      </a:r>
                      <a:r>
                        <a:rPr sz="600" b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15" dirty="0">
                          <a:latin typeface="Calibri"/>
                          <a:cs typeface="Calibri"/>
                        </a:rPr>
                        <a:t>?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)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4604" marR="7620">
                        <a:lnSpc>
                          <a:spcPct val="113700"/>
                        </a:lnSpc>
                        <a:spcBef>
                          <a:spcPts val="430"/>
                        </a:spcBef>
                      </a:pPr>
                      <a:r>
                        <a:rPr sz="600" b="1" spc="-20" dirty="0">
                          <a:latin typeface="Calibri"/>
                          <a:cs typeface="Calibri"/>
                        </a:rPr>
                        <a:t>Disease-specific </a:t>
                      </a:r>
                      <a:r>
                        <a:rPr sz="600" b="1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(/1)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ct val="100000"/>
                        </a:lnSpc>
                      </a:pPr>
                      <a:r>
                        <a:rPr sz="600" b="1" spc="15" dirty="0">
                          <a:latin typeface="Calibri"/>
                          <a:cs typeface="Calibri"/>
                        </a:rPr>
                        <a:t>GD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1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NP</a:t>
                      </a:r>
                      <a:endParaRPr sz="600">
                        <a:latin typeface="Calibri"/>
                        <a:cs typeface="Calibri"/>
                      </a:endParaRPr>
                    </a:p>
                    <a:p>
                      <a:pPr marL="14604">
                        <a:lnSpc>
                          <a:spcPts val="680"/>
                        </a:lnSpc>
                        <a:spcBef>
                          <a:spcPts val="100"/>
                        </a:spcBef>
                      </a:pPr>
                      <a:r>
                        <a:rPr sz="600" b="1" spc="-25" dirty="0">
                          <a:latin typeface="Calibri"/>
                          <a:cs typeface="Calibri"/>
                        </a:rPr>
                        <a:t>measures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604" marR="37465">
                        <a:lnSpc>
                          <a:spcPct val="113599"/>
                        </a:lnSpc>
                        <a:spcBef>
                          <a:spcPts val="5"/>
                        </a:spcBef>
                      </a:pPr>
                      <a:r>
                        <a:rPr sz="600" b="1" spc="-30" dirty="0">
                          <a:latin typeface="Calibri"/>
                          <a:cs typeface="Calibri"/>
                        </a:rPr>
                        <a:t>Household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e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r  a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e i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ts val="680"/>
                        </a:lnSpc>
                      </a:pPr>
                      <a:r>
                        <a:rPr sz="600" b="1" spc="-20" dirty="0">
                          <a:latin typeface="Calibri"/>
                          <a:cs typeface="Calibri"/>
                        </a:rPr>
                        <a:t>Wages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604" marR="90805">
                        <a:lnSpc>
                          <a:spcPct val="113599"/>
                        </a:lnSpc>
                        <a:spcBef>
                          <a:spcPts val="5"/>
                        </a:spcBef>
                      </a:pPr>
                      <a:r>
                        <a:rPr sz="600" b="1" spc="-25" dirty="0">
                          <a:latin typeface="Calibri"/>
                          <a:cs typeface="Calibri"/>
                        </a:rPr>
                        <a:t>Productivity, 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absenteeism, </a:t>
                      </a:r>
                      <a:r>
                        <a:rPr sz="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 e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c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ts val="680"/>
                        </a:lnSpc>
                      </a:pPr>
                      <a:r>
                        <a:rPr sz="600" b="1" spc="-10" dirty="0">
                          <a:latin typeface="Calibri"/>
                          <a:cs typeface="Calibri"/>
                        </a:rPr>
                        <a:t>Ot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b="1" spc="-2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b="1" spc="-5" dirty="0">
                          <a:latin typeface="Calibri"/>
                          <a:cs typeface="Calibri"/>
                        </a:rPr>
                        <a:t>eci</a:t>
                      </a:r>
                      <a:r>
                        <a:rPr sz="600" b="1" spc="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b="1" dirty="0">
                          <a:latin typeface="Calibri"/>
                          <a:cs typeface="Calibri"/>
                        </a:rPr>
                        <a:t>)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marL="14604">
                        <a:lnSpc>
                          <a:spcPts val="680"/>
                        </a:lnSpc>
                      </a:pPr>
                      <a:r>
                        <a:rPr sz="600" b="1" spc="-30" dirty="0">
                          <a:latin typeface="Calibri"/>
                          <a:cs typeface="Calibri"/>
                        </a:rPr>
                        <a:t>Where?</a:t>
                      </a:r>
                      <a:r>
                        <a:rPr sz="6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b="1" spc="-30" dirty="0">
                          <a:latin typeface="Calibri"/>
                          <a:cs typeface="Calibri"/>
                        </a:rPr>
                        <a:t>(Geography/Country)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810">
                <a:tc rowSpan="20"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comorbidity</a:t>
                      </a:r>
                      <a:endParaRPr sz="600">
                        <a:latin typeface="Calibri"/>
                        <a:cs typeface="Calibri"/>
                      </a:endParaRPr>
                    </a:p>
                    <a:p>
                      <a:pPr marL="14604" marR="8890">
                        <a:lnSpc>
                          <a:spcPct val="142000"/>
                        </a:lnSpc>
                        <a:spcBef>
                          <a:spcPts val="5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comorbidity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ili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j 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ili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j  HIV</a:t>
                      </a:r>
                      <a:endParaRPr sz="600">
                        <a:latin typeface="Calibri"/>
                        <a:cs typeface="Calibri"/>
                      </a:endParaRPr>
                    </a:p>
                    <a:p>
                      <a:pPr marL="14604" marR="329565" algn="just">
                        <a:lnSpc>
                          <a:spcPct val="142000"/>
                        </a:lnSpc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 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V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bb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u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Economic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differences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direct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costs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bet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epilepsy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un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Association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hearing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loss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decreased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employm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hearing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loss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2540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tt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Particulate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emissions: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effects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labour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ma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30" dirty="0">
                          <a:latin typeface="Calibri"/>
                          <a:cs typeface="Calibri"/>
                        </a:rPr>
                        <a:t>po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ll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Denmark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Fu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A.Z.,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Chen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L.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Absenteeism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short-term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disability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associated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30" dirty="0">
                          <a:latin typeface="Calibri"/>
                          <a:cs typeface="Calibri"/>
                        </a:rPr>
                        <a:t>w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breast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cancer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Sullivan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P.W.,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Influence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rheumatoid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arthritis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employment,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fu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arthritis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Fu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A.Z.,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Qiu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Y.,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care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productivity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costs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associated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di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diabetes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Jofre-Bonet</a:t>
                      </a:r>
                      <a:r>
                        <a:rPr sz="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35" dirty="0">
                          <a:latin typeface="Calibri"/>
                          <a:cs typeface="Calibri"/>
                        </a:rPr>
                        <a:t>M.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Poor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mental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smoking: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Interactive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impact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wages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Bell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B.,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Chalkli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du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dysthymia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Canada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Birnbaum</a:t>
                      </a:r>
                      <a:r>
                        <a:rPr sz="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H.G.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Direct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costs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asthma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employer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asthma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United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States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o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ili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j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)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leprosy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5" dirty="0">
                          <a:latin typeface="Calibri"/>
                          <a:cs typeface="Calibri"/>
                        </a:rPr>
                        <a:t>India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2540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o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Economic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gains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fortification</a:t>
                      </a:r>
                      <a:r>
                        <a:rPr sz="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program: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Eval</a:t>
                      </a:r>
                      <a:endParaRPr sz="6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diarrhea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Pakistan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0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Marinescu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I.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HIV,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wages,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skill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premium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sub-Saharan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Chicoine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L.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AIDS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mortality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ts</a:t>
                      </a:r>
                      <a:r>
                        <a:rPr sz="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effect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labor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market: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Evi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98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2540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g'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.O.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N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h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il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r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2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w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th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5" dirty="0">
                          <a:latin typeface="Calibri"/>
                          <a:cs typeface="Calibri"/>
                        </a:rPr>
                        <a:t>Kenya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Pennap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G.R.I.,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review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education,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countries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lli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.L.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financial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poor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household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5" dirty="0">
                          <a:latin typeface="Calibri"/>
                          <a:cs typeface="Calibri"/>
                        </a:rPr>
                        <a:t>HH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costs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Dorward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A.R.,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Labor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market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wage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impacts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rural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5" dirty="0">
                          <a:latin typeface="Calibri"/>
                          <a:cs typeface="Calibri"/>
                        </a:rPr>
                        <a:t>Malawi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98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2540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cost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 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businesses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southern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Afric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countries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002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Rosen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S.,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Simo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317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AIDS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Your</a:t>
                      </a:r>
                      <a:r>
                        <a:rPr sz="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Business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Africa,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Botswana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98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2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5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spc="-1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a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6350">
                      <a:solidFill>
                        <a:srgbClr val="D3D3D3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1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impact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r>
                        <a:rPr sz="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medium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enterp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D3D3D3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D3D3D3"/>
                      </a:solidFill>
                      <a:prstDash val="solid"/>
                    </a:lnT>
                    <a:lnB w="9525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L="14604" marR="12065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HIV/AIDS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R="6350" algn="r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dirty="0">
                          <a:latin typeface="Calibri"/>
                          <a:cs typeface="Calibri"/>
                        </a:rPr>
                        <a:t>1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10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6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5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600" spc="30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600" spc="6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600" dirty="0">
                          <a:latin typeface="Calibri"/>
                          <a:cs typeface="Calibri"/>
                        </a:rPr>
                        <a:t>ts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BCD6ED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80"/>
                        </a:lnSpc>
                        <a:spcBef>
                          <a:spcPts val="240"/>
                        </a:spcBef>
                      </a:pPr>
                      <a:r>
                        <a:rPr sz="600" spc="-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600" spc="-10" dirty="0">
                          <a:latin typeface="Calibri"/>
                          <a:cs typeface="Calibri"/>
                        </a:rPr>
                        <a:t>Africa</a:t>
                      </a:r>
                      <a:endParaRPr sz="6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9525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808080"/>
                      </a:solidFill>
                      <a:prstDash val="solid"/>
                    </a:lnB>
                    <a:solidFill>
                      <a:srgbClr val="DBDB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2537" y="1755750"/>
            <a:ext cx="101228" cy="1103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20295" y="1755750"/>
            <a:ext cx="101228" cy="1103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39153" y="1755750"/>
            <a:ext cx="101228" cy="11037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4367" y="1755750"/>
            <a:ext cx="101030" cy="11037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9914" y="1755750"/>
            <a:ext cx="101030" cy="11037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39153" y="1755750"/>
            <a:ext cx="101030" cy="1103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68472" y="1755750"/>
            <a:ext cx="101030" cy="11037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97869" y="1755750"/>
            <a:ext cx="101228" cy="11037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10547" y="1755750"/>
            <a:ext cx="101030" cy="11037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39865" y="1755750"/>
            <a:ext cx="101030" cy="11037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5301" y="1755750"/>
            <a:ext cx="101030" cy="11037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106" y="936356"/>
            <a:ext cx="1072178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5" dirty="0">
                <a:solidFill>
                  <a:srgbClr val="4A2D83"/>
                </a:solidFill>
              </a:rPr>
              <a:t>Review</a:t>
            </a:r>
            <a:r>
              <a:rPr b="1" spc="-280" dirty="0">
                <a:solidFill>
                  <a:srgbClr val="4A2D83"/>
                </a:solidFill>
              </a:rPr>
              <a:t> </a:t>
            </a:r>
            <a:r>
              <a:rPr b="1" spc="-50" dirty="0">
                <a:solidFill>
                  <a:srgbClr val="4A2D83"/>
                </a:solidFill>
              </a:rPr>
              <a:t>Coding</a:t>
            </a:r>
            <a:endParaRPr b="1" spc="-315" dirty="0">
              <a:solidFill>
                <a:srgbClr val="4A2D83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5106" y="2581235"/>
            <a:ext cx="10721788" cy="723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goals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reviewing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consider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modifications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better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answer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question(s),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ensure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consistency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across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(particularly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group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work,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 can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apply to reviews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conducted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single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person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understanding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best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changes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over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course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review).</a:t>
            </a:r>
            <a:endParaRPr sz="14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3389" y="3552978"/>
            <a:ext cx="10721788" cy="22431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0330" indent="-342900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Conduct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quality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check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completed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spreadsheet—to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ensure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each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question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was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coded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consistently,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standardize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responses,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and,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if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useful,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break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out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particular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questions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(especially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categorical questions)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descriptions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new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columns.</a:t>
            </a:r>
            <a:endParaRPr sz="1400" dirty="0">
              <a:latin typeface="Arial"/>
              <a:cs typeface="Arial"/>
            </a:endParaRPr>
          </a:p>
          <a:p>
            <a:pPr marL="812165" marR="130810" lvl="1" indent="-342900">
              <a:spcBef>
                <a:spcPts val="6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EPAR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typically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reviews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 to consider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whether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given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category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been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consistently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over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time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and/or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coders.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5080" lvl="1" indent="-342900">
              <a:spcBef>
                <a:spcPts val="540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working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group,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divide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work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assigning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certain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sections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ac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355600" marR="167640" indent="-342900">
              <a:lnSpc>
                <a:spcPct val="110000"/>
              </a:lnSpc>
              <a:spcBef>
                <a:spcPts val="1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Discuss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possible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changes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either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group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with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advisers.</a:t>
            </a:r>
            <a:endParaRPr sz="1400" dirty="0">
              <a:latin typeface="Arial"/>
              <a:cs typeface="Arial"/>
            </a:endParaRPr>
          </a:p>
          <a:p>
            <a:pPr marL="355600" indent="-342900">
              <a:spcBef>
                <a:spcPts val="37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Return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previous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step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re-code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necessary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information.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8893" y="628344"/>
            <a:ext cx="10802471" cy="5853137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1812" y="1403603"/>
              <a:ext cx="1370076" cy="6857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74519" y="628345"/>
            <a:ext cx="6374130" cy="69723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>
                <a:solidFill>
                  <a:srgbClr val="4A2D83"/>
                </a:solidFill>
              </a:rPr>
              <a:t>Analyze</a:t>
            </a:r>
            <a:r>
              <a:rPr spc="-645" dirty="0">
                <a:solidFill>
                  <a:srgbClr val="4A2D83"/>
                </a:solidFill>
              </a:rPr>
              <a:t> </a:t>
            </a:r>
            <a:r>
              <a:rPr spc="-55" dirty="0">
                <a:solidFill>
                  <a:srgbClr val="4A2D83"/>
                </a:solidFill>
              </a:rPr>
              <a:t>the</a:t>
            </a:r>
            <a:r>
              <a:rPr spc="-625" dirty="0">
                <a:solidFill>
                  <a:srgbClr val="4A2D83"/>
                </a:solidFill>
              </a:rPr>
              <a:t> </a:t>
            </a:r>
            <a:r>
              <a:rPr spc="-85" dirty="0">
                <a:solidFill>
                  <a:srgbClr val="4A2D83"/>
                </a:solidFill>
              </a:rPr>
              <a:t>Evidence</a:t>
            </a:r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62022" y="1759711"/>
            <a:ext cx="76581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organizes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from 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 into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tabular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form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(rows, 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columns,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cells). </a:t>
            </a:r>
            <a:r>
              <a:rPr sz="1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method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organizing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f</a:t>
            </a:r>
            <a:r>
              <a:rPr sz="16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le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tud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facil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tate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6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6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6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at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600" spc="2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—</a:t>
            </a:r>
            <a:r>
              <a:rPr sz="16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6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lysis 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6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tables,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creation</a:t>
            </a:r>
            <a:r>
              <a:rPr sz="16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6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tables</a:t>
            </a:r>
            <a:r>
              <a:rPr sz="16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figures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6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illustrate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key</a:t>
            </a:r>
            <a:r>
              <a:rPr sz="16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findings.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27350" y="3232150"/>
            <a:ext cx="6337300" cy="1153160"/>
            <a:chOff x="1403350" y="3232150"/>
            <a:chExt cx="6337300" cy="1153160"/>
          </a:xfrm>
        </p:grpSpPr>
        <p:sp>
          <p:nvSpPr>
            <p:cNvPr id="9" name="object 9"/>
            <p:cNvSpPr/>
            <p:nvPr/>
          </p:nvSpPr>
          <p:spPr>
            <a:xfrm>
              <a:off x="1409700" y="3238500"/>
              <a:ext cx="6324600" cy="548640"/>
            </a:xfrm>
            <a:custGeom>
              <a:avLst/>
              <a:gdLst/>
              <a:ahLst/>
              <a:cxnLst/>
              <a:rect l="l" t="t" r="r" b="b"/>
              <a:pathLst>
                <a:path w="6324600" h="548639">
                  <a:moveTo>
                    <a:pt x="62331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179" y="492811"/>
                  </a:lnTo>
                  <a:lnTo>
                    <a:pt x="26765" y="521874"/>
                  </a:lnTo>
                  <a:lnTo>
                    <a:pt x="55828" y="541460"/>
                  </a:lnTo>
                  <a:lnTo>
                    <a:pt x="91440" y="548639"/>
                  </a:lnTo>
                  <a:lnTo>
                    <a:pt x="6233159" y="548639"/>
                  </a:lnTo>
                  <a:lnTo>
                    <a:pt x="6268771" y="541460"/>
                  </a:lnTo>
                  <a:lnTo>
                    <a:pt x="6297834" y="521874"/>
                  </a:lnTo>
                  <a:lnTo>
                    <a:pt x="6317420" y="492811"/>
                  </a:lnTo>
                  <a:lnTo>
                    <a:pt x="6324600" y="457200"/>
                  </a:lnTo>
                  <a:lnTo>
                    <a:pt x="6324600" y="91439"/>
                  </a:lnTo>
                  <a:lnTo>
                    <a:pt x="6317420" y="55828"/>
                  </a:lnTo>
                  <a:lnTo>
                    <a:pt x="6297834" y="26765"/>
                  </a:lnTo>
                  <a:lnTo>
                    <a:pt x="6268771" y="7179"/>
                  </a:lnTo>
                  <a:lnTo>
                    <a:pt x="6233159" y="0"/>
                  </a:lnTo>
                  <a:close/>
                </a:path>
              </a:pathLst>
            </a:custGeom>
            <a:solidFill>
              <a:srgbClr val="BE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9700" y="3238500"/>
              <a:ext cx="6324600" cy="548640"/>
            </a:xfrm>
            <a:custGeom>
              <a:avLst/>
              <a:gdLst/>
              <a:ahLst/>
              <a:cxnLst/>
              <a:rect l="l" t="t" r="r" b="b"/>
              <a:pathLst>
                <a:path w="6324600" h="5486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6233159" y="0"/>
                  </a:lnTo>
                  <a:lnTo>
                    <a:pt x="6268771" y="7179"/>
                  </a:lnTo>
                  <a:lnTo>
                    <a:pt x="6297834" y="26765"/>
                  </a:lnTo>
                  <a:lnTo>
                    <a:pt x="6317420" y="55828"/>
                  </a:lnTo>
                  <a:lnTo>
                    <a:pt x="6324600" y="91439"/>
                  </a:lnTo>
                  <a:lnTo>
                    <a:pt x="6324600" y="457200"/>
                  </a:lnTo>
                  <a:lnTo>
                    <a:pt x="6317420" y="492811"/>
                  </a:lnTo>
                  <a:lnTo>
                    <a:pt x="6297834" y="521874"/>
                  </a:lnTo>
                  <a:lnTo>
                    <a:pt x="6268771" y="541460"/>
                  </a:lnTo>
                  <a:lnTo>
                    <a:pt x="6233159" y="548639"/>
                  </a:lnTo>
                  <a:lnTo>
                    <a:pt x="91440" y="548639"/>
                  </a:lnTo>
                  <a:lnTo>
                    <a:pt x="55828" y="541460"/>
                  </a:lnTo>
                  <a:lnTo>
                    <a:pt x="26765" y="521874"/>
                  </a:lnTo>
                  <a:lnTo>
                    <a:pt x="7179" y="492811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192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09700" y="3829812"/>
              <a:ext cx="6324600" cy="548640"/>
            </a:xfrm>
            <a:custGeom>
              <a:avLst/>
              <a:gdLst/>
              <a:ahLst/>
              <a:cxnLst/>
              <a:rect l="l" t="t" r="r" b="b"/>
              <a:pathLst>
                <a:path w="6324600" h="548639">
                  <a:moveTo>
                    <a:pt x="6233159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179" y="492811"/>
                  </a:lnTo>
                  <a:lnTo>
                    <a:pt x="26765" y="521874"/>
                  </a:lnTo>
                  <a:lnTo>
                    <a:pt x="55828" y="541460"/>
                  </a:lnTo>
                  <a:lnTo>
                    <a:pt x="91440" y="548639"/>
                  </a:lnTo>
                  <a:lnTo>
                    <a:pt x="6233159" y="548639"/>
                  </a:lnTo>
                  <a:lnTo>
                    <a:pt x="6268771" y="541460"/>
                  </a:lnTo>
                  <a:lnTo>
                    <a:pt x="6297834" y="521874"/>
                  </a:lnTo>
                  <a:lnTo>
                    <a:pt x="6317420" y="492811"/>
                  </a:lnTo>
                  <a:lnTo>
                    <a:pt x="6324600" y="457200"/>
                  </a:lnTo>
                  <a:lnTo>
                    <a:pt x="6324600" y="91439"/>
                  </a:lnTo>
                  <a:lnTo>
                    <a:pt x="6317420" y="55828"/>
                  </a:lnTo>
                  <a:lnTo>
                    <a:pt x="6297834" y="26765"/>
                  </a:lnTo>
                  <a:lnTo>
                    <a:pt x="6268771" y="7179"/>
                  </a:lnTo>
                  <a:lnTo>
                    <a:pt x="6233159" y="0"/>
                  </a:lnTo>
                  <a:close/>
                </a:path>
              </a:pathLst>
            </a:custGeom>
            <a:solidFill>
              <a:srgbClr val="BE8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9700" y="3829812"/>
              <a:ext cx="6324600" cy="548640"/>
            </a:xfrm>
            <a:custGeom>
              <a:avLst/>
              <a:gdLst/>
              <a:ahLst/>
              <a:cxnLst/>
              <a:rect l="l" t="t" r="r" b="b"/>
              <a:pathLst>
                <a:path w="6324600" h="54863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6233159" y="0"/>
                  </a:lnTo>
                  <a:lnTo>
                    <a:pt x="6268771" y="7179"/>
                  </a:lnTo>
                  <a:lnTo>
                    <a:pt x="6297834" y="26765"/>
                  </a:lnTo>
                  <a:lnTo>
                    <a:pt x="6317420" y="55828"/>
                  </a:lnTo>
                  <a:lnTo>
                    <a:pt x="6324600" y="91439"/>
                  </a:lnTo>
                  <a:lnTo>
                    <a:pt x="6324600" y="457200"/>
                  </a:lnTo>
                  <a:lnTo>
                    <a:pt x="6317420" y="492811"/>
                  </a:lnTo>
                  <a:lnTo>
                    <a:pt x="6297834" y="521874"/>
                  </a:lnTo>
                  <a:lnTo>
                    <a:pt x="6268771" y="541460"/>
                  </a:lnTo>
                  <a:lnTo>
                    <a:pt x="6233159" y="548639"/>
                  </a:lnTo>
                  <a:lnTo>
                    <a:pt x="91440" y="548639"/>
                  </a:lnTo>
                  <a:lnTo>
                    <a:pt x="55828" y="541460"/>
                  </a:lnTo>
                  <a:lnTo>
                    <a:pt x="26765" y="521874"/>
                  </a:lnTo>
                  <a:lnTo>
                    <a:pt x="7179" y="492811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192">
              <a:solidFill>
                <a:srgbClr val="3300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74035" y="3266059"/>
            <a:ext cx="6040120" cy="1074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70" algn="ctr">
              <a:spcBef>
                <a:spcPts val="95"/>
              </a:spcBef>
            </a:pPr>
            <a:r>
              <a:rPr sz="1000" b="1" spc="90" dirty="0">
                <a:solidFill>
                  <a:srgbClr val="33006E"/>
                </a:solidFill>
                <a:latin typeface="Arial"/>
                <a:cs typeface="Arial"/>
              </a:rPr>
              <a:t>Analyze </a:t>
            </a:r>
            <a:r>
              <a:rPr sz="1000" b="1" spc="18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Findings</a:t>
            </a:r>
            <a:endParaRPr sz="1000">
              <a:latin typeface="Arial"/>
              <a:cs typeface="Arial"/>
            </a:endParaRPr>
          </a:p>
          <a:p>
            <a:pPr marL="139065" marR="132080" algn="ctr"/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Build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pivot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tables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analysis;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use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spreadsheet</a:t>
            </a:r>
            <a:r>
              <a:rPr sz="1000" i="1" spc="-6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pivot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tables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to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compare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trends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outcomes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2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factors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of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interest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0" dirty="0">
                <a:solidFill>
                  <a:srgbClr val="33006E"/>
                </a:solidFill>
                <a:latin typeface="Trebuchet MS"/>
                <a:cs typeface="Trebuchet MS"/>
              </a:rPr>
              <a:t>across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relevant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groupings;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create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figures</a:t>
            </a:r>
            <a:r>
              <a:rPr sz="1000" i="1" spc="-6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tables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for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your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report</a:t>
            </a:r>
            <a:endParaRPr sz="1000">
              <a:latin typeface="Trebuchet MS"/>
              <a:cs typeface="Trebuchet MS"/>
            </a:endParaRPr>
          </a:p>
          <a:p>
            <a:pPr marR="1270" algn="ctr">
              <a:spcBef>
                <a:spcPts val="1060"/>
              </a:spcBef>
            </a:pPr>
            <a:r>
              <a:rPr sz="1000" b="1" spc="110" dirty="0">
                <a:solidFill>
                  <a:srgbClr val="33006E"/>
                </a:solidFill>
                <a:latin typeface="Arial"/>
                <a:cs typeface="Arial"/>
              </a:rPr>
              <a:t>Summarize </a:t>
            </a:r>
            <a:r>
              <a:rPr sz="1000" b="1" spc="185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95" dirty="0">
                <a:solidFill>
                  <a:srgbClr val="33006E"/>
                </a:solidFill>
                <a:latin typeface="Arial"/>
                <a:cs typeface="Arial"/>
              </a:rPr>
              <a:t>and </a:t>
            </a:r>
            <a:r>
              <a:rPr sz="1000" b="1" spc="18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100" dirty="0">
                <a:solidFill>
                  <a:srgbClr val="33006E"/>
                </a:solidFill>
                <a:latin typeface="Arial"/>
                <a:cs typeface="Arial"/>
              </a:rPr>
              <a:t>Report </a:t>
            </a:r>
            <a:r>
              <a:rPr sz="1000" b="1" spc="200" dirty="0">
                <a:solidFill>
                  <a:srgbClr val="33006E"/>
                </a:solidFill>
                <a:latin typeface="Arial"/>
                <a:cs typeface="Arial"/>
              </a:rPr>
              <a:t> </a:t>
            </a:r>
            <a:r>
              <a:rPr sz="1000" b="1" spc="80" dirty="0">
                <a:solidFill>
                  <a:srgbClr val="33006E"/>
                </a:solidFill>
                <a:latin typeface="Arial"/>
                <a:cs typeface="Arial"/>
              </a:rPr>
              <a:t>Findings</a:t>
            </a:r>
            <a:endParaRPr sz="1000">
              <a:latin typeface="Arial"/>
              <a:cs typeface="Arial"/>
            </a:endParaRPr>
          </a:p>
          <a:p>
            <a:pPr marL="12065" marR="5080" indent="-1270" algn="ctr"/>
            <a:r>
              <a:rPr sz="1000" i="1" dirty="0">
                <a:solidFill>
                  <a:srgbClr val="33006E"/>
                </a:solidFill>
                <a:latin typeface="Trebuchet MS"/>
                <a:cs typeface="Trebuchet MS"/>
              </a:rPr>
              <a:t>Use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organization 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of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 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review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framework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as </a:t>
            </a:r>
            <a:r>
              <a:rPr sz="1000" i="1" spc="35" dirty="0">
                <a:solidFill>
                  <a:srgbClr val="33006E"/>
                </a:solidFill>
                <a:latin typeface="Trebuchet MS"/>
                <a:cs typeface="Trebuchet MS"/>
              </a:rPr>
              <a:t>a 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structure for </a:t>
            </a:r>
            <a:r>
              <a:rPr sz="1000" i="1" spc="-5" dirty="0">
                <a:solidFill>
                  <a:srgbClr val="33006E"/>
                </a:solidFill>
                <a:latin typeface="Trebuchet MS"/>
                <a:cs typeface="Trebuchet MS"/>
              </a:rPr>
              <a:t>summarizing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 </a:t>
            </a:r>
            <a:r>
              <a:rPr sz="1000" i="1" spc="-20" dirty="0">
                <a:solidFill>
                  <a:srgbClr val="33006E"/>
                </a:solidFill>
                <a:latin typeface="Trebuchet MS"/>
                <a:cs typeface="Trebuchet MS"/>
              </a:rPr>
              <a:t>presenting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 findings</a:t>
            </a:r>
            <a:r>
              <a:rPr sz="1000" i="1" spc="-5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from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analysis;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identify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report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on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15" dirty="0">
                <a:solidFill>
                  <a:srgbClr val="33006E"/>
                </a:solidFill>
                <a:latin typeface="Trebuchet MS"/>
                <a:cs typeface="Trebuchet MS"/>
              </a:rPr>
              <a:t>gaps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25" dirty="0">
                <a:solidFill>
                  <a:srgbClr val="33006E"/>
                </a:solidFill>
                <a:latin typeface="Trebuchet MS"/>
                <a:cs typeface="Trebuchet MS"/>
              </a:rPr>
              <a:t>evidence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5" dirty="0">
                <a:solidFill>
                  <a:srgbClr val="33006E"/>
                </a:solidFill>
                <a:latin typeface="Trebuchet MS"/>
                <a:cs typeface="Trebuchet MS"/>
              </a:rPr>
              <a:t>base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25" dirty="0">
                <a:solidFill>
                  <a:srgbClr val="33006E"/>
                </a:solidFill>
                <a:latin typeface="Trebuchet MS"/>
                <a:cs typeface="Trebuchet MS"/>
              </a:rPr>
              <a:t>and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5" dirty="0">
                <a:solidFill>
                  <a:srgbClr val="33006E"/>
                </a:solidFill>
                <a:latin typeface="Trebuchet MS"/>
                <a:cs typeface="Trebuchet MS"/>
              </a:rPr>
              <a:t>in</a:t>
            </a:r>
            <a:r>
              <a:rPr sz="1000" i="1" spc="-3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50" dirty="0">
                <a:solidFill>
                  <a:srgbClr val="33006E"/>
                </a:solidFill>
                <a:latin typeface="Trebuchet MS"/>
                <a:cs typeface="Trebuchet MS"/>
              </a:rPr>
              <a:t>the</a:t>
            </a:r>
            <a:r>
              <a:rPr sz="1000" i="1" spc="-3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literature</a:t>
            </a:r>
            <a:r>
              <a:rPr sz="1000" i="1" spc="-40" dirty="0">
                <a:solidFill>
                  <a:srgbClr val="33006E"/>
                </a:solidFill>
                <a:latin typeface="Trebuchet MS"/>
                <a:cs typeface="Trebuchet MS"/>
              </a:rPr>
              <a:t> review</a:t>
            </a:r>
            <a:r>
              <a:rPr sz="10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000" i="1" spc="-10" dirty="0">
                <a:solidFill>
                  <a:srgbClr val="33006E"/>
                </a:solidFill>
                <a:latin typeface="Trebuchet MS"/>
                <a:cs typeface="Trebuchet MS"/>
              </a:rPr>
              <a:t>methods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96761" y="3787903"/>
            <a:ext cx="0" cy="43815"/>
          </a:xfrm>
          <a:custGeom>
            <a:avLst/>
            <a:gdLst/>
            <a:ahLst/>
            <a:cxnLst/>
            <a:rect l="l" t="t" r="r" b="b"/>
            <a:pathLst>
              <a:path h="43814">
                <a:moveTo>
                  <a:pt x="-14477" y="21780"/>
                </a:moveTo>
                <a:lnTo>
                  <a:pt x="14477" y="21780"/>
                </a:lnTo>
              </a:path>
            </a:pathLst>
          </a:custGeom>
          <a:ln w="43561">
            <a:solidFill>
              <a:srgbClr val="3000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588" y="685345"/>
            <a:ext cx="10712824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0" dirty="0">
                <a:solidFill>
                  <a:srgbClr val="4A2D83"/>
                </a:solidFill>
              </a:rPr>
              <a:t>An</a:t>
            </a:r>
            <a:r>
              <a:rPr b="1" spc="-45" dirty="0">
                <a:solidFill>
                  <a:srgbClr val="4A2D83"/>
                </a:solidFill>
              </a:rPr>
              <a:t>a</a:t>
            </a:r>
            <a:r>
              <a:rPr b="1" spc="-20" dirty="0">
                <a:solidFill>
                  <a:srgbClr val="4A2D83"/>
                </a:solidFill>
              </a:rPr>
              <a:t>lyze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Evide</a:t>
            </a:r>
            <a:r>
              <a:rPr b="1" spc="-35" dirty="0">
                <a:solidFill>
                  <a:srgbClr val="4A2D83"/>
                </a:solidFill>
              </a:rPr>
              <a:t>n</a:t>
            </a:r>
            <a:r>
              <a:rPr b="1" spc="-80" dirty="0">
                <a:solidFill>
                  <a:srgbClr val="4A2D83"/>
                </a:solidFill>
              </a:rPr>
              <a:t>ce</a:t>
            </a:r>
            <a:r>
              <a:rPr b="1" spc="-280" dirty="0">
                <a:solidFill>
                  <a:srgbClr val="4A2D83"/>
                </a:solidFill>
              </a:rPr>
              <a:t> </a:t>
            </a:r>
            <a:r>
              <a:rPr b="1" spc="-310" dirty="0">
                <a:solidFill>
                  <a:srgbClr val="4A2D83"/>
                </a:solidFill>
              </a:rPr>
              <a:t>(1/5)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588" y="1774411"/>
            <a:ext cx="10712824" cy="45724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7790">
              <a:lnSpc>
                <a:spcPct val="110100"/>
              </a:lnSpc>
              <a:spcBef>
                <a:spcPts val="95"/>
              </a:spcBef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goal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analyzing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evidence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summarize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key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responding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all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 questions,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present tables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figures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illustrate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those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findings,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identify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gaps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evidence.</a:t>
            </a:r>
            <a:endParaRPr sz="1400" dirty="0">
              <a:latin typeface="Arial"/>
              <a:cs typeface="Arial"/>
            </a:endParaRPr>
          </a:p>
          <a:p>
            <a:pPr>
              <a:spcBef>
                <a:spcPts val="35"/>
              </a:spcBef>
            </a:pPr>
            <a:endParaRPr sz="2100" dirty="0">
              <a:latin typeface="Arial"/>
              <a:cs typeface="Arial"/>
            </a:endParaRPr>
          </a:p>
          <a:p>
            <a:pPr marL="355600" marR="19050" indent="-342900">
              <a:lnSpc>
                <a:spcPct val="11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Identify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logical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sections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analyze.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depend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structure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framework,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always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relate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back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question(s).</a:t>
            </a:r>
            <a:endParaRPr sz="1400" dirty="0">
              <a:latin typeface="Arial"/>
              <a:cs typeface="Arial"/>
            </a:endParaRPr>
          </a:p>
          <a:p>
            <a:pPr marL="812165" marR="5080" lvl="1" indent="-342900">
              <a:lnSpc>
                <a:spcPct val="110100"/>
              </a:lnSpc>
              <a:spcBef>
                <a:spcPts val="3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Consider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sub-divide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sample for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compare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across 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sub- 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groups.</a:t>
            </a:r>
            <a:endParaRPr sz="1400" dirty="0">
              <a:latin typeface="Lucida Sans Unicode"/>
              <a:cs typeface="Lucida Sans Unicode"/>
            </a:endParaRPr>
          </a:p>
          <a:p>
            <a:pPr marL="355600" marR="415290" indent="-342900">
              <a:lnSpc>
                <a:spcPct val="110000"/>
              </a:lnSpc>
              <a:spcBef>
                <a:spcPts val="30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filtering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tables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examine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 </a:t>
            </a:r>
            <a:r>
              <a:rPr sz="1400" b="1" spc="-3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begin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developing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story.</a:t>
            </a:r>
            <a:endParaRPr sz="1400" dirty="0">
              <a:latin typeface="Arial"/>
              <a:cs typeface="Arial"/>
            </a:endParaRPr>
          </a:p>
          <a:p>
            <a:pPr marL="812165" marR="71120" lvl="1" indent="-342900">
              <a:lnSpc>
                <a:spcPct val="110100"/>
              </a:lnSpc>
              <a:spcBef>
                <a:spcPts val="334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Depending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your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data,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could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filtering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 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count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mention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certain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topic,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calculating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proportions,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comparing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sz="1400" spc="-1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between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documents.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45085" lvl="1" indent="-342900">
              <a:lnSpc>
                <a:spcPct val="110000"/>
              </a:lnSpc>
              <a:spcBef>
                <a:spcPts val="3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Filter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information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interested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(use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“Sort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45" dirty="0">
                <a:solidFill>
                  <a:srgbClr val="4A2D83"/>
                </a:solidFill>
                <a:latin typeface="Lucida Sans Unicode"/>
                <a:cs typeface="Lucida Sans Unicode"/>
              </a:rPr>
              <a:t>&amp;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Filter”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within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Editing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Home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tab).</a:t>
            </a:r>
            <a:endParaRPr sz="1400" dirty="0">
              <a:latin typeface="Lucida Sans Unicode"/>
              <a:cs typeface="Lucida Sans Unicode"/>
            </a:endParaRPr>
          </a:p>
          <a:p>
            <a:pPr marL="812165" marR="30480" lvl="1" indent="-342900">
              <a:lnSpc>
                <a:spcPct val="110000"/>
              </a:lnSpc>
              <a:spcBef>
                <a:spcPts val="335"/>
              </a:spcBef>
              <a:buAutoNum type="alphaLcPeriod"/>
              <a:tabLst>
                <a:tab pos="812165" algn="l"/>
                <a:tab pos="812800" algn="l"/>
              </a:tabLst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Construct pivot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tables 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help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different columns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rows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relate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one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another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(select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full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data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click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“Create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Table”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under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Insert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tab,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making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place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Table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rksh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thin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wo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rkbo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ok).</a:t>
            </a:r>
            <a:endParaRPr sz="1400" dirty="0">
              <a:latin typeface="Lucida Sans Unicode"/>
              <a:cs typeface="Lucida Sans Unicode"/>
            </a:endParaRPr>
          </a:p>
          <a:p>
            <a:pPr marL="1670685" lvl="2" indent="-343535">
              <a:spcBef>
                <a:spcPts val="470"/>
              </a:spcBef>
              <a:buAutoNum type="romanLcPeriod"/>
              <a:tabLst>
                <a:tab pos="1670685" algn="l"/>
                <a:tab pos="1671320" algn="l"/>
              </a:tabLst>
            </a:pP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3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more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than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row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column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headings,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need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endParaRPr sz="1300" dirty="0">
              <a:latin typeface="Lucida Sans Unicode"/>
              <a:cs typeface="Lucida Sans Unicode"/>
            </a:endParaRPr>
          </a:p>
          <a:p>
            <a:pPr marL="1670685">
              <a:spcBef>
                <a:spcPts val="160"/>
              </a:spcBef>
            </a:pPr>
            <a:r>
              <a:rPr sz="13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consolidate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3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headings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single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row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able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create</a:t>
            </a:r>
            <a:r>
              <a:rPr sz="13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3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3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3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chart.</a:t>
            </a:r>
            <a:endParaRPr sz="13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694" y="519056"/>
            <a:ext cx="1076661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0" dirty="0">
                <a:solidFill>
                  <a:srgbClr val="4A2D83"/>
                </a:solidFill>
              </a:rPr>
              <a:t>An</a:t>
            </a:r>
            <a:r>
              <a:rPr b="1" spc="-45" dirty="0">
                <a:solidFill>
                  <a:srgbClr val="4A2D83"/>
                </a:solidFill>
              </a:rPr>
              <a:t>a</a:t>
            </a:r>
            <a:r>
              <a:rPr b="1" spc="-20" dirty="0">
                <a:solidFill>
                  <a:srgbClr val="4A2D83"/>
                </a:solidFill>
              </a:rPr>
              <a:t>lyze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Evide</a:t>
            </a:r>
            <a:r>
              <a:rPr b="1" spc="-35" dirty="0">
                <a:solidFill>
                  <a:srgbClr val="4A2D83"/>
                </a:solidFill>
              </a:rPr>
              <a:t>n</a:t>
            </a:r>
            <a:r>
              <a:rPr b="1" spc="-80" dirty="0">
                <a:solidFill>
                  <a:srgbClr val="4A2D83"/>
                </a:solidFill>
              </a:rPr>
              <a:t>ce</a:t>
            </a:r>
            <a:r>
              <a:rPr b="1" spc="-280" dirty="0">
                <a:solidFill>
                  <a:srgbClr val="4A2D83"/>
                </a:solidFill>
              </a:rPr>
              <a:t> </a:t>
            </a:r>
            <a:r>
              <a:rPr b="1" spc="-254" dirty="0">
                <a:solidFill>
                  <a:srgbClr val="4A2D83"/>
                </a:solidFill>
              </a:rPr>
              <a:t>(2/5)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2694" y="1953705"/>
            <a:ext cx="10766612" cy="43852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328295" indent="-287020">
              <a:lnSpc>
                <a:spcPct val="1101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set-up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categorize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data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consistent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way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(i.e., 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0s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1s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uniform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text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options,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such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 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Yes,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No,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Sometimes),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easy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create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tables.</a:t>
            </a:r>
            <a:endParaRPr sz="1400" dirty="0">
              <a:latin typeface="Arial"/>
              <a:cs typeface="Arial"/>
            </a:endParaRPr>
          </a:p>
          <a:p>
            <a:pPr marL="299085" indent="-287020">
              <a:spcBef>
                <a:spcPts val="47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generate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use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tables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Excel:</a:t>
            </a:r>
            <a:endParaRPr sz="1400" dirty="0">
              <a:latin typeface="Arial"/>
              <a:cs typeface="Arial"/>
            </a:endParaRPr>
          </a:p>
          <a:p>
            <a:pPr marL="756285" marR="262255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Select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coded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data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(including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headings)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choose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“PivotTable”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Insert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menu.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317500" lvl="1" indent="-287020">
              <a:lnSpc>
                <a:spcPct val="110100"/>
              </a:lnSpc>
              <a:spcBef>
                <a:spcPts val="3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Click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inside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table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generated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(usually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new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sheet)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 the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“PivotTable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Fields”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dialogue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box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appear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allowing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choose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which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column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labels,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row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labels,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cell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values,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filters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will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appear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table.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794385" lvl="1" indent="-287020">
              <a:lnSpc>
                <a:spcPct val="110000"/>
              </a:lnSpc>
              <a:spcBef>
                <a:spcPts val="3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create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multiple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tales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depending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want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data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mm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ari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z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d.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Before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creating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pivot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table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from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raw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data,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make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sure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just</a:t>
            </a:r>
            <a:endParaRPr sz="1400" dirty="0">
              <a:latin typeface="Lucida Sans Unicode"/>
              <a:cs typeface="Lucida Sans Unicode"/>
            </a:endParaRPr>
          </a:p>
          <a:p>
            <a:pPr marL="756285">
              <a:spcBef>
                <a:spcPts val="170"/>
              </a:spcBef>
            </a:pP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one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row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headings/column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labels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selected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along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data.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Additional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resources:</a:t>
            </a:r>
            <a:r>
              <a:rPr sz="1400" spc="-95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GCF</a:t>
            </a:r>
            <a:r>
              <a:rPr sz="1400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Intro</a:t>
            </a:r>
            <a:r>
              <a:rPr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to</a:t>
            </a:r>
            <a:r>
              <a:rPr sz="1400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Pivot</a:t>
            </a:r>
            <a:r>
              <a:rPr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Tables</a:t>
            </a:r>
            <a:r>
              <a:rPr sz="1400" spc="-75" dirty="0">
                <a:solidFill>
                  <a:srgbClr val="006FC0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05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2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Microsoft</a:t>
            </a:r>
            <a:r>
              <a:rPr sz="1400" u="sng" spc="-1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Pivot</a:t>
            </a:r>
            <a:r>
              <a:rPr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5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Table</a:t>
            </a:r>
            <a:r>
              <a:rPr sz="1400" u="sng" spc="-114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Tutorial</a:t>
            </a:r>
            <a:endParaRPr sz="1400" dirty="0">
              <a:latin typeface="Lucida Sans Unicode"/>
              <a:cs typeface="Lucida Sans Unicode"/>
            </a:endParaRPr>
          </a:p>
          <a:p>
            <a:pPr marL="299085" marR="508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Once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have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created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table,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simply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click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cell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table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select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PivotChart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option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(also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under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“Insert”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top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menu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option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in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Excel)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choose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bar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line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graphs,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pie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charts,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etc.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Once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select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endParaRPr sz="1400" dirty="0">
              <a:latin typeface="Arial"/>
              <a:cs typeface="Arial"/>
            </a:endParaRPr>
          </a:p>
          <a:p>
            <a:pPr marL="299085" marR="434975">
              <a:lnSpc>
                <a:spcPct val="110000"/>
              </a:lnSpc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graphic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hit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“OK”,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appear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tab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table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copied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moved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report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(like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bar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chart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below).</a:t>
            </a:r>
            <a:endParaRPr sz="1400" dirty="0">
              <a:latin typeface="Arial"/>
              <a:cs typeface="Arial"/>
            </a:endParaRPr>
          </a:p>
          <a:p>
            <a:pPr marL="299085" marR="401320" indent="-287020">
              <a:lnSpc>
                <a:spcPct val="1100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Remember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“Refresh”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existing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pivot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table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if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update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any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data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spreadsheet.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9588" y="238958"/>
            <a:ext cx="11017622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solidFill>
                  <a:srgbClr val="4A2D83"/>
                </a:solidFill>
              </a:rPr>
              <a:t>Analyze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60" dirty="0">
                <a:solidFill>
                  <a:srgbClr val="4A2D83"/>
                </a:solidFill>
              </a:rPr>
              <a:t> </a:t>
            </a:r>
            <a:r>
              <a:rPr b="1" dirty="0">
                <a:solidFill>
                  <a:srgbClr val="4A2D83"/>
                </a:solidFill>
              </a:rPr>
              <a:t>E</a:t>
            </a:r>
            <a:r>
              <a:rPr b="1" spc="-40" dirty="0">
                <a:solidFill>
                  <a:srgbClr val="4A2D83"/>
                </a:solidFill>
              </a:rPr>
              <a:t>vidence</a:t>
            </a:r>
            <a:r>
              <a:rPr b="1" spc="-275" dirty="0">
                <a:solidFill>
                  <a:srgbClr val="4A2D83"/>
                </a:solidFill>
              </a:rPr>
              <a:t> </a:t>
            </a:r>
            <a:r>
              <a:rPr b="1" spc="-315" dirty="0">
                <a:solidFill>
                  <a:srgbClr val="4A2D83"/>
                </a:solidFill>
              </a:rPr>
              <a:t>(</a:t>
            </a:r>
            <a:r>
              <a:rPr b="1" spc="-254" dirty="0">
                <a:solidFill>
                  <a:srgbClr val="4A2D83"/>
                </a:solidFill>
              </a:rPr>
              <a:t>3/5)</a:t>
            </a:r>
          </a:p>
        </p:txBody>
      </p:sp>
      <p:sp>
        <p:nvSpPr>
          <p:cNvPr id="3" name="object 3"/>
          <p:cNvSpPr/>
          <p:nvPr/>
        </p:nvSpPr>
        <p:spPr>
          <a:xfrm>
            <a:off x="587188" y="1061394"/>
            <a:ext cx="11017623" cy="5532120"/>
          </a:xfrm>
          <a:custGeom>
            <a:avLst/>
            <a:gdLst/>
            <a:ahLst/>
            <a:cxnLst/>
            <a:rect l="l" t="t" r="r" b="b"/>
            <a:pathLst>
              <a:path w="8342630" h="5532120">
                <a:moveTo>
                  <a:pt x="8342376" y="0"/>
                </a:moveTo>
                <a:lnTo>
                  <a:pt x="0" y="0"/>
                </a:lnTo>
                <a:lnTo>
                  <a:pt x="0" y="5532120"/>
                </a:lnTo>
                <a:lnTo>
                  <a:pt x="8342376" y="5532120"/>
                </a:lnTo>
                <a:lnTo>
                  <a:pt x="8342376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94687" y="1159014"/>
            <a:ext cx="751205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5" dirty="0">
                <a:solidFill>
                  <a:srgbClr val="4A2D83"/>
                </a:solidFill>
                <a:latin typeface="Trebuchet MS"/>
                <a:cs typeface="Trebuchet MS"/>
              </a:rPr>
              <a:t>coding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spreadsheet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and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pivot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0" dirty="0">
                <a:solidFill>
                  <a:srgbClr val="4A2D83"/>
                </a:solidFill>
                <a:latin typeface="Trebuchet MS"/>
                <a:cs typeface="Trebuchet MS"/>
              </a:rPr>
              <a:t>tables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0" dirty="0">
                <a:solidFill>
                  <a:srgbClr val="4A2D83"/>
                </a:solidFill>
                <a:latin typeface="Trebuchet MS"/>
                <a:cs typeface="Trebuchet MS"/>
              </a:rPr>
              <a:t>(abbreviated)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#359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94687" y="1489396"/>
            <a:ext cx="8061376" cy="4930140"/>
            <a:chOff x="589787" y="1130808"/>
            <a:chExt cx="8042275" cy="49301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6815" y="2705100"/>
              <a:ext cx="6675119" cy="33558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87" y="1130808"/>
              <a:ext cx="6675119" cy="13441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391" y="2506967"/>
              <a:ext cx="1021067" cy="5242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3063" y="2529077"/>
              <a:ext cx="861694" cy="400685"/>
            </a:xfrm>
            <a:custGeom>
              <a:avLst/>
              <a:gdLst/>
              <a:ahLst/>
              <a:cxnLst/>
              <a:rect l="l" t="t" r="r" b="b"/>
              <a:pathLst>
                <a:path w="861694" h="400685">
                  <a:moveTo>
                    <a:pt x="785876" y="322834"/>
                  </a:moveTo>
                  <a:lnTo>
                    <a:pt x="784443" y="349365"/>
                  </a:lnTo>
                  <a:lnTo>
                    <a:pt x="796671" y="349376"/>
                  </a:lnTo>
                  <a:lnTo>
                    <a:pt x="796671" y="375285"/>
                  </a:lnTo>
                  <a:lnTo>
                    <a:pt x="783043" y="375285"/>
                  </a:lnTo>
                  <a:lnTo>
                    <a:pt x="781685" y="400431"/>
                  </a:lnTo>
                  <a:lnTo>
                    <a:pt x="839437" y="375285"/>
                  </a:lnTo>
                  <a:lnTo>
                    <a:pt x="796671" y="375285"/>
                  </a:lnTo>
                  <a:lnTo>
                    <a:pt x="839468" y="375271"/>
                  </a:lnTo>
                  <a:lnTo>
                    <a:pt x="861313" y="365760"/>
                  </a:lnTo>
                  <a:lnTo>
                    <a:pt x="785876" y="322834"/>
                  </a:lnTo>
                  <a:close/>
                </a:path>
                <a:path w="861694" h="400685">
                  <a:moveTo>
                    <a:pt x="784443" y="349365"/>
                  </a:moveTo>
                  <a:lnTo>
                    <a:pt x="783043" y="375271"/>
                  </a:lnTo>
                  <a:lnTo>
                    <a:pt x="796671" y="375285"/>
                  </a:lnTo>
                  <a:lnTo>
                    <a:pt x="796671" y="349376"/>
                  </a:lnTo>
                  <a:lnTo>
                    <a:pt x="784443" y="349365"/>
                  </a:lnTo>
                  <a:close/>
                </a:path>
                <a:path w="861694" h="400685">
                  <a:moveTo>
                    <a:pt x="25908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5791" y="374523"/>
                  </a:lnTo>
                  <a:lnTo>
                    <a:pt x="783043" y="375271"/>
                  </a:lnTo>
                  <a:lnTo>
                    <a:pt x="783783" y="361569"/>
                  </a:lnTo>
                  <a:lnTo>
                    <a:pt x="25908" y="361569"/>
                  </a:lnTo>
                  <a:lnTo>
                    <a:pt x="12966" y="348614"/>
                  </a:lnTo>
                  <a:lnTo>
                    <a:pt x="25908" y="348614"/>
                  </a:lnTo>
                  <a:lnTo>
                    <a:pt x="25908" y="0"/>
                  </a:lnTo>
                  <a:close/>
                </a:path>
                <a:path w="861694" h="400685">
                  <a:moveTo>
                    <a:pt x="12966" y="348614"/>
                  </a:moveTo>
                  <a:lnTo>
                    <a:pt x="25908" y="361569"/>
                  </a:lnTo>
                  <a:lnTo>
                    <a:pt x="25908" y="348627"/>
                  </a:lnTo>
                  <a:lnTo>
                    <a:pt x="12966" y="348614"/>
                  </a:lnTo>
                  <a:close/>
                </a:path>
                <a:path w="861694" h="400685">
                  <a:moveTo>
                    <a:pt x="25908" y="348627"/>
                  </a:moveTo>
                  <a:lnTo>
                    <a:pt x="25908" y="361569"/>
                  </a:lnTo>
                  <a:lnTo>
                    <a:pt x="783783" y="361569"/>
                  </a:lnTo>
                  <a:lnTo>
                    <a:pt x="784443" y="349365"/>
                  </a:lnTo>
                  <a:lnTo>
                    <a:pt x="25908" y="348627"/>
                  </a:lnTo>
                  <a:close/>
                </a:path>
                <a:path w="861694" h="400685">
                  <a:moveTo>
                    <a:pt x="25908" y="348614"/>
                  </a:moveTo>
                  <a:lnTo>
                    <a:pt x="12966" y="348614"/>
                  </a:lnTo>
                  <a:lnTo>
                    <a:pt x="25908" y="348627"/>
                  </a:lnTo>
                  <a:close/>
                </a:path>
              </a:pathLst>
            </a:custGeom>
            <a:solidFill>
              <a:srgbClr val="3300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4425" y="1373123"/>
            <a:ext cx="10856258" cy="5297552"/>
          </a:xfrm>
          <a:custGeom>
            <a:avLst/>
            <a:gdLst/>
            <a:ahLst/>
            <a:cxnLst/>
            <a:rect l="l" t="t" r="r" b="b"/>
            <a:pathLst>
              <a:path w="8342630" h="5939155">
                <a:moveTo>
                  <a:pt x="8342376" y="0"/>
                </a:moveTo>
                <a:lnTo>
                  <a:pt x="0" y="0"/>
                </a:lnTo>
                <a:lnTo>
                  <a:pt x="0" y="5939028"/>
                </a:lnTo>
                <a:lnTo>
                  <a:pt x="8342376" y="5939028"/>
                </a:lnTo>
                <a:lnTo>
                  <a:pt x="8342376" y="0"/>
                </a:lnTo>
                <a:close/>
              </a:path>
            </a:pathLst>
          </a:custGeom>
          <a:solidFill>
            <a:srgbClr val="F9F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30147" y="-438410"/>
            <a:ext cx="3245485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solidFill>
                  <a:srgbClr val="4A2D83"/>
                </a:solidFill>
              </a:rPr>
              <a:t>Analyze</a:t>
            </a:r>
            <a:r>
              <a:rPr spc="-270" dirty="0">
                <a:solidFill>
                  <a:srgbClr val="4A2D83"/>
                </a:solidFill>
              </a:rPr>
              <a:t> </a:t>
            </a:r>
            <a:r>
              <a:rPr spc="-25" dirty="0">
                <a:solidFill>
                  <a:srgbClr val="4A2D83"/>
                </a:solidFill>
              </a:rPr>
              <a:t>the</a:t>
            </a:r>
            <a:r>
              <a:rPr spc="-260" dirty="0">
                <a:solidFill>
                  <a:srgbClr val="4A2D83"/>
                </a:solidFill>
              </a:rPr>
              <a:t> </a:t>
            </a:r>
            <a:r>
              <a:rPr dirty="0">
                <a:solidFill>
                  <a:srgbClr val="4A2D83"/>
                </a:solidFill>
              </a:rPr>
              <a:t>E</a:t>
            </a:r>
            <a:r>
              <a:rPr spc="-40" dirty="0">
                <a:solidFill>
                  <a:srgbClr val="4A2D83"/>
                </a:solidFill>
              </a:rPr>
              <a:t>vidence</a:t>
            </a:r>
            <a:r>
              <a:rPr spc="-275" dirty="0">
                <a:solidFill>
                  <a:srgbClr val="4A2D83"/>
                </a:solidFill>
              </a:rPr>
              <a:t> </a:t>
            </a:r>
            <a:r>
              <a:rPr spc="-315" dirty="0">
                <a:solidFill>
                  <a:srgbClr val="4A2D83"/>
                </a:solidFill>
              </a:rPr>
              <a:t>(</a:t>
            </a:r>
            <a:r>
              <a:rPr spc="-5" dirty="0">
                <a:solidFill>
                  <a:srgbClr val="4A2D83"/>
                </a:solidFill>
              </a:rPr>
              <a:t>4</a:t>
            </a:r>
            <a:r>
              <a:rPr spc="-290" dirty="0">
                <a:solidFill>
                  <a:srgbClr val="4A2D83"/>
                </a:solidFill>
              </a:rPr>
              <a:t>/5)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294" y="1402662"/>
            <a:ext cx="5611907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1400" i="1" spc="-15" dirty="0">
                <a:solidFill>
                  <a:srgbClr val="4A2D83"/>
                </a:solidFill>
                <a:latin typeface="Trebuchet MS"/>
                <a:cs typeface="Trebuchet MS"/>
              </a:rPr>
              <a:t>Example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of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pivot</a:t>
            </a:r>
            <a:r>
              <a:rPr sz="1400" i="1" spc="-8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table</a:t>
            </a:r>
            <a:r>
              <a:rPr sz="1400" i="1" spc="-8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40" dirty="0">
                <a:solidFill>
                  <a:srgbClr val="4A2D83"/>
                </a:solidFill>
                <a:latin typeface="Trebuchet MS"/>
                <a:cs typeface="Trebuchet MS"/>
              </a:rPr>
              <a:t>and</a:t>
            </a:r>
            <a:r>
              <a:rPr sz="14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35" dirty="0">
                <a:solidFill>
                  <a:srgbClr val="4A2D83"/>
                </a:solidFill>
                <a:latin typeface="Trebuchet MS"/>
                <a:cs typeface="Trebuchet MS"/>
              </a:rPr>
              <a:t>pivot</a:t>
            </a:r>
            <a:r>
              <a:rPr sz="1400" i="1" spc="-7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0" dirty="0">
                <a:solidFill>
                  <a:srgbClr val="4A2D83"/>
                </a:solidFill>
                <a:latin typeface="Trebuchet MS"/>
                <a:cs typeface="Trebuchet MS"/>
              </a:rPr>
              <a:t>chart</a:t>
            </a:r>
            <a:r>
              <a:rPr sz="1400" i="1" spc="-9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4A2D83"/>
                </a:solidFill>
                <a:latin typeface="Trebuchet MS"/>
                <a:cs typeface="Trebuchet MS"/>
              </a:rPr>
              <a:t>from</a:t>
            </a:r>
            <a:r>
              <a:rPr sz="1400" i="1" spc="-4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6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4A2D83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3154" y="1755427"/>
            <a:ext cx="2569116" cy="2659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0325">
              <a:lnSpc>
                <a:spcPct val="130900"/>
              </a:lnSpc>
              <a:spcBef>
                <a:spcPts val="95"/>
              </a:spcBef>
            </a:pP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2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ie</a:t>
            </a:r>
            <a:r>
              <a:rPr sz="12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 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on 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morbidity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gr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wt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2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,  </a:t>
            </a:r>
            <a:r>
              <a:rPr sz="12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sz="12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coded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what</a:t>
            </a:r>
            <a:r>
              <a:rPr sz="12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countries </a:t>
            </a:r>
            <a:r>
              <a:rPr sz="1200" spc="-3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we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2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2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zed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ea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  </a:t>
            </a:r>
            <a:r>
              <a:rPr sz="12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Study, 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 whether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dy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ese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ed</a:t>
            </a:r>
            <a:r>
              <a:rPr sz="12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q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220" dirty="0">
                <a:solidFill>
                  <a:srgbClr val="4A2D83"/>
                </a:solidFill>
                <a:latin typeface="Lucida Sans Unicode"/>
                <a:cs typeface="Lucida Sans Unicode"/>
              </a:rPr>
              <a:t>-  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x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rime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ta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e,  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non-experimental</a:t>
            </a:r>
            <a:endParaRPr sz="1200" dirty="0">
              <a:latin typeface="Lucida Sans Unicode"/>
              <a:cs typeface="Lucida Sans Unicode"/>
            </a:endParaRPr>
          </a:p>
          <a:p>
            <a:pPr marL="12700" marR="5080">
              <a:lnSpc>
                <a:spcPct val="130800"/>
              </a:lnSpc>
            </a:pP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en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ce, 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2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ie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w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.  </a:t>
            </a:r>
            <a:r>
              <a:rPr sz="1200" spc="30" dirty="0">
                <a:solidFill>
                  <a:srgbClr val="4A2D83"/>
                </a:solidFill>
                <a:latin typeface="Lucida Sans Unicode"/>
                <a:cs typeface="Lucida Sans Unicode"/>
              </a:rPr>
              <a:t>We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used 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that </a:t>
            </a:r>
            <a:r>
              <a:rPr sz="12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 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forma</a:t>
            </a:r>
            <a:r>
              <a:rPr sz="12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ti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2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ea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te</a:t>
            </a:r>
            <a:endParaRPr sz="1200" dirty="0">
              <a:latin typeface="Lucida Sans Unicode"/>
              <a:cs typeface="Lucida Sans Unicode"/>
            </a:endParaRPr>
          </a:p>
          <a:p>
            <a:pPr marL="12700" marR="95250">
              <a:lnSpc>
                <a:spcPct val="130800"/>
              </a:lnSpc>
              <a:spcBef>
                <a:spcPts val="5"/>
              </a:spcBef>
            </a:pP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2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ot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2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2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200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2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rt  to</a:t>
            </a:r>
            <a:r>
              <a:rPr sz="12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2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right.</a:t>
            </a:r>
            <a:endParaRPr sz="1200" dirty="0">
              <a:latin typeface="Lucida Sans Unicode"/>
              <a:cs typeface="Lucida Sans Unicod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573170"/>
              </p:ext>
            </p:extLst>
          </p:nvPr>
        </p:nvGraphicFramePr>
        <p:xfrm>
          <a:off x="4008271" y="1684981"/>
          <a:ext cx="2949574" cy="476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1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655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215390" marR="18415">
                        <a:lnSpc>
                          <a:spcPct val="117300"/>
                        </a:lnSpc>
                      </a:pPr>
                      <a:r>
                        <a:rPr sz="550" b="1" spc="70" dirty="0">
                          <a:latin typeface="Calibri"/>
                          <a:cs typeface="Calibri"/>
                        </a:rPr>
                        <a:t>Non- </a:t>
                      </a:r>
                      <a:r>
                        <a:rPr sz="550" b="1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b="1" spc="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dirty="0">
                          <a:latin typeface="Calibri"/>
                          <a:cs typeface="Calibri"/>
                        </a:rPr>
                        <a:t>xp</a:t>
                      </a:r>
                      <a:r>
                        <a:rPr sz="550" b="1" spc="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550" b="1" spc="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550" b="1" spc="-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550" b="1" spc="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dirty="0">
                          <a:latin typeface="Calibri"/>
                          <a:cs typeface="Calibri"/>
                        </a:rPr>
                        <a:t>n  </a:t>
                      </a:r>
                      <a:r>
                        <a:rPr sz="550" b="1" spc="40" dirty="0">
                          <a:latin typeface="Calibri"/>
                          <a:cs typeface="Calibri"/>
                        </a:rPr>
                        <a:t>tal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marL="13970" marR="18415">
                        <a:lnSpc>
                          <a:spcPct val="117300"/>
                        </a:lnSpc>
                      </a:pPr>
                      <a:r>
                        <a:rPr sz="550" b="1" spc="55" dirty="0">
                          <a:latin typeface="Calibri"/>
                          <a:cs typeface="Calibri"/>
                        </a:rPr>
                        <a:t>Quasi- </a:t>
                      </a:r>
                      <a:r>
                        <a:rPr sz="550" b="1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b="1" spc="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dirty="0">
                          <a:latin typeface="Calibri"/>
                          <a:cs typeface="Calibri"/>
                        </a:rPr>
                        <a:t>xp</a:t>
                      </a:r>
                      <a:r>
                        <a:rPr sz="550" b="1" spc="1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spc="-2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550" b="1" spc="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550" b="1" spc="-1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550" b="1" spc="2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550" b="1" dirty="0">
                          <a:latin typeface="Calibri"/>
                          <a:cs typeface="Calibri"/>
                        </a:rPr>
                        <a:t>n  </a:t>
                      </a:r>
                      <a:r>
                        <a:rPr sz="550" b="1" spc="40" dirty="0">
                          <a:latin typeface="Calibri"/>
                          <a:cs typeface="Calibri"/>
                        </a:rPr>
                        <a:t>tal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550" b="1" spc="70" dirty="0">
                          <a:latin typeface="Calibri"/>
                          <a:cs typeface="Calibri"/>
                        </a:rPr>
                        <a:t>Review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3970" marR="193040">
                        <a:lnSpc>
                          <a:spcPct val="117400"/>
                        </a:lnSpc>
                        <a:spcBef>
                          <a:spcPts val="5"/>
                        </a:spcBef>
                      </a:pPr>
                      <a:r>
                        <a:rPr sz="550" b="1" spc="15" dirty="0">
                          <a:latin typeface="Calibri"/>
                          <a:cs typeface="Calibri"/>
                        </a:rPr>
                        <a:t>G</a:t>
                      </a:r>
                      <a:r>
                        <a:rPr sz="550" b="1" spc="-20" dirty="0">
                          <a:latin typeface="Calibri"/>
                          <a:cs typeface="Calibri"/>
                        </a:rPr>
                        <a:t>ra</a:t>
                      </a:r>
                      <a:r>
                        <a:rPr sz="550" b="1" dirty="0">
                          <a:latin typeface="Calibri"/>
                          <a:cs typeface="Calibri"/>
                        </a:rPr>
                        <a:t>nd  </a:t>
                      </a:r>
                      <a:r>
                        <a:rPr sz="550" b="1" spc="45" dirty="0">
                          <a:latin typeface="Calibri"/>
                          <a:cs typeface="Calibri"/>
                        </a:rPr>
                        <a:t>Total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5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countries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9BC2E6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40" dirty="0">
                          <a:latin typeface="Calibri"/>
                          <a:cs typeface="Calibri"/>
                        </a:rPr>
                        <a:t>10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9BC2E6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9BC2E6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5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9BC2E6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40" dirty="0">
                          <a:latin typeface="Calibri"/>
                          <a:cs typeface="Calibri"/>
                        </a:rPr>
                        <a:t>39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9BC2E6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United</a:t>
                      </a:r>
                      <a:r>
                        <a:rPr sz="5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States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6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7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54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China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5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5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643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India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5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Africa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Tanzania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(blank)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3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70" dirty="0">
                          <a:latin typeface="Calibri"/>
                          <a:cs typeface="Calibri"/>
                        </a:rPr>
                        <a:t>Germany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Korea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Malawi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2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55" dirty="0">
                          <a:latin typeface="Calibri"/>
                          <a:cs typeface="Calibri"/>
                        </a:rPr>
                        <a:t>Australia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3495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Botswana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3703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45" dirty="0">
                          <a:latin typeface="Calibri"/>
                          <a:cs typeface="Calibri"/>
                        </a:rPr>
                        <a:t>Brazil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Canada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Europe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Europe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55" dirty="0">
                          <a:latin typeface="Calibri"/>
                          <a:cs typeface="Calibri"/>
                        </a:rPr>
                        <a:t>France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Georgia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Ghana,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Ivory</a:t>
                      </a:r>
                      <a:r>
                        <a:rPr sz="55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60" dirty="0">
                          <a:latin typeface="Calibri"/>
                          <a:cs typeface="Calibri"/>
                        </a:rPr>
                        <a:t>Coast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Honduras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70" dirty="0">
                          <a:latin typeface="Calibri"/>
                          <a:cs typeface="Calibri"/>
                        </a:rPr>
                        <a:t>Hong</a:t>
                      </a:r>
                      <a:r>
                        <a:rPr sz="55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70" dirty="0">
                          <a:latin typeface="Calibri"/>
                          <a:cs typeface="Calibri"/>
                        </a:rPr>
                        <a:t>Kong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93510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Ireland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75" dirty="0">
                          <a:latin typeface="Calibri"/>
                          <a:cs typeface="Calibri"/>
                        </a:rPr>
                        <a:t>Kenya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93659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KwaZulu-Natal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93659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Mexico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70" dirty="0">
                          <a:latin typeface="Calibri"/>
                          <a:cs typeface="Calibri"/>
                        </a:rPr>
                        <a:t>Mozambique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95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Mexico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Nigeria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Phillipines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Russia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9351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70" dirty="0">
                          <a:latin typeface="Calibri"/>
                          <a:cs typeface="Calibri"/>
                        </a:rPr>
                        <a:t>rwanda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Singapore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55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Asia</a:t>
                      </a:r>
                      <a:r>
                        <a:rPr sz="55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(India,</a:t>
                      </a:r>
                      <a:r>
                        <a:rPr sz="55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Pakistan)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South</a:t>
                      </a:r>
                      <a:r>
                        <a:rPr sz="55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65" dirty="0">
                          <a:latin typeface="Calibri"/>
                          <a:cs typeface="Calibri"/>
                        </a:rPr>
                        <a:t>Korea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93629">
                <a:tc>
                  <a:txBody>
                    <a:bodyPr/>
                    <a:lstStyle/>
                    <a:p>
                      <a:pPr marL="13970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sub-Saharan</a:t>
                      </a:r>
                      <a:r>
                        <a:rPr sz="55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spc="55" dirty="0">
                          <a:latin typeface="Calibri"/>
                          <a:cs typeface="Calibri"/>
                        </a:rPr>
                        <a:t>Africa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25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Texas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630"/>
                        </a:lnSpc>
                        <a:spcBef>
                          <a:spcPts val="8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0" dirty="0">
                          <a:latin typeface="Calibri"/>
                          <a:cs typeface="Calibri"/>
                        </a:rPr>
                        <a:t>Thailand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93688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65" dirty="0">
                          <a:latin typeface="Calibri"/>
                          <a:cs typeface="Calibri"/>
                        </a:rPr>
                        <a:t>Uganda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9365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50" dirty="0">
                          <a:latin typeface="Calibri"/>
                          <a:cs typeface="Calibri"/>
                        </a:rPr>
                        <a:t>UK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9352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75" dirty="0">
                          <a:latin typeface="Calibri"/>
                          <a:cs typeface="Calibri"/>
                        </a:rPr>
                        <a:t>Vietnam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93676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spc="75" dirty="0">
                          <a:latin typeface="Calibri"/>
                          <a:cs typeface="Calibri"/>
                        </a:rPr>
                        <a:t>Zimbabwe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latin typeface="Calibri"/>
                          <a:cs typeface="Calibri"/>
                        </a:rPr>
                        <a:t>1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D3D3D3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9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3D3D3"/>
                      </a:solidFill>
                      <a:prstDash val="solid"/>
                    </a:lnL>
                    <a:lnR w="9525">
                      <a:solidFill>
                        <a:srgbClr val="D3D3D3"/>
                      </a:solidFill>
                      <a:prstDash val="solid"/>
                    </a:lnR>
                    <a:lnT w="6350">
                      <a:solidFill>
                        <a:srgbClr val="D3D3D3"/>
                      </a:solidFill>
                      <a:prstDash val="solid"/>
                    </a:lnT>
                    <a:lnB w="6350">
                      <a:solidFill>
                        <a:srgbClr val="9BC2E6"/>
                      </a:solidFill>
                      <a:prstDash val="solid"/>
                    </a:lnB>
                    <a:solidFill>
                      <a:srgbClr val="F9F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23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 dirty="0">
                        <a:latin typeface="Times New Roman"/>
                        <a:cs typeface="Times New Roman"/>
                      </a:endParaRPr>
                    </a:p>
                    <a:p>
                      <a:pPr marL="13970">
                        <a:lnSpc>
                          <a:spcPct val="100000"/>
                        </a:lnSpc>
                      </a:pPr>
                      <a:r>
                        <a:rPr sz="550" b="1" spc="65" dirty="0">
                          <a:latin typeface="Calibri"/>
                          <a:cs typeface="Calibri"/>
                        </a:rPr>
                        <a:t>Grand</a:t>
                      </a:r>
                      <a:r>
                        <a:rPr sz="55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550" b="1" spc="45" dirty="0">
                          <a:latin typeface="Calibri"/>
                          <a:cs typeface="Calibri"/>
                        </a:rPr>
                        <a:t>Total</a:t>
                      </a:r>
                      <a:endParaRPr sz="5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9BC2E6"/>
                      </a:solidFill>
                      <a:prstDash val="solid"/>
                    </a:lnT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8255" algn="r">
                        <a:lnSpc>
                          <a:spcPct val="100000"/>
                        </a:lnSpc>
                      </a:pPr>
                      <a:r>
                        <a:rPr sz="550" b="1" spc="40" dirty="0">
                          <a:latin typeface="Calibri"/>
                          <a:cs typeface="Calibri"/>
                        </a:rPr>
                        <a:t>89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9BC2E6"/>
                      </a:solidFill>
                      <a:prstDash val="solid"/>
                    </a:lnT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3175" algn="r">
                        <a:lnSpc>
                          <a:spcPct val="100000"/>
                        </a:lnSpc>
                      </a:pPr>
                      <a:r>
                        <a:rPr sz="550" b="1" dirty="0">
                          <a:latin typeface="Calibri"/>
                          <a:cs typeface="Calibri"/>
                        </a:rPr>
                        <a:t>4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9BC2E6"/>
                      </a:solidFill>
                      <a:prstDash val="solid"/>
                    </a:lnT>
                    <a:solidFill>
                      <a:srgbClr val="DD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>
                        <a:latin typeface="Times New Roman"/>
                        <a:cs typeface="Times New Roman"/>
                      </a:endParaRPr>
                    </a:p>
                    <a:p>
                      <a:pPr marR="3810" algn="r">
                        <a:lnSpc>
                          <a:spcPct val="100000"/>
                        </a:lnSpc>
                      </a:pPr>
                      <a:r>
                        <a:rPr sz="550" b="1" dirty="0">
                          <a:latin typeface="Calibri"/>
                          <a:cs typeface="Calibri"/>
                        </a:rPr>
                        <a:t>9</a:t>
                      </a:r>
                      <a:endParaRPr sz="5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9BC2E6"/>
                      </a:solidFill>
                      <a:prstDash val="solid"/>
                    </a:lnT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50" dirty="0">
                        <a:latin typeface="Times New Roman"/>
                        <a:cs typeface="Times New Roman"/>
                      </a:endParaRPr>
                    </a:p>
                    <a:p>
                      <a:pPr marR="7620" algn="r">
                        <a:lnSpc>
                          <a:spcPct val="100000"/>
                        </a:lnSpc>
                      </a:pPr>
                      <a:r>
                        <a:rPr sz="550" b="1" spc="40" dirty="0">
                          <a:latin typeface="Calibri"/>
                          <a:cs typeface="Calibri"/>
                        </a:rPr>
                        <a:t>102</a:t>
                      </a:r>
                      <a:endParaRPr sz="5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6350">
                      <a:solidFill>
                        <a:srgbClr val="9BC2E6"/>
                      </a:solidFill>
                      <a:prstDash val="solid"/>
                    </a:lnT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7144742" y="1060073"/>
            <a:ext cx="3054350" cy="5400034"/>
            <a:chOff x="5580888" y="1126236"/>
            <a:chExt cx="3054350" cy="5113020"/>
          </a:xfrm>
        </p:grpSpPr>
        <p:sp>
          <p:nvSpPr>
            <p:cNvPr id="8" name="object 8"/>
            <p:cNvSpPr/>
            <p:nvPr/>
          </p:nvSpPr>
          <p:spPr>
            <a:xfrm>
              <a:off x="5580888" y="1126236"/>
              <a:ext cx="3054350" cy="5113020"/>
            </a:xfrm>
            <a:custGeom>
              <a:avLst/>
              <a:gdLst/>
              <a:ahLst/>
              <a:cxnLst/>
              <a:rect l="l" t="t" r="r" b="b"/>
              <a:pathLst>
                <a:path w="3054350" h="5113020">
                  <a:moveTo>
                    <a:pt x="3054095" y="0"/>
                  </a:moveTo>
                  <a:lnTo>
                    <a:pt x="0" y="0"/>
                  </a:lnTo>
                  <a:lnTo>
                    <a:pt x="0" y="5113020"/>
                  </a:lnTo>
                  <a:lnTo>
                    <a:pt x="3054095" y="5113020"/>
                  </a:lnTo>
                  <a:lnTo>
                    <a:pt x="3054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71004" y="1234440"/>
              <a:ext cx="307975" cy="4773295"/>
            </a:xfrm>
            <a:custGeom>
              <a:avLst/>
              <a:gdLst/>
              <a:ahLst/>
              <a:cxnLst/>
              <a:rect l="l" t="t" r="r" b="b"/>
              <a:pathLst>
                <a:path w="307975" h="4773295">
                  <a:moveTo>
                    <a:pt x="0" y="0"/>
                  </a:moveTo>
                  <a:lnTo>
                    <a:pt x="0" y="4773168"/>
                  </a:lnTo>
                </a:path>
                <a:path w="307975" h="4773295">
                  <a:moveTo>
                    <a:pt x="307848" y="0"/>
                  </a:moveTo>
                  <a:lnTo>
                    <a:pt x="307848" y="4773168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886700" y="1234440"/>
              <a:ext cx="614680" cy="4773295"/>
            </a:xfrm>
            <a:custGeom>
              <a:avLst/>
              <a:gdLst/>
              <a:ahLst/>
              <a:cxnLst/>
              <a:rect l="l" t="t" r="r" b="b"/>
              <a:pathLst>
                <a:path w="614679" h="4773295">
                  <a:moveTo>
                    <a:pt x="0" y="2514600"/>
                  </a:moveTo>
                  <a:lnTo>
                    <a:pt x="0" y="4773168"/>
                  </a:lnTo>
                </a:path>
                <a:path w="614679" h="4773295">
                  <a:moveTo>
                    <a:pt x="0" y="0"/>
                  </a:moveTo>
                  <a:lnTo>
                    <a:pt x="0" y="1763267"/>
                  </a:lnTo>
                </a:path>
                <a:path w="614679" h="4773295">
                  <a:moveTo>
                    <a:pt x="306324" y="2514600"/>
                  </a:moveTo>
                  <a:lnTo>
                    <a:pt x="306324" y="4773168"/>
                  </a:lnTo>
                </a:path>
                <a:path w="614679" h="4773295">
                  <a:moveTo>
                    <a:pt x="306324" y="0"/>
                  </a:moveTo>
                  <a:lnTo>
                    <a:pt x="306324" y="1763267"/>
                  </a:lnTo>
                </a:path>
                <a:path w="614679" h="4773295">
                  <a:moveTo>
                    <a:pt x="614172" y="2514600"/>
                  </a:moveTo>
                  <a:lnTo>
                    <a:pt x="614172" y="4773168"/>
                  </a:lnTo>
                </a:path>
                <a:path w="614679" h="4773295">
                  <a:moveTo>
                    <a:pt x="614172" y="0"/>
                  </a:moveTo>
                  <a:lnTo>
                    <a:pt x="614172" y="1763267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64680" y="1304543"/>
              <a:ext cx="1536700" cy="4681855"/>
            </a:xfrm>
            <a:custGeom>
              <a:avLst/>
              <a:gdLst/>
              <a:ahLst/>
              <a:cxnLst/>
              <a:rect l="l" t="t" r="r" b="b"/>
              <a:pathLst>
                <a:path w="1536700" h="4681855">
                  <a:moveTo>
                    <a:pt x="153924" y="3957828"/>
                  </a:moveTo>
                  <a:lnTo>
                    <a:pt x="0" y="3957828"/>
                  </a:lnTo>
                  <a:lnTo>
                    <a:pt x="0" y="3982212"/>
                  </a:lnTo>
                  <a:lnTo>
                    <a:pt x="153924" y="3982212"/>
                  </a:lnTo>
                  <a:lnTo>
                    <a:pt x="153924" y="3957828"/>
                  </a:lnTo>
                  <a:close/>
                </a:path>
                <a:path w="1536700" h="4681855">
                  <a:moveTo>
                    <a:pt x="153924" y="3493008"/>
                  </a:moveTo>
                  <a:lnTo>
                    <a:pt x="0" y="3493008"/>
                  </a:lnTo>
                  <a:lnTo>
                    <a:pt x="0" y="3517392"/>
                  </a:lnTo>
                  <a:lnTo>
                    <a:pt x="153924" y="3517392"/>
                  </a:lnTo>
                  <a:lnTo>
                    <a:pt x="153924" y="3493008"/>
                  </a:lnTo>
                  <a:close/>
                </a:path>
                <a:path w="1536700" h="4681855">
                  <a:moveTo>
                    <a:pt x="153924" y="3375660"/>
                  </a:moveTo>
                  <a:lnTo>
                    <a:pt x="0" y="3375660"/>
                  </a:lnTo>
                  <a:lnTo>
                    <a:pt x="0" y="3400044"/>
                  </a:lnTo>
                  <a:lnTo>
                    <a:pt x="153924" y="3400044"/>
                  </a:lnTo>
                  <a:lnTo>
                    <a:pt x="153924" y="3375660"/>
                  </a:lnTo>
                  <a:close/>
                </a:path>
                <a:path w="1536700" h="4681855">
                  <a:moveTo>
                    <a:pt x="153924" y="3259836"/>
                  </a:moveTo>
                  <a:lnTo>
                    <a:pt x="0" y="3259836"/>
                  </a:lnTo>
                  <a:lnTo>
                    <a:pt x="0" y="3284220"/>
                  </a:lnTo>
                  <a:lnTo>
                    <a:pt x="153924" y="3284220"/>
                  </a:lnTo>
                  <a:lnTo>
                    <a:pt x="153924" y="3259836"/>
                  </a:lnTo>
                  <a:close/>
                </a:path>
                <a:path w="1536700" h="4681855">
                  <a:moveTo>
                    <a:pt x="153924" y="2910840"/>
                  </a:moveTo>
                  <a:lnTo>
                    <a:pt x="0" y="2910840"/>
                  </a:lnTo>
                  <a:lnTo>
                    <a:pt x="0" y="2935224"/>
                  </a:lnTo>
                  <a:lnTo>
                    <a:pt x="153924" y="2935224"/>
                  </a:lnTo>
                  <a:lnTo>
                    <a:pt x="153924" y="2910840"/>
                  </a:lnTo>
                  <a:close/>
                </a:path>
                <a:path w="1536700" h="4681855">
                  <a:moveTo>
                    <a:pt x="153924" y="2793492"/>
                  </a:moveTo>
                  <a:lnTo>
                    <a:pt x="0" y="2793492"/>
                  </a:lnTo>
                  <a:lnTo>
                    <a:pt x="0" y="2817876"/>
                  </a:lnTo>
                  <a:lnTo>
                    <a:pt x="153924" y="2817876"/>
                  </a:lnTo>
                  <a:lnTo>
                    <a:pt x="153924" y="2793492"/>
                  </a:lnTo>
                  <a:close/>
                </a:path>
                <a:path w="1536700" h="4681855">
                  <a:moveTo>
                    <a:pt x="153924" y="2677668"/>
                  </a:moveTo>
                  <a:lnTo>
                    <a:pt x="0" y="2677668"/>
                  </a:lnTo>
                  <a:lnTo>
                    <a:pt x="0" y="2702052"/>
                  </a:lnTo>
                  <a:lnTo>
                    <a:pt x="153924" y="2702052"/>
                  </a:lnTo>
                  <a:lnTo>
                    <a:pt x="153924" y="2677668"/>
                  </a:lnTo>
                  <a:close/>
                </a:path>
                <a:path w="1536700" h="4681855">
                  <a:moveTo>
                    <a:pt x="153924" y="2561844"/>
                  </a:moveTo>
                  <a:lnTo>
                    <a:pt x="0" y="2561844"/>
                  </a:lnTo>
                  <a:lnTo>
                    <a:pt x="0" y="2586228"/>
                  </a:lnTo>
                  <a:lnTo>
                    <a:pt x="153924" y="2586228"/>
                  </a:lnTo>
                  <a:lnTo>
                    <a:pt x="153924" y="2561844"/>
                  </a:lnTo>
                  <a:close/>
                </a:path>
                <a:path w="1536700" h="4681855">
                  <a:moveTo>
                    <a:pt x="153924" y="2444496"/>
                  </a:moveTo>
                  <a:lnTo>
                    <a:pt x="0" y="2444496"/>
                  </a:lnTo>
                  <a:lnTo>
                    <a:pt x="0" y="2468880"/>
                  </a:lnTo>
                  <a:lnTo>
                    <a:pt x="153924" y="2468880"/>
                  </a:lnTo>
                  <a:lnTo>
                    <a:pt x="153924" y="2444496"/>
                  </a:lnTo>
                  <a:close/>
                </a:path>
                <a:path w="1536700" h="4681855">
                  <a:moveTo>
                    <a:pt x="153924" y="2328672"/>
                  </a:moveTo>
                  <a:lnTo>
                    <a:pt x="0" y="2328672"/>
                  </a:lnTo>
                  <a:lnTo>
                    <a:pt x="0" y="2353056"/>
                  </a:lnTo>
                  <a:lnTo>
                    <a:pt x="153924" y="2353056"/>
                  </a:lnTo>
                  <a:lnTo>
                    <a:pt x="153924" y="2328672"/>
                  </a:lnTo>
                  <a:close/>
                </a:path>
                <a:path w="1536700" h="4681855">
                  <a:moveTo>
                    <a:pt x="153924" y="2212848"/>
                  </a:moveTo>
                  <a:lnTo>
                    <a:pt x="0" y="2212848"/>
                  </a:lnTo>
                  <a:lnTo>
                    <a:pt x="0" y="2235708"/>
                  </a:lnTo>
                  <a:lnTo>
                    <a:pt x="153924" y="2235708"/>
                  </a:lnTo>
                  <a:lnTo>
                    <a:pt x="153924" y="2212848"/>
                  </a:lnTo>
                  <a:close/>
                </a:path>
                <a:path w="1536700" h="4681855">
                  <a:moveTo>
                    <a:pt x="153924" y="2095500"/>
                  </a:moveTo>
                  <a:lnTo>
                    <a:pt x="0" y="2095500"/>
                  </a:lnTo>
                  <a:lnTo>
                    <a:pt x="0" y="2119884"/>
                  </a:lnTo>
                  <a:lnTo>
                    <a:pt x="153924" y="2119884"/>
                  </a:lnTo>
                  <a:lnTo>
                    <a:pt x="153924" y="2095500"/>
                  </a:lnTo>
                  <a:close/>
                </a:path>
                <a:path w="1536700" h="4681855">
                  <a:moveTo>
                    <a:pt x="153924" y="1979676"/>
                  </a:moveTo>
                  <a:lnTo>
                    <a:pt x="0" y="1979676"/>
                  </a:lnTo>
                  <a:lnTo>
                    <a:pt x="0" y="2004060"/>
                  </a:lnTo>
                  <a:lnTo>
                    <a:pt x="153924" y="2004060"/>
                  </a:lnTo>
                  <a:lnTo>
                    <a:pt x="153924" y="1979676"/>
                  </a:lnTo>
                  <a:close/>
                </a:path>
                <a:path w="1536700" h="4681855">
                  <a:moveTo>
                    <a:pt x="153924" y="1862328"/>
                  </a:moveTo>
                  <a:lnTo>
                    <a:pt x="0" y="1862328"/>
                  </a:lnTo>
                  <a:lnTo>
                    <a:pt x="0" y="1886712"/>
                  </a:lnTo>
                  <a:lnTo>
                    <a:pt x="153924" y="1886712"/>
                  </a:lnTo>
                  <a:lnTo>
                    <a:pt x="153924" y="1862328"/>
                  </a:lnTo>
                  <a:close/>
                </a:path>
                <a:path w="1536700" h="4681855">
                  <a:moveTo>
                    <a:pt x="153924" y="1746504"/>
                  </a:moveTo>
                  <a:lnTo>
                    <a:pt x="0" y="1746504"/>
                  </a:lnTo>
                  <a:lnTo>
                    <a:pt x="0" y="1770888"/>
                  </a:lnTo>
                  <a:lnTo>
                    <a:pt x="153924" y="1770888"/>
                  </a:lnTo>
                  <a:lnTo>
                    <a:pt x="153924" y="1746504"/>
                  </a:lnTo>
                  <a:close/>
                </a:path>
                <a:path w="1536700" h="4681855">
                  <a:moveTo>
                    <a:pt x="153924" y="1630680"/>
                  </a:moveTo>
                  <a:lnTo>
                    <a:pt x="0" y="1630680"/>
                  </a:lnTo>
                  <a:lnTo>
                    <a:pt x="0" y="1653540"/>
                  </a:lnTo>
                  <a:lnTo>
                    <a:pt x="153924" y="1653540"/>
                  </a:lnTo>
                  <a:lnTo>
                    <a:pt x="153924" y="1630680"/>
                  </a:lnTo>
                  <a:close/>
                </a:path>
                <a:path w="1536700" h="4681855">
                  <a:moveTo>
                    <a:pt x="153924" y="1513332"/>
                  </a:moveTo>
                  <a:lnTo>
                    <a:pt x="0" y="1513332"/>
                  </a:lnTo>
                  <a:lnTo>
                    <a:pt x="0" y="1537716"/>
                  </a:lnTo>
                  <a:lnTo>
                    <a:pt x="153924" y="1537716"/>
                  </a:lnTo>
                  <a:lnTo>
                    <a:pt x="153924" y="1513332"/>
                  </a:lnTo>
                  <a:close/>
                </a:path>
                <a:path w="1536700" h="4681855">
                  <a:moveTo>
                    <a:pt x="153924" y="1397508"/>
                  </a:moveTo>
                  <a:lnTo>
                    <a:pt x="0" y="1397508"/>
                  </a:lnTo>
                  <a:lnTo>
                    <a:pt x="0" y="1421892"/>
                  </a:lnTo>
                  <a:lnTo>
                    <a:pt x="153924" y="1421892"/>
                  </a:lnTo>
                  <a:lnTo>
                    <a:pt x="153924" y="1397508"/>
                  </a:lnTo>
                  <a:close/>
                </a:path>
                <a:path w="1536700" h="4681855">
                  <a:moveTo>
                    <a:pt x="153924" y="1280160"/>
                  </a:moveTo>
                  <a:lnTo>
                    <a:pt x="0" y="1280160"/>
                  </a:lnTo>
                  <a:lnTo>
                    <a:pt x="0" y="1304544"/>
                  </a:lnTo>
                  <a:lnTo>
                    <a:pt x="153924" y="1304544"/>
                  </a:lnTo>
                  <a:lnTo>
                    <a:pt x="153924" y="1280160"/>
                  </a:lnTo>
                  <a:close/>
                </a:path>
                <a:path w="1536700" h="4681855">
                  <a:moveTo>
                    <a:pt x="153924" y="1164336"/>
                  </a:moveTo>
                  <a:lnTo>
                    <a:pt x="0" y="1164336"/>
                  </a:lnTo>
                  <a:lnTo>
                    <a:pt x="0" y="1188720"/>
                  </a:lnTo>
                  <a:lnTo>
                    <a:pt x="153924" y="1188720"/>
                  </a:lnTo>
                  <a:lnTo>
                    <a:pt x="153924" y="1164336"/>
                  </a:lnTo>
                  <a:close/>
                </a:path>
                <a:path w="1536700" h="4681855">
                  <a:moveTo>
                    <a:pt x="153924" y="1048512"/>
                  </a:moveTo>
                  <a:lnTo>
                    <a:pt x="0" y="1048512"/>
                  </a:lnTo>
                  <a:lnTo>
                    <a:pt x="0" y="1071372"/>
                  </a:lnTo>
                  <a:lnTo>
                    <a:pt x="153924" y="1071372"/>
                  </a:lnTo>
                  <a:lnTo>
                    <a:pt x="153924" y="1048512"/>
                  </a:lnTo>
                  <a:close/>
                </a:path>
                <a:path w="1536700" h="4681855">
                  <a:moveTo>
                    <a:pt x="153924" y="931164"/>
                  </a:moveTo>
                  <a:lnTo>
                    <a:pt x="0" y="931164"/>
                  </a:lnTo>
                  <a:lnTo>
                    <a:pt x="0" y="955548"/>
                  </a:lnTo>
                  <a:lnTo>
                    <a:pt x="153924" y="955548"/>
                  </a:lnTo>
                  <a:lnTo>
                    <a:pt x="153924" y="931164"/>
                  </a:lnTo>
                  <a:close/>
                </a:path>
                <a:path w="1536700" h="4681855">
                  <a:moveTo>
                    <a:pt x="153924" y="815340"/>
                  </a:moveTo>
                  <a:lnTo>
                    <a:pt x="0" y="815340"/>
                  </a:lnTo>
                  <a:lnTo>
                    <a:pt x="0" y="839724"/>
                  </a:lnTo>
                  <a:lnTo>
                    <a:pt x="153924" y="839724"/>
                  </a:lnTo>
                  <a:lnTo>
                    <a:pt x="153924" y="815340"/>
                  </a:lnTo>
                  <a:close/>
                </a:path>
                <a:path w="1536700" h="4681855">
                  <a:moveTo>
                    <a:pt x="153924" y="697992"/>
                  </a:moveTo>
                  <a:lnTo>
                    <a:pt x="0" y="697992"/>
                  </a:lnTo>
                  <a:lnTo>
                    <a:pt x="0" y="722376"/>
                  </a:lnTo>
                  <a:lnTo>
                    <a:pt x="153924" y="722376"/>
                  </a:lnTo>
                  <a:lnTo>
                    <a:pt x="153924" y="697992"/>
                  </a:lnTo>
                  <a:close/>
                </a:path>
                <a:path w="1536700" h="4681855">
                  <a:moveTo>
                    <a:pt x="153924" y="582168"/>
                  </a:moveTo>
                  <a:lnTo>
                    <a:pt x="0" y="582168"/>
                  </a:lnTo>
                  <a:lnTo>
                    <a:pt x="0" y="606552"/>
                  </a:lnTo>
                  <a:lnTo>
                    <a:pt x="153924" y="606552"/>
                  </a:lnTo>
                  <a:lnTo>
                    <a:pt x="153924" y="582168"/>
                  </a:lnTo>
                  <a:close/>
                </a:path>
                <a:path w="1536700" h="4681855">
                  <a:moveTo>
                    <a:pt x="153924" y="466344"/>
                  </a:moveTo>
                  <a:lnTo>
                    <a:pt x="0" y="466344"/>
                  </a:lnTo>
                  <a:lnTo>
                    <a:pt x="0" y="489204"/>
                  </a:lnTo>
                  <a:lnTo>
                    <a:pt x="153924" y="489204"/>
                  </a:lnTo>
                  <a:lnTo>
                    <a:pt x="153924" y="466344"/>
                  </a:lnTo>
                  <a:close/>
                </a:path>
                <a:path w="1536700" h="4681855">
                  <a:moveTo>
                    <a:pt x="153924" y="348996"/>
                  </a:moveTo>
                  <a:lnTo>
                    <a:pt x="0" y="348996"/>
                  </a:lnTo>
                  <a:lnTo>
                    <a:pt x="0" y="373380"/>
                  </a:lnTo>
                  <a:lnTo>
                    <a:pt x="153924" y="373380"/>
                  </a:lnTo>
                  <a:lnTo>
                    <a:pt x="153924" y="348996"/>
                  </a:lnTo>
                  <a:close/>
                </a:path>
                <a:path w="1536700" h="4681855">
                  <a:moveTo>
                    <a:pt x="153924" y="233172"/>
                  </a:moveTo>
                  <a:lnTo>
                    <a:pt x="0" y="233172"/>
                  </a:lnTo>
                  <a:lnTo>
                    <a:pt x="0" y="257556"/>
                  </a:lnTo>
                  <a:lnTo>
                    <a:pt x="153924" y="257556"/>
                  </a:lnTo>
                  <a:lnTo>
                    <a:pt x="153924" y="233172"/>
                  </a:lnTo>
                  <a:close/>
                </a:path>
                <a:path w="1536700" h="4681855">
                  <a:moveTo>
                    <a:pt x="15392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153924" y="24384"/>
                  </a:lnTo>
                  <a:lnTo>
                    <a:pt x="153924" y="0"/>
                  </a:lnTo>
                  <a:close/>
                </a:path>
                <a:path w="1536700" h="4681855">
                  <a:moveTo>
                    <a:pt x="306324" y="3842004"/>
                  </a:moveTo>
                  <a:lnTo>
                    <a:pt x="0" y="3842004"/>
                  </a:lnTo>
                  <a:lnTo>
                    <a:pt x="0" y="3866388"/>
                  </a:lnTo>
                  <a:lnTo>
                    <a:pt x="306324" y="3866388"/>
                  </a:lnTo>
                  <a:lnTo>
                    <a:pt x="306324" y="3842004"/>
                  </a:lnTo>
                  <a:close/>
                </a:path>
                <a:path w="1536700" h="4681855">
                  <a:moveTo>
                    <a:pt x="306324" y="3726180"/>
                  </a:moveTo>
                  <a:lnTo>
                    <a:pt x="0" y="3726180"/>
                  </a:lnTo>
                  <a:lnTo>
                    <a:pt x="0" y="3750564"/>
                  </a:lnTo>
                  <a:lnTo>
                    <a:pt x="306324" y="3750564"/>
                  </a:lnTo>
                  <a:lnTo>
                    <a:pt x="306324" y="3726180"/>
                  </a:lnTo>
                  <a:close/>
                </a:path>
                <a:path w="1536700" h="4681855">
                  <a:moveTo>
                    <a:pt x="306324" y="3608832"/>
                  </a:moveTo>
                  <a:lnTo>
                    <a:pt x="0" y="3608832"/>
                  </a:lnTo>
                  <a:lnTo>
                    <a:pt x="0" y="3633216"/>
                  </a:lnTo>
                  <a:lnTo>
                    <a:pt x="306324" y="3633216"/>
                  </a:lnTo>
                  <a:lnTo>
                    <a:pt x="306324" y="3608832"/>
                  </a:lnTo>
                  <a:close/>
                </a:path>
                <a:path w="1536700" h="4681855">
                  <a:moveTo>
                    <a:pt x="460248" y="4308348"/>
                  </a:moveTo>
                  <a:lnTo>
                    <a:pt x="0" y="4308348"/>
                  </a:lnTo>
                  <a:lnTo>
                    <a:pt x="0" y="4331208"/>
                  </a:lnTo>
                  <a:lnTo>
                    <a:pt x="460248" y="4331208"/>
                  </a:lnTo>
                  <a:lnTo>
                    <a:pt x="460248" y="4308348"/>
                  </a:lnTo>
                  <a:close/>
                </a:path>
                <a:path w="1536700" h="4681855">
                  <a:moveTo>
                    <a:pt x="460248" y="4075176"/>
                  </a:moveTo>
                  <a:lnTo>
                    <a:pt x="0" y="4075176"/>
                  </a:lnTo>
                  <a:lnTo>
                    <a:pt x="0" y="4099560"/>
                  </a:lnTo>
                  <a:lnTo>
                    <a:pt x="460248" y="4099560"/>
                  </a:lnTo>
                  <a:lnTo>
                    <a:pt x="460248" y="4075176"/>
                  </a:lnTo>
                  <a:close/>
                </a:path>
                <a:path w="1536700" h="4681855">
                  <a:moveTo>
                    <a:pt x="614172" y="4191000"/>
                  </a:moveTo>
                  <a:lnTo>
                    <a:pt x="0" y="4191000"/>
                  </a:lnTo>
                  <a:lnTo>
                    <a:pt x="0" y="4215384"/>
                  </a:lnTo>
                  <a:lnTo>
                    <a:pt x="614172" y="4215384"/>
                  </a:lnTo>
                  <a:lnTo>
                    <a:pt x="614172" y="4191000"/>
                  </a:lnTo>
                  <a:close/>
                </a:path>
                <a:path w="1536700" h="4681855">
                  <a:moveTo>
                    <a:pt x="768096" y="4424172"/>
                  </a:moveTo>
                  <a:lnTo>
                    <a:pt x="0" y="4424172"/>
                  </a:lnTo>
                  <a:lnTo>
                    <a:pt x="0" y="4448556"/>
                  </a:lnTo>
                  <a:lnTo>
                    <a:pt x="768096" y="4448556"/>
                  </a:lnTo>
                  <a:lnTo>
                    <a:pt x="768096" y="4424172"/>
                  </a:lnTo>
                  <a:close/>
                </a:path>
                <a:path w="1536700" h="4681855">
                  <a:moveTo>
                    <a:pt x="922020" y="4539996"/>
                  </a:moveTo>
                  <a:lnTo>
                    <a:pt x="0" y="4539996"/>
                  </a:lnTo>
                  <a:lnTo>
                    <a:pt x="0" y="4564380"/>
                  </a:lnTo>
                  <a:lnTo>
                    <a:pt x="922020" y="4564380"/>
                  </a:lnTo>
                  <a:lnTo>
                    <a:pt x="922020" y="4539996"/>
                  </a:lnTo>
                  <a:close/>
                </a:path>
                <a:path w="1536700" h="4681855">
                  <a:moveTo>
                    <a:pt x="1536192" y="4657344"/>
                  </a:moveTo>
                  <a:lnTo>
                    <a:pt x="0" y="4657344"/>
                  </a:lnTo>
                  <a:lnTo>
                    <a:pt x="0" y="4681728"/>
                  </a:lnTo>
                  <a:lnTo>
                    <a:pt x="1536192" y="4681728"/>
                  </a:lnTo>
                  <a:lnTo>
                    <a:pt x="1536192" y="465734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64680" y="4424171"/>
              <a:ext cx="154305" cy="1537970"/>
            </a:xfrm>
            <a:custGeom>
              <a:avLst/>
              <a:gdLst/>
              <a:ahLst/>
              <a:cxnLst/>
              <a:rect l="l" t="t" r="r" b="b"/>
              <a:pathLst>
                <a:path w="154304" h="1537970">
                  <a:moveTo>
                    <a:pt x="153924" y="1513332"/>
                  </a:moveTo>
                  <a:lnTo>
                    <a:pt x="0" y="1513332"/>
                  </a:lnTo>
                  <a:lnTo>
                    <a:pt x="0" y="1537716"/>
                  </a:lnTo>
                  <a:lnTo>
                    <a:pt x="153924" y="1537716"/>
                  </a:lnTo>
                  <a:lnTo>
                    <a:pt x="153924" y="1513332"/>
                  </a:lnTo>
                  <a:close/>
                </a:path>
                <a:path w="154304" h="1537970">
                  <a:moveTo>
                    <a:pt x="153924" y="1397508"/>
                  </a:moveTo>
                  <a:lnTo>
                    <a:pt x="0" y="1397508"/>
                  </a:lnTo>
                  <a:lnTo>
                    <a:pt x="0" y="1420368"/>
                  </a:lnTo>
                  <a:lnTo>
                    <a:pt x="153924" y="1420368"/>
                  </a:lnTo>
                  <a:lnTo>
                    <a:pt x="153924" y="1397508"/>
                  </a:lnTo>
                  <a:close/>
                </a:path>
                <a:path w="154304" h="1537970">
                  <a:moveTo>
                    <a:pt x="153924" y="1164336"/>
                  </a:moveTo>
                  <a:lnTo>
                    <a:pt x="0" y="1164336"/>
                  </a:lnTo>
                  <a:lnTo>
                    <a:pt x="0" y="1188720"/>
                  </a:lnTo>
                  <a:lnTo>
                    <a:pt x="153924" y="1188720"/>
                  </a:lnTo>
                  <a:lnTo>
                    <a:pt x="153924" y="1164336"/>
                  </a:lnTo>
                  <a:close/>
                </a:path>
                <a:path w="154304" h="1537970">
                  <a:moveTo>
                    <a:pt x="15392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153924" y="24384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64680" y="1373123"/>
              <a:ext cx="768350" cy="4564380"/>
            </a:xfrm>
            <a:custGeom>
              <a:avLst/>
              <a:gdLst/>
              <a:ahLst/>
              <a:cxnLst/>
              <a:rect l="l" t="t" r="r" b="b"/>
              <a:pathLst>
                <a:path w="768350" h="4564380">
                  <a:moveTo>
                    <a:pt x="153924" y="2910840"/>
                  </a:moveTo>
                  <a:lnTo>
                    <a:pt x="0" y="2910840"/>
                  </a:lnTo>
                  <a:lnTo>
                    <a:pt x="0" y="2933700"/>
                  </a:lnTo>
                  <a:lnTo>
                    <a:pt x="153924" y="2933700"/>
                  </a:lnTo>
                  <a:lnTo>
                    <a:pt x="153924" y="2910840"/>
                  </a:lnTo>
                  <a:close/>
                </a:path>
                <a:path w="768350" h="4564380">
                  <a:moveTo>
                    <a:pt x="153924" y="0"/>
                  </a:moveTo>
                  <a:lnTo>
                    <a:pt x="0" y="0"/>
                  </a:lnTo>
                  <a:lnTo>
                    <a:pt x="0" y="24384"/>
                  </a:lnTo>
                  <a:lnTo>
                    <a:pt x="153924" y="24384"/>
                  </a:lnTo>
                  <a:lnTo>
                    <a:pt x="153924" y="0"/>
                  </a:lnTo>
                  <a:close/>
                </a:path>
                <a:path w="768350" h="4564380">
                  <a:moveTo>
                    <a:pt x="306324" y="3842004"/>
                  </a:moveTo>
                  <a:lnTo>
                    <a:pt x="0" y="3842004"/>
                  </a:lnTo>
                  <a:lnTo>
                    <a:pt x="0" y="3866388"/>
                  </a:lnTo>
                  <a:lnTo>
                    <a:pt x="306324" y="3866388"/>
                  </a:lnTo>
                  <a:lnTo>
                    <a:pt x="306324" y="3842004"/>
                  </a:lnTo>
                  <a:close/>
                </a:path>
                <a:path w="768350" h="4564380">
                  <a:moveTo>
                    <a:pt x="768096" y="4539996"/>
                  </a:moveTo>
                  <a:lnTo>
                    <a:pt x="0" y="4539996"/>
                  </a:lnTo>
                  <a:lnTo>
                    <a:pt x="0" y="4564380"/>
                  </a:lnTo>
                  <a:lnTo>
                    <a:pt x="768096" y="4564380"/>
                  </a:lnTo>
                  <a:lnTo>
                    <a:pt x="768096" y="453999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64680" y="1234440"/>
              <a:ext cx="0" cy="4773295"/>
            </a:xfrm>
            <a:custGeom>
              <a:avLst/>
              <a:gdLst/>
              <a:ahLst/>
              <a:cxnLst/>
              <a:rect l="l" t="t" r="r" b="b"/>
              <a:pathLst>
                <a:path h="4773295">
                  <a:moveTo>
                    <a:pt x="0" y="477316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447913" y="6063184"/>
            <a:ext cx="838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55126" y="6063184"/>
            <a:ext cx="838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62466" y="6063184"/>
            <a:ext cx="838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4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69932" y="6063184"/>
            <a:ext cx="838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6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77145" y="6063184"/>
            <a:ext cx="8382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55531" y="6063184"/>
            <a:ext cx="1416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18272" y="4691633"/>
            <a:ext cx="878840" cy="132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Australia</a:t>
            </a:r>
            <a:endParaRPr sz="900">
              <a:latin typeface="Calibri"/>
              <a:cs typeface="Calibri"/>
            </a:endParaRPr>
          </a:p>
          <a:p>
            <a:pPr marL="542290" marR="5080" indent="50800" algn="r">
              <a:lnSpc>
                <a:spcPct val="169800"/>
              </a:lnSpc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Kor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  (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bl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k)</a:t>
            </a:r>
            <a:endParaRPr sz="900">
              <a:latin typeface="Calibri"/>
              <a:cs typeface="Calibri"/>
            </a:endParaRPr>
          </a:p>
          <a:p>
            <a:pPr marR="6350" algn="r">
              <a:spcBef>
                <a:spcPts val="755"/>
              </a:spcBef>
            </a:pP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u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 Afr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c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900">
              <a:latin typeface="Calibri"/>
              <a:cs typeface="Calibri"/>
            </a:endParaRPr>
          </a:p>
          <a:p>
            <a:pPr marL="12700" marR="5080" indent="589915" algn="r">
              <a:lnSpc>
                <a:spcPct val="169800"/>
              </a:lnSpc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Ch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 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Multiple</a:t>
            </a:r>
            <a:r>
              <a:rPr sz="9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countries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16316" y="4458717"/>
            <a:ext cx="28067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Braz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37703" y="4225798"/>
            <a:ext cx="3581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u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ro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p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58405" y="3993008"/>
            <a:ext cx="3384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F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97318" y="3760090"/>
            <a:ext cx="8985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Ghana,</a:t>
            </a:r>
            <a:r>
              <a:rPr sz="9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Ivory</a:t>
            </a:r>
            <a:r>
              <a:rPr sz="900" spc="-1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Coast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866127" y="3526918"/>
            <a:ext cx="5302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H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87994" y="3294127"/>
            <a:ext cx="3086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K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ya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31606" y="3061209"/>
            <a:ext cx="36449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co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93483" y="2828291"/>
            <a:ext cx="6026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w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M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x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c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98639" y="2595499"/>
            <a:ext cx="49720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Phillipines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19415" y="2362581"/>
            <a:ext cx="37719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rwa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900" spc="5" dirty="0">
                <a:solidFill>
                  <a:srgbClr val="585858"/>
                </a:solidFill>
                <a:latin typeface="Calibri"/>
                <a:cs typeface="Calibri"/>
              </a:rPr>
              <a:t>d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12254" y="2129791"/>
            <a:ext cx="128333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South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Asia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(India, Pakistan)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97827" y="1896314"/>
            <a:ext cx="89852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sub-Saharan</a:t>
            </a:r>
            <a:r>
              <a:rPr sz="9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Africa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72806" y="1663701"/>
            <a:ext cx="42354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Thailand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237982" y="1430783"/>
            <a:ext cx="15811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UK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86191" y="1197991"/>
            <a:ext cx="51054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Zimbabwe</a:t>
            </a:r>
            <a:endParaRPr sz="900" dirty="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9268969" y="3022093"/>
            <a:ext cx="62865" cy="62865"/>
          </a:xfrm>
          <a:custGeom>
            <a:avLst/>
            <a:gdLst/>
            <a:ahLst/>
            <a:cxnLst/>
            <a:rect l="l" t="t" r="r" b="b"/>
            <a:pathLst>
              <a:path w="62865" h="62864">
                <a:moveTo>
                  <a:pt x="62483" y="0"/>
                </a:moveTo>
                <a:lnTo>
                  <a:pt x="0" y="0"/>
                </a:lnTo>
                <a:lnTo>
                  <a:pt x="0" y="62484"/>
                </a:lnTo>
                <a:lnTo>
                  <a:pt x="62483" y="62484"/>
                </a:lnTo>
                <a:lnTo>
                  <a:pt x="62483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9347455" y="2959735"/>
            <a:ext cx="36004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R</a:t>
            </a: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vi</a:t>
            </a:r>
            <a:r>
              <a:rPr sz="900" spc="-10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900" dirty="0">
                <a:solidFill>
                  <a:srgbClr val="585858"/>
                </a:solidFill>
                <a:latin typeface="Calibri"/>
                <a:cs typeface="Calibri"/>
              </a:rPr>
              <a:t>w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268969" y="3272029"/>
            <a:ext cx="62865" cy="314325"/>
            <a:chOff x="7744968" y="3272028"/>
            <a:chExt cx="62865" cy="314325"/>
          </a:xfrm>
        </p:grpSpPr>
        <p:sp>
          <p:nvSpPr>
            <p:cNvPr id="40" name="object 40"/>
            <p:cNvSpPr/>
            <p:nvPr/>
          </p:nvSpPr>
          <p:spPr>
            <a:xfrm>
              <a:off x="7744968" y="3272028"/>
              <a:ext cx="62865" cy="64135"/>
            </a:xfrm>
            <a:custGeom>
              <a:avLst/>
              <a:gdLst/>
              <a:ahLst/>
              <a:cxnLst/>
              <a:rect l="l" t="t" r="r" b="b"/>
              <a:pathLst>
                <a:path w="62865" h="64135">
                  <a:moveTo>
                    <a:pt x="62483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62483" y="64008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744968" y="3523488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347455" y="3210306"/>
            <a:ext cx="643255" cy="55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Quasi-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980"/>
              </a:lnSpc>
              <a:spcBef>
                <a:spcPts val="15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experimental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ts val="980"/>
              </a:lnSpc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Non-</a:t>
            </a:r>
            <a:endParaRPr sz="900">
              <a:latin typeface="Calibri"/>
              <a:cs typeface="Calibri"/>
            </a:endParaRPr>
          </a:p>
          <a:p>
            <a:pPr marL="12700">
              <a:spcBef>
                <a:spcPts val="20"/>
              </a:spcBef>
            </a:pPr>
            <a:r>
              <a:rPr sz="900" spc="-5" dirty="0">
                <a:solidFill>
                  <a:srgbClr val="585858"/>
                </a:solidFill>
                <a:latin typeface="Calibri"/>
                <a:cs typeface="Calibri"/>
              </a:rPr>
              <a:t>experimental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954012" y="3581438"/>
            <a:ext cx="268605" cy="238125"/>
            <a:chOff x="5430011" y="3581437"/>
            <a:chExt cx="268605" cy="238125"/>
          </a:xfrm>
        </p:grpSpPr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0011" y="3581437"/>
              <a:ext cx="268249" cy="23783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72683" y="3648709"/>
              <a:ext cx="109219" cy="775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929" y="629141"/>
            <a:ext cx="1079350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0" dirty="0">
                <a:solidFill>
                  <a:srgbClr val="4A2D83"/>
                </a:solidFill>
              </a:rPr>
              <a:t>An</a:t>
            </a:r>
            <a:r>
              <a:rPr b="1" spc="-45" dirty="0">
                <a:solidFill>
                  <a:srgbClr val="4A2D83"/>
                </a:solidFill>
              </a:rPr>
              <a:t>a</a:t>
            </a:r>
            <a:r>
              <a:rPr b="1" spc="-20" dirty="0">
                <a:solidFill>
                  <a:srgbClr val="4A2D83"/>
                </a:solidFill>
              </a:rPr>
              <a:t>lyze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25" dirty="0">
                <a:solidFill>
                  <a:srgbClr val="4A2D83"/>
                </a:solidFill>
              </a:rPr>
              <a:t>the</a:t>
            </a:r>
            <a:r>
              <a:rPr b="1" spc="-254" dirty="0">
                <a:solidFill>
                  <a:srgbClr val="4A2D83"/>
                </a:solidFill>
              </a:rPr>
              <a:t> </a:t>
            </a:r>
            <a:r>
              <a:rPr b="1" spc="-20" dirty="0">
                <a:solidFill>
                  <a:srgbClr val="4A2D83"/>
                </a:solidFill>
              </a:rPr>
              <a:t>Evide</a:t>
            </a:r>
            <a:r>
              <a:rPr b="1" spc="-35" dirty="0">
                <a:solidFill>
                  <a:srgbClr val="4A2D83"/>
                </a:solidFill>
              </a:rPr>
              <a:t>n</a:t>
            </a:r>
            <a:r>
              <a:rPr b="1" spc="-80" dirty="0">
                <a:solidFill>
                  <a:srgbClr val="4A2D83"/>
                </a:solidFill>
              </a:rPr>
              <a:t>ce</a:t>
            </a:r>
            <a:r>
              <a:rPr b="1" spc="-280" dirty="0">
                <a:solidFill>
                  <a:srgbClr val="4A2D83"/>
                </a:solidFill>
              </a:rPr>
              <a:t> </a:t>
            </a:r>
            <a:r>
              <a:rPr b="1" spc="-270" dirty="0">
                <a:solidFill>
                  <a:srgbClr val="4A2D83"/>
                </a:solidFill>
              </a:rPr>
              <a:t>(5/5)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9929" y="1756481"/>
            <a:ext cx="10793506" cy="44723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137160" indent="-287020" algn="just">
              <a:lnSpc>
                <a:spcPct val="110100"/>
              </a:lnSpc>
              <a:spcBef>
                <a:spcPts val="95"/>
              </a:spcBef>
              <a:buFont typeface="Arial MT"/>
              <a:buChar char="•"/>
              <a:tabLst>
                <a:tab pos="299720" algn="l"/>
              </a:tabLst>
            </a:pP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spreadsheets,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addition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being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able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summarize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graph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data </a:t>
            </a:r>
            <a:r>
              <a:rPr sz="1400" b="1" spc="-38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spreadsheet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package,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read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more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specialized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statistical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packages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l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i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k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sz="1400" b="1" spc="-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75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</a:t>
            </a:r>
            <a:r>
              <a:rPr sz="1400" b="1" spc="13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</a:t>
            </a:r>
            <a:r>
              <a:rPr sz="1400" b="1" spc="13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mu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l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ti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-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purp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s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pac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k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ages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l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i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k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85" dirty="0">
                <a:solidFill>
                  <a:srgbClr val="4A2D83"/>
                </a:solidFill>
                <a:latin typeface="Arial"/>
                <a:cs typeface="Arial"/>
              </a:rPr>
              <a:t>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f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400" b="1" spc="90" dirty="0">
                <a:solidFill>
                  <a:srgbClr val="4A2D83"/>
                </a:solidFill>
                <a:latin typeface="Arial"/>
                <a:cs typeface="Arial"/>
              </a:rPr>
              <a:t>r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l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sis.</a:t>
            </a:r>
            <a:endParaRPr sz="1400" dirty="0">
              <a:latin typeface="Arial"/>
              <a:cs typeface="Arial"/>
            </a:endParaRPr>
          </a:p>
          <a:p>
            <a:pPr marL="756285" marR="245745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Sometimes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importing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these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data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other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programs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requires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save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spreadsheet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.csv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“comma-separated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values”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file.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used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create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variety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interesting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graphics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endParaRPr sz="1400" dirty="0">
              <a:latin typeface="Lucida Sans Unicode"/>
              <a:cs typeface="Lucida Sans Unicode"/>
            </a:endParaRPr>
          </a:p>
          <a:p>
            <a:pPr marL="756285">
              <a:spcBef>
                <a:spcPts val="170"/>
              </a:spcBef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dat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om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codi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sp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eadsh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et.</a:t>
            </a:r>
            <a:endParaRPr sz="1400" dirty="0">
              <a:latin typeface="Lucida Sans Unicode"/>
              <a:cs typeface="Lucida Sans Unicode"/>
            </a:endParaRPr>
          </a:p>
          <a:p>
            <a:pPr marL="299085" marR="132080" indent="-287020" algn="just">
              <a:lnSpc>
                <a:spcPct val="110000"/>
              </a:lnSpc>
              <a:spcBef>
                <a:spcPts val="1155"/>
              </a:spcBef>
              <a:buFont typeface="Arial MT"/>
              <a:buChar char="•"/>
              <a:tabLst>
                <a:tab pos="299720" algn="l"/>
              </a:tabLst>
            </a:pP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Spreadsheets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also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imported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into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visualization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software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programs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such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as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Tableau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Power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BI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create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dynamic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visualizations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data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coding.</a:t>
            </a:r>
            <a:endParaRPr sz="14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10100"/>
              </a:lnSpc>
              <a:spcBef>
                <a:spcPts val="63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This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particularly useful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data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but can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also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visualizing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results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if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include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many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yes/no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categorical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framework.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33655" lvl="1" indent="-287020">
              <a:lnSpc>
                <a:spcPct val="110000"/>
              </a:lnSpc>
              <a:spcBef>
                <a:spcPts val="340"/>
              </a:spcBef>
              <a:buClr>
                <a:srgbClr val="4A2D83"/>
              </a:buClr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Tableau </a:t>
            </a:r>
            <a:r>
              <a:rPr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2"/>
              </a:rPr>
              <a:t>Desktop</a:t>
            </a:r>
            <a:r>
              <a:rPr sz="1400" spc="-35" dirty="0">
                <a:solidFill>
                  <a:srgbClr val="006FC0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offers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free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one-year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subscription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 educational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purposes,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though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need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register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request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personal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product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key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software.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After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creating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Tableau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visualization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using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Tableau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Desktop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software,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can </a:t>
            </a:r>
            <a:r>
              <a:rPr sz="1400" spc="-4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upload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visualization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25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Tableau 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3"/>
              </a:rPr>
              <a:t>Public</a:t>
            </a:r>
            <a:r>
              <a:rPr sz="1400" spc="-20" dirty="0">
                <a:solidFill>
                  <a:srgbClr val="006FC0"/>
                </a:solidFill>
                <a:latin typeface="Lucida Sans Unicode"/>
                <a:cs typeface="Lucida Sans Unicode"/>
                <a:hlinkClick r:id="rId3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(free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use after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registering)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share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others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embed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into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web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page. Tableau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offers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variety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training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videos</a:t>
            </a:r>
            <a:r>
              <a:rPr sz="1400" spc="-110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4"/>
              </a:rPr>
              <a:t>here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.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13970" lvl="1" indent="-287020">
              <a:lnSpc>
                <a:spcPct val="110000"/>
              </a:lnSpc>
              <a:spcBef>
                <a:spcPts val="335"/>
              </a:spcBef>
              <a:buClr>
                <a:srgbClr val="4A2D83"/>
              </a:buClr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u="sng" spc="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5"/>
              </a:rPr>
              <a:t>Power</a:t>
            </a:r>
            <a:r>
              <a:rPr sz="1400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1400" u="sng" spc="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5"/>
              </a:rPr>
              <a:t>BI</a:t>
            </a:r>
            <a:r>
              <a:rPr sz="1400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5"/>
              </a:rPr>
              <a:t> </a:t>
            </a:r>
            <a:r>
              <a:rPr sz="1400" u="sng" spc="-3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5"/>
              </a:rPr>
              <a:t>Desktop</a:t>
            </a:r>
            <a:r>
              <a:rPr sz="1400" spc="-70" dirty="0">
                <a:solidFill>
                  <a:srgbClr val="006FC0"/>
                </a:solidFill>
                <a:latin typeface="Lucida Sans Unicode"/>
                <a:cs typeface="Lucida Sans Unicode"/>
                <a:hlinkClick r:id="rId5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be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downloaded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free,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similarly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allows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users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create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interactive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visualization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dashboard and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publish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it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web.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40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</a:rPr>
              <a:t>Power </a:t>
            </a:r>
            <a:r>
              <a:rPr sz="1400" u="sng" spc="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</a:rPr>
              <a:t>BI </a:t>
            </a:r>
            <a:r>
              <a:rPr sz="1400" spc="50" dirty="0">
                <a:solidFill>
                  <a:srgbClr val="006FC0"/>
                </a:solidFill>
                <a:latin typeface="Lucida Sans Unicode"/>
                <a:cs typeface="Lucida Sans Unicode"/>
              </a:rPr>
              <a:t> </a:t>
            </a:r>
            <a:r>
              <a:rPr sz="1400" u="sng" spc="-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Lucida Sans Unicode"/>
                <a:cs typeface="Lucida Sans Unicode"/>
                <a:hlinkClick r:id="rId6"/>
              </a:rPr>
              <a:t>website</a:t>
            </a:r>
            <a:r>
              <a:rPr sz="1400" spc="-20" dirty="0">
                <a:solidFill>
                  <a:srgbClr val="006FC0"/>
                </a:solidFill>
                <a:latin typeface="Lucida Sans Unicode"/>
                <a:cs typeface="Lucida Sans Unicode"/>
                <a:hlinkClick r:id="rId6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provides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a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variety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of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videos, samples,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and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in-depth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documentation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  <a:hlinkClick r:id="rId6"/>
              </a:rPr>
              <a:t>to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sup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use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rs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l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arn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abou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so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f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wa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e.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458" y="604662"/>
            <a:ext cx="1074868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Su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40" dirty="0">
                <a:solidFill>
                  <a:srgbClr val="4A2D83"/>
                </a:solidFill>
              </a:rPr>
              <a:t>arize</a:t>
            </a:r>
            <a:r>
              <a:rPr b="1" spc="-28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a</a:t>
            </a:r>
            <a:r>
              <a:rPr b="1" spc="-70" dirty="0">
                <a:solidFill>
                  <a:srgbClr val="4A2D83"/>
                </a:solidFill>
              </a:rPr>
              <a:t>n</a:t>
            </a:r>
            <a:r>
              <a:rPr b="1" spc="-10" dirty="0">
                <a:solidFill>
                  <a:srgbClr val="4A2D83"/>
                </a:solidFill>
              </a:rPr>
              <a:t>d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40" dirty="0">
                <a:solidFill>
                  <a:srgbClr val="4A2D83"/>
                </a:solidFill>
              </a:rPr>
              <a:t>Rep</a:t>
            </a:r>
            <a:r>
              <a:rPr b="1" spc="-50" dirty="0">
                <a:solidFill>
                  <a:srgbClr val="4A2D83"/>
                </a:solidFill>
              </a:rPr>
              <a:t>o</a:t>
            </a:r>
            <a:r>
              <a:rPr b="1" spc="15" dirty="0">
                <a:solidFill>
                  <a:srgbClr val="4A2D83"/>
                </a:solidFill>
              </a:rPr>
              <a:t>rt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15" dirty="0">
                <a:solidFill>
                  <a:srgbClr val="4A2D83"/>
                </a:solidFill>
              </a:rPr>
              <a:t>Fin</a:t>
            </a:r>
            <a:r>
              <a:rPr b="1" spc="-25" dirty="0">
                <a:solidFill>
                  <a:srgbClr val="4A2D83"/>
                </a:solidFill>
              </a:rPr>
              <a:t>d</a:t>
            </a:r>
            <a:r>
              <a:rPr b="1" spc="-30" dirty="0">
                <a:solidFill>
                  <a:srgbClr val="4A2D83"/>
                </a:solidFill>
              </a:rPr>
              <a:t>ings</a:t>
            </a:r>
            <a:r>
              <a:rPr b="1" spc="-240" dirty="0">
                <a:solidFill>
                  <a:srgbClr val="4A2D83"/>
                </a:solidFill>
              </a:rPr>
              <a:t> </a:t>
            </a:r>
            <a:r>
              <a:rPr b="1" spc="-285" dirty="0">
                <a:solidFill>
                  <a:srgbClr val="4A2D83"/>
                </a:solidFill>
              </a:rPr>
              <a:t>(1/</a:t>
            </a:r>
            <a:r>
              <a:rPr b="1" spc="-325" dirty="0">
                <a:solidFill>
                  <a:srgbClr val="4A2D83"/>
                </a:solidFill>
              </a:rPr>
              <a:t>2</a:t>
            </a:r>
            <a:r>
              <a:rPr b="1" spc="-315" dirty="0">
                <a:solidFill>
                  <a:srgbClr val="4A2D83"/>
                </a:solidFill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459" y="1729587"/>
            <a:ext cx="10748681" cy="468141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spcBef>
                <a:spcPts val="265"/>
              </a:spcBef>
            </a:pP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goals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summarizing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reporting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are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endParaRPr sz="1400" dirty="0">
              <a:latin typeface="Arial"/>
              <a:cs typeface="Arial"/>
            </a:endParaRPr>
          </a:p>
          <a:p>
            <a:pPr marL="12700" marR="215265">
              <a:lnSpc>
                <a:spcPts val="1850"/>
              </a:lnSpc>
              <a:spcBef>
                <a:spcPts val="90"/>
              </a:spcBef>
            </a:pP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(1)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use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organization of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as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structure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summarizing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presenting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analysis,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(2)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identify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report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on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gaps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sample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studies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methods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 dirty="0">
              <a:latin typeface="Arial"/>
              <a:cs typeface="Arial"/>
            </a:endParaRPr>
          </a:p>
          <a:p>
            <a:pPr marL="355600" indent="-342900">
              <a:spcBef>
                <a:spcPts val="113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Using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tables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figures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just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created,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begin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organizing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relevant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results</a:t>
            </a:r>
            <a:endParaRPr sz="1400" dirty="0">
              <a:latin typeface="Arial"/>
              <a:cs typeface="Arial"/>
            </a:endParaRPr>
          </a:p>
          <a:p>
            <a:pPr marL="355600">
              <a:spcBef>
                <a:spcPts val="170"/>
              </a:spcBef>
            </a:pP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about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trends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patterns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arising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data.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Consider:</a:t>
            </a:r>
            <a:endParaRPr sz="1400" dirty="0">
              <a:latin typeface="Arial"/>
              <a:cs typeface="Arial"/>
            </a:endParaRPr>
          </a:p>
          <a:p>
            <a:pPr marL="756285" marR="5080" lvl="1" indent="-287020">
              <a:lnSpc>
                <a:spcPct val="110000"/>
              </a:lnSpc>
              <a:spcBef>
                <a:spcPts val="6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go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beyond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basic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descriptions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truly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analyze?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example,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look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at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trends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evidence 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–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geography,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study population,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type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nter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nti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55" dirty="0">
                <a:solidFill>
                  <a:srgbClr val="4A2D83"/>
                </a:solidFill>
                <a:latin typeface="Lucida Sans Unicode"/>
                <a:cs typeface="Lucida Sans Unicode"/>
              </a:rPr>
              <a:t>n,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ou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tco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tc.?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gaps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studies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that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have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been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revealed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analysis?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endParaRPr sz="1400" dirty="0">
              <a:latin typeface="Lucida Sans Unicode"/>
              <a:cs typeface="Lucida Sans Unicode"/>
            </a:endParaRPr>
          </a:p>
          <a:p>
            <a:pPr marL="756285">
              <a:spcBef>
                <a:spcPts val="170"/>
              </a:spcBef>
            </a:pP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add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nal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sea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ch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3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can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unde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rta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k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fi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hose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ga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ps?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there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any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unexpected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surprising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trends?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How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explain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them?</a:t>
            </a:r>
            <a:endParaRPr sz="1400" dirty="0">
              <a:latin typeface="Lucida Sans Unicode"/>
              <a:cs typeface="Lucida Sans Unicode"/>
            </a:endParaRPr>
          </a:p>
          <a:p>
            <a:pPr marL="355600" marR="205104" indent="-342900">
              <a:lnSpc>
                <a:spcPct val="110000"/>
              </a:lnSpc>
              <a:spcBef>
                <a:spcPts val="30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As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you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begin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outlining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for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final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output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(typically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report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slide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deck),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think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about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following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questions:</a:t>
            </a:r>
            <a:endParaRPr sz="1400" dirty="0">
              <a:latin typeface="Arial"/>
              <a:cs typeface="Arial"/>
            </a:endParaRPr>
          </a:p>
          <a:p>
            <a:pPr marL="756285" lvl="1" indent="-287020">
              <a:spcBef>
                <a:spcPts val="8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answer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all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questions?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Are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organized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most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logical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order?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563880" lvl="1" indent="-287020">
              <a:lnSpc>
                <a:spcPct val="110000"/>
              </a:lnSpc>
              <a:spcBef>
                <a:spcPts val="3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Do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present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useful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in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each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your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sections,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this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p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</a:t>
            </a:r>
            <a:r>
              <a:rPr sz="1400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ted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b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co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ll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cte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v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d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n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10" dirty="0">
                <a:solidFill>
                  <a:srgbClr val="4A2D83"/>
                </a:solidFill>
                <a:latin typeface="Lucida Sans Unicode"/>
                <a:cs typeface="Lucida Sans Unicode"/>
              </a:rPr>
              <a:t>?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74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15" dirty="0">
                <a:solidFill>
                  <a:srgbClr val="4A2D83"/>
                </a:solidFill>
                <a:latin typeface="Lucida Sans Unicode"/>
                <a:cs typeface="Lucida Sans Unicode"/>
              </a:rPr>
              <a:t>Where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might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table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figure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help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illustrate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or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summarize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findings?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078" y="389509"/>
            <a:ext cx="10721783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0" dirty="0">
                <a:solidFill>
                  <a:srgbClr val="4A2D83"/>
                </a:solidFill>
              </a:rPr>
              <a:t>Su</a:t>
            </a:r>
            <a:r>
              <a:rPr b="1" spc="-100" dirty="0">
                <a:solidFill>
                  <a:srgbClr val="4A2D83"/>
                </a:solidFill>
              </a:rPr>
              <a:t>m</a:t>
            </a:r>
            <a:r>
              <a:rPr b="1" spc="-110" dirty="0">
                <a:solidFill>
                  <a:srgbClr val="4A2D83"/>
                </a:solidFill>
              </a:rPr>
              <a:t>m</a:t>
            </a:r>
            <a:r>
              <a:rPr b="1" spc="-40" dirty="0">
                <a:solidFill>
                  <a:srgbClr val="4A2D83"/>
                </a:solidFill>
              </a:rPr>
              <a:t>arize</a:t>
            </a:r>
            <a:r>
              <a:rPr b="1" spc="-285" dirty="0">
                <a:solidFill>
                  <a:srgbClr val="4A2D83"/>
                </a:solidFill>
              </a:rPr>
              <a:t> </a:t>
            </a:r>
            <a:r>
              <a:rPr b="1" spc="-60" dirty="0">
                <a:solidFill>
                  <a:srgbClr val="4A2D83"/>
                </a:solidFill>
              </a:rPr>
              <a:t>a</a:t>
            </a:r>
            <a:r>
              <a:rPr b="1" spc="-70" dirty="0">
                <a:solidFill>
                  <a:srgbClr val="4A2D83"/>
                </a:solidFill>
              </a:rPr>
              <a:t>n</a:t>
            </a:r>
            <a:r>
              <a:rPr b="1" spc="-10" dirty="0">
                <a:solidFill>
                  <a:srgbClr val="4A2D83"/>
                </a:solidFill>
              </a:rPr>
              <a:t>d</a:t>
            </a:r>
            <a:r>
              <a:rPr b="1" spc="-250" dirty="0">
                <a:solidFill>
                  <a:srgbClr val="4A2D83"/>
                </a:solidFill>
              </a:rPr>
              <a:t> </a:t>
            </a:r>
            <a:r>
              <a:rPr b="1" spc="-40" dirty="0">
                <a:solidFill>
                  <a:srgbClr val="4A2D83"/>
                </a:solidFill>
              </a:rPr>
              <a:t>Rep</a:t>
            </a:r>
            <a:r>
              <a:rPr b="1" spc="-50" dirty="0">
                <a:solidFill>
                  <a:srgbClr val="4A2D83"/>
                </a:solidFill>
              </a:rPr>
              <a:t>o</a:t>
            </a:r>
            <a:r>
              <a:rPr b="1" spc="15" dirty="0">
                <a:solidFill>
                  <a:srgbClr val="4A2D83"/>
                </a:solidFill>
              </a:rPr>
              <a:t>rt</a:t>
            </a:r>
            <a:r>
              <a:rPr b="1" spc="-270" dirty="0">
                <a:solidFill>
                  <a:srgbClr val="4A2D83"/>
                </a:solidFill>
              </a:rPr>
              <a:t> </a:t>
            </a:r>
            <a:r>
              <a:rPr b="1" spc="-15" dirty="0">
                <a:solidFill>
                  <a:srgbClr val="4A2D83"/>
                </a:solidFill>
              </a:rPr>
              <a:t>Fin</a:t>
            </a:r>
            <a:r>
              <a:rPr b="1" spc="-25" dirty="0">
                <a:solidFill>
                  <a:srgbClr val="4A2D83"/>
                </a:solidFill>
              </a:rPr>
              <a:t>d</a:t>
            </a:r>
            <a:r>
              <a:rPr b="1" spc="-30" dirty="0">
                <a:solidFill>
                  <a:srgbClr val="4A2D83"/>
                </a:solidFill>
              </a:rPr>
              <a:t>ings</a:t>
            </a:r>
            <a:r>
              <a:rPr b="1" spc="-240" dirty="0">
                <a:solidFill>
                  <a:srgbClr val="4A2D83"/>
                </a:solidFill>
              </a:rPr>
              <a:t> </a:t>
            </a:r>
            <a:r>
              <a:rPr b="1" spc="-245" dirty="0">
                <a:solidFill>
                  <a:srgbClr val="4A2D83"/>
                </a:solidFill>
              </a:rPr>
              <a:t>(2/2)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108" y="1238589"/>
            <a:ext cx="10730753" cy="340766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99085" indent="-287020">
              <a:spcBef>
                <a:spcPts val="9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complete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7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output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(often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report)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will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include</a:t>
            </a:r>
            <a:endParaRPr sz="1400" dirty="0">
              <a:latin typeface="Arial"/>
              <a:cs typeface="Arial"/>
            </a:endParaRPr>
          </a:p>
          <a:p>
            <a:pPr marL="286385" marR="86995" lvl="1" indent="-286385" algn="r">
              <a:spcBef>
                <a:spcPts val="800"/>
              </a:spcBef>
              <a:buFont typeface="Arial MT"/>
              <a:buChar char="–"/>
              <a:tabLst>
                <a:tab pos="286385" algn="l"/>
                <a:tab pos="287020" algn="l"/>
              </a:tabLst>
            </a:pP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introduction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background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discussion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theoretical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</a:t>
            </a:r>
            <a:endParaRPr sz="1400" dirty="0">
              <a:latin typeface="Lucida Sans Unicode"/>
              <a:cs typeface="Lucida Sans Unicode"/>
            </a:endParaRPr>
          </a:p>
          <a:p>
            <a:pPr marR="76200" algn="r">
              <a:spcBef>
                <a:spcPts val="170"/>
              </a:spcBef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grounding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for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2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(which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informed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literature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review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framework),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transparent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overview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4A2D83"/>
                </a:solidFill>
                <a:latin typeface="Lucida Sans Unicode"/>
                <a:cs typeface="Lucida Sans Unicode"/>
              </a:rPr>
              <a:t>search,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screening,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coding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methods,</a:t>
            </a:r>
            <a:endParaRPr sz="1400" dirty="0">
              <a:latin typeface="Lucida Sans Unicode"/>
              <a:cs typeface="Lucida Sans Unicode"/>
            </a:endParaRPr>
          </a:p>
          <a:p>
            <a:pPr marL="756285" marR="118110" lvl="1" indent="-287020">
              <a:lnSpc>
                <a:spcPct val="110000"/>
              </a:lnSpc>
              <a:spcBef>
                <a:spcPts val="3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tables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figures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5" dirty="0">
                <a:solidFill>
                  <a:srgbClr val="4A2D83"/>
                </a:solidFill>
                <a:latin typeface="Lucida Sans Unicode"/>
                <a:cs typeface="Lucida Sans Unicode"/>
              </a:rPr>
              <a:t>summarizing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presenting</a:t>
            </a:r>
            <a:r>
              <a:rPr sz="1400" spc="-10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findings,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accompanied</a:t>
            </a:r>
            <a:r>
              <a:rPr sz="1400" spc="-11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with </a:t>
            </a:r>
            <a:r>
              <a:rPr sz="1400" spc="-43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relevant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text</a:t>
            </a:r>
            <a:r>
              <a:rPr sz="1400" spc="-7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providing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further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interpretation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analysis,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endParaRPr sz="1400" dirty="0">
              <a:latin typeface="Lucida Sans Unicode"/>
              <a:cs typeface="Lucida Sans Unicode"/>
            </a:endParaRPr>
          </a:p>
          <a:p>
            <a:pPr marL="756285" lvl="1" indent="-287020">
              <a:spcBef>
                <a:spcPts val="50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8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discussion</a:t>
            </a:r>
            <a:r>
              <a:rPr sz="1400" spc="-9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relevance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7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40" dirty="0">
                <a:solidFill>
                  <a:srgbClr val="4A2D83"/>
                </a:solidFill>
                <a:latin typeface="Lucida Sans Unicode"/>
                <a:cs typeface="Lucida Sans Unicode"/>
              </a:rPr>
              <a:t>findings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to</a:t>
            </a:r>
            <a:r>
              <a:rPr sz="1400" spc="-10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the</a:t>
            </a:r>
            <a:r>
              <a:rPr sz="1400" spc="-6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4A2D83"/>
                </a:solidFill>
                <a:latin typeface="Lucida Sans Unicode"/>
                <a:cs typeface="Lucida Sans Unicode"/>
              </a:rPr>
              <a:t>research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4A2D83"/>
                </a:solidFill>
                <a:latin typeface="Lucida Sans Unicode"/>
                <a:cs typeface="Lucida Sans Unicode"/>
              </a:rPr>
              <a:t>question(s)</a:t>
            </a:r>
            <a:r>
              <a:rPr sz="1400" spc="-8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and</a:t>
            </a:r>
            <a:r>
              <a:rPr sz="1400" spc="-114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of</a:t>
            </a:r>
            <a:endParaRPr sz="1400" dirty="0">
              <a:latin typeface="Lucida Sans Unicode"/>
              <a:cs typeface="Lucida Sans Unicode"/>
            </a:endParaRPr>
          </a:p>
          <a:p>
            <a:pPr marL="756285">
              <a:spcBef>
                <a:spcPts val="170"/>
              </a:spcBef>
            </a:pP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y</a:t>
            </a:r>
            <a:r>
              <a:rPr sz="1400" spc="-95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s</a:t>
            </a:r>
            <a:r>
              <a:rPr sz="1400" spc="-15" dirty="0">
                <a:solidFill>
                  <a:srgbClr val="4A2D83"/>
                </a:solidFill>
                <a:latin typeface="Lucida Sans Unicode"/>
                <a:cs typeface="Lucida Sans Unicode"/>
              </a:rPr>
              <a:t>e</a:t>
            </a:r>
            <a:r>
              <a:rPr sz="1400" spc="-5" dirty="0">
                <a:solidFill>
                  <a:srgbClr val="4A2D83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4A2D83"/>
                </a:solidFill>
                <a:latin typeface="Lucida Sans Unicode"/>
                <a:cs typeface="Lucida Sans Unicode"/>
              </a:rPr>
              <a:t>r</a:t>
            </a:r>
            <a:r>
              <a:rPr sz="1400" spc="-60" dirty="0">
                <a:solidFill>
                  <a:srgbClr val="4A2D83"/>
                </a:solidFill>
                <a:latin typeface="Lucida Sans Unicode"/>
                <a:cs typeface="Lucida Sans Unicode"/>
              </a:rPr>
              <a:t>c</a:t>
            </a:r>
            <a:r>
              <a:rPr sz="1400" spc="-10" dirty="0">
                <a:solidFill>
                  <a:srgbClr val="4A2D83"/>
                </a:solidFill>
                <a:latin typeface="Lucida Sans Unicode"/>
                <a:cs typeface="Lucida Sans Unicode"/>
              </a:rPr>
              <a:t>h</a:t>
            </a:r>
            <a:r>
              <a:rPr sz="1400" spc="-120" dirty="0">
                <a:solidFill>
                  <a:srgbClr val="4A2D83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4A2D83"/>
                </a:solidFill>
                <a:latin typeface="Lucida Sans Unicode"/>
                <a:cs typeface="Lucida Sans Unicode"/>
              </a:rPr>
              <a:t>gaps.</a:t>
            </a:r>
            <a:endParaRPr sz="1400" dirty="0">
              <a:latin typeface="Lucida Sans Unicode"/>
              <a:cs typeface="Lucida Sans Unicode"/>
            </a:endParaRPr>
          </a:p>
          <a:p>
            <a:pPr marL="299085" marR="5080" indent="-287020" algn="just">
              <a:lnSpc>
                <a:spcPct val="110000"/>
              </a:lnSpc>
              <a:buFont typeface="Arial MT"/>
              <a:buChar char="•"/>
              <a:tabLst>
                <a:tab pos="299720" algn="l"/>
              </a:tabLst>
            </a:pP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analysis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cohesive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story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0" dirty="0">
                <a:solidFill>
                  <a:srgbClr val="4A2D83"/>
                </a:solidFill>
                <a:latin typeface="Arial"/>
                <a:cs typeface="Arial"/>
              </a:rPr>
              <a:t>that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gives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objective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summary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findings.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story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should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follow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directly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from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literature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review</a:t>
            </a:r>
            <a:r>
              <a:rPr sz="1400" b="1" spc="-6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framework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coding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categories.</a:t>
            </a:r>
            <a:endParaRPr sz="1400" dirty="0">
              <a:latin typeface="Arial"/>
              <a:cs typeface="Arial"/>
            </a:endParaRPr>
          </a:p>
          <a:p>
            <a:pPr marL="299085" marR="20955" indent="-287020">
              <a:lnSpc>
                <a:spcPct val="110100"/>
              </a:lnSpc>
              <a:spcBef>
                <a:spcPts val="3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Run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4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outline</a:t>
            </a:r>
            <a:r>
              <a:rPr sz="1400" b="1" spc="-5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of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findings</a:t>
            </a:r>
            <a:r>
              <a:rPr sz="14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professor,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client,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friend.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15" dirty="0">
                <a:solidFill>
                  <a:srgbClr val="4A2D83"/>
                </a:solidFill>
                <a:latin typeface="Arial"/>
                <a:cs typeface="Arial"/>
              </a:rPr>
              <a:t>They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may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able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suggest </a:t>
            </a:r>
            <a:r>
              <a:rPr sz="1400" b="1" spc="60" dirty="0">
                <a:solidFill>
                  <a:srgbClr val="4A2D83"/>
                </a:solidFill>
                <a:latin typeface="Arial"/>
                <a:cs typeface="Arial"/>
              </a:rPr>
              <a:t>different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ways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analyze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400" b="1" spc="65" dirty="0">
                <a:solidFill>
                  <a:srgbClr val="4A2D83"/>
                </a:solidFill>
                <a:latin typeface="Arial"/>
                <a:cs typeface="Arial"/>
              </a:rPr>
              <a:t>data, </a:t>
            </a:r>
            <a:r>
              <a:rPr sz="1400" b="1" spc="5" dirty="0">
                <a:solidFill>
                  <a:srgbClr val="4A2D83"/>
                </a:solidFill>
                <a:latin typeface="Arial"/>
                <a:cs typeface="Arial"/>
              </a:rPr>
              <a:t>logical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ways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25" dirty="0">
                <a:solidFill>
                  <a:srgbClr val="4A2D83"/>
                </a:solidFill>
                <a:latin typeface="Arial"/>
                <a:cs typeface="Arial"/>
              </a:rPr>
              <a:t>organize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content,</a:t>
            </a:r>
            <a:r>
              <a:rPr sz="1400" b="1" spc="3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or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gaps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4A2D83"/>
                </a:solidFill>
                <a:latin typeface="Arial"/>
                <a:cs typeface="Arial"/>
              </a:rPr>
              <a:t>discussion.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At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this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point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0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your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review,</a:t>
            </a:r>
            <a:r>
              <a:rPr sz="1400" b="1" spc="-6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85" dirty="0">
                <a:solidFill>
                  <a:srgbClr val="4A2D83"/>
                </a:solidFill>
                <a:latin typeface="Arial"/>
                <a:cs typeface="Arial"/>
              </a:rPr>
              <a:t>it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be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55" dirty="0">
                <a:solidFill>
                  <a:srgbClr val="4A2D83"/>
                </a:solidFill>
                <a:latin typeface="Arial"/>
                <a:cs typeface="Arial"/>
              </a:rPr>
              <a:t>hard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0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400" b="1" spc="-37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step</a:t>
            </a:r>
            <a:r>
              <a:rPr sz="14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back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enough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75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4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4A2D83"/>
                </a:solidFill>
                <a:latin typeface="Arial"/>
                <a:cs typeface="Arial"/>
              </a:rPr>
              <a:t>see</a:t>
            </a:r>
            <a:r>
              <a:rPr sz="1400" b="1" spc="-4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5" dirty="0">
                <a:solidFill>
                  <a:srgbClr val="4A2D83"/>
                </a:solidFill>
                <a:latin typeface="Arial"/>
                <a:cs typeface="Arial"/>
              </a:rPr>
              <a:t>these</a:t>
            </a:r>
            <a:r>
              <a:rPr sz="14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opportunities;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0" dirty="0">
                <a:solidFill>
                  <a:srgbClr val="4A2D83"/>
                </a:solidFill>
                <a:latin typeface="Arial"/>
                <a:cs typeface="Arial"/>
              </a:rPr>
              <a:t>outside</a:t>
            </a:r>
            <a:r>
              <a:rPr sz="14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40" dirty="0">
                <a:solidFill>
                  <a:srgbClr val="4A2D83"/>
                </a:solidFill>
                <a:latin typeface="Arial"/>
                <a:cs typeface="Arial"/>
              </a:rPr>
              <a:t>feedback</a:t>
            </a:r>
            <a:r>
              <a:rPr sz="1400" b="1" spc="-5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4A2D83"/>
                </a:solidFill>
                <a:latin typeface="Arial"/>
                <a:cs typeface="Arial"/>
              </a:rPr>
              <a:t>can</a:t>
            </a:r>
            <a:r>
              <a:rPr sz="14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400" b="1" spc="35" dirty="0">
                <a:solidFill>
                  <a:srgbClr val="4A2D83"/>
                </a:solidFill>
                <a:latin typeface="Arial"/>
                <a:cs typeface="Arial"/>
              </a:rPr>
              <a:t>help.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139" y="4711313"/>
            <a:ext cx="10730753" cy="1973617"/>
          </a:xfrm>
          <a:prstGeom prst="rect">
            <a:avLst/>
          </a:prstGeom>
          <a:solidFill>
            <a:srgbClr val="F9F6EB"/>
          </a:solidFill>
        </p:spPr>
        <p:txBody>
          <a:bodyPr vert="horz" wrap="square" lIns="0" tIns="82550" rIns="0" bIns="0" rtlCol="0">
            <a:spAutoFit/>
          </a:bodyPr>
          <a:lstStyle/>
          <a:p>
            <a:pPr marL="182245">
              <a:spcBef>
                <a:spcPts val="650"/>
              </a:spcBef>
            </a:pP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Example</a:t>
            </a:r>
            <a:r>
              <a:rPr sz="1400" i="1" spc="-8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30" dirty="0">
                <a:solidFill>
                  <a:srgbClr val="33006E"/>
                </a:solidFill>
                <a:latin typeface="Trebuchet MS"/>
                <a:cs typeface="Trebuchet MS"/>
              </a:rPr>
              <a:t>categories</a:t>
            </a:r>
            <a:r>
              <a:rPr sz="1400" i="1" spc="-8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of</a:t>
            </a:r>
            <a:r>
              <a:rPr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60" dirty="0">
                <a:solidFill>
                  <a:srgbClr val="33006E"/>
                </a:solidFill>
                <a:latin typeface="Trebuchet MS"/>
                <a:cs typeface="Trebuchet MS"/>
              </a:rPr>
              <a:t>key</a:t>
            </a:r>
            <a:r>
              <a:rPr sz="1400" i="1" spc="-70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15" dirty="0">
                <a:solidFill>
                  <a:srgbClr val="33006E"/>
                </a:solidFill>
                <a:latin typeface="Trebuchet MS"/>
                <a:cs typeface="Trebuchet MS"/>
              </a:rPr>
              <a:t>findings</a:t>
            </a:r>
            <a:r>
              <a:rPr sz="1400" i="1" spc="-9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spc="-25" dirty="0">
                <a:solidFill>
                  <a:srgbClr val="33006E"/>
                </a:solidFill>
                <a:latin typeface="Trebuchet MS"/>
                <a:cs typeface="Trebuchet MS"/>
              </a:rPr>
              <a:t>from</a:t>
            </a:r>
            <a:r>
              <a:rPr sz="1400" i="1" spc="-45" dirty="0">
                <a:solidFill>
                  <a:srgbClr val="33006E"/>
                </a:solidFill>
                <a:latin typeface="Trebuchet MS"/>
                <a:cs typeface="Trebuchet MS"/>
              </a:rPr>
              <a:t> </a:t>
            </a:r>
            <a:r>
              <a:rPr sz="1400" i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EPAR</a:t>
            </a:r>
            <a:r>
              <a:rPr sz="1400" i="1" u="sng" spc="-7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4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Technical</a:t>
            </a:r>
            <a:r>
              <a:rPr sz="1400" i="1" u="sng" spc="-10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-3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Report</a:t>
            </a:r>
            <a:r>
              <a:rPr sz="1400" i="1" u="sng" spc="-8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400" i="1" u="sng" spc="2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Trebuchet MS"/>
                <a:cs typeface="Trebuchet MS"/>
                <a:hlinkClick r:id="rId2"/>
              </a:rPr>
              <a:t>#293</a:t>
            </a:r>
            <a:r>
              <a:rPr sz="1400" i="1" spc="20" dirty="0">
                <a:solidFill>
                  <a:srgbClr val="33006E"/>
                </a:solidFill>
                <a:latin typeface="Trebuchet MS"/>
                <a:cs typeface="Trebuchet MS"/>
              </a:rPr>
              <a:t>:</a:t>
            </a:r>
            <a:endParaRPr sz="1400" dirty="0">
              <a:latin typeface="Trebuchet MS"/>
              <a:cs typeface="Trebuchet MS"/>
            </a:endParaRPr>
          </a:p>
          <a:p>
            <a:pPr marL="354965" indent="-173355">
              <a:spcBef>
                <a:spcPts val="75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40" dirty="0">
                <a:solidFill>
                  <a:srgbClr val="33006E"/>
                </a:solidFill>
                <a:latin typeface="Lucida Sans Unicode"/>
                <a:cs typeface="Lucida Sans Unicode"/>
              </a:rPr>
              <a:t>M</a:t>
            </a:r>
            <a:r>
              <a:rPr sz="1400" spc="3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asu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33006E"/>
                </a:solidFill>
                <a:latin typeface="Lucida Sans Unicode"/>
                <a:cs typeface="Lucida Sans Unicode"/>
              </a:rPr>
              <a:t>Mo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b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id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ty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70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40" dirty="0">
                <a:solidFill>
                  <a:srgbClr val="33006E"/>
                </a:solidFill>
                <a:latin typeface="Lucida Sans Unicode"/>
                <a:cs typeface="Lucida Sans Unicode"/>
              </a:rPr>
              <a:t>M</a:t>
            </a:r>
            <a:r>
              <a:rPr sz="1400" spc="3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asu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of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Ec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ono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m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c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G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wth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65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Links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between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9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Economic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Growth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70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F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in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di</a:t>
            </a:r>
            <a:r>
              <a:rPr sz="1400" spc="-55" dirty="0">
                <a:solidFill>
                  <a:srgbClr val="33006E"/>
                </a:solidFill>
                <a:latin typeface="Lucida Sans Unicode"/>
                <a:cs typeface="Lucida Sans Unicode"/>
              </a:rPr>
              <a:t>ngs: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L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t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rat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u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Morb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idity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d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G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40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w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t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h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70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Pathways</a:t>
            </a:r>
            <a:r>
              <a:rPr sz="1400" spc="-10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from</a:t>
            </a:r>
            <a:r>
              <a:rPr sz="1400" spc="-9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Morbidity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</a:t>
            </a:r>
            <a:r>
              <a:rPr sz="1400" spc="-7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Growth:</a:t>
            </a:r>
            <a:r>
              <a:rPr sz="1400" spc="-7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Individual/Household</a:t>
            </a:r>
            <a:r>
              <a:rPr sz="1400" spc="-11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and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Firm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Level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65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60" dirty="0">
                <a:solidFill>
                  <a:srgbClr val="33006E"/>
                </a:solidFill>
                <a:latin typeface="Lucida Sans Unicode"/>
                <a:cs typeface="Lucida Sans Unicode"/>
              </a:rPr>
              <a:t>P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at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hways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f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om</a:t>
            </a:r>
            <a:r>
              <a:rPr sz="1400" spc="-10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25" dirty="0">
                <a:solidFill>
                  <a:srgbClr val="33006E"/>
                </a:solidFill>
                <a:latin typeface="Lucida Sans Unicode"/>
                <a:cs typeface="Lucida Sans Unicode"/>
              </a:rPr>
              <a:t>Mo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b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id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t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y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to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G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o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wth:</a:t>
            </a:r>
            <a:r>
              <a:rPr sz="1400" spc="-8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conom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y</a:t>
            </a:r>
            <a:r>
              <a:rPr sz="1400" spc="-12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L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v</a:t>
            </a:r>
            <a:r>
              <a:rPr sz="1400" spc="5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l</a:t>
            </a:r>
            <a:endParaRPr sz="1400" dirty="0">
              <a:latin typeface="Lucida Sans Unicode"/>
              <a:cs typeface="Lucida Sans Unicode"/>
            </a:endParaRPr>
          </a:p>
          <a:p>
            <a:pPr marL="354965" indent="-173355">
              <a:spcBef>
                <a:spcPts val="170"/>
              </a:spcBef>
              <a:buFont typeface="Arial MT"/>
              <a:buChar char="•"/>
              <a:tabLst>
                <a:tab pos="355600" algn="l"/>
              </a:tabLst>
            </a:pP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Co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nc</a:t>
            </a:r>
            <a:r>
              <a:rPr sz="1400" spc="-50" dirty="0">
                <a:solidFill>
                  <a:srgbClr val="33006E"/>
                </a:solidFill>
                <a:latin typeface="Lucida Sans Unicode"/>
                <a:cs typeface="Lucida Sans Unicode"/>
              </a:rPr>
              <a:t>l</a:t>
            </a:r>
            <a:r>
              <a:rPr sz="1400" spc="-30" dirty="0">
                <a:solidFill>
                  <a:srgbClr val="33006E"/>
                </a:solidFill>
                <a:latin typeface="Lucida Sans Unicode"/>
                <a:cs typeface="Lucida Sans Unicode"/>
              </a:rPr>
              <a:t>us</a:t>
            </a:r>
            <a:r>
              <a:rPr sz="1400" spc="-60" dirty="0">
                <a:solidFill>
                  <a:srgbClr val="33006E"/>
                </a:solidFill>
                <a:latin typeface="Lucida Sans Unicode"/>
                <a:cs typeface="Lucida Sans Unicode"/>
              </a:rPr>
              <a:t>i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on</a:t>
            </a:r>
            <a:r>
              <a:rPr sz="1400" spc="-45" dirty="0">
                <a:solidFill>
                  <a:srgbClr val="33006E"/>
                </a:solidFill>
                <a:latin typeface="Lucida Sans Unicode"/>
                <a:cs typeface="Lucida Sans Unicode"/>
              </a:rPr>
              <a:t>s</a:t>
            </a:r>
            <a:r>
              <a:rPr sz="1400" spc="-130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an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d</a:t>
            </a:r>
            <a:r>
              <a:rPr sz="1400" spc="-85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33006E"/>
                </a:solidFill>
                <a:latin typeface="Lucida Sans Unicode"/>
                <a:cs typeface="Lucida Sans Unicode"/>
              </a:rPr>
              <a:t>Res</a:t>
            </a:r>
            <a:r>
              <a:rPr sz="1400" spc="-10" dirty="0">
                <a:solidFill>
                  <a:srgbClr val="33006E"/>
                </a:solidFill>
                <a:latin typeface="Lucida Sans Unicode"/>
                <a:cs typeface="Lucida Sans Unicode"/>
              </a:rPr>
              <a:t>e</a:t>
            </a:r>
            <a:r>
              <a:rPr sz="1400" spc="-5" dirty="0">
                <a:solidFill>
                  <a:srgbClr val="33006E"/>
                </a:solidFill>
                <a:latin typeface="Lucida Sans Unicode"/>
                <a:cs typeface="Lucida Sans Unicode"/>
              </a:rPr>
              <a:t>a</a:t>
            </a:r>
            <a:r>
              <a:rPr sz="1400" spc="-25" dirty="0">
                <a:solidFill>
                  <a:srgbClr val="33006E"/>
                </a:solidFill>
                <a:latin typeface="Lucida Sans Unicode"/>
                <a:cs typeface="Lucida Sans Unicode"/>
              </a:rPr>
              <a:t>r</a:t>
            </a:r>
            <a:r>
              <a:rPr sz="1400" spc="-35" dirty="0">
                <a:solidFill>
                  <a:srgbClr val="33006E"/>
                </a:solidFill>
                <a:latin typeface="Lucida Sans Unicode"/>
                <a:cs typeface="Lucida Sans Unicode"/>
              </a:rPr>
              <a:t>ch</a:t>
            </a:r>
            <a:r>
              <a:rPr sz="1400" spc="-114" dirty="0">
                <a:solidFill>
                  <a:srgbClr val="33006E"/>
                </a:solidFill>
                <a:latin typeface="Lucida Sans Unicode"/>
                <a:cs typeface="Lucida Sans Unicode"/>
              </a:rPr>
              <a:t> </a:t>
            </a:r>
            <a:r>
              <a:rPr sz="1400" spc="-15" dirty="0">
                <a:solidFill>
                  <a:srgbClr val="33006E"/>
                </a:solidFill>
                <a:latin typeface="Lucida Sans Unicode"/>
                <a:cs typeface="Lucida Sans Unicode"/>
              </a:rPr>
              <a:t>Gaps</a:t>
            </a:r>
            <a:endParaRPr sz="14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7175" y="481262"/>
            <a:ext cx="10865224" cy="1367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5" dirty="0"/>
              <a:t>Evans</a:t>
            </a:r>
            <a:r>
              <a:rPr b="1" spc="-265" dirty="0"/>
              <a:t> </a:t>
            </a:r>
            <a:r>
              <a:rPr b="1" spc="-75" dirty="0"/>
              <a:t>Sc</a:t>
            </a:r>
            <a:r>
              <a:rPr b="1" spc="-25" dirty="0"/>
              <a:t>h</a:t>
            </a:r>
            <a:r>
              <a:rPr b="1" spc="-30" dirty="0"/>
              <a:t>o</a:t>
            </a:r>
            <a:r>
              <a:rPr b="1" spc="-20" dirty="0"/>
              <a:t>ol</a:t>
            </a:r>
            <a:r>
              <a:rPr b="1" spc="-280" dirty="0"/>
              <a:t> </a:t>
            </a:r>
            <a:r>
              <a:rPr b="1" spc="-5" dirty="0"/>
              <a:t>P</a:t>
            </a:r>
            <a:r>
              <a:rPr b="1" spc="-15" dirty="0"/>
              <a:t>o</a:t>
            </a:r>
            <a:r>
              <a:rPr b="1" spc="-35" dirty="0"/>
              <a:t>l</a:t>
            </a:r>
            <a:r>
              <a:rPr b="1" spc="-30" dirty="0"/>
              <a:t>i</a:t>
            </a:r>
            <a:r>
              <a:rPr b="1" spc="-25" dirty="0"/>
              <a:t>cy</a:t>
            </a:r>
            <a:r>
              <a:rPr b="1" spc="-254" dirty="0"/>
              <a:t> </a:t>
            </a:r>
            <a:r>
              <a:rPr b="1" spc="-40" dirty="0"/>
              <a:t>An</a:t>
            </a:r>
            <a:r>
              <a:rPr b="1" spc="-45" dirty="0"/>
              <a:t>a</a:t>
            </a:r>
            <a:r>
              <a:rPr b="1" spc="-20" dirty="0"/>
              <a:t>lys</a:t>
            </a:r>
            <a:r>
              <a:rPr b="1" spc="-10" dirty="0"/>
              <a:t>i</a:t>
            </a:r>
            <a:r>
              <a:rPr b="1" spc="-40" dirty="0"/>
              <a:t>s</a:t>
            </a:r>
            <a:r>
              <a:rPr b="1" spc="-250" dirty="0"/>
              <a:t> </a:t>
            </a:r>
            <a:r>
              <a:rPr b="1" spc="-70" dirty="0"/>
              <a:t>&amp;</a:t>
            </a:r>
            <a:r>
              <a:rPr b="1" spc="-254" dirty="0"/>
              <a:t> </a:t>
            </a:r>
            <a:r>
              <a:rPr b="1" spc="-70" dirty="0"/>
              <a:t>Rese</a:t>
            </a:r>
            <a:r>
              <a:rPr b="1" spc="-75" dirty="0"/>
              <a:t>a</a:t>
            </a:r>
            <a:r>
              <a:rPr b="1" spc="-40" dirty="0"/>
              <a:t>rch</a:t>
            </a:r>
            <a:r>
              <a:rPr b="1" spc="-270" dirty="0"/>
              <a:t> </a:t>
            </a:r>
            <a:r>
              <a:rPr b="1" spc="-55" dirty="0"/>
              <a:t>Gr</a:t>
            </a:r>
            <a:r>
              <a:rPr b="1" spc="-70" dirty="0"/>
              <a:t>o</a:t>
            </a:r>
            <a:r>
              <a:rPr b="1" spc="-20" dirty="0"/>
              <a:t>up</a:t>
            </a:r>
            <a:r>
              <a:rPr b="1" spc="-254" dirty="0"/>
              <a:t> </a:t>
            </a:r>
            <a:r>
              <a:rPr b="1" spc="-140" dirty="0"/>
              <a:t>(</a:t>
            </a:r>
            <a:r>
              <a:rPr b="1" spc="-170" dirty="0"/>
              <a:t>E</a:t>
            </a:r>
            <a:r>
              <a:rPr b="1" spc="-90" dirty="0"/>
              <a:t>PAR)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352" y="1993903"/>
            <a:ext cx="10999693" cy="3188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40175">
              <a:lnSpc>
                <a:spcPct val="120000"/>
              </a:lnSpc>
              <a:spcBef>
                <a:spcPts val="100"/>
              </a:spcBef>
            </a:pPr>
            <a:r>
              <a:rPr sz="1600" spc="-10" dirty="0">
                <a:solidFill>
                  <a:srgbClr val="33006E"/>
                </a:solidFill>
                <a:latin typeface="Calibri"/>
                <a:cs typeface="Calibri"/>
              </a:rPr>
              <a:t>Professor</a:t>
            </a:r>
            <a:r>
              <a:rPr sz="1600" spc="20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3006E"/>
                </a:solidFill>
                <a:latin typeface="Calibri"/>
                <a:cs typeface="Calibri"/>
              </a:rPr>
              <a:t>C.</a:t>
            </a:r>
            <a:r>
              <a:rPr sz="1600" spc="5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3006E"/>
                </a:solidFill>
                <a:latin typeface="Calibri"/>
                <a:cs typeface="Calibri"/>
              </a:rPr>
              <a:t>Leigh</a:t>
            </a:r>
            <a:r>
              <a:rPr sz="1600" spc="-10" dirty="0">
                <a:solidFill>
                  <a:srgbClr val="33006E"/>
                </a:solidFill>
                <a:latin typeface="Calibri"/>
                <a:cs typeface="Calibri"/>
              </a:rPr>
              <a:t> Anderson,</a:t>
            </a:r>
            <a:r>
              <a:rPr sz="1600" spc="35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3006E"/>
                </a:solidFill>
                <a:latin typeface="Calibri"/>
                <a:cs typeface="Calibri"/>
              </a:rPr>
              <a:t>Principal</a:t>
            </a:r>
            <a:r>
              <a:rPr sz="1600" spc="-30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33006E"/>
                </a:solidFill>
                <a:latin typeface="Calibri"/>
                <a:cs typeface="Calibri"/>
              </a:rPr>
              <a:t>Investigator </a:t>
            </a:r>
            <a:r>
              <a:rPr sz="1600" spc="-10" dirty="0">
                <a:solidFill>
                  <a:srgbClr val="33006E"/>
                </a:solidFill>
                <a:latin typeface="Calibri"/>
                <a:cs typeface="Calibri"/>
              </a:rPr>
              <a:t> Professor</a:t>
            </a:r>
            <a:r>
              <a:rPr sz="1600" spc="20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33006E"/>
                </a:solidFill>
                <a:latin typeface="Calibri"/>
                <a:cs typeface="Calibri"/>
              </a:rPr>
              <a:t>Travis</a:t>
            </a:r>
            <a:r>
              <a:rPr sz="1600" spc="5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3006E"/>
                </a:solidFill>
                <a:latin typeface="Calibri"/>
                <a:cs typeface="Calibri"/>
              </a:rPr>
              <a:t>Reynolds,</a:t>
            </a:r>
            <a:r>
              <a:rPr sz="1600" spc="20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33006E"/>
                </a:solidFill>
                <a:latin typeface="Calibri"/>
                <a:cs typeface="Calibri"/>
              </a:rPr>
              <a:t>co-Principal</a:t>
            </a:r>
            <a:r>
              <a:rPr sz="1600" spc="-10" dirty="0">
                <a:solidFill>
                  <a:srgbClr val="33006E"/>
                </a:solidFill>
                <a:latin typeface="Calibri"/>
                <a:cs typeface="Calibri"/>
              </a:rPr>
              <a:t> </a:t>
            </a:r>
            <a:r>
              <a:rPr sz="1600" spc="-15" dirty="0">
                <a:solidFill>
                  <a:srgbClr val="33006E"/>
                </a:solidFill>
                <a:latin typeface="Calibri"/>
                <a:cs typeface="Calibri"/>
              </a:rPr>
              <a:t>Investigator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  <a:p>
            <a:pPr>
              <a:spcBef>
                <a:spcPts val="5"/>
              </a:spcBef>
            </a:pPr>
            <a:endParaRPr sz="1450" dirty="0">
              <a:latin typeface="Calibri"/>
              <a:cs typeface="Calibri"/>
            </a:endParaRPr>
          </a:p>
          <a:p>
            <a:pPr marL="605155" marR="5080">
              <a:lnSpc>
                <a:spcPct val="120000"/>
              </a:lnSpc>
            </a:pPr>
            <a:r>
              <a:rPr sz="1600" b="1" spc="-185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sz="1600" b="1" spc="-145" dirty="0">
                <a:solidFill>
                  <a:srgbClr val="4A2D83"/>
                </a:solidFill>
                <a:latin typeface="Arial"/>
                <a:cs typeface="Arial"/>
              </a:rPr>
              <a:t>P</a:t>
            </a:r>
            <a:r>
              <a:rPr sz="1600" b="1" spc="-80" dirty="0">
                <a:solidFill>
                  <a:srgbClr val="4A2D83"/>
                </a:solidFill>
                <a:latin typeface="Arial"/>
                <a:cs typeface="Arial"/>
              </a:rPr>
              <a:t>AR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u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ses</a:t>
            </a:r>
            <a:r>
              <a:rPr sz="1600" b="1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0" dirty="0">
                <a:solidFill>
                  <a:srgbClr val="4A2D83"/>
                </a:solidFill>
                <a:latin typeface="Arial"/>
                <a:cs typeface="Arial"/>
              </a:rPr>
              <a:t>an</a:t>
            </a:r>
            <a:r>
              <a:rPr sz="1600" b="1" spc="-3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i</a:t>
            </a:r>
            <a:r>
              <a:rPr sz="1600" b="1" spc="65" dirty="0">
                <a:solidFill>
                  <a:srgbClr val="4A2D83"/>
                </a:solidFill>
                <a:latin typeface="Arial"/>
                <a:cs typeface="Arial"/>
              </a:rPr>
              <a:t>n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n</a:t>
            </a:r>
            <a:r>
              <a:rPr sz="1600" b="1" spc="-35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vat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i</a:t>
            </a:r>
            <a:r>
              <a:rPr sz="1600" b="1" spc="35" dirty="0">
                <a:solidFill>
                  <a:srgbClr val="4A2D83"/>
                </a:solidFill>
                <a:latin typeface="Arial"/>
                <a:cs typeface="Arial"/>
              </a:rPr>
              <a:t>ve</a:t>
            </a:r>
            <a:r>
              <a:rPr sz="16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studen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t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-</a:t>
            </a:r>
            <a:r>
              <a:rPr sz="1600" b="1" spc="75" dirty="0">
                <a:solidFill>
                  <a:srgbClr val="4A2D83"/>
                </a:solidFill>
                <a:latin typeface="Arial"/>
                <a:cs typeface="Arial"/>
              </a:rPr>
              <a:t>f</a:t>
            </a:r>
            <a:r>
              <a:rPr sz="1600" b="1" dirty="0">
                <a:solidFill>
                  <a:srgbClr val="4A2D83"/>
                </a:solidFill>
                <a:latin typeface="Arial"/>
                <a:cs typeface="Arial"/>
              </a:rPr>
              <a:t>a</a:t>
            </a:r>
            <a:r>
              <a:rPr sz="1600" b="1" spc="-10" dirty="0">
                <a:solidFill>
                  <a:srgbClr val="4A2D83"/>
                </a:solidFill>
                <a:latin typeface="Arial"/>
                <a:cs typeface="Arial"/>
              </a:rPr>
              <a:t>c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ult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y</a:t>
            </a:r>
            <a:r>
              <a:rPr sz="1600" b="1" spc="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0" dirty="0">
                <a:solidFill>
                  <a:srgbClr val="4A2D83"/>
                </a:solidFill>
                <a:latin typeface="Arial"/>
                <a:cs typeface="Arial"/>
              </a:rPr>
              <a:t>t</a:t>
            </a:r>
            <a:r>
              <a:rPr sz="1600" b="1" spc="135" dirty="0">
                <a:solidFill>
                  <a:srgbClr val="4A2D83"/>
                </a:solidFill>
                <a:latin typeface="Arial"/>
                <a:cs typeface="Arial"/>
              </a:rPr>
              <a:t>e</a:t>
            </a:r>
            <a:r>
              <a:rPr sz="1600" b="1" spc="105" dirty="0">
                <a:solidFill>
                  <a:srgbClr val="4A2D83"/>
                </a:solidFill>
                <a:latin typeface="Arial"/>
                <a:cs typeface="Arial"/>
              </a:rPr>
              <a:t>am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model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t</a:t>
            </a:r>
            <a:r>
              <a:rPr sz="1600" b="1" spc="110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p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r</a:t>
            </a:r>
            <a:r>
              <a:rPr sz="1600" b="1" spc="-35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v</a:t>
            </a:r>
            <a:r>
              <a:rPr sz="1600" b="1" spc="25" dirty="0">
                <a:solidFill>
                  <a:srgbClr val="4A2D83"/>
                </a:solidFill>
                <a:latin typeface="Arial"/>
                <a:cs typeface="Arial"/>
              </a:rPr>
              <a:t>i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de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rigo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r</a:t>
            </a:r>
            <a:r>
              <a:rPr sz="1600" b="1" spc="35" dirty="0">
                <a:solidFill>
                  <a:srgbClr val="4A2D83"/>
                </a:solidFill>
                <a:latin typeface="Arial"/>
                <a:cs typeface="Arial"/>
              </a:rPr>
              <a:t>o</a:t>
            </a:r>
            <a:r>
              <a:rPr sz="1600" b="1" spc="30" dirty="0">
                <a:solidFill>
                  <a:srgbClr val="4A2D83"/>
                </a:solidFill>
                <a:latin typeface="Arial"/>
                <a:cs typeface="Arial"/>
              </a:rPr>
              <a:t>u</a:t>
            </a:r>
            <a:r>
              <a:rPr sz="1600" b="1" spc="-40" dirty="0">
                <a:solidFill>
                  <a:srgbClr val="4A2D83"/>
                </a:solidFill>
                <a:latin typeface="Arial"/>
                <a:cs typeface="Arial"/>
              </a:rPr>
              <a:t>s, 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applied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25" dirty="0">
                <a:solidFill>
                  <a:srgbClr val="4A2D83"/>
                </a:solidFill>
                <a:latin typeface="Arial"/>
                <a:cs typeface="Arial"/>
              </a:rPr>
              <a:t>research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analysis</a:t>
            </a:r>
            <a:r>
              <a:rPr sz="1600" b="1" spc="-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to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0" dirty="0">
                <a:solidFill>
                  <a:srgbClr val="4A2D83"/>
                </a:solidFill>
                <a:latin typeface="Arial"/>
                <a:cs typeface="Arial"/>
              </a:rPr>
              <a:t>international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development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35" dirty="0">
                <a:solidFill>
                  <a:srgbClr val="4A2D83"/>
                </a:solidFill>
                <a:latin typeface="Arial"/>
                <a:cs typeface="Arial"/>
              </a:rPr>
              <a:t>stakeholders. </a:t>
            </a:r>
            <a:r>
              <a:rPr sz="1600" b="1" spc="-4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Established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in</a:t>
            </a:r>
            <a:r>
              <a:rPr sz="1600" b="1" spc="-4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20" dirty="0">
                <a:solidFill>
                  <a:srgbClr val="4A2D83"/>
                </a:solidFill>
                <a:latin typeface="Arial"/>
                <a:cs typeface="Arial"/>
              </a:rPr>
              <a:t>2008,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the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-125" dirty="0">
                <a:solidFill>
                  <a:srgbClr val="4A2D83"/>
                </a:solidFill>
                <a:latin typeface="Arial"/>
                <a:cs typeface="Arial"/>
              </a:rPr>
              <a:t>EPAR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model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10" dirty="0">
                <a:solidFill>
                  <a:srgbClr val="4A2D83"/>
                </a:solidFill>
                <a:latin typeface="Arial"/>
                <a:cs typeface="Arial"/>
              </a:rPr>
              <a:t>has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since </a:t>
            </a:r>
            <a:r>
              <a:rPr sz="1600" b="1" spc="50" dirty="0">
                <a:solidFill>
                  <a:srgbClr val="4A2D83"/>
                </a:solidFill>
                <a:latin typeface="Arial"/>
                <a:cs typeface="Arial"/>
              </a:rPr>
              <a:t>been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5" dirty="0">
                <a:solidFill>
                  <a:srgbClr val="4A2D83"/>
                </a:solidFill>
                <a:latin typeface="Arial"/>
                <a:cs typeface="Arial"/>
              </a:rPr>
              <a:t>emulated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by</a:t>
            </a:r>
            <a:r>
              <a:rPr sz="1600" b="1" spc="-2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75" dirty="0">
                <a:solidFill>
                  <a:srgbClr val="4A2D83"/>
                </a:solidFill>
                <a:latin typeface="Arial"/>
                <a:cs typeface="Arial"/>
              </a:rPr>
              <a:t>other</a:t>
            </a:r>
            <a:r>
              <a:rPr sz="1600" b="1" spc="-1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UW </a:t>
            </a:r>
            <a:r>
              <a:rPr sz="1600" b="1" spc="-4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4A2D83"/>
                </a:solidFill>
                <a:latin typeface="Arial"/>
                <a:cs typeface="Arial"/>
              </a:rPr>
              <a:t>schools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and </a:t>
            </a:r>
            <a:r>
              <a:rPr sz="1600" b="1" spc="20" dirty="0">
                <a:solidFill>
                  <a:srgbClr val="4A2D83"/>
                </a:solidFill>
                <a:latin typeface="Arial"/>
                <a:cs typeface="Arial"/>
              </a:rPr>
              <a:t>programs </a:t>
            </a:r>
            <a:r>
              <a:rPr sz="1600" b="1" spc="80" dirty="0">
                <a:solidFill>
                  <a:srgbClr val="4A2D83"/>
                </a:solidFill>
                <a:latin typeface="Arial"/>
                <a:cs typeface="Arial"/>
              </a:rPr>
              <a:t>to </a:t>
            </a:r>
            <a:r>
              <a:rPr sz="1600" b="1" spc="85" dirty="0">
                <a:solidFill>
                  <a:srgbClr val="4A2D83"/>
                </a:solidFill>
                <a:latin typeface="Arial"/>
                <a:cs typeface="Arial"/>
              </a:rPr>
              <a:t>further </a:t>
            </a:r>
            <a:r>
              <a:rPr sz="1600" b="1" spc="45" dirty="0">
                <a:solidFill>
                  <a:srgbClr val="4A2D83"/>
                </a:solidFill>
                <a:latin typeface="Arial"/>
                <a:cs typeface="Arial"/>
              </a:rPr>
              <a:t>enrich </a:t>
            </a:r>
            <a:r>
              <a:rPr sz="1600" b="1" spc="90" dirty="0">
                <a:solidFill>
                  <a:srgbClr val="4A2D83"/>
                </a:solidFill>
                <a:latin typeface="Arial"/>
                <a:cs typeface="Arial"/>
              </a:rPr>
              <a:t>the </a:t>
            </a:r>
            <a:r>
              <a:rPr sz="1600" b="1" spc="70" dirty="0">
                <a:solidFill>
                  <a:srgbClr val="4A2D83"/>
                </a:solidFill>
                <a:latin typeface="Arial"/>
                <a:cs typeface="Arial"/>
              </a:rPr>
              <a:t>international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development 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 community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55" dirty="0">
                <a:solidFill>
                  <a:srgbClr val="4A2D83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enhance</a:t>
            </a:r>
            <a:r>
              <a:rPr sz="1600" b="1" spc="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60" dirty="0">
                <a:solidFill>
                  <a:srgbClr val="4A2D83"/>
                </a:solidFill>
                <a:latin typeface="Arial"/>
                <a:cs typeface="Arial"/>
              </a:rPr>
              <a:t>student</a:t>
            </a:r>
            <a:r>
              <a:rPr sz="1600" b="1" spc="-5" dirty="0">
                <a:solidFill>
                  <a:srgbClr val="4A2D83"/>
                </a:solidFill>
                <a:latin typeface="Arial"/>
                <a:cs typeface="Arial"/>
              </a:rPr>
              <a:t> </a:t>
            </a:r>
            <a:r>
              <a:rPr sz="1600" b="1" spc="40" dirty="0">
                <a:solidFill>
                  <a:srgbClr val="4A2D83"/>
                </a:solidFill>
                <a:latin typeface="Arial"/>
                <a:cs typeface="Arial"/>
              </a:rPr>
              <a:t>learning.</a:t>
            </a:r>
            <a:endParaRPr sz="1600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700" dirty="0">
              <a:latin typeface="Arial"/>
              <a:cs typeface="Arial"/>
            </a:endParaRPr>
          </a:p>
          <a:p>
            <a:pPr marL="605155"/>
            <a:r>
              <a:rPr sz="1600" i="1" spc="-25" dirty="0">
                <a:solidFill>
                  <a:srgbClr val="4A2D83"/>
                </a:solidFill>
                <a:latin typeface="Trebuchet MS"/>
                <a:cs typeface="Trebuchet MS"/>
              </a:rPr>
              <a:t>Please</a:t>
            </a:r>
            <a:r>
              <a:rPr sz="1600" i="1" spc="-65" dirty="0">
                <a:solidFill>
                  <a:srgbClr val="4A2D83"/>
                </a:solidFill>
                <a:latin typeface="Trebuchet MS"/>
                <a:cs typeface="Trebuchet MS"/>
              </a:rPr>
              <a:t> direct</a:t>
            </a:r>
            <a:r>
              <a:rPr sz="1600" i="1" spc="-5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" dirty="0">
                <a:solidFill>
                  <a:srgbClr val="4A2D83"/>
                </a:solidFill>
                <a:latin typeface="Trebuchet MS"/>
                <a:cs typeface="Trebuchet MS"/>
              </a:rPr>
              <a:t>comments</a:t>
            </a:r>
            <a:r>
              <a:rPr sz="1600" i="1" spc="-3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" dirty="0">
                <a:solidFill>
                  <a:srgbClr val="4A2D83"/>
                </a:solidFill>
                <a:latin typeface="Trebuchet MS"/>
                <a:cs typeface="Trebuchet MS"/>
              </a:rPr>
              <a:t>or</a:t>
            </a:r>
            <a:r>
              <a:rPr sz="1600" i="1" spc="-5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15" dirty="0">
                <a:solidFill>
                  <a:srgbClr val="4A2D83"/>
                </a:solidFill>
                <a:latin typeface="Trebuchet MS"/>
                <a:cs typeface="Trebuchet MS"/>
              </a:rPr>
              <a:t>questions</a:t>
            </a:r>
            <a:r>
              <a:rPr sz="1600" i="1" spc="-4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" dirty="0">
                <a:solidFill>
                  <a:srgbClr val="4A2D83"/>
                </a:solidFill>
                <a:latin typeface="Trebuchet MS"/>
                <a:cs typeface="Trebuchet MS"/>
              </a:rPr>
              <a:t>about</a:t>
            </a:r>
            <a:r>
              <a:rPr sz="16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0" dirty="0">
                <a:solidFill>
                  <a:srgbClr val="4A2D83"/>
                </a:solidFill>
                <a:latin typeface="Trebuchet MS"/>
                <a:cs typeface="Trebuchet MS"/>
              </a:rPr>
              <a:t>this</a:t>
            </a:r>
            <a:r>
              <a:rPr sz="1600" i="1" spc="-4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25" dirty="0">
                <a:solidFill>
                  <a:srgbClr val="4A2D83"/>
                </a:solidFill>
                <a:latin typeface="Trebuchet MS"/>
                <a:cs typeface="Trebuchet MS"/>
              </a:rPr>
              <a:t>research</a:t>
            </a:r>
            <a:r>
              <a:rPr sz="16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65" dirty="0">
                <a:solidFill>
                  <a:srgbClr val="4A2D83"/>
                </a:solidFill>
                <a:latin typeface="Trebuchet MS"/>
                <a:cs typeface="Trebuchet MS"/>
              </a:rPr>
              <a:t>to</a:t>
            </a:r>
            <a:r>
              <a:rPr sz="16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20" dirty="0">
                <a:solidFill>
                  <a:srgbClr val="4A2D83"/>
                </a:solidFill>
                <a:latin typeface="Trebuchet MS"/>
                <a:cs typeface="Trebuchet MS"/>
              </a:rPr>
              <a:t>Principal</a:t>
            </a:r>
            <a:r>
              <a:rPr sz="1600" i="1" spc="-3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30" dirty="0">
                <a:solidFill>
                  <a:srgbClr val="4A2D83"/>
                </a:solidFill>
                <a:latin typeface="Trebuchet MS"/>
                <a:cs typeface="Trebuchet MS"/>
              </a:rPr>
              <a:t>Investigators</a:t>
            </a:r>
            <a:endParaRPr sz="1600" dirty="0">
              <a:latin typeface="Trebuchet MS"/>
              <a:cs typeface="Trebuchet MS"/>
            </a:endParaRPr>
          </a:p>
          <a:p>
            <a:pPr marL="605155">
              <a:spcBef>
                <a:spcPts val="195"/>
              </a:spcBef>
            </a:pPr>
            <a:r>
              <a:rPr sz="1600" i="1" spc="-105" dirty="0">
                <a:solidFill>
                  <a:srgbClr val="4A2D83"/>
                </a:solidFill>
                <a:latin typeface="Trebuchet MS"/>
                <a:cs typeface="Trebuchet MS"/>
              </a:rPr>
              <a:t>C.</a:t>
            </a:r>
            <a:r>
              <a:rPr sz="16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40" dirty="0">
                <a:solidFill>
                  <a:srgbClr val="4A2D83"/>
                </a:solidFill>
                <a:latin typeface="Trebuchet MS"/>
                <a:cs typeface="Trebuchet MS"/>
              </a:rPr>
              <a:t>Leigh</a:t>
            </a:r>
            <a:r>
              <a:rPr sz="16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" dirty="0">
                <a:solidFill>
                  <a:srgbClr val="4A2D83"/>
                </a:solidFill>
                <a:latin typeface="Trebuchet MS"/>
                <a:cs typeface="Trebuchet MS"/>
              </a:rPr>
              <a:t>Anderson</a:t>
            </a:r>
            <a:r>
              <a:rPr sz="16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45" dirty="0">
                <a:solidFill>
                  <a:srgbClr val="4A2D83"/>
                </a:solidFill>
                <a:latin typeface="Trebuchet MS"/>
                <a:cs typeface="Trebuchet MS"/>
              </a:rPr>
              <a:t>and</a:t>
            </a:r>
            <a:r>
              <a:rPr sz="1600" i="1" spc="-5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60" dirty="0">
                <a:solidFill>
                  <a:srgbClr val="4A2D83"/>
                </a:solidFill>
                <a:latin typeface="Trebuchet MS"/>
                <a:cs typeface="Trebuchet MS"/>
              </a:rPr>
              <a:t>Travis</a:t>
            </a:r>
            <a:r>
              <a:rPr sz="1600" i="1" spc="-3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20" dirty="0">
                <a:solidFill>
                  <a:srgbClr val="4A2D83"/>
                </a:solidFill>
                <a:latin typeface="Trebuchet MS"/>
                <a:cs typeface="Trebuchet MS"/>
              </a:rPr>
              <a:t>Reynolds</a:t>
            </a:r>
            <a:r>
              <a:rPr sz="1600" i="1" spc="-60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50" dirty="0">
                <a:solidFill>
                  <a:srgbClr val="4A2D83"/>
                </a:solidFill>
                <a:latin typeface="Trebuchet MS"/>
                <a:cs typeface="Trebuchet MS"/>
              </a:rPr>
              <a:t>at</a:t>
            </a:r>
            <a:r>
              <a:rPr sz="1600" i="1" spc="-65" dirty="0">
                <a:solidFill>
                  <a:srgbClr val="4A2D83"/>
                </a:solidFill>
                <a:latin typeface="Trebuchet MS"/>
                <a:cs typeface="Trebuchet MS"/>
              </a:rPr>
              <a:t> </a:t>
            </a:r>
            <a:r>
              <a:rPr sz="1600" i="1" spc="-35" dirty="0">
                <a:solidFill>
                  <a:srgbClr val="4A2D83"/>
                </a:solidFill>
                <a:latin typeface="Trebuchet MS"/>
                <a:cs typeface="Trebuchet MS"/>
                <a:hlinkClick r:id="rId2"/>
              </a:rPr>
              <a:t>eparinfo@uw.edu.</a:t>
            </a: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0BB7-5602-531A-B5F8-533CD9D0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6527-37E5-3AE3-B656-31F9D28FB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sz="2800" b="1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IN" b="1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IN" sz="2800" b="1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IN" sz="6000" b="1" dirty="0">
                <a:latin typeface="Algerian" panose="04020705040A02060702" pitchFamily="82" charset="0"/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397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13841</Words>
  <Application>Microsoft Office PowerPoint</Application>
  <PresentationFormat>Widescreen</PresentationFormat>
  <Paragraphs>1255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2" baseType="lpstr">
      <vt:lpstr>Algerian</vt:lpstr>
      <vt:lpstr>Arial</vt:lpstr>
      <vt:lpstr>Arial MT</vt:lpstr>
      <vt:lpstr>Arial Rounded MT Bold</vt:lpstr>
      <vt:lpstr>Calibri</vt:lpstr>
      <vt:lpstr>Calibri Light</vt:lpstr>
      <vt:lpstr>Courier New</vt:lpstr>
      <vt:lpstr>Lucida Sans Unicode</vt:lpstr>
      <vt:lpstr>Segoe UI</vt:lpstr>
      <vt:lpstr>Times New Roman</vt:lpstr>
      <vt:lpstr>Trebuchet MS</vt:lpstr>
      <vt:lpstr>Verdana</vt:lpstr>
      <vt:lpstr>Office Theme</vt:lpstr>
      <vt:lpstr>Conducting a  Literature Review A step-by-step guide</vt:lpstr>
      <vt:lpstr>Goals of a Literature Review</vt:lpstr>
      <vt:lpstr>EPAR’s Approach</vt:lpstr>
      <vt:lpstr>Results</vt:lpstr>
      <vt:lpstr>Overview of the Literature Review Process</vt:lpstr>
      <vt:lpstr>Define Scope of Research (1/3)</vt:lpstr>
      <vt:lpstr>Define Scope of Research (2/3)</vt:lpstr>
      <vt:lpstr>Define Scope of Research (3/3)</vt:lpstr>
      <vt:lpstr>Build the Sample</vt:lpstr>
      <vt:lpstr>Conduct Preliminary Searches (1/2)</vt:lpstr>
      <vt:lpstr>Conduct Preliminary Searches (2/2)</vt:lpstr>
      <vt:lpstr>Create Search Strings (1/4)</vt:lpstr>
      <vt:lpstr>Create Search Strings (2/4)</vt:lpstr>
      <vt:lpstr>Create Search Strings (3/4)</vt:lpstr>
      <vt:lpstr>Create Search Strings (4/4)</vt:lpstr>
      <vt:lpstr>Select Search Databases (1/4)</vt:lpstr>
      <vt:lpstr>Select Search Databases (2/4)</vt:lpstr>
      <vt:lpstr>Select Search Databases (3/4)</vt:lpstr>
      <vt:lpstr>Select Search Databases (4/4)</vt:lpstr>
      <vt:lpstr>Example Search String and Database Selection</vt:lpstr>
      <vt:lpstr>Determine Screening Criteria (1/2)</vt:lpstr>
      <vt:lpstr>Determine Screening Criteria (2/2)</vt:lpstr>
      <vt:lpstr>Perform Searches and Screen Results (1/5)</vt:lpstr>
      <vt:lpstr>Perform Searches and Screen Results (2/5)</vt:lpstr>
      <vt:lpstr>Perform Searches and Screen Results (3/5)</vt:lpstr>
      <vt:lpstr>Perform Searches and Screen Results (4/5)</vt:lpstr>
      <vt:lpstr>Perform Searches and Screen Results (5/5)</vt:lpstr>
      <vt:lpstr>Document the Screening Process (1/2)</vt:lpstr>
      <vt:lpstr>Document the Screening Process (2/2)</vt:lpstr>
      <vt:lpstr>Confirm the Sample of Studies for Review (1/2)</vt:lpstr>
      <vt:lpstr>Confirm the Sample of Studies for Review (2/2)</vt:lpstr>
      <vt:lpstr>Check Point</vt:lpstr>
      <vt:lpstr>Develop Review Framework  and Code</vt:lpstr>
      <vt:lpstr>Develop Literature Review Framework (1/5)</vt:lpstr>
      <vt:lpstr>Develop Literature Review Framework (2/5)</vt:lpstr>
      <vt:lpstr>Develop Literature Review Framework (3/5)</vt:lpstr>
      <vt:lpstr>Develop Literature Review Framework (4/5)</vt:lpstr>
      <vt:lpstr>Develop Literature Review Framework (5/5)</vt:lpstr>
      <vt:lpstr>Set Up a Coding Spreadsheet Based on Literature Review Framework (1/4)</vt:lpstr>
      <vt:lpstr>PowerPoint Presentation</vt:lpstr>
      <vt:lpstr>PowerPoint Presentation</vt:lpstr>
      <vt:lpstr>PowerPoint Presentation</vt:lpstr>
      <vt:lpstr>Code Information from Body of Evidence (1/6)</vt:lpstr>
      <vt:lpstr>Code Information from Body of Evidence (2/6)</vt:lpstr>
      <vt:lpstr>Code Information from Body of Evidence (3/6)</vt:lpstr>
      <vt:lpstr>Code Information from Body of Evidence (4/6)</vt:lpstr>
      <vt:lpstr>Code Information from Body of Evidence (5/6)</vt:lpstr>
      <vt:lpstr>Code Information from Body of Evidence (6/6)</vt:lpstr>
      <vt:lpstr>Review Coding</vt:lpstr>
      <vt:lpstr>Analyze the Evidence</vt:lpstr>
      <vt:lpstr>Analyze the Evidence (1/5)</vt:lpstr>
      <vt:lpstr>Analyze the Evidence (2/5)</vt:lpstr>
      <vt:lpstr>Analyze the Evidence (3/5)</vt:lpstr>
      <vt:lpstr>Analyze the Evidence (4/5)</vt:lpstr>
      <vt:lpstr>Analyze the Evidence (5/5)</vt:lpstr>
      <vt:lpstr>Summarize and Report Findings (1/2)</vt:lpstr>
      <vt:lpstr>Summarize and Report Findings (2/2)</vt:lpstr>
      <vt:lpstr>Evans School Policy Analysis &amp; Research Group (EPAR)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Conducting a  Literature Review A step-by-step guide</dc:title>
  <dc:creator>Md Mojibur Rahman</dc:creator>
  <cp:lastModifiedBy>Md Mojibur Rahman</cp:lastModifiedBy>
  <cp:revision>8</cp:revision>
  <dcterms:created xsi:type="dcterms:W3CDTF">2023-09-05T05:21:55Z</dcterms:created>
  <dcterms:modified xsi:type="dcterms:W3CDTF">2023-09-12T10:36:26Z</dcterms:modified>
</cp:coreProperties>
</file>