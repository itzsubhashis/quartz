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0" r:id="rId24"/>
    <p:sldId id="278" r:id="rId25"/>
    <p:sldId id="281" r:id="rId26"/>
    <p:sldId id="279"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59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F12BD88-FA91-4D53-A0AF-C8C665CB5B33}" type="datetimeFigureOut">
              <a:rPr lang="en-IN" smtClean="0"/>
              <a:t>20-10-2025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BCF4DF-51A0-464C-AB00-63165EDB8BF8}" type="slidenum">
              <a:rPr lang="en-IN" smtClean="0"/>
              <a:t>‹#›</a:t>
            </a:fld>
            <a:endParaRPr lang="en-IN"/>
          </a:p>
        </p:txBody>
      </p:sp>
    </p:spTree>
    <p:extLst>
      <p:ext uri="{BB962C8B-B14F-4D97-AF65-F5344CB8AC3E}">
        <p14:creationId xmlns:p14="http://schemas.microsoft.com/office/powerpoint/2010/main" val="3188288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F12BD88-FA91-4D53-A0AF-C8C665CB5B33}" type="datetimeFigureOut">
              <a:rPr lang="en-IN" smtClean="0"/>
              <a:t>20-10-2025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BCF4DF-51A0-464C-AB00-63165EDB8BF8}" type="slidenum">
              <a:rPr lang="en-IN" smtClean="0"/>
              <a:t>‹#›</a:t>
            </a:fld>
            <a:endParaRPr lang="en-IN"/>
          </a:p>
        </p:txBody>
      </p:sp>
    </p:spTree>
    <p:extLst>
      <p:ext uri="{BB962C8B-B14F-4D97-AF65-F5344CB8AC3E}">
        <p14:creationId xmlns:p14="http://schemas.microsoft.com/office/powerpoint/2010/main" val="318256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F12BD88-FA91-4D53-A0AF-C8C665CB5B33}" type="datetimeFigureOut">
              <a:rPr lang="en-IN" smtClean="0"/>
              <a:t>20-10-2025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BCF4DF-51A0-464C-AB00-63165EDB8BF8}" type="slidenum">
              <a:rPr lang="en-IN" smtClean="0"/>
              <a:t>‹#›</a:t>
            </a:fld>
            <a:endParaRPr lang="en-IN"/>
          </a:p>
        </p:txBody>
      </p:sp>
    </p:spTree>
    <p:extLst>
      <p:ext uri="{BB962C8B-B14F-4D97-AF65-F5344CB8AC3E}">
        <p14:creationId xmlns:p14="http://schemas.microsoft.com/office/powerpoint/2010/main" val="4101063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F12BD88-FA91-4D53-A0AF-C8C665CB5B33}" type="datetimeFigureOut">
              <a:rPr lang="en-IN" smtClean="0"/>
              <a:t>20-10-2025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BCF4DF-51A0-464C-AB00-63165EDB8BF8}" type="slidenum">
              <a:rPr lang="en-IN" smtClean="0"/>
              <a:t>‹#›</a:t>
            </a:fld>
            <a:endParaRPr lang="en-IN"/>
          </a:p>
        </p:txBody>
      </p:sp>
    </p:spTree>
    <p:extLst>
      <p:ext uri="{BB962C8B-B14F-4D97-AF65-F5344CB8AC3E}">
        <p14:creationId xmlns:p14="http://schemas.microsoft.com/office/powerpoint/2010/main" val="1082458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F12BD88-FA91-4D53-A0AF-C8C665CB5B33}" type="datetimeFigureOut">
              <a:rPr lang="en-IN" smtClean="0"/>
              <a:t>20-10-2025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9BCF4DF-51A0-464C-AB00-63165EDB8BF8}" type="slidenum">
              <a:rPr lang="en-IN" smtClean="0"/>
              <a:t>‹#›</a:t>
            </a:fld>
            <a:endParaRPr lang="en-IN"/>
          </a:p>
        </p:txBody>
      </p:sp>
    </p:spTree>
    <p:extLst>
      <p:ext uri="{BB962C8B-B14F-4D97-AF65-F5344CB8AC3E}">
        <p14:creationId xmlns:p14="http://schemas.microsoft.com/office/powerpoint/2010/main" val="1616005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F12BD88-FA91-4D53-A0AF-C8C665CB5B33}" type="datetimeFigureOut">
              <a:rPr lang="en-IN" smtClean="0"/>
              <a:t>20-10-2025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9BCF4DF-51A0-464C-AB00-63165EDB8BF8}" type="slidenum">
              <a:rPr lang="en-IN" smtClean="0"/>
              <a:t>‹#›</a:t>
            </a:fld>
            <a:endParaRPr lang="en-IN"/>
          </a:p>
        </p:txBody>
      </p:sp>
    </p:spTree>
    <p:extLst>
      <p:ext uri="{BB962C8B-B14F-4D97-AF65-F5344CB8AC3E}">
        <p14:creationId xmlns:p14="http://schemas.microsoft.com/office/powerpoint/2010/main" val="3722813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12BD88-FA91-4D53-A0AF-C8C665CB5B33}" type="datetimeFigureOut">
              <a:rPr lang="en-IN" smtClean="0"/>
              <a:t>20-10-2025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9BCF4DF-51A0-464C-AB00-63165EDB8BF8}" type="slidenum">
              <a:rPr lang="en-IN" smtClean="0"/>
              <a:t>‹#›</a:t>
            </a:fld>
            <a:endParaRPr lang="en-IN"/>
          </a:p>
        </p:txBody>
      </p:sp>
    </p:spTree>
    <p:extLst>
      <p:ext uri="{BB962C8B-B14F-4D97-AF65-F5344CB8AC3E}">
        <p14:creationId xmlns:p14="http://schemas.microsoft.com/office/powerpoint/2010/main" val="1256928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F12BD88-FA91-4D53-A0AF-C8C665CB5B33}" type="datetimeFigureOut">
              <a:rPr lang="en-IN" smtClean="0"/>
              <a:t>20-10-2025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BCF4DF-51A0-464C-AB00-63165EDB8BF8}" type="slidenum">
              <a:rPr lang="en-IN" smtClean="0"/>
              <a:t>‹#›</a:t>
            </a:fld>
            <a:endParaRPr lang="en-IN"/>
          </a:p>
        </p:txBody>
      </p:sp>
    </p:spTree>
    <p:extLst>
      <p:ext uri="{BB962C8B-B14F-4D97-AF65-F5344CB8AC3E}">
        <p14:creationId xmlns:p14="http://schemas.microsoft.com/office/powerpoint/2010/main" val="15522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F12BD88-FA91-4D53-A0AF-C8C665CB5B33}" type="datetimeFigureOut">
              <a:rPr lang="en-IN" smtClean="0"/>
              <a:t>20-10-2025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BCF4DF-51A0-464C-AB00-63165EDB8BF8}" type="slidenum">
              <a:rPr lang="en-IN" smtClean="0"/>
              <a:t>‹#›</a:t>
            </a:fld>
            <a:endParaRPr lang="en-IN"/>
          </a:p>
        </p:txBody>
      </p:sp>
    </p:spTree>
    <p:extLst>
      <p:ext uri="{BB962C8B-B14F-4D97-AF65-F5344CB8AC3E}">
        <p14:creationId xmlns:p14="http://schemas.microsoft.com/office/powerpoint/2010/main" val="1625006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F12BD88-FA91-4D53-A0AF-C8C665CB5B33}" type="datetimeFigureOut">
              <a:rPr lang="en-IN" smtClean="0"/>
              <a:t>20-10-2025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BCF4DF-51A0-464C-AB00-63165EDB8BF8}" type="slidenum">
              <a:rPr lang="en-IN" smtClean="0"/>
              <a:t>‹#›</a:t>
            </a:fld>
            <a:endParaRPr lang="en-IN"/>
          </a:p>
        </p:txBody>
      </p:sp>
    </p:spTree>
    <p:extLst>
      <p:ext uri="{BB962C8B-B14F-4D97-AF65-F5344CB8AC3E}">
        <p14:creationId xmlns:p14="http://schemas.microsoft.com/office/powerpoint/2010/main" val="1781929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F12BD88-FA91-4D53-A0AF-C8C665CB5B33}" type="datetimeFigureOut">
              <a:rPr lang="en-IN" smtClean="0"/>
              <a:t>20-10-2025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BCF4DF-51A0-464C-AB00-63165EDB8BF8}" type="slidenum">
              <a:rPr lang="en-IN" smtClean="0"/>
              <a:t>‹#›</a:t>
            </a:fld>
            <a:endParaRPr lang="en-IN"/>
          </a:p>
        </p:txBody>
      </p:sp>
    </p:spTree>
    <p:extLst>
      <p:ext uri="{BB962C8B-B14F-4D97-AF65-F5344CB8AC3E}">
        <p14:creationId xmlns:p14="http://schemas.microsoft.com/office/powerpoint/2010/main" val="2008135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12BD88-FA91-4D53-A0AF-C8C665CB5B33}" type="datetimeFigureOut">
              <a:rPr lang="en-IN" smtClean="0"/>
              <a:t>20-10-2025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F4DF-51A0-464C-AB00-63165EDB8BF8}" type="slidenum">
              <a:rPr lang="en-IN" smtClean="0"/>
              <a:t>‹#›</a:t>
            </a:fld>
            <a:endParaRPr lang="en-IN"/>
          </a:p>
        </p:txBody>
      </p:sp>
    </p:spTree>
    <p:extLst>
      <p:ext uri="{BB962C8B-B14F-4D97-AF65-F5344CB8AC3E}">
        <p14:creationId xmlns:p14="http://schemas.microsoft.com/office/powerpoint/2010/main" val="3351693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google.com/search?sca_esv=95179f060af123b5&amp;rlz=1C1CHBD_enIN869IN869&amp;q=Gandhi&amp;sa=X&amp;ved=2ahUKEwj6rp7S3rKQAxWcwTgGHTQyELIQxccNegUIhwEQAQ"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google.com/search?sca_esv=95179f060af123b5&amp;rlz=1C1CHBD_enIN869IN869&amp;cs=0&amp;q=Summarizing&amp;sa=X&amp;ved=2ahUKEwiiq5_d4LKQAxX9-TgGHWy9DF4QxccNegQIHhAB&amp;mstk=AUtExfBX2SyWyAvu4A5YKQJcnUiITgToBcEFdvvXRqyeayswb57lE4sLm7ICunUUiQYkq0daw90rbMy7z7MMI4--STz_3IR7phsBxJUrIHiID2IUiqeUwmW_eAlyYSa5RiB8NT2474dhsk19tR88sCT2S-aq-p2-xHENrH7nT6AxemENntKTiKmr3Wd3h9Fvqzp3K41c4PlGwIm78u7iV017trtIIA&amp;csui=3" TargetMode="External"/><Relationship Id="rId2" Type="http://schemas.openxmlformats.org/officeDocument/2006/relationships/hyperlink" Target="https://www.google.com/search?sca_esv=95179f060af123b5&amp;rlz=1C1CHBD_enIN869IN869&amp;cs=0&amp;q=Paraphrasing&amp;sa=X&amp;ved=2ahUKEwiiq5_d4LKQAxX9-TgGHWy9DF4QxccNegQIHRAB&amp;mstk=AUtExfBX2SyWyAvu4A5YKQJcnUiITgToBcEFdvvXRqyeayswb57lE4sLm7ICunUUiQYkq0daw90rbMy7z7MMI4--STz_3IR7phsBxJUrIHiID2IUiqeUwmW_eAlyYSa5RiB8NT2474dhsk19tR88sCT2S-aq-p2-xHENrH7nT6AxemENntKTiKmr3Wd3h9Fvqzp3K41c4PlGwIm78u7iV017trtIIA&amp;csui=3"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smtClean="0"/>
              <a:t>Quoting, Paraphrasing and Summarizing</a:t>
            </a:r>
            <a:endParaRPr lang="en-IN" b="1" dirty="0"/>
          </a:p>
        </p:txBody>
      </p:sp>
      <p:sp>
        <p:nvSpPr>
          <p:cNvPr id="3" name="Subtitle 2"/>
          <p:cNvSpPr>
            <a:spLocks noGrp="1"/>
          </p:cNvSpPr>
          <p:nvPr>
            <p:ph type="subTitle" idx="1"/>
          </p:nvPr>
        </p:nvSpPr>
        <p:spPr>
          <a:xfrm>
            <a:off x="1524000" y="3988526"/>
            <a:ext cx="9144000" cy="1269274"/>
          </a:xfrm>
        </p:spPr>
        <p:txBody>
          <a:bodyPr>
            <a:normAutofit lnSpcReduction="10000"/>
          </a:bodyPr>
          <a:lstStyle/>
          <a:p>
            <a:endParaRPr lang="en-IN" dirty="0" smtClean="0"/>
          </a:p>
          <a:p>
            <a:r>
              <a:rPr lang="en-IN" b="1" dirty="0" smtClean="0"/>
              <a:t>Md. Mojibur Rahman</a:t>
            </a:r>
          </a:p>
          <a:p>
            <a:r>
              <a:rPr lang="en-IN" dirty="0" smtClean="0"/>
              <a:t>mrahmanelt@iitism.ac.in</a:t>
            </a:r>
            <a:endParaRPr lang="en-IN" dirty="0"/>
          </a:p>
        </p:txBody>
      </p:sp>
    </p:spTree>
    <p:extLst>
      <p:ext uri="{BB962C8B-B14F-4D97-AF65-F5344CB8AC3E}">
        <p14:creationId xmlns:p14="http://schemas.microsoft.com/office/powerpoint/2010/main" val="1593413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Quoting</a:t>
            </a:r>
            <a:endParaRPr lang="en-IN" b="1" dirty="0"/>
          </a:p>
        </p:txBody>
      </p:sp>
      <p:sp>
        <p:nvSpPr>
          <p:cNvPr id="3" name="Content Placeholder 2"/>
          <p:cNvSpPr>
            <a:spLocks noGrp="1"/>
          </p:cNvSpPr>
          <p:nvPr>
            <p:ph idx="1"/>
          </p:nvPr>
        </p:nvSpPr>
        <p:spPr/>
        <p:txBody>
          <a:bodyPr>
            <a:normAutofit fontScale="92500"/>
          </a:bodyPr>
          <a:lstStyle/>
          <a:p>
            <a:r>
              <a:rPr lang="en-IN" dirty="0"/>
              <a:t>A quote example is a direct, word-for-word reproduction of someone else's words, enclosed in double quotation marks. For instance, as </a:t>
            </a:r>
            <a:r>
              <a:rPr lang="en-IN" dirty="0">
                <a:hlinkClick r:id="rId2"/>
              </a:rPr>
              <a:t>Gandhi</a:t>
            </a:r>
            <a:r>
              <a:rPr lang="en-IN" dirty="0"/>
              <a:t> said, “You must be the change you wish to see in the world”. </a:t>
            </a:r>
            <a:endParaRPr lang="en-IN" dirty="0" smtClean="0"/>
          </a:p>
          <a:p>
            <a:r>
              <a:rPr lang="en-IN" dirty="0"/>
              <a:t>A quotation in research is the verbatim use of someone else's words, enclosed in quotation marks, to support an argument, define a term, or </a:t>
            </a:r>
            <a:r>
              <a:rPr lang="en-IN" dirty="0" err="1"/>
              <a:t>analyze</a:t>
            </a:r>
            <a:r>
              <a:rPr lang="en-IN" dirty="0"/>
              <a:t> a source. </a:t>
            </a:r>
            <a:endParaRPr lang="en-IN" dirty="0" smtClean="0"/>
          </a:p>
          <a:p>
            <a:r>
              <a:rPr lang="en-IN" dirty="0" smtClean="0"/>
              <a:t>It </a:t>
            </a:r>
            <a:r>
              <a:rPr lang="en-IN" dirty="0"/>
              <a:t>is crucial to cite the original source and to use quotations sparingly and selectively, integrating them with your own analysis and commentary. </a:t>
            </a:r>
            <a:endParaRPr lang="en-IN" dirty="0" smtClean="0"/>
          </a:p>
          <a:p>
            <a:r>
              <a:rPr lang="en-IN" dirty="0" smtClean="0"/>
              <a:t>Quotations </a:t>
            </a:r>
            <a:r>
              <a:rPr lang="en-IN" dirty="0"/>
              <a:t>are most effective when the original wording is particularly precise, unique, or significant to your point.  </a:t>
            </a:r>
          </a:p>
        </p:txBody>
      </p:sp>
    </p:spTree>
    <p:extLst>
      <p:ext uri="{BB962C8B-B14F-4D97-AF65-F5344CB8AC3E}">
        <p14:creationId xmlns:p14="http://schemas.microsoft.com/office/powerpoint/2010/main" val="3346650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When to use quotations</a:t>
            </a:r>
          </a:p>
        </p:txBody>
      </p:sp>
      <p:sp>
        <p:nvSpPr>
          <p:cNvPr id="3" name="Content Placeholder 2"/>
          <p:cNvSpPr>
            <a:spLocks noGrp="1"/>
          </p:cNvSpPr>
          <p:nvPr>
            <p:ph idx="1"/>
          </p:nvPr>
        </p:nvSpPr>
        <p:spPr/>
        <p:txBody>
          <a:bodyPr/>
          <a:lstStyle/>
          <a:p>
            <a:r>
              <a:rPr lang="en-IN" b="1" dirty="0"/>
              <a:t>To preserve the exact wording:</a:t>
            </a:r>
            <a:r>
              <a:rPr lang="en-IN" dirty="0"/>
              <a:t> </a:t>
            </a:r>
            <a:r>
              <a:rPr lang="en-IN" dirty="0" smtClean="0"/>
              <a:t>Use </a:t>
            </a:r>
            <a:r>
              <a:rPr lang="en-IN" dirty="0"/>
              <a:t>quotations for precise definitions, legal cases, or to </a:t>
            </a:r>
            <a:r>
              <a:rPr lang="en-IN" dirty="0" err="1"/>
              <a:t>analyze</a:t>
            </a:r>
            <a:r>
              <a:rPr lang="en-IN" dirty="0"/>
              <a:t> a specific phrase from a text.</a:t>
            </a:r>
          </a:p>
          <a:p>
            <a:r>
              <a:rPr lang="en-IN" b="1" dirty="0"/>
              <a:t>To use a strong, unique voice:</a:t>
            </a:r>
            <a:r>
              <a:rPr lang="en-IN" dirty="0"/>
              <a:t> </a:t>
            </a:r>
            <a:r>
              <a:rPr lang="en-IN" dirty="0" smtClean="0"/>
              <a:t>Quote </a:t>
            </a:r>
            <a:r>
              <a:rPr lang="en-IN" dirty="0"/>
              <a:t>influential figures or experts when their specific wording is powerful or integral to your argument.</a:t>
            </a:r>
          </a:p>
          <a:p>
            <a:r>
              <a:rPr lang="en-IN" b="1" dirty="0"/>
              <a:t>To </a:t>
            </a:r>
            <a:r>
              <a:rPr lang="en-IN" b="1" dirty="0" err="1"/>
              <a:t>analyze</a:t>
            </a:r>
            <a:r>
              <a:rPr lang="en-IN" b="1" dirty="0"/>
              <a:t> or critique:</a:t>
            </a:r>
            <a:r>
              <a:rPr lang="en-IN" dirty="0"/>
              <a:t> </a:t>
            </a:r>
            <a:r>
              <a:rPr lang="en-IN" dirty="0" smtClean="0"/>
              <a:t>When </a:t>
            </a:r>
            <a:r>
              <a:rPr lang="en-IN" dirty="0"/>
              <a:t>the exact wording of a source is the subject of your analysis, you must quote it accurately to avoid misrepresenting </a:t>
            </a:r>
            <a:r>
              <a:rPr lang="en-IN" dirty="0" smtClean="0"/>
              <a:t>it.</a:t>
            </a:r>
            <a:endParaRPr lang="en-IN" dirty="0"/>
          </a:p>
          <a:p>
            <a:endParaRPr lang="en-IN" dirty="0"/>
          </a:p>
        </p:txBody>
      </p:sp>
    </p:spTree>
    <p:extLst>
      <p:ext uri="{BB962C8B-B14F-4D97-AF65-F5344CB8AC3E}">
        <p14:creationId xmlns:p14="http://schemas.microsoft.com/office/powerpoint/2010/main" val="35938581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How to use quotations correctly</a:t>
            </a:r>
            <a:endParaRPr lang="en-IN" b="1" dirty="0"/>
          </a:p>
        </p:txBody>
      </p:sp>
      <p:sp>
        <p:nvSpPr>
          <p:cNvPr id="3" name="Content Placeholder 2"/>
          <p:cNvSpPr>
            <a:spLocks noGrp="1"/>
          </p:cNvSpPr>
          <p:nvPr>
            <p:ph idx="1"/>
          </p:nvPr>
        </p:nvSpPr>
        <p:spPr/>
        <p:txBody>
          <a:bodyPr>
            <a:normAutofit/>
          </a:bodyPr>
          <a:lstStyle/>
          <a:p>
            <a:r>
              <a:rPr lang="en-IN" b="1" dirty="0"/>
              <a:t>Introduce and explain:</a:t>
            </a:r>
            <a:r>
              <a:rPr lang="en-IN" dirty="0"/>
              <a:t> </a:t>
            </a:r>
            <a:r>
              <a:rPr lang="en-IN" dirty="0" smtClean="0"/>
              <a:t>Always </a:t>
            </a:r>
            <a:r>
              <a:rPr lang="en-IN" dirty="0"/>
              <a:t>introduce a quote with your own sentence and follow it with your own explanation that connects the quote to your argument. Avoid "hanging quotes" that are left without context</a:t>
            </a:r>
            <a:r>
              <a:rPr lang="en-IN" dirty="0" smtClean="0"/>
              <a:t>.</a:t>
            </a:r>
          </a:p>
          <a:p>
            <a:r>
              <a:rPr lang="en-IN" b="1" dirty="0"/>
              <a:t>Enclose in quotation marks:</a:t>
            </a:r>
            <a:r>
              <a:rPr lang="en-IN" dirty="0"/>
              <a:t> </a:t>
            </a:r>
            <a:r>
              <a:rPr lang="en-IN" dirty="0" smtClean="0"/>
              <a:t>Place </a:t>
            </a:r>
            <a:r>
              <a:rPr lang="en-IN" dirty="0"/>
              <a:t>quotation marks around the text you are quoting directly.</a:t>
            </a:r>
          </a:p>
          <a:p>
            <a:r>
              <a:rPr lang="en-IN" b="1" dirty="0"/>
              <a:t>Cite the source:</a:t>
            </a:r>
            <a:r>
              <a:rPr lang="en-IN" dirty="0"/>
              <a:t> </a:t>
            </a:r>
            <a:r>
              <a:rPr lang="en-IN" dirty="0" smtClean="0"/>
              <a:t>Include </a:t>
            </a:r>
            <a:r>
              <a:rPr lang="en-IN" dirty="0"/>
              <a:t>an in-text citation and a full entry in your reference list to give credit to the original author.</a:t>
            </a:r>
          </a:p>
          <a:p>
            <a:r>
              <a:rPr lang="en-IN" b="1" dirty="0"/>
              <a:t>Use sparingly:</a:t>
            </a:r>
            <a:r>
              <a:rPr lang="en-IN" dirty="0"/>
              <a:t> </a:t>
            </a:r>
            <a:r>
              <a:rPr lang="en-IN" dirty="0" smtClean="0"/>
              <a:t>Over-quoting </a:t>
            </a:r>
            <a:r>
              <a:rPr lang="en-IN" dirty="0"/>
              <a:t>can make your paper seem like a collection of others' work rather than your own analysis.</a:t>
            </a:r>
          </a:p>
          <a:p>
            <a:endParaRPr lang="en-IN" dirty="0"/>
          </a:p>
          <a:p>
            <a:endParaRPr lang="en-IN" dirty="0"/>
          </a:p>
        </p:txBody>
      </p:sp>
    </p:spTree>
    <p:extLst>
      <p:ext uri="{BB962C8B-B14F-4D97-AF65-F5344CB8AC3E}">
        <p14:creationId xmlns:p14="http://schemas.microsoft.com/office/powerpoint/2010/main" val="3476868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Use block quotes for long passages:</a:t>
            </a:r>
            <a:r>
              <a:rPr lang="en-IN" dirty="0"/>
              <a:t> </a:t>
            </a:r>
            <a:r>
              <a:rPr lang="en-IN" dirty="0" smtClean="0"/>
              <a:t>For </a:t>
            </a:r>
            <a:r>
              <a:rPr lang="en-IN" dirty="0"/>
              <a:t>quotations that exceed a certain length (e.g., over 40 words in APA style), format them as a separate, indented block of text rather than using quotation marks.</a:t>
            </a:r>
          </a:p>
          <a:p>
            <a:r>
              <a:rPr lang="en-IN" b="1" dirty="0"/>
              <a:t>Use ellipses for omissions:</a:t>
            </a:r>
            <a:r>
              <a:rPr lang="en-IN" dirty="0"/>
              <a:t> </a:t>
            </a:r>
            <a:r>
              <a:rPr lang="en-IN" dirty="0" smtClean="0"/>
              <a:t>Use </a:t>
            </a:r>
            <a:r>
              <a:rPr lang="en-IN" dirty="0"/>
              <a:t>an ellipsis (...) to show where you have omitted words from the original text.</a:t>
            </a:r>
          </a:p>
          <a:p>
            <a:r>
              <a:rPr lang="en-IN" b="1" dirty="0"/>
              <a:t>Follow citation style guidelines:</a:t>
            </a:r>
            <a:r>
              <a:rPr lang="en-IN" dirty="0"/>
              <a:t> </a:t>
            </a:r>
            <a:r>
              <a:rPr lang="en-IN" dirty="0" smtClean="0"/>
              <a:t>Adhere </a:t>
            </a:r>
            <a:r>
              <a:rPr lang="en-IN" dirty="0"/>
              <a:t>to the specific formatting rules of your required citation style (e.g., APA, MLA, Chicago).</a:t>
            </a:r>
          </a:p>
          <a:p>
            <a:endParaRPr lang="en-IN" dirty="0"/>
          </a:p>
        </p:txBody>
      </p:sp>
    </p:spTree>
    <p:extLst>
      <p:ext uri="{BB962C8B-B14F-4D97-AF65-F5344CB8AC3E}">
        <p14:creationId xmlns:p14="http://schemas.microsoft.com/office/powerpoint/2010/main" val="688268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What to avoid</a:t>
            </a:r>
            <a:endParaRPr lang="en-IN" b="1" dirty="0"/>
          </a:p>
        </p:txBody>
      </p:sp>
      <p:sp>
        <p:nvSpPr>
          <p:cNvPr id="3" name="Content Placeholder 2"/>
          <p:cNvSpPr>
            <a:spLocks noGrp="1"/>
          </p:cNvSpPr>
          <p:nvPr>
            <p:ph idx="1"/>
          </p:nvPr>
        </p:nvSpPr>
        <p:spPr/>
        <p:txBody>
          <a:bodyPr/>
          <a:lstStyle/>
          <a:p>
            <a:r>
              <a:rPr lang="en-IN" b="1" dirty="0"/>
              <a:t>Over-quoting:</a:t>
            </a:r>
            <a:r>
              <a:rPr lang="en-IN" dirty="0"/>
              <a:t> </a:t>
            </a:r>
            <a:r>
              <a:rPr lang="en-IN" dirty="0" smtClean="0"/>
              <a:t>Avoid </a:t>
            </a:r>
            <a:r>
              <a:rPr lang="en-IN" dirty="0"/>
              <a:t>using too many quotations, as the focus should be on your own writing and analysis.</a:t>
            </a:r>
          </a:p>
          <a:p>
            <a:r>
              <a:rPr lang="en-IN" b="1" dirty="0"/>
              <a:t>"Hanging quotes":</a:t>
            </a:r>
            <a:r>
              <a:rPr lang="en-IN" dirty="0"/>
              <a:t> </a:t>
            </a:r>
            <a:r>
              <a:rPr lang="en-IN" dirty="0" smtClean="0"/>
              <a:t>Never </a:t>
            </a:r>
            <a:r>
              <a:rPr lang="en-IN" dirty="0"/>
              <a:t>just drop a quote into your text without introducing it and explaining its relevance.</a:t>
            </a:r>
          </a:p>
          <a:p>
            <a:r>
              <a:rPr lang="en-IN" b="1" dirty="0"/>
              <a:t>Misrepresenting the source:</a:t>
            </a:r>
            <a:r>
              <a:rPr lang="en-IN" dirty="0"/>
              <a:t> </a:t>
            </a:r>
          </a:p>
          <a:p>
            <a:r>
              <a:rPr lang="en-IN" dirty="0"/>
              <a:t>Ensure the quote is a faithful reproduction of the original and is not taken out of context.</a:t>
            </a:r>
          </a:p>
          <a:p>
            <a:endParaRPr lang="en-IN" dirty="0"/>
          </a:p>
        </p:txBody>
      </p:sp>
    </p:spTree>
    <p:extLst>
      <p:ext uri="{BB962C8B-B14F-4D97-AF65-F5344CB8AC3E}">
        <p14:creationId xmlns:p14="http://schemas.microsoft.com/office/powerpoint/2010/main" val="3087276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Types of Quotations</a:t>
            </a:r>
            <a:endParaRPr lang="en-IN" b="1" dirty="0"/>
          </a:p>
        </p:txBody>
      </p:sp>
      <p:sp>
        <p:nvSpPr>
          <p:cNvPr id="3" name="Content Placeholder 2"/>
          <p:cNvSpPr>
            <a:spLocks noGrp="1"/>
          </p:cNvSpPr>
          <p:nvPr>
            <p:ph idx="1"/>
          </p:nvPr>
        </p:nvSpPr>
        <p:spPr/>
        <p:txBody>
          <a:bodyPr/>
          <a:lstStyle/>
          <a:p>
            <a:r>
              <a:rPr lang="en-IN" dirty="0"/>
              <a:t>The main types of quoting in research are direct quotes (verbatim text), indirect quotes (paraphrasing), and summaries, which are used to present information from a source. </a:t>
            </a:r>
            <a:endParaRPr lang="en-IN" dirty="0" smtClean="0"/>
          </a:p>
          <a:p>
            <a:r>
              <a:rPr lang="en-IN" dirty="0" smtClean="0"/>
              <a:t>Direct </a:t>
            </a:r>
            <a:r>
              <a:rPr lang="en-IN" dirty="0"/>
              <a:t>quotes include short in-text quotes and longer block quotes, while indirect quotes and summaries rephrase the source material in </a:t>
            </a:r>
            <a:r>
              <a:rPr lang="en-IN" dirty="0" smtClean="0"/>
              <a:t>your </a:t>
            </a:r>
            <a:r>
              <a:rPr lang="en-IN" dirty="0"/>
              <a:t>own words, requiring a citation but not quotation marks. </a:t>
            </a:r>
            <a:endParaRPr lang="en-IN" dirty="0" smtClean="0"/>
          </a:p>
          <a:p>
            <a:endParaRPr lang="en-IN" dirty="0"/>
          </a:p>
        </p:txBody>
      </p:sp>
    </p:spTree>
    <p:extLst>
      <p:ext uri="{BB962C8B-B14F-4D97-AF65-F5344CB8AC3E}">
        <p14:creationId xmlns:p14="http://schemas.microsoft.com/office/powerpoint/2010/main" val="3198052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Direct Quotation</a:t>
            </a:r>
            <a:endParaRPr lang="en-IN" b="1" dirty="0"/>
          </a:p>
        </p:txBody>
      </p:sp>
      <p:sp>
        <p:nvSpPr>
          <p:cNvPr id="3" name="Content Placeholder 2"/>
          <p:cNvSpPr>
            <a:spLocks noGrp="1"/>
          </p:cNvSpPr>
          <p:nvPr>
            <p:ph idx="1"/>
          </p:nvPr>
        </p:nvSpPr>
        <p:spPr/>
        <p:txBody>
          <a:bodyPr/>
          <a:lstStyle/>
          <a:p>
            <a:r>
              <a:rPr lang="en-IN" b="1" dirty="0"/>
              <a:t>In-text quotes:</a:t>
            </a:r>
            <a:r>
              <a:rPr lang="en-IN" dirty="0"/>
              <a:t> </a:t>
            </a:r>
            <a:r>
              <a:rPr lang="en-IN" dirty="0" smtClean="0"/>
              <a:t>Short </a:t>
            </a:r>
            <a:r>
              <a:rPr lang="en-IN" dirty="0"/>
              <a:t>quotations of a few words or a sentence that are integrated into your own sentence and enclosed in quotation marks.</a:t>
            </a:r>
          </a:p>
          <a:p>
            <a:r>
              <a:rPr lang="en-IN" b="1" dirty="0"/>
              <a:t>Block quotes:</a:t>
            </a:r>
            <a:r>
              <a:rPr lang="en-IN" dirty="0"/>
              <a:t> </a:t>
            </a:r>
            <a:r>
              <a:rPr lang="en-IN" dirty="0" smtClean="0"/>
              <a:t>Longer </a:t>
            </a:r>
            <a:r>
              <a:rPr lang="en-IN" dirty="0"/>
              <a:t>quotations (typically more than four lines) that are set apart from the main text by being indented and without quotation marks.</a:t>
            </a:r>
          </a:p>
          <a:p>
            <a:pPr marL="0" indent="0">
              <a:buNone/>
            </a:pPr>
            <a:r>
              <a:rPr lang="en-IN" dirty="0"/>
              <a:t/>
            </a:r>
            <a:br>
              <a:rPr lang="en-IN" dirty="0"/>
            </a:br>
            <a:endParaRPr lang="en-IN" dirty="0"/>
          </a:p>
        </p:txBody>
      </p:sp>
    </p:spTree>
    <p:extLst>
      <p:ext uri="{BB962C8B-B14F-4D97-AF65-F5344CB8AC3E}">
        <p14:creationId xmlns:p14="http://schemas.microsoft.com/office/powerpoint/2010/main" val="1587428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Examples of Direct Quotations</a:t>
            </a:r>
          </a:p>
        </p:txBody>
      </p:sp>
      <p:sp>
        <p:nvSpPr>
          <p:cNvPr id="3" name="Content Placeholder 2"/>
          <p:cNvSpPr>
            <a:spLocks noGrp="1"/>
          </p:cNvSpPr>
          <p:nvPr>
            <p:ph idx="1"/>
          </p:nvPr>
        </p:nvSpPr>
        <p:spPr/>
        <p:txBody>
          <a:bodyPr/>
          <a:lstStyle/>
          <a:p>
            <a:r>
              <a:rPr lang="en-IN" sz="2400" b="1" dirty="0" smtClean="0"/>
              <a:t>Short quotation within a sentence: </a:t>
            </a:r>
            <a:r>
              <a:rPr lang="en-IN" sz="2400" dirty="0" smtClean="0"/>
              <a:t>The author stated, "Our choices determine our destiny".</a:t>
            </a:r>
          </a:p>
          <a:p>
            <a:r>
              <a:rPr lang="en-IN" sz="2400" b="1" dirty="0"/>
              <a:t>Interrupted quotation:</a:t>
            </a:r>
            <a:r>
              <a:rPr lang="en-IN" sz="2400" dirty="0"/>
              <a:t> "The problem is," the author said, "that no one has money to buy books</a:t>
            </a:r>
            <a:r>
              <a:rPr lang="en-IN" sz="2400" dirty="0" smtClean="0"/>
              <a:t>".</a:t>
            </a:r>
          </a:p>
          <a:p>
            <a:r>
              <a:rPr lang="en-IN" sz="2400" b="1" dirty="0"/>
              <a:t>Quotation at the end of a sentence:</a:t>
            </a:r>
            <a:r>
              <a:rPr lang="en-IN" sz="2400" dirty="0"/>
              <a:t> Professor Smith emphasized, "Your essays must be submitted on time" (22</a:t>
            </a:r>
            <a:r>
              <a:rPr lang="en-IN" sz="2400" dirty="0" smtClean="0"/>
              <a:t>).</a:t>
            </a:r>
          </a:p>
          <a:p>
            <a:r>
              <a:rPr lang="en-IN" sz="2400" b="1" dirty="0"/>
              <a:t>Long quotation (block quote):</a:t>
            </a:r>
            <a:r>
              <a:rPr lang="en-IN" sz="2400" dirty="0"/>
              <a:t> A block quotation, which is more than four typed lines, is indented without quotation marks</a:t>
            </a:r>
            <a:r>
              <a:rPr lang="en-IN" sz="2400" dirty="0" smtClean="0"/>
              <a:t>.</a:t>
            </a:r>
          </a:p>
          <a:p>
            <a:endParaRPr lang="en-IN" b="1" dirty="0"/>
          </a:p>
        </p:txBody>
      </p:sp>
      <p:pic>
        <p:nvPicPr>
          <p:cNvPr id="6" name="Picture 5"/>
          <p:cNvPicPr>
            <a:picLocks noChangeAspect="1"/>
          </p:cNvPicPr>
          <p:nvPr/>
        </p:nvPicPr>
        <p:blipFill>
          <a:blip r:embed="rId2"/>
          <a:stretch>
            <a:fillRect/>
          </a:stretch>
        </p:blipFill>
        <p:spPr>
          <a:xfrm>
            <a:off x="3629945" y="4953797"/>
            <a:ext cx="4636017" cy="1027178"/>
          </a:xfrm>
          <a:prstGeom prst="rect">
            <a:avLst/>
          </a:prstGeom>
        </p:spPr>
      </p:pic>
    </p:spTree>
    <p:extLst>
      <p:ext uri="{BB962C8B-B14F-4D97-AF65-F5344CB8AC3E}">
        <p14:creationId xmlns:p14="http://schemas.microsoft.com/office/powerpoint/2010/main" val="41207081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Indirect quotations</a:t>
            </a:r>
            <a:endParaRPr lang="en-IN" b="1" dirty="0"/>
          </a:p>
        </p:txBody>
      </p:sp>
      <p:sp>
        <p:nvSpPr>
          <p:cNvPr id="3" name="Content Placeholder 2"/>
          <p:cNvSpPr>
            <a:spLocks noGrp="1"/>
          </p:cNvSpPr>
          <p:nvPr>
            <p:ph idx="1"/>
          </p:nvPr>
        </p:nvSpPr>
        <p:spPr/>
        <p:txBody>
          <a:bodyPr/>
          <a:lstStyle/>
          <a:p>
            <a:r>
              <a:rPr lang="en-IN" b="1" dirty="0">
                <a:hlinkClick r:id="rId2"/>
              </a:rPr>
              <a:t>Paraphrasing</a:t>
            </a:r>
            <a:r>
              <a:rPr lang="en-IN" b="1" dirty="0"/>
              <a:t>:</a:t>
            </a:r>
            <a:r>
              <a:rPr lang="en-IN" dirty="0"/>
              <a:t> </a:t>
            </a:r>
          </a:p>
          <a:p>
            <a:r>
              <a:rPr lang="en-IN" dirty="0"/>
              <a:t>Rephrasing the original text in your own words while retaining the original meaning. This requires a citation but no quotation marks.</a:t>
            </a:r>
          </a:p>
          <a:p>
            <a:r>
              <a:rPr lang="en-IN" b="1" dirty="0">
                <a:hlinkClick r:id="rId3"/>
              </a:rPr>
              <a:t>Summarizing</a:t>
            </a:r>
            <a:r>
              <a:rPr lang="en-IN" b="1" dirty="0"/>
              <a:t>:</a:t>
            </a:r>
            <a:r>
              <a:rPr lang="en-IN" dirty="0"/>
              <a:t> </a:t>
            </a:r>
          </a:p>
          <a:p>
            <a:r>
              <a:rPr lang="en-IN" dirty="0"/>
              <a:t>Briefly condensing the main ideas of a source into a shorter version in your own words. Like paraphrasing, a citation is required. </a:t>
            </a:r>
          </a:p>
          <a:p>
            <a:endParaRPr lang="en-IN" dirty="0"/>
          </a:p>
        </p:txBody>
      </p:sp>
    </p:spTree>
    <p:extLst>
      <p:ext uri="{BB962C8B-B14F-4D97-AF65-F5344CB8AC3E}">
        <p14:creationId xmlns:p14="http://schemas.microsoft.com/office/powerpoint/2010/main" val="432305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Paraphrasing</a:t>
            </a:r>
            <a:endParaRPr lang="en-IN" b="1" dirty="0"/>
          </a:p>
        </p:txBody>
      </p:sp>
      <p:sp>
        <p:nvSpPr>
          <p:cNvPr id="3" name="Content Placeholder 2"/>
          <p:cNvSpPr>
            <a:spLocks noGrp="1"/>
          </p:cNvSpPr>
          <p:nvPr>
            <p:ph idx="1"/>
          </p:nvPr>
        </p:nvSpPr>
        <p:spPr/>
        <p:txBody>
          <a:bodyPr/>
          <a:lstStyle/>
          <a:p>
            <a:r>
              <a:rPr lang="en-IN" dirty="0" smtClean="0"/>
              <a:t>A paraphrase, or an indirect quotation, is a rewording of an author’s text, explanation, argument, or narrative. </a:t>
            </a:r>
          </a:p>
          <a:p>
            <a:r>
              <a:rPr lang="en-IN" dirty="0" smtClean="0"/>
              <a:t>When cited correctly, paraphrasing is a legitimate way to borrow from a source to restate its essential ideas and information. </a:t>
            </a:r>
          </a:p>
          <a:p>
            <a:r>
              <a:rPr lang="en-IN" dirty="0" smtClean="0"/>
              <a:t>Paraphrasing means putting into your own words what you have read or heard from research sources. </a:t>
            </a:r>
          </a:p>
          <a:p>
            <a:r>
              <a:rPr lang="en-IN" dirty="0" smtClean="0"/>
              <a:t>Although you are re-presenting the writer’s ideas using your own words, you need to reference the source/s from which you gathered the material. </a:t>
            </a:r>
            <a:endParaRPr lang="en-IN" dirty="0"/>
          </a:p>
        </p:txBody>
      </p:sp>
    </p:spTree>
    <p:extLst>
      <p:ext uri="{BB962C8B-B14F-4D97-AF65-F5344CB8AC3E}">
        <p14:creationId xmlns:p14="http://schemas.microsoft.com/office/powerpoint/2010/main" val="3074291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Techniques for paraphrasing</a:t>
            </a:r>
            <a:endParaRPr lang="en-IN" b="1" dirty="0"/>
          </a:p>
        </p:txBody>
      </p:sp>
      <p:sp>
        <p:nvSpPr>
          <p:cNvPr id="3" name="Content Placeholder 2"/>
          <p:cNvSpPr>
            <a:spLocks noGrp="1"/>
          </p:cNvSpPr>
          <p:nvPr>
            <p:ph idx="1"/>
          </p:nvPr>
        </p:nvSpPr>
        <p:spPr/>
        <p:txBody>
          <a:bodyPr>
            <a:normAutofit fontScale="92500" lnSpcReduction="10000"/>
          </a:bodyPr>
          <a:lstStyle/>
          <a:p>
            <a:r>
              <a:rPr lang="en-IN" b="1" dirty="0"/>
              <a:t>Understand the original text:</a:t>
            </a:r>
            <a:r>
              <a:rPr lang="en-IN" dirty="0"/>
              <a:t> </a:t>
            </a:r>
            <a:r>
              <a:rPr lang="en-IN" dirty="0" smtClean="0"/>
              <a:t>Read </a:t>
            </a:r>
            <a:r>
              <a:rPr lang="en-IN" dirty="0"/>
              <a:t>the passage multiple times to fully grasp its meaning. You can look up unfamiliar words or explain the content to yourself.</a:t>
            </a:r>
          </a:p>
          <a:p>
            <a:r>
              <a:rPr lang="en-IN" b="1" dirty="0"/>
              <a:t>Use synonyms:</a:t>
            </a:r>
            <a:r>
              <a:rPr lang="en-IN" dirty="0"/>
              <a:t> </a:t>
            </a:r>
            <a:r>
              <a:rPr lang="en-IN" dirty="0" smtClean="0"/>
              <a:t>Replace </a:t>
            </a:r>
            <a:r>
              <a:rPr lang="en-IN" dirty="0"/>
              <a:t>words with similar meanings (e.g., change "start" to "begin" or "commence").</a:t>
            </a:r>
          </a:p>
          <a:p>
            <a:r>
              <a:rPr lang="en-IN" b="1" dirty="0" smtClean="0"/>
              <a:t>Change the sentence structure: </a:t>
            </a:r>
          </a:p>
          <a:p>
            <a:pPr>
              <a:buFont typeface="Wingdings" panose="05000000000000000000" pitchFamily="2" charset="2"/>
              <a:buChar char="ü"/>
            </a:pPr>
            <a:r>
              <a:rPr lang="en-IN" sz="2600" dirty="0" smtClean="0"/>
              <a:t>Break a long sentence into two or more shorter ones. </a:t>
            </a:r>
          </a:p>
          <a:p>
            <a:pPr>
              <a:buFont typeface="Wingdings" panose="05000000000000000000" pitchFamily="2" charset="2"/>
              <a:buChar char="ü"/>
            </a:pPr>
            <a:r>
              <a:rPr lang="en-IN" sz="2600" dirty="0" smtClean="0"/>
              <a:t>Combine short sentences into a longer one. </a:t>
            </a:r>
          </a:p>
          <a:p>
            <a:pPr>
              <a:buFont typeface="Wingdings" panose="05000000000000000000" pitchFamily="2" charset="2"/>
              <a:buChar char="ü"/>
            </a:pPr>
            <a:r>
              <a:rPr lang="en-IN" sz="2600" dirty="0"/>
              <a:t>Switch between active and passive voice (e.g., "The dog chased the ball" to "The ball was chased by the dog</a:t>
            </a:r>
            <a:r>
              <a:rPr lang="en-IN" sz="2600" dirty="0" smtClean="0"/>
              <a:t>").</a:t>
            </a:r>
          </a:p>
          <a:p>
            <a:pPr>
              <a:buFont typeface="Wingdings" panose="05000000000000000000" pitchFamily="2" charset="2"/>
              <a:buChar char="ü"/>
            </a:pPr>
            <a:r>
              <a:rPr lang="en-IN" sz="2600" dirty="0" smtClean="0"/>
              <a:t>Move parts of the sentence, like phrases, to a different position. </a:t>
            </a:r>
            <a:endParaRPr lang="en-IN" sz="2600" dirty="0"/>
          </a:p>
        </p:txBody>
      </p:sp>
    </p:spTree>
    <p:extLst>
      <p:ext uri="{BB962C8B-B14F-4D97-AF65-F5344CB8AC3E}">
        <p14:creationId xmlns:p14="http://schemas.microsoft.com/office/powerpoint/2010/main" val="1691749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smtClean="0"/>
              <a:t>Alter the word order: </a:t>
            </a:r>
            <a:r>
              <a:rPr lang="en-IN" dirty="0" smtClean="0"/>
              <a:t>Rearrange the sequence of words and phrases in the sentence.</a:t>
            </a:r>
          </a:p>
          <a:p>
            <a:r>
              <a:rPr lang="en-IN" b="1" dirty="0"/>
              <a:t>Change parts of speech:</a:t>
            </a:r>
            <a:r>
              <a:rPr lang="en-IN" dirty="0"/>
              <a:t> </a:t>
            </a:r>
            <a:r>
              <a:rPr lang="en-IN" dirty="0" smtClean="0"/>
              <a:t>Convert </a:t>
            </a:r>
            <a:r>
              <a:rPr lang="en-IN" dirty="0"/>
              <a:t>words from one form to another (e.g., change the noun "description" to the verb "describes").</a:t>
            </a:r>
          </a:p>
          <a:p>
            <a:r>
              <a:rPr lang="en-IN" b="1" dirty="0"/>
              <a:t>Focus on the meaning, not just the words:</a:t>
            </a:r>
            <a:r>
              <a:rPr lang="en-IN" dirty="0"/>
              <a:t> </a:t>
            </a:r>
            <a:r>
              <a:rPr lang="en-IN" dirty="0" smtClean="0"/>
              <a:t>After </a:t>
            </a:r>
            <a:r>
              <a:rPr lang="en-IN" dirty="0"/>
              <a:t>reading, put the original text aside and write down the key ideas from memory in your own words.</a:t>
            </a:r>
          </a:p>
          <a:p>
            <a:endParaRPr lang="en-IN" dirty="0"/>
          </a:p>
        </p:txBody>
      </p:sp>
    </p:spTree>
    <p:extLst>
      <p:ext uri="{BB962C8B-B14F-4D97-AF65-F5344CB8AC3E}">
        <p14:creationId xmlns:p14="http://schemas.microsoft.com/office/powerpoint/2010/main" val="1704078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Step-by-step guide</a:t>
            </a:r>
          </a:p>
        </p:txBody>
      </p:sp>
      <p:sp>
        <p:nvSpPr>
          <p:cNvPr id="3" name="Content Placeholder 2"/>
          <p:cNvSpPr>
            <a:spLocks noGrp="1"/>
          </p:cNvSpPr>
          <p:nvPr>
            <p:ph idx="1"/>
          </p:nvPr>
        </p:nvSpPr>
        <p:spPr/>
        <p:txBody>
          <a:bodyPr>
            <a:normAutofit/>
          </a:bodyPr>
          <a:lstStyle/>
          <a:p>
            <a:r>
              <a:rPr lang="en-IN" b="1" dirty="0"/>
              <a:t>Read and understand:</a:t>
            </a:r>
            <a:r>
              <a:rPr lang="en-IN" dirty="0"/>
              <a:t> </a:t>
            </a:r>
            <a:r>
              <a:rPr lang="en-IN" dirty="0" smtClean="0"/>
              <a:t>Read </a:t>
            </a:r>
            <a:r>
              <a:rPr lang="en-IN" dirty="0"/>
              <a:t>the original text until you are confident you understand it completely.</a:t>
            </a:r>
          </a:p>
          <a:p>
            <a:r>
              <a:rPr lang="en-IN" b="1" dirty="0"/>
              <a:t>Write the paraphrase:</a:t>
            </a:r>
            <a:r>
              <a:rPr lang="en-IN" dirty="0"/>
              <a:t> </a:t>
            </a:r>
            <a:r>
              <a:rPr lang="en-IN" dirty="0" smtClean="0"/>
              <a:t>Cover </a:t>
            </a:r>
            <a:r>
              <a:rPr lang="en-IN" dirty="0"/>
              <a:t>the original text and write the information in your own words, using synonyms and other techniques.</a:t>
            </a:r>
          </a:p>
          <a:p>
            <a:r>
              <a:rPr lang="en-IN" b="1" dirty="0"/>
              <a:t>Compare and revise:</a:t>
            </a:r>
            <a:r>
              <a:rPr lang="en-IN" dirty="0"/>
              <a:t> </a:t>
            </a:r>
            <a:r>
              <a:rPr lang="en-IN" dirty="0" smtClean="0"/>
              <a:t>Check </a:t>
            </a:r>
            <a:r>
              <a:rPr lang="en-IN" dirty="0"/>
              <a:t>your paraphrase against the original to make sure you have retained the meaning and have not accidentally copied phrases too closely.</a:t>
            </a:r>
          </a:p>
          <a:p>
            <a:r>
              <a:rPr lang="en-IN" b="1" dirty="0"/>
              <a:t>Cite your source:</a:t>
            </a:r>
            <a:r>
              <a:rPr lang="en-IN" dirty="0"/>
              <a:t> </a:t>
            </a:r>
            <a:r>
              <a:rPr lang="en-IN" dirty="0" smtClean="0"/>
              <a:t>Be </a:t>
            </a:r>
            <a:r>
              <a:rPr lang="en-IN" dirty="0"/>
              <a:t>sure to include a citation to give credit to the original author and avoid plagiarism.</a:t>
            </a:r>
          </a:p>
          <a:p>
            <a:endParaRPr lang="en-IN" dirty="0"/>
          </a:p>
        </p:txBody>
      </p:sp>
    </p:spTree>
    <p:extLst>
      <p:ext uri="{BB962C8B-B14F-4D97-AF65-F5344CB8AC3E}">
        <p14:creationId xmlns:p14="http://schemas.microsoft.com/office/powerpoint/2010/main" val="15354454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makes a paraphrase good?</a:t>
            </a:r>
            <a:endParaRPr lang="en-IN" b="1" dirty="0"/>
          </a:p>
        </p:txBody>
      </p:sp>
      <p:sp>
        <p:nvSpPr>
          <p:cNvPr id="3" name="Content Placeholder 2"/>
          <p:cNvSpPr>
            <a:spLocks noGrp="1"/>
          </p:cNvSpPr>
          <p:nvPr>
            <p:ph idx="1"/>
          </p:nvPr>
        </p:nvSpPr>
        <p:spPr/>
        <p:txBody>
          <a:bodyPr/>
          <a:lstStyle/>
          <a:p>
            <a:r>
              <a:rPr lang="en-US" dirty="0" smtClean="0"/>
              <a:t>A good paraphrase discusses or explains another author’s argument or point of view in new words.</a:t>
            </a:r>
          </a:p>
          <a:p>
            <a:r>
              <a:rPr lang="en-US" dirty="0" smtClean="0"/>
              <a:t>It should show original thought and consideration, not simply rewording using synonyms. This includes different sentence structure.</a:t>
            </a:r>
          </a:p>
          <a:p>
            <a:r>
              <a:rPr lang="en-US" dirty="0" smtClean="0"/>
              <a:t>It should fit in well with the writing surrounding it and flow with the paragraph in which it is found.</a:t>
            </a:r>
          </a:p>
          <a:p>
            <a:r>
              <a:rPr lang="en-US" dirty="0" smtClean="0"/>
              <a:t>It must reference the author in some way to give credit, either in the sentence or as a parenthetical citation.</a:t>
            </a:r>
            <a:endParaRPr lang="en-IN" dirty="0"/>
          </a:p>
        </p:txBody>
      </p:sp>
    </p:spTree>
    <p:extLst>
      <p:ext uri="{BB962C8B-B14F-4D97-AF65-F5344CB8AC3E}">
        <p14:creationId xmlns:p14="http://schemas.microsoft.com/office/powerpoint/2010/main" val="1469637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makes a paraphrase bad?</a:t>
            </a:r>
            <a:endParaRPr lang="en-IN" b="1" dirty="0"/>
          </a:p>
        </p:txBody>
      </p:sp>
      <p:sp>
        <p:nvSpPr>
          <p:cNvPr id="3" name="Content Placeholder 2"/>
          <p:cNvSpPr>
            <a:spLocks noGrp="1"/>
          </p:cNvSpPr>
          <p:nvPr>
            <p:ph idx="1"/>
          </p:nvPr>
        </p:nvSpPr>
        <p:spPr/>
        <p:txBody>
          <a:bodyPr>
            <a:normAutofit lnSpcReduction="10000"/>
          </a:bodyPr>
          <a:lstStyle/>
          <a:p>
            <a:r>
              <a:rPr lang="en-US" dirty="0" smtClean="0"/>
              <a:t>It does not use original wording and is very close to or incorrectly quotes material.</a:t>
            </a:r>
          </a:p>
          <a:p>
            <a:r>
              <a:rPr lang="en-US" dirty="0" smtClean="0"/>
              <a:t>The wording does not show consideration and instead keeps the same structure with only a few words replaced.</a:t>
            </a:r>
          </a:p>
          <a:p>
            <a:r>
              <a:rPr lang="en-US" dirty="0" smtClean="0"/>
              <a:t>It does not fit the writing style of its paragraph.</a:t>
            </a:r>
          </a:p>
          <a:p>
            <a:r>
              <a:rPr lang="en-US" dirty="0" smtClean="0"/>
              <a:t>It is awkwardly placed and used as if it were a quote. (Sometimes quotes and paraphrases of the same material sound better in different spots.)</a:t>
            </a:r>
          </a:p>
          <a:p>
            <a:r>
              <a:rPr lang="en-US" dirty="0" smtClean="0"/>
              <a:t>It does not capture the right concept or idea—perhaps the quote sounded good but a paraphrase loses its overall importance.</a:t>
            </a:r>
          </a:p>
          <a:p>
            <a:endParaRPr lang="en-IN" dirty="0"/>
          </a:p>
        </p:txBody>
      </p:sp>
    </p:spTree>
    <p:extLst>
      <p:ext uri="{BB962C8B-B14F-4D97-AF65-F5344CB8AC3E}">
        <p14:creationId xmlns:p14="http://schemas.microsoft.com/office/powerpoint/2010/main" val="2244035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Let’s look at some examples…</a:t>
            </a:r>
            <a:endParaRPr lang="en-IN" b="1" dirty="0"/>
          </a:p>
        </p:txBody>
      </p:sp>
      <p:sp>
        <p:nvSpPr>
          <p:cNvPr id="3" name="Content Placeholder 2"/>
          <p:cNvSpPr>
            <a:spLocks noGrp="1"/>
          </p:cNvSpPr>
          <p:nvPr>
            <p:ph idx="1"/>
          </p:nvPr>
        </p:nvSpPr>
        <p:spPr/>
        <p:txBody>
          <a:bodyPr>
            <a:normAutofit lnSpcReduction="10000"/>
          </a:bodyPr>
          <a:lstStyle/>
          <a:p>
            <a:r>
              <a:rPr lang="en-US" b="1" dirty="0" smtClean="0"/>
              <a:t>Original sentence: </a:t>
            </a:r>
            <a:r>
              <a:rPr lang="en-US" dirty="0" smtClean="0"/>
              <a:t>Ethical issues in the aviation industry can be difficult to nail down because there are so many departments working in tandem for a single action. When accidents occur, it can be a trying task to determine if ethical boundaries were crossed and at which point one individual was more responsible than another.</a:t>
            </a:r>
          </a:p>
          <a:p>
            <a:r>
              <a:rPr lang="en-US" b="1" dirty="0">
                <a:solidFill>
                  <a:schemeClr val="tx1">
                    <a:lumMod val="65000"/>
                    <a:lumOff val="35000"/>
                  </a:schemeClr>
                </a:solidFill>
              </a:rPr>
              <a:t>Poor paraphrase: </a:t>
            </a:r>
            <a:endParaRPr lang="en-US" b="1" dirty="0" smtClean="0">
              <a:solidFill>
                <a:schemeClr val="tx1">
                  <a:lumMod val="65000"/>
                  <a:lumOff val="35000"/>
                </a:schemeClr>
              </a:solidFill>
            </a:endParaRPr>
          </a:p>
          <a:p>
            <a:r>
              <a:rPr lang="en-US" dirty="0" smtClean="0">
                <a:solidFill>
                  <a:srgbClr val="FF0000"/>
                </a:solidFill>
              </a:rPr>
              <a:t>Ethical </a:t>
            </a:r>
            <a:r>
              <a:rPr lang="en-US" dirty="0">
                <a:solidFill>
                  <a:srgbClr val="FF0000"/>
                </a:solidFill>
              </a:rPr>
              <a:t>issues in the aviation industry </a:t>
            </a:r>
            <a:r>
              <a:rPr lang="en-US" dirty="0">
                <a:solidFill>
                  <a:srgbClr val="008000"/>
                </a:solidFill>
              </a:rPr>
              <a:t>are trying </a:t>
            </a:r>
            <a:r>
              <a:rPr lang="en-US" dirty="0">
                <a:solidFill>
                  <a:srgbClr val="FF0000"/>
                </a:solidFill>
              </a:rPr>
              <a:t>to </a:t>
            </a:r>
            <a:r>
              <a:rPr lang="en-US" dirty="0">
                <a:solidFill>
                  <a:srgbClr val="008000"/>
                </a:solidFill>
              </a:rPr>
              <a:t>identify </a:t>
            </a:r>
            <a:r>
              <a:rPr lang="en-US" dirty="0">
                <a:solidFill>
                  <a:srgbClr val="FF0000"/>
                </a:solidFill>
              </a:rPr>
              <a:t>because </a:t>
            </a:r>
            <a:r>
              <a:rPr lang="en-US" dirty="0">
                <a:solidFill>
                  <a:srgbClr val="008000"/>
                </a:solidFill>
              </a:rPr>
              <a:t>several </a:t>
            </a:r>
            <a:r>
              <a:rPr lang="en-US" dirty="0">
                <a:solidFill>
                  <a:srgbClr val="FF0000"/>
                </a:solidFill>
              </a:rPr>
              <a:t>departments work </a:t>
            </a:r>
            <a:r>
              <a:rPr lang="en-US" dirty="0">
                <a:solidFill>
                  <a:srgbClr val="008000"/>
                </a:solidFill>
              </a:rPr>
              <a:t>together with each task</a:t>
            </a:r>
            <a:r>
              <a:rPr lang="en-US" dirty="0">
                <a:solidFill>
                  <a:srgbClr val="FF0000"/>
                </a:solidFill>
              </a:rPr>
              <a:t>. When </a:t>
            </a:r>
            <a:r>
              <a:rPr lang="en-US" dirty="0">
                <a:solidFill>
                  <a:srgbClr val="008000"/>
                </a:solidFill>
              </a:rPr>
              <a:t>crashes </a:t>
            </a:r>
            <a:r>
              <a:rPr lang="en-US" dirty="0">
                <a:solidFill>
                  <a:srgbClr val="FF0000"/>
                </a:solidFill>
              </a:rPr>
              <a:t>occur, it can be </a:t>
            </a:r>
            <a:r>
              <a:rPr lang="en-US" dirty="0">
                <a:solidFill>
                  <a:srgbClr val="008000"/>
                </a:solidFill>
              </a:rPr>
              <a:t>difficult </a:t>
            </a:r>
            <a:r>
              <a:rPr lang="en-US" dirty="0">
                <a:solidFill>
                  <a:srgbClr val="FF0000"/>
                </a:solidFill>
              </a:rPr>
              <a:t>to </a:t>
            </a:r>
            <a:r>
              <a:rPr lang="en-US" dirty="0">
                <a:solidFill>
                  <a:srgbClr val="008000"/>
                </a:solidFill>
              </a:rPr>
              <a:t>understand </a:t>
            </a:r>
            <a:r>
              <a:rPr lang="en-US" dirty="0">
                <a:solidFill>
                  <a:srgbClr val="FF0000"/>
                </a:solidFill>
              </a:rPr>
              <a:t>if ethical </a:t>
            </a:r>
            <a:r>
              <a:rPr lang="en-US" dirty="0">
                <a:solidFill>
                  <a:srgbClr val="008000"/>
                </a:solidFill>
              </a:rPr>
              <a:t>limits </a:t>
            </a:r>
            <a:r>
              <a:rPr lang="en-US" dirty="0">
                <a:solidFill>
                  <a:srgbClr val="FF0000"/>
                </a:solidFill>
              </a:rPr>
              <a:t>were </a:t>
            </a:r>
            <a:r>
              <a:rPr lang="en-US" dirty="0">
                <a:solidFill>
                  <a:srgbClr val="008000"/>
                </a:solidFill>
              </a:rPr>
              <a:t>violated </a:t>
            </a:r>
            <a:r>
              <a:rPr lang="en-US" dirty="0">
                <a:solidFill>
                  <a:srgbClr val="FF0000"/>
                </a:solidFill>
              </a:rPr>
              <a:t>and at which point </a:t>
            </a:r>
            <a:r>
              <a:rPr lang="en-US" dirty="0">
                <a:solidFill>
                  <a:srgbClr val="008000"/>
                </a:solidFill>
              </a:rPr>
              <a:t>someone</a:t>
            </a:r>
            <a:r>
              <a:rPr lang="en-US" dirty="0">
                <a:solidFill>
                  <a:srgbClr val="FF0000"/>
                </a:solidFill>
              </a:rPr>
              <a:t> was more responsible than </a:t>
            </a:r>
            <a:r>
              <a:rPr lang="en-US" dirty="0">
                <a:solidFill>
                  <a:srgbClr val="008000"/>
                </a:solidFill>
              </a:rPr>
              <a:t>someone else</a:t>
            </a:r>
            <a:r>
              <a:rPr lang="en-US" dirty="0">
                <a:solidFill>
                  <a:srgbClr val="FF0000"/>
                </a:solidFill>
              </a:rPr>
              <a:t>.</a:t>
            </a:r>
          </a:p>
          <a:p>
            <a:endParaRPr lang="en-IN" dirty="0"/>
          </a:p>
        </p:txBody>
      </p:sp>
    </p:spTree>
    <p:extLst>
      <p:ext uri="{BB962C8B-B14F-4D97-AF65-F5344CB8AC3E}">
        <p14:creationId xmlns:p14="http://schemas.microsoft.com/office/powerpoint/2010/main" val="32772532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solidFill>
                  <a:schemeClr val="tx1">
                    <a:lumMod val="65000"/>
                    <a:lumOff val="35000"/>
                  </a:schemeClr>
                </a:solidFill>
              </a:rPr>
              <a:t>Good paraphrase: </a:t>
            </a:r>
            <a:endParaRPr lang="en-US" b="1" dirty="0" smtClean="0">
              <a:solidFill>
                <a:schemeClr val="tx1">
                  <a:lumMod val="65000"/>
                  <a:lumOff val="35000"/>
                </a:schemeClr>
              </a:solidFill>
            </a:endParaRPr>
          </a:p>
          <a:p>
            <a:r>
              <a:rPr lang="en-US" dirty="0" smtClean="0">
                <a:solidFill>
                  <a:srgbClr val="008000"/>
                </a:solidFill>
              </a:rPr>
              <a:t>Within </a:t>
            </a:r>
            <a:r>
              <a:rPr lang="en-US" dirty="0">
                <a:solidFill>
                  <a:srgbClr val="008000"/>
                </a:solidFill>
              </a:rPr>
              <a:t>the </a:t>
            </a:r>
            <a:r>
              <a:rPr lang="en-US" dirty="0">
                <a:solidFill>
                  <a:srgbClr val="FF0000"/>
                </a:solidFill>
              </a:rPr>
              <a:t>aviation industry</a:t>
            </a:r>
            <a:r>
              <a:rPr lang="en-US" dirty="0">
                <a:solidFill>
                  <a:srgbClr val="008000"/>
                </a:solidFill>
              </a:rPr>
              <a:t>, identifying </a:t>
            </a:r>
            <a:r>
              <a:rPr lang="en-US" dirty="0">
                <a:solidFill>
                  <a:srgbClr val="FF0000"/>
                </a:solidFill>
              </a:rPr>
              <a:t>ethical issues </a:t>
            </a:r>
            <a:r>
              <a:rPr lang="en-US" dirty="0" smtClean="0">
                <a:solidFill>
                  <a:srgbClr val="008000"/>
                </a:solidFill>
              </a:rPr>
              <a:t>might be </a:t>
            </a:r>
            <a:r>
              <a:rPr lang="en-US" dirty="0" smtClean="0">
                <a:solidFill>
                  <a:srgbClr val="FF0000"/>
                </a:solidFill>
              </a:rPr>
              <a:t>difficult </a:t>
            </a:r>
            <a:r>
              <a:rPr lang="en-US" dirty="0" smtClean="0">
                <a:solidFill>
                  <a:srgbClr val="008000"/>
                </a:solidFill>
              </a:rPr>
              <a:t>and evasive at times due to the cooperative nature of </a:t>
            </a:r>
            <a:r>
              <a:rPr lang="en-US" dirty="0" smtClean="0">
                <a:solidFill>
                  <a:srgbClr val="FF0000"/>
                </a:solidFill>
              </a:rPr>
              <a:t>departments</a:t>
            </a:r>
            <a:r>
              <a:rPr lang="en-US" dirty="0" smtClean="0">
                <a:solidFill>
                  <a:srgbClr val="008000"/>
                </a:solidFill>
              </a:rPr>
              <a:t>, such as operating an aircraft, when multiple individuals participate in one action. Therefore, </a:t>
            </a:r>
            <a:r>
              <a:rPr lang="en-US" dirty="0" smtClean="0">
                <a:solidFill>
                  <a:srgbClr val="FF0000"/>
                </a:solidFill>
              </a:rPr>
              <a:t>point</a:t>
            </a:r>
            <a:r>
              <a:rPr lang="en-US" dirty="0" smtClean="0">
                <a:solidFill>
                  <a:srgbClr val="008000"/>
                </a:solidFill>
              </a:rPr>
              <a:t>ing the finger at </a:t>
            </a:r>
            <a:r>
              <a:rPr lang="en-US" dirty="0" smtClean="0">
                <a:solidFill>
                  <a:srgbClr val="FF0000"/>
                </a:solidFill>
              </a:rPr>
              <a:t>one individual </a:t>
            </a:r>
            <a:r>
              <a:rPr lang="en-US" dirty="0" smtClean="0">
                <a:solidFill>
                  <a:srgbClr val="008000"/>
                </a:solidFill>
              </a:rPr>
              <a:t>can be impossible when clear lines for </a:t>
            </a:r>
            <a:r>
              <a:rPr lang="en-US" dirty="0" smtClean="0">
                <a:solidFill>
                  <a:srgbClr val="FF0000"/>
                </a:solidFill>
              </a:rPr>
              <a:t>responsib</a:t>
            </a:r>
            <a:r>
              <a:rPr lang="en-US" dirty="0" smtClean="0">
                <a:solidFill>
                  <a:srgbClr val="008000"/>
                </a:solidFill>
              </a:rPr>
              <a:t>ility are not drawn.</a:t>
            </a:r>
            <a:endParaRPr lang="en-US" dirty="0">
              <a:solidFill>
                <a:srgbClr val="008000"/>
              </a:solidFill>
            </a:endParaRPr>
          </a:p>
          <a:p>
            <a:endParaRPr lang="en-IN" dirty="0"/>
          </a:p>
        </p:txBody>
      </p:sp>
    </p:spTree>
    <p:extLst>
      <p:ext uri="{BB962C8B-B14F-4D97-AF65-F5344CB8AC3E}">
        <p14:creationId xmlns:p14="http://schemas.microsoft.com/office/powerpoint/2010/main" val="16514475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838200" y="365125"/>
            <a:ext cx="10515600" cy="5811838"/>
          </a:xfrm>
        </p:spPr>
        <p:txBody>
          <a:bodyPr>
            <a:normAutofit lnSpcReduction="10000"/>
          </a:bodyPr>
          <a:lstStyle/>
          <a:p>
            <a:r>
              <a:rPr lang="en-US" b="1" dirty="0" smtClean="0"/>
              <a:t>Original sentence: </a:t>
            </a:r>
            <a:r>
              <a:rPr lang="en-US" dirty="0" smtClean="0"/>
              <a:t>The marketing campaigns of Fortune 500 companies is often found to follow or in some cases be ahead of purchasing trends of their identified consumers. Many contribute this ability to lead consumers’ buying power to basic tasks such as customer surveys and global comparisons of economic factors.</a:t>
            </a:r>
          </a:p>
          <a:p>
            <a:r>
              <a:rPr lang="en-US" b="1" dirty="0">
                <a:solidFill>
                  <a:schemeClr val="tx1">
                    <a:lumMod val="65000"/>
                    <a:lumOff val="35000"/>
                  </a:schemeClr>
                </a:solidFill>
              </a:rPr>
              <a:t>Poor paraphrase: </a:t>
            </a:r>
            <a:r>
              <a:rPr lang="en-US" dirty="0" smtClean="0">
                <a:solidFill>
                  <a:srgbClr val="FF0000"/>
                </a:solidFill>
              </a:rPr>
              <a:t>The marketing </a:t>
            </a:r>
            <a:r>
              <a:rPr lang="en-US" dirty="0" smtClean="0">
                <a:solidFill>
                  <a:srgbClr val="008000"/>
                </a:solidFill>
              </a:rPr>
              <a:t>strategies </a:t>
            </a:r>
            <a:r>
              <a:rPr lang="en-US" dirty="0" smtClean="0">
                <a:solidFill>
                  <a:srgbClr val="FF0000"/>
                </a:solidFill>
              </a:rPr>
              <a:t>of Fortune 500 companies </a:t>
            </a:r>
            <a:r>
              <a:rPr lang="en-US" dirty="0" smtClean="0">
                <a:solidFill>
                  <a:srgbClr val="008000"/>
                </a:solidFill>
              </a:rPr>
              <a:t>usually</a:t>
            </a:r>
            <a:r>
              <a:rPr lang="en-US" dirty="0" smtClean="0">
                <a:solidFill>
                  <a:srgbClr val="FF0000"/>
                </a:solidFill>
              </a:rPr>
              <a:t> follow</a:t>
            </a:r>
            <a:r>
              <a:rPr lang="en-US" dirty="0" smtClean="0">
                <a:solidFill>
                  <a:srgbClr val="008000"/>
                </a:solidFill>
              </a:rPr>
              <a:t>s</a:t>
            </a:r>
            <a:r>
              <a:rPr lang="en-US" dirty="0" smtClean="0">
                <a:solidFill>
                  <a:srgbClr val="FF0000"/>
                </a:solidFill>
              </a:rPr>
              <a:t> or in some case </a:t>
            </a:r>
            <a:r>
              <a:rPr lang="en-US" dirty="0" smtClean="0">
                <a:solidFill>
                  <a:srgbClr val="008000"/>
                </a:solidFill>
              </a:rPr>
              <a:t>is </a:t>
            </a:r>
            <a:r>
              <a:rPr lang="en-US" dirty="0" smtClean="0">
                <a:solidFill>
                  <a:srgbClr val="FF0000"/>
                </a:solidFill>
              </a:rPr>
              <a:t>ahead of </a:t>
            </a:r>
            <a:r>
              <a:rPr lang="en-US" dirty="0" smtClean="0">
                <a:solidFill>
                  <a:srgbClr val="008000"/>
                </a:solidFill>
              </a:rPr>
              <a:t>buying </a:t>
            </a:r>
            <a:r>
              <a:rPr lang="en-US" dirty="0" smtClean="0">
                <a:solidFill>
                  <a:srgbClr val="FF0000"/>
                </a:solidFill>
              </a:rPr>
              <a:t>trends of their </a:t>
            </a:r>
            <a:r>
              <a:rPr lang="en-US" dirty="0" smtClean="0">
                <a:solidFill>
                  <a:srgbClr val="008000"/>
                </a:solidFill>
              </a:rPr>
              <a:t>customers </a:t>
            </a:r>
            <a:r>
              <a:rPr lang="en-US" dirty="0" smtClean="0">
                <a:solidFill>
                  <a:srgbClr val="FF0000"/>
                </a:solidFill>
              </a:rPr>
              <a:t>. </a:t>
            </a:r>
            <a:r>
              <a:rPr lang="en-US" dirty="0" smtClean="0">
                <a:solidFill>
                  <a:srgbClr val="008000"/>
                </a:solidFill>
              </a:rPr>
              <a:t>Experts </a:t>
            </a:r>
            <a:r>
              <a:rPr lang="en-US" dirty="0" smtClean="0">
                <a:solidFill>
                  <a:srgbClr val="FF0000"/>
                </a:solidFill>
              </a:rPr>
              <a:t>contribute this </a:t>
            </a:r>
            <a:r>
              <a:rPr lang="en-US" dirty="0" smtClean="0">
                <a:solidFill>
                  <a:srgbClr val="008000"/>
                </a:solidFill>
              </a:rPr>
              <a:t>phenomenon </a:t>
            </a:r>
            <a:r>
              <a:rPr lang="en-US" dirty="0" smtClean="0">
                <a:solidFill>
                  <a:srgbClr val="FF0000"/>
                </a:solidFill>
              </a:rPr>
              <a:t>to lead </a:t>
            </a:r>
            <a:r>
              <a:rPr lang="en-US" dirty="0" smtClean="0">
                <a:solidFill>
                  <a:srgbClr val="008000"/>
                </a:solidFill>
              </a:rPr>
              <a:t>customers’</a:t>
            </a:r>
            <a:r>
              <a:rPr lang="en-US" dirty="0" smtClean="0">
                <a:solidFill>
                  <a:srgbClr val="FF0000"/>
                </a:solidFill>
              </a:rPr>
              <a:t> </a:t>
            </a:r>
            <a:r>
              <a:rPr lang="en-US" dirty="0" smtClean="0">
                <a:solidFill>
                  <a:srgbClr val="008000"/>
                </a:solidFill>
              </a:rPr>
              <a:t>purchasing </a:t>
            </a:r>
            <a:r>
              <a:rPr lang="en-US" dirty="0" smtClean="0">
                <a:solidFill>
                  <a:srgbClr val="FF0000"/>
                </a:solidFill>
              </a:rPr>
              <a:t>power to tasks such as </a:t>
            </a:r>
            <a:r>
              <a:rPr lang="en-US" dirty="0" smtClean="0">
                <a:solidFill>
                  <a:srgbClr val="008000"/>
                </a:solidFill>
              </a:rPr>
              <a:t>client </a:t>
            </a:r>
            <a:r>
              <a:rPr lang="en-US" dirty="0" smtClean="0">
                <a:solidFill>
                  <a:srgbClr val="FF0000"/>
                </a:solidFill>
              </a:rPr>
              <a:t>surveys and comparisons of </a:t>
            </a:r>
            <a:r>
              <a:rPr lang="en-US" dirty="0" smtClean="0">
                <a:solidFill>
                  <a:schemeClr val="accent2">
                    <a:lumMod val="75000"/>
                  </a:schemeClr>
                </a:solidFill>
              </a:rPr>
              <a:t>global </a:t>
            </a:r>
            <a:r>
              <a:rPr lang="en-US" dirty="0" smtClean="0">
                <a:solidFill>
                  <a:srgbClr val="FF0000"/>
                </a:solidFill>
              </a:rPr>
              <a:t>economic factors.</a:t>
            </a:r>
          </a:p>
          <a:p>
            <a:r>
              <a:rPr lang="en-US" b="1" dirty="0">
                <a:solidFill>
                  <a:schemeClr val="tx1">
                    <a:lumMod val="65000"/>
                    <a:lumOff val="35000"/>
                  </a:schemeClr>
                </a:solidFill>
              </a:rPr>
              <a:t>Good paraphrase: </a:t>
            </a:r>
            <a:r>
              <a:rPr lang="en-US" dirty="0">
                <a:solidFill>
                  <a:srgbClr val="008000"/>
                </a:solidFill>
              </a:rPr>
              <a:t>Research has </a:t>
            </a:r>
            <a:r>
              <a:rPr lang="en-US" dirty="0" smtClean="0">
                <a:solidFill>
                  <a:srgbClr val="008000"/>
                </a:solidFill>
              </a:rPr>
              <a:t>identified </a:t>
            </a:r>
            <a:r>
              <a:rPr lang="en-US" dirty="0">
                <a:solidFill>
                  <a:srgbClr val="008000"/>
                </a:solidFill>
              </a:rPr>
              <a:t>a phenomenon </a:t>
            </a:r>
            <a:r>
              <a:rPr lang="en-US" dirty="0" smtClean="0">
                <a:solidFill>
                  <a:srgbClr val="008000"/>
                </a:solidFill>
              </a:rPr>
              <a:t>in which </a:t>
            </a:r>
            <a:r>
              <a:rPr lang="en-US" dirty="0" smtClean="0">
                <a:solidFill>
                  <a:srgbClr val="FF0000"/>
                </a:solidFill>
              </a:rPr>
              <a:t>Fortune 500 companies </a:t>
            </a:r>
            <a:r>
              <a:rPr lang="en-US" dirty="0" smtClean="0">
                <a:solidFill>
                  <a:srgbClr val="008000"/>
                </a:solidFill>
              </a:rPr>
              <a:t>are able to guide their </a:t>
            </a:r>
            <a:r>
              <a:rPr lang="en-US" dirty="0" smtClean="0">
                <a:solidFill>
                  <a:srgbClr val="FF0000"/>
                </a:solidFill>
              </a:rPr>
              <a:t>consumers </a:t>
            </a:r>
            <a:r>
              <a:rPr lang="en-US" dirty="0" smtClean="0">
                <a:solidFill>
                  <a:srgbClr val="008000"/>
                </a:solidFill>
              </a:rPr>
              <a:t>toward specific purchases through </a:t>
            </a:r>
            <a:r>
              <a:rPr lang="en-US" dirty="0" smtClean="0">
                <a:solidFill>
                  <a:srgbClr val="FF0000"/>
                </a:solidFill>
              </a:rPr>
              <a:t>marketing </a:t>
            </a:r>
            <a:r>
              <a:rPr lang="en-US" dirty="0" smtClean="0">
                <a:solidFill>
                  <a:srgbClr val="008000"/>
                </a:solidFill>
              </a:rPr>
              <a:t>items such as consideration of </a:t>
            </a:r>
            <a:r>
              <a:rPr lang="en-US" dirty="0" smtClean="0">
                <a:solidFill>
                  <a:srgbClr val="FF0000"/>
                </a:solidFill>
              </a:rPr>
              <a:t>economic factors</a:t>
            </a:r>
            <a:r>
              <a:rPr lang="en-US" dirty="0" smtClean="0">
                <a:solidFill>
                  <a:srgbClr val="008000"/>
                </a:solidFill>
              </a:rPr>
              <a:t> and </a:t>
            </a:r>
            <a:r>
              <a:rPr lang="en-US" dirty="0" smtClean="0">
                <a:solidFill>
                  <a:srgbClr val="FF0000"/>
                </a:solidFill>
              </a:rPr>
              <a:t>survey </a:t>
            </a:r>
            <a:r>
              <a:rPr lang="en-US" dirty="0" smtClean="0">
                <a:solidFill>
                  <a:srgbClr val="008000"/>
                </a:solidFill>
              </a:rPr>
              <a:t>responses; this event shows that such companies often employ </a:t>
            </a:r>
            <a:r>
              <a:rPr lang="en-US" dirty="0" smtClean="0">
                <a:solidFill>
                  <a:srgbClr val="FF0000"/>
                </a:solidFill>
              </a:rPr>
              <a:t>marketing </a:t>
            </a:r>
            <a:r>
              <a:rPr lang="en-US" dirty="0" smtClean="0">
                <a:solidFill>
                  <a:srgbClr val="008000"/>
                </a:solidFill>
              </a:rPr>
              <a:t>strategies that anticipate consumers’ purchases and follow in buying </a:t>
            </a:r>
            <a:r>
              <a:rPr lang="en-US" dirty="0" smtClean="0">
                <a:solidFill>
                  <a:srgbClr val="FF0000"/>
                </a:solidFill>
              </a:rPr>
              <a:t>trends</a:t>
            </a:r>
            <a:r>
              <a:rPr lang="en-US" dirty="0" smtClean="0">
                <a:solidFill>
                  <a:srgbClr val="008000"/>
                </a:solidFill>
              </a:rPr>
              <a:t>.</a:t>
            </a:r>
            <a:endParaRPr lang="en-US" dirty="0">
              <a:solidFill>
                <a:srgbClr val="008000"/>
              </a:solidFill>
            </a:endParaRPr>
          </a:p>
          <a:p>
            <a:endParaRPr lang="en-US" dirty="0">
              <a:solidFill>
                <a:srgbClr val="FF0000"/>
              </a:solidFill>
            </a:endParaRPr>
          </a:p>
          <a:p>
            <a:endParaRPr lang="en-IN" dirty="0"/>
          </a:p>
        </p:txBody>
      </p:sp>
    </p:spTree>
    <p:extLst>
      <p:ext uri="{BB962C8B-B14F-4D97-AF65-F5344CB8AC3E}">
        <p14:creationId xmlns:p14="http://schemas.microsoft.com/office/powerpoint/2010/main" val="27032669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Now you try—is this a good paraphrase?</a:t>
            </a:r>
            <a:endParaRPr lang="en-IN" b="1" dirty="0"/>
          </a:p>
        </p:txBody>
      </p:sp>
      <p:sp>
        <p:nvSpPr>
          <p:cNvPr id="3" name="Content Placeholder 2"/>
          <p:cNvSpPr>
            <a:spLocks noGrp="1"/>
          </p:cNvSpPr>
          <p:nvPr>
            <p:ph idx="1"/>
          </p:nvPr>
        </p:nvSpPr>
        <p:spPr/>
        <p:txBody>
          <a:bodyPr/>
          <a:lstStyle/>
          <a:p>
            <a:r>
              <a:rPr lang="en-US" b="1" dirty="0" smtClean="0"/>
              <a:t>Original sentence: </a:t>
            </a:r>
            <a:r>
              <a:rPr lang="en-US" dirty="0" smtClean="0"/>
              <a:t>The McDonnell Douglas DC-10 was designed to carry 250-380 passengers for long domestic flights and upon its introduction to the market carried brought about new features, such as an outward-opening cargo door to offer more space for luggage. However, two major in-flight accidents, one in 1974 and one in 1979, occurred on DC-10s as a result of an improperly locking mechanism that could not keep the cargo door shut when the aircraft was pressurized. After an investigation, the National Transportation Safety Board, which ensures safety in the aviation industry, required McDonnell Douglas to replace the cargo door mechanisms in a way that prevented them from failing during flight.</a:t>
            </a:r>
          </a:p>
          <a:p>
            <a:endParaRPr lang="en-IN" dirty="0"/>
          </a:p>
        </p:txBody>
      </p:sp>
    </p:spTree>
    <p:extLst>
      <p:ext uri="{BB962C8B-B14F-4D97-AF65-F5344CB8AC3E}">
        <p14:creationId xmlns:p14="http://schemas.microsoft.com/office/powerpoint/2010/main" val="3476778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latin typeface="Arial"/>
                <a:cs typeface="Arial"/>
              </a:rPr>
              <a:t>Paraphrase: </a:t>
            </a:r>
            <a:r>
              <a:rPr lang="en-US" dirty="0" smtClean="0">
                <a:latin typeface="Arial"/>
                <a:cs typeface="Arial"/>
              </a:rPr>
              <a:t>Many commercial aircraft are introduced to the market with design flaws that carry disastrous consequences. For example, the McDonnell Douglas DC-10, used for domestic flights, introduced new features, such as a more spacious outward-opening cargo door. Due to a poor locking mechanism, two major in-flight accidents occurred with the aircraft because the cargo door would be blown open during flight when the aircraft was pressurized. After their investigation, the NTSB required McDonnell Douglas to repair the cargo door mechanisms to prevent further during flight.</a:t>
            </a:r>
            <a:endParaRPr lang="en-US" dirty="0">
              <a:latin typeface="Arial"/>
              <a:cs typeface="Arial"/>
            </a:endParaRPr>
          </a:p>
          <a:p>
            <a:endParaRPr lang="en-IN" dirty="0"/>
          </a:p>
        </p:txBody>
      </p:sp>
    </p:spTree>
    <p:extLst>
      <p:ext uri="{BB962C8B-B14F-4D97-AF65-F5344CB8AC3E}">
        <p14:creationId xmlns:p14="http://schemas.microsoft.com/office/powerpoint/2010/main" val="822933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latin typeface="Arial"/>
                <a:cs typeface="Arial"/>
              </a:rPr>
              <a:t>Paraphrase: </a:t>
            </a:r>
            <a:r>
              <a:rPr lang="en-US" dirty="0" smtClean="0">
                <a:latin typeface="Arial"/>
                <a:cs typeface="Arial"/>
              </a:rPr>
              <a:t>Many commercial aircraft are introduced to the market with design flaws that carry disastrous consequences. </a:t>
            </a:r>
            <a:r>
              <a:rPr lang="en-US" u="sng" dirty="0" smtClean="0">
                <a:solidFill>
                  <a:srgbClr val="008000"/>
                </a:solidFill>
                <a:latin typeface="Arial"/>
                <a:cs typeface="Arial"/>
              </a:rPr>
              <a:t>For example, </a:t>
            </a:r>
            <a:r>
              <a:rPr lang="en-US" u="sng" dirty="0" smtClean="0">
                <a:solidFill>
                  <a:srgbClr val="FF0000"/>
                </a:solidFill>
                <a:latin typeface="Arial"/>
                <a:cs typeface="Arial"/>
              </a:rPr>
              <a:t>the McDonnell Douglas DC-10</a:t>
            </a:r>
            <a:r>
              <a:rPr lang="en-US" u="sng" dirty="0" smtClean="0">
                <a:solidFill>
                  <a:srgbClr val="008000"/>
                </a:solidFill>
                <a:latin typeface="Arial"/>
                <a:cs typeface="Arial"/>
              </a:rPr>
              <a:t>, used for </a:t>
            </a:r>
            <a:r>
              <a:rPr lang="en-US" u="sng" dirty="0" smtClean="0">
                <a:solidFill>
                  <a:srgbClr val="FF0000"/>
                </a:solidFill>
                <a:latin typeface="Arial"/>
                <a:cs typeface="Arial"/>
              </a:rPr>
              <a:t>domestic flights</a:t>
            </a:r>
            <a:r>
              <a:rPr lang="en-US" u="sng" dirty="0" smtClean="0">
                <a:solidFill>
                  <a:srgbClr val="008000"/>
                </a:solidFill>
                <a:latin typeface="Arial"/>
                <a:cs typeface="Arial"/>
              </a:rPr>
              <a:t>, introduced </a:t>
            </a:r>
            <a:r>
              <a:rPr lang="en-US" u="sng" dirty="0" smtClean="0">
                <a:solidFill>
                  <a:srgbClr val="FF0000"/>
                </a:solidFill>
                <a:latin typeface="Arial"/>
                <a:cs typeface="Arial"/>
              </a:rPr>
              <a:t>new features, such as </a:t>
            </a:r>
            <a:r>
              <a:rPr lang="en-US" u="sng" dirty="0" smtClean="0">
                <a:solidFill>
                  <a:srgbClr val="008000"/>
                </a:solidFill>
                <a:latin typeface="Arial"/>
                <a:cs typeface="Arial"/>
              </a:rPr>
              <a:t>a more spacious </a:t>
            </a:r>
            <a:r>
              <a:rPr lang="en-US" u="sng" dirty="0" smtClean="0">
                <a:solidFill>
                  <a:srgbClr val="FF0000"/>
                </a:solidFill>
                <a:latin typeface="Arial"/>
                <a:cs typeface="Arial"/>
              </a:rPr>
              <a:t>outward-opening cargo door</a:t>
            </a:r>
            <a:r>
              <a:rPr lang="en-US" u="sng" dirty="0" smtClean="0">
                <a:solidFill>
                  <a:srgbClr val="008000"/>
                </a:solidFill>
                <a:latin typeface="Arial"/>
                <a:cs typeface="Arial"/>
              </a:rPr>
              <a:t>. </a:t>
            </a:r>
            <a:r>
              <a:rPr lang="en-US" dirty="0" smtClean="0">
                <a:solidFill>
                  <a:srgbClr val="008000"/>
                </a:solidFill>
                <a:latin typeface="Arial"/>
                <a:cs typeface="Arial"/>
              </a:rPr>
              <a:t>Due to a poor </a:t>
            </a:r>
            <a:r>
              <a:rPr lang="en-US" dirty="0" smtClean="0">
                <a:solidFill>
                  <a:srgbClr val="FF0000"/>
                </a:solidFill>
                <a:latin typeface="Arial"/>
                <a:cs typeface="Arial"/>
              </a:rPr>
              <a:t>locking mechanism</a:t>
            </a:r>
            <a:r>
              <a:rPr lang="en-US" dirty="0" smtClean="0">
                <a:solidFill>
                  <a:srgbClr val="008000"/>
                </a:solidFill>
                <a:latin typeface="Arial"/>
                <a:cs typeface="Arial"/>
              </a:rPr>
              <a:t>, </a:t>
            </a:r>
            <a:r>
              <a:rPr lang="en-US" u="sng" dirty="0" smtClean="0">
                <a:solidFill>
                  <a:srgbClr val="FF0000"/>
                </a:solidFill>
                <a:latin typeface="Arial"/>
                <a:cs typeface="Arial"/>
              </a:rPr>
              <a:t>two major in-flight accidents </a:t>
            </a:r>
            <a:r>
              <a:rPr lang="en-US" u="sng" dirty="0" smtClean="0">
                <a:solidFill>
                  <a:srgbClr val="008000"/>
                </a:solidFill>
                <a:latin typeface="Arial"/>
                <a:cs typeface="Arial"/>
              </a:rPr>
              <a:t>occurred with the aircraft because the cargo door would be blown open during flight </a:t>
            </a:r>
            <a:r>
              <a:rPr lang="en-US" u="sng" dirty="0" smtClean="0">
                <a:solidFill>
                  <a:srgbClr val="FF0000"/>
                </a:solidFill>
                <a:latin typeface="Arial"/>
                <a:cs typeface="Arial"/>
              </a:rPr>
              <a:t>when the aircraft was pressurized</a:t>
            </a:r>
            <a:r>
              <a:rPr lang="en-US" dirty="0" smtClean="0">
                <a:solidFill>
                  <a:srgbClr val="008000"/>
                </a:solidFill>
                <a:latin typeface="Arial"/>
                <a:cs typeface="Arial"/>
              </a:rPr>
              <a:t>. </a:t>
            </a:r>
            <a:r>
              <a:rPr lang="en-US" u="sng" dirty="0" smtClean="0">
                <a:solidFill>
                  <a:srgbClr val="FF0000"/>
                </a:solidFill>
                <a:latin typeface="Arial"/>
                <a:cs typeface="Arial"/>
              </a:rPr>
              <a:t>After </a:t>
            </a:r>
            <a:r>
              <a:rPr lang="en-US" u="sng" dirty="0" smtClean="0">
                <a:solidFill>
                  <a:srgbClr val="008000"/>
                </a:solidFill>
                <a:latin typeface="Arial"/>
                <a:cs typeface="Arial"/>
              </a:rPr>
              <a:t>their </a:t>
            </a:r>
            <a:r>
              <a:rPr lang="en-US" u="sng" dirty="0" smtClean="0">
                <a:solidFill>
                  <a:srgbClr val="FF0000"/>
                </a:solidFill>
                <a:latin typeface="Arial"/>
                <a:cs typeface="Arial"/>
              </a:rPr>
              <a:t>investigation</a:t>
            </a:r>
            <a:r>
              <a:rPr lang="en-US" u="sng" dirty="0" smtClean="0">
                <a:solidFill>
                  <a:srgbClr val="008000"/>
                </a:solidFill>
                <a:latin typeface="Arial"/>
                <a:cs typeface="Arial"/>
              </a:rPr>
              <a:t>, the NTSB </a:t>
            </a:r>
            <a:r>
              <a:rPr lang="en-US" u="sng" dirty="0" smtClean="0">
                <a:solidFill>
                  <a:srgbClr val="FF0000"/>
                </a:solidFill>
                <a:latin typeface="Arial"/>
                <a:cs typeface="Arial"/>
              </a:rPr>
              <a:t>required McDonnell Douglas </a:t>
            </a:r>
            <a:r>
              <a:rPr lang="en-US" u="sng" dirty="0" smtClean="0">
                <a:solidFill>
                  <a:srgbClr val="008000"/>
                </a:solidFill>
                <a:latin typeface="Arial"/>
                <a:cs typeface="Arial"/>
              </a:rPr>
              <a:t>to repair </a:t>
            </a:r>
            <a:r>
              <a:rPr lang="en-US" u="sng" dirty="0" smtClean="0">
                <a:solidFill>
                  <a:srgbClr val="FF0000"/>
                </a:solidFill>
                <a:latin typeface="Arial"/>
                <a:cs typeface="Arial"/>
              </a:rPr>
              <a:t>the cargo door mechanisms </a:t>
            </a:r>
            <a:r>
              <a:rPr lang="en-US" u="sng" dirty="0" smtClean="0">
                <a:solidFill>
                  <a:srgbClr val="008000"/>
                </a:solidFill>
                <a:latin typeface="Arial"/>
                <a:cs typeface="Arial"/>
              </a:rPr>
              <a:t>to prevent further </a:t>
            </a:r>
            <a:r>
              <a:rPr lang="en-US" u="sng" dirty="0" smtClean="0">
                <a:solidFill>
                  <a:srgbClr val="FF0000"/>
                </a:solidFill>
                <a:latin typeface="Arial"/>
                <a:cs typeface="Arial"/>
              </a:rPr>
              <a:t>failure during flight</a:t>
            </a:r>
            <a:r>
              <a:rPr lang="en-US" dirty="0" smtClean="0">
                <a:solidFill>
                  <a:srgbClr val="008000"/>
                </a:solidFill>
                <a:latin typeface="Arial"/>
                <a:cs typeface="Arial"/>
              </a:rPr>
              <a:t>.</a:t>
            </a:r>
            <a:endParaRPr lang="en-US" dirty="0">
              <a:solidFill>
                <a:srgbClr val="008000"/>
              </a:solidFill>
              <a:latin typeface="Arial"/>
              <a:cs typeface="Arial"/>
            </a:endParaRPr>
          </a:p>
          <a:p>
            <a:endParaRPr lang="en-IN" dirty="0"/>
          </a:p>
        </p:txBody>
      </p:sp>
    </p:spTree>
    <p:extLst>
      <p:ext uri="{BB962C8B-B14F-4D97-AF65-F5344CB8AC3E}">
        <p14:creationId xmlns:p14="http://schemas.microsoft.com/office/powerpoint/2010/main" val="3812282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850557965"/>
              </p:ext>
            </p:extLst>
          </p:nvPr>
        </p:nvGraphicFramePr>
        <p:xfrm>
          <a:off x="838200" y="1825625"/>
          <a:ext cx="10515600" cy="2108200"/>
        </p:xfrm>
        <a:graphic>
          <a:graphicData uri="http://schemas.openxmlformats.org/drawingml/2006/table">
            <a:tbl>
              <a:tblPr firstRow="1" bandRow="1">
                <a:tableStyleId>{5C22544A-7EE6-4342-B048-85BDC9FD1C3A}</a:tableStyleId>
              </a:tblPr>
              <a:tblGrid>
                <a:gridCol w="5257800"/>
                <a:gridCol w="5257800"/>
              </a:tblGrid>
              <a:tr h="370840">
                <a:tc>
                  <a:txBody>
                    <a:bodyPr/>
                    <a:lstStyle/>
                    <a:p>
                      <a:pPr algn="ctr"/>
                      <a:r>
                        <a:rPr lang="en-IN" dirty="0" smtClean="0"/>
                        <a:t>Original Quotation </a:t>
                      </a:r>
                      <a:endParaRPr lang="en-IN" dirty="0"/>
                    </a:p>
                  </a:txBody>
                  <a:tcPr/>
                </a:tc>
                <a:tc>
                  <a:txBody>
                    <a:bodyPr/>
                    <a:lstStyle/>
                    <a:p>
                      <a:pPr algn="ctr"/>
                      <a:r>
                        <a:rPr lang="en-IN" dirty="0" smtClean="0"/>
                        <a:t>Poor Paraphrase </a:t>
                      </a:r>
                      <a:endParaRPr lang="en-IN" dirty="0"/>
                    </a:p>
                  </a:txBody>
                  <a:tcPr/>
                </a:tc>
              </a:tr>
              <a:tr h="370840">
                <a:tc>
                  <a:txBody>
                    <a:bodyPr/>
                    <a:lstStyle/>
                    <a:p>
                      <a:r>
                        <a:rPr lang="en-IN" dirty="0" smtClean="0"/>
                        <a:t>"Because building on the work of others is one of the defining characteristics of academic writing, academic writers have developed standard systems that clearly identify where specific ideas came from, and that direct other interested persons to these same sourcesʺ (Taylor, 2003, p. 186). </a:t>
                      </a:r>
                      <a:endParaRPr lang="en-IN" dirty="0"/>
                    </a:p>
                  </a:txBody>
                  <a:tcPr/>
                </a:tc>
                <a:tc>
                  <a:txBody>
                    <a:bodyPr/>
                    <a:lstStyle/>
                    <a:p>
                      <a:r>
                        <a:rPr lang="en-IN" dirty="0" smtClean="0"/>
                        <a:t>Because working with the text of others is one of the key characteristics of academic writing, academic writers have created standard systems that identify where key ideas come from, and that point other interested people to these same sources (Taylor, 2003). </a:t>
                      </a:r>
                      <a:endParaRPr lang="en-IN" dirty="0"/>
                    </a:p>
                  </a:txBody>
                  <a:tcPr/>
                </a:tc>
              </a:tr>
            </a:tbl>
          </a:graphicData>
        </a:graphic>
      </p:graphicFrame>
      <p:graphicFrame>
        <p:nvGraphicFramePr>
          <p:cNvPr id="7" name="Content Placeholder 4"/>
          <p:cNvGraphicFramePr>
            <a:graphicFrameLocks/>
          </p:cNvGraphicFramePr>
          <p:nvPr>
            <p:extLst>
              <p:ext uri="{D42A27DB-BD31-4B8C-83A1-F6EECF244321}">
                <p14:modId xmlns:p14="http://schemas.microsoft.com/office/powerpoint/2010/main" val="1658700087"/>
              </p:ext>
            </p:extLst>
          </p:nvPr>
        </p:nvGraphicFramePr>
        <p:xfrm>
          <a:off x="755468" y="4068762"/>
          <a:ext cx="10515600" cy="2382520"/>
        </p:xfrm>
        <a:graphic>
          <a:graphicData uri="http://schemas.openxmlformats.org/drawingml/2006/table">
            <a:tbl>
              <a:tblPr firstRow="1" bandRow="1">
                <a:tableStyleId>{5C22544A-7EE6-4342-B048-85BDC9FD1C3A}</a:tableStyleId>
              </a:tblPr>
              <a:tblGrid>
                <a:gridCol w="5257800"/>
                <a:gridCol w="5257800"/>
              </a:tblGrid>
              <a:tr h="370840">
                <a:tc>
                  <a:txBody>
                    <a:bodyPr/>
                    <a:lstStyle/>
                    <a:p>
                      <a:pPr algn="ctr"/>
                      <a:r>
                        <a:rPr lang="en-IN" dirty="0" smtClean="0"/>
                        <a:t>Better Paraphrase</a:t>
                      </a:r>
                      <a:endParaRPr lang="en-IN" dirty="0"/>
                    </a:p>
                  </a:txBody>
                  <a:tcPr/>
                </a:tc>
                <a:tc>
                  <a:txBody>
                    <a:bodyPr/>
                    <a:lstStyle/>
                    <a:p>
                      <a:pPr algn="ctr"/>
                      <a:r>
                        <a:rPr lang="en-IN" dirty="0" smtClean="0"/>
                        <a:t>Best Paraphrase </a:t>
                      </a:r>
                      <a:endParaRPr lang="en-IN" dirty="0"/>
                    </a:p>
                  </a:txBody>
                  <a:tcPr/>
                </a:tc>
              </a:tr>
              <a:tr h="370840">
                <a:tc>
                  <a:txBody>
                    <a:bodyPr/>
                    <a:lstStyle/>
                    <a:p>
                      <a:r>
                        <a:rPr lang="en-IN" dirty="0" smtClean="0"/>
                        <a:t>Incorporating others'ʹ ideas into academic writing is part of what makes it different from other writing; for this reason, specific ways of citing sources have been established to help readers to know where ideas have come from and how to locate original texts (Taylor, 2003).  </a:t>
                      </a:r>
                      <a:endParaRPr lang="en-IN" dirty="0"/>
                    </a:p>
                  </a:txBody>
                  <a:tcPr/>
                </a:tc>
                <a:tc>
                  <a:txBody>
                    <a:bodyPr/>
                    <a:lstStyle/>
                    <a:p>
                      <a:r>
                        <a:rPr lang="en-IN" dirty="0" smtClean="0"/>
                        <a:t>Academic writing follows established rules and conventions for citing source material so that authors can acknowledge their intellectual debts to their peers and readers can further their research in the same field (Taylor, 2003, p. 186). Taylor considers this reliance on other scholars to be a hallmark of academic writing.</a:t>
                      </a:r>
                      <a:endParaRPr lang="en-IN" dirty="0"/>
                    </a:p>
                  </a:txBody>
                  <a:tcPr/>
                </a:tc>
              </a:tr>
            </a:tbl>
          </a:graphicData>
        </a:graphic>
      </p:graphicFrame>
    </p:spTree>
    <p:extLst>
      <p:ext uri="{BB962C8B-B14F-4D97-AF65-F5344CB8AC3E}">
        <p14:creationId xmlns:p14="http://schemas.microsoft.com/office/powerpoint/2010/main" val="2082574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Time to try your own…</a:t>
            </a:r>
            <a:endParaRPr lang="en-IN" b="1" dirty="0"/>
          </a:p>
        </p:txBody>
      </p:sp>
      <p:sp>
        <p:nvSpPr>
          <p:cNvPr id="3" name="Content Placeholder 2"/>
          <p:cNvSpPr>
            <a:spLocks noGrp="1"/>
          </p:cNvSpPr>
          <p:nvPr>
            <p:ph idx="1"/>
          </p:nvPr>
        </p:nvSpPr>
        <p:spPr/>
        <p:txBody>
          <a:bodyPr>
            <a:normAutofit lnSpcReduction="10000"/>
          </a:bodyPr>
          <a:lstStyle/>
          <a:p>
            <a:r>
              <a:rPr lang="en-US" b="1" dirty="0" smtClean="0"/>
              <a:t>Original sentence: </a:t>
            </a:r>
            <a:r>
              <a:rPr lang="en-US" dirty="0" smtClean="0"/>
              <a:t>Recent studies have found that students pursuing minors along with their degrees tend to have a clearer understanding of their goals and ideas regarding the careers they wish to pursue. As a consequence, the U.S. Department of Education has initiated a program to encourage universities across the country to develop relevant minors to offer to all degree programs. The program, dubbed  Minoring in Educational Success, will launch in 2016 and provide grants up to $100,000 to universities who are initiating a minor program or developing a currently existing minor program to increase their offerings by more than 75%.</a:t>
            </a:r>
          </a:p>
          <a:p>
            <a:r>
              <a:rPr lang="en-US" b="1" dirty="0" smtClean="0">
                <a:latin typeface="Arial"/>
                <a:cs typeface="Arial"/>
              </a:rPr>
              <a:t>What is your p</a:t>
            </a:r>
            <a:r>
              <a:rPr lang="en-US" b="1" dirty="0">
                <a:latin typeface="Arial"/>
                <a:cs typeface="Arial"/>
              </a:rPr>
              <a:t>araphrase</a:t>
            </a:r>
            <a:r>
              <a:rPr lang="en-US" b="1" noProof="0" dirty="0" smtClean="0">
                <a:latin typeface="Arial"/>
                <a:cs typeface="Arial"/>
              </a:rPr>
              <a:t>?</a:t>
            </a:r>
            <a:endParaRPr lang="en-US" dirty="0">
              <a:latin typeface="Arial"/>
              <a:cs typeface="Arial"/>
            </a:endParaRPr>
          </a:p>
        </p:txBody>
      </p:sp>
    </p:spTree>
    <p:extLst>
      <p:ext uri="{BB962C8B-B14F-4D97-AF65-F5344CB8AC3E}">
        <p14:creationId xmlns:p14="http://schemas.microsoft.com/office/powerpoint/2010/main" val="1758822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Summarizing</a:t>
            </a:r>
            <a:endParaRPr lang="en-IN" b="1" dirty="0"/>
          </a:p>
        </p:txBody>
      </p:sp>
      <p:sp>
        <p:nvSpPr>
          <p:cNvPr id="3" name="Content Placeholder 2"/>
          <p:cNvSpPr>
            <a:spLocks noGrp="1"/>
          </p:cNvSpPr>
          <p:nvPr>
            <p:ph idx="1"/>
          </p:nvPr>
        </p:nvSpPr>
        <p:spPr/>
        <p:txBody>
          <a:bodyPr/>
          <a:lstStyle/>
          <a:p>
            <a:r>
              <a:rPr lang="en-IN" dirty="0"/>
              <a:t>Summarizing is condensing a longer text, like an article, book, or presentation, into a much shorter version that covers the main ideas and key points in your own words. </a:t>
            </a:r>
            <a:endParaRPr lang="en-IN" dirty="0" smtClean="0"/>
          </a:p>
          <a:p>
            <a:r>
              <a:rPr lang="en-IN" dirty="0" smtClean="0"/>
              <a:t>It </a:t>
            </a:r>
            <a:r>
              <a:rPr lang="en-IN" dirty="0"/>
              <a:t>involves identifying the most important information and excluding minor details to provide a concise overview of the original content. </a:t>
            </a:r>
            <a:endParaRPr lang="en-IN" dirty="0" smtClean="0"/>
          </a:p>
          <a:p>
            <a:r>
              <a:rPr lang="en-IN" dirty="0" smtClean="0"/>
              <a:t>Summarizing </a:t>
            </a:r>
            <a:r>
              <a:rPr lang="en-IN" dirty="0"/>
              <a:t>is a useful skill for understanding and communicating complex information effectively. </a:t>
            </a:r>
          </a:p>
        </p:txBody>
      </p:sp>
    </p:spTree>
    <p:extLst>
      <p:ext uri="{BB962C8B-B14F-4D97-AF65-F5344CB8AC3E}">
        <p14:creationId xmlns:p14="http://schemas.microsoft.com/office/powerpoint/2010/main" val="301968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aspects of summarizing</a:t>
            </a:r>
            <a:endParaRPr lang="en-IN" b="1" dirty="0"/>
          </a:p>
        </p:txBody>
      </p:sp>
      <p:sp>
        <p:nvSpPr>
          <p:cNvPr id="3" name="Content Placeholder 2"/>
          <p:cNvSpPr>
            <a:spLocks noGrp="1"/>
          </p:cNvSpPr>
          <p:nvPr>
            <p:ph idx="1"/>
          </p:nvPr>
        </p:nvSpPr>
        <p:spPr/>
        <p:txBody>
          <a:bodyPr>
            <a:normAutofit fontScale="85000" lnSpcReduction="20000"/>
          </a:bodyPr>
          <a:lstStyle/>
          <a:p>
            <a:r>
              <a:rPr lang="en-IN" b="1" dirty="0"/>
              <a:t>Condensing information</a:t>
            </a:r>
            <a:r>
              <a:rPr lang="en-IN" dirty="0"/>
              <a:t>: </a:t>
            </a:r>
            <a:r>
              <a:rPr lang="en-IN" dirty="0" smtClean="0"/>
              <a:t>The </a:t>
            </a:r>
            <a:r>
              <a:rPr lang="en-IN" dirty="0"/>
              <a:t>primary goal is to shorten the original text while retaining its essential meaning.</a:t>
            </a:r>
          </a:p>
          <a:p>
            <a:r>
              <a:rPr lang="en-IN" b="1" dirty="0"/>
              <a:t>Own words</a:t>
            </a:r>
            <a:r>
              <a:rPr lang="en-IN" dirty="0"/>
              <a:t>: </a:t>
            </a:r>
            <a:r>
              <a:rPr lang="en-IN" dirty="0" smtClean="0"/>
              <a:t>A </a:t>
            </a:r>
            <a:r>
              <a:rPr lang="en-IN" dirty="0"/>
              <a:t>summary is written in your own words, not by cutting and pasting from the original source.</a:t>
            </a:r>
          </a:p>
          <a:p>
            <a:r>
              <a:rPr lang="en-IN" b="1" dirty="0"/>
              <a:t>Focus on main ideas</a:t>
            </a:r>
            <a:r>
              <a:rPr lang="en-IN" dirty="0"/>
              <a:t>: </a:t>
            </a:r>
            <a:r>
              <a:rPr lang="en-IN" dirty="0" smtClean="0"/>
              <a:t>You </a:t>
            </a:r>
            <a:r>
              <a:rPr lang="en-IN" dirty="0"/>
              <a:t>should focus on the most important points and key details, leaving out minor ones.</a:t>
            </a:r>
          </a:p>
          <a:p>
            <a:r>
              <a:rPr lang="en-IN" b="1" dirty="0"/>
              <a:t>Concise and objective</a:t>
            </a:r>
            <a:r>
              <a:rPr lang="en-IN" dirty="0"/>
              <a:t>: </a:t>
            </a:r>
            <a:r>
              <a:rPr lang="en-IN" dirty="0" smtClean="0"/>
              <a:t>A </a:t>
            </a:r>
            <a:r>
              <a:rPr lang="en-IN" dirty="0"/>
              <a:t>good summary is short, to the point, and reports only the facts, without personal opinions.</a:t>
            </a:r>
          </a:p>
          <a:p>
            <a:r>
              <a:rPr lang="en-IN" b="1" dirty="0"/>
              <a:t>Common formats</a:t>
            </a:r>
            <a:r>
              <a:rPr lang="en-IN" dirty="0"/>
              <a:t>: </a:t>
            </a:r>
            <a:r>
              <a:rPr lang="en-IN" dirty="0" smtClean="0"/>
              <a:t>Summaries </a:t>
            </a:r>
            <a:r>
              <a:rPr lang="en-IN" dirty="0"/>
              <a:t>can be written (like abstracts or executive summaries) or oral</a:t>
            </a:r>
            <a:r>
              <a:rPr lang="en-IN" dirty="0" smtClean="0"/>
              <a:t>.</a:t>
            </a:r>
          </a:p>
          <a:p>
            <a:r>
              <a:rPr lang="en-IN" b="1" dirty="0"/>
              <a:t>Improves comprehension</a:t>
            </a:r>
            <a:r>
              <a:rPr lang="en-IN" dirty="0"/>
              <a:t>: </a:t>
            </a:r>
          </a:p>
          <a:p>
            <a:r>
              <a:rPr lang="en-IN" dirty="0"/>
              <a:t>The process of summarizing can help you better understand and remember what you've read.</a:t>
            </a:r>
          </a:p>
          <a:p>
            <a:endParaRPr lang="en-IN" dirty="0"/>
          </a:p>
        </p:txBody>
      </p:sp>
    </p:spTree>
    <p:extLst>
      <p:ext uri="{BB962C8B-B14F-4D97-AF65-F5344CB8AC3E}">
        <p14:creationId xmlns:p14="http://schemas.microsoft.com/office/powerpoint/2010/main" val="36595744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How to summarize</a:t>
            </a:r>
            <a:endParaRPr lang="en-IN" b="1" dirty="0"/>
          </a:p>
        </p:txBody>
      </p:sp>
      <p:sp>
        <p:nvSpPr>
          <p:cNvPr id="3" name="Content Placeholder 2"/>
          <p:cNvSpPr>
            <a:spLocks noGrp="1"/>
          </p:cNvSpPr>
          <p:nvPr>
            <p:ph idx="1"/>
          </p:nvPr>
        </p:nvSpPr>
        <p:spPr/>
        <p:txBody>
          <a:bodyPr/>
          <a:lstStyle/>
          <a:p>
            <a:r>
              <a:rPr lang="en-IN" dirty="0" smtClean="0"/>
              <a:t>Read the original text closely to fully understand it. </a:t>
            </a:r>
          </a:p>
          <a:p>
            <a:r>
              <a:rPr lang="en-IN" dirty="0" smtClean="0"/>
              <a:t>Identify the main idea and the supporting points. </a:t>
            </a:r>
          </a:p>
          <a:p>
            <a:r>
              <a:rPr lang="en-IN" dirty="0" smtClean="0"/>
              <a:t>Restate the main ideas and key details in your own words. </a:t>
            </a:r>
          </a:p>
          <a:p>
            <a:r>
              <a:rPr lang="en-IN" dirty="0"/>
              <a:t>Ensure the summary is significantly shorter than the original text and includes only essential information.</a:t>
            </a:r>
          </a:p>
        </p:txBody>
      </p:sp>
    </p:spTree>
    <p:extLst>
      <p:ext uri="{BB962C8B-B14F-4D97-AF65-F5344CB8AC3E}">
        <p14:creationId xmlns:p14="http://schemas.microsoft.com/office/powerpoint/2010/main" val="157368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QUALITIES OF A SUMMARY </a:t>
            </a:r>
            <a:endParaRPr lang="en-IN" b="1" dirty="0"/>
          </a:p>
        </p:txBody>
      </p:sp>
      <p:sp>
        <p:nvSpPr>
          <p:cNvPr id="3" name="Content Placeholder 2"/>
          <p:cNvSpPr>
            <a:spLocks noGrp="1"/>
          </p:cNvSpPr>
          <p:nvPr>
            <p:ph idx="1"/>
          </p:nvPr>
        </p:nvSpPr>
        <p:spPr/>
        <p:txBody>
          <a:bodyPr>
            <a:normAutofit fontScale="92500"/>
          </a:bodyPr>
          <a:lstStyle/>
          <a:p>
            <a:r>
              <a:rPr lang="en-IN" dirty="0" smtClean="0"/>
              <a:t>A good summary should be comprehensive, concise, coherent, and independent. These qualities are explained below: </a:t>
            </a:r>
          </a:p>
          <a:p>
            <a:r>
              <a:rPr lang="en-IN" dirty="0" smtClean="0"/>
              <a:t>A summary must be comprehensive: You should isolate all the important points in the original passage and note them down in a list. Review all the ideas on your list, and include in your summary all the ones that are indispensable to the author's development of her/his thesis or main idea. </a:t>
            </a:r>
          </a:p>
          <a:p>
            <a:r>
              <a:rPr lang="en-IN" dirty="0" smtClean="0"/>
              <a:t>A summary must be concise: Eliminate repetitions in your list, even if the author restates the same points. Your summary should be considerably shorter than the source. You are hoping to create an overview; therefore, you need not include every repetition of a point or every supporting detail. </a:t>
            </a:r>
          </a:p>
        </p:txBody>
      </p:sp>
    </p:spTree>
    <p:extLst>
      <p:ext uri="{BB962C8B-B14F-4D97-AF65-F5344CB8AC3E}">
        <p14:creationId xmlns:p14="http://schemas.microsoft.com/office/powerpoint/2010/main" val="9323818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smtClean="0"/>
              <a:t>A summary must be coherent: It should make sense as a piece of writing in its own right; it should not merely be taken directly from your list of notes or sound like a disjointed collection of points. </a:t>
            </a:r>
          </a:p>
          <a:p>
            <a:r>
              <a:rPr lang="en-IN" dirty="0" smtClean="0"/>
              <a:t>A summary must be independent: You are not being asked to imitate the author of the text you are writing about. On the contrary, you are expected to maintain your own voice throughout the summary. Don't simply quote the author; instead use your own words to express your understanding of what you have read. After all, your summary is based on your interpretation of the writer's points or ideas. However, you should be careful not to create any misrepresentation or distortion by introducing comments or criticisms of your own.</a:t>
            </a:r>
          </a:p>
          <a:p>
            <a:endParaRPr lang="en-IN" dirty="0"/>
          </a:p>
        </p:txBody>
      </p:sp>
    </p:spTree>
    <p:extLst>
      <p:ext uri="{BB962C8B-B14F-4D97-AF65-F5344CB8AC3E}">
        <p14:creationId xmlns:p14="http://schemas.microsoft.com/office/powerpoint/2010/main" val="18674976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Summarizing Shorter Texts (ten pages or fewer) </a:t>
            </a:r>
            <a:endParaRPr lang="en-IN" b="1" dirty="0"/>
          </a:p>
        </p:txBody>
      </p:sp>
      <p:sp>
        <p:nvSpPr>
          <p:cNvPr id="3" name="Content Placeholder 2"/>
          <p:cNvSpPr>
            <a:spLocks noGrp="1"/>
          </p:cNvSpPr>
          <p:nvPr>
            <p:ph idx="1"/>
          </p:nvPr>
        </p:nvSpPr>
        <p:spPr/>
        <p:txBody>
          <a:bodyPr/>
          <a:lstStyle/>
          <a:p>
            <a:r>
              <a:rPr lang="en-IN" dirty="0" smtClean="0"/>
              <a:t>Write a one-sentence summary of each paragraph. </a:t>
            </a:r>
          </a:p>
          <a:p>
            <a:r>
              <a:rPr lang="en-IN" dirty="0" smtClean="0"/>
              <a:t>Formulate a single sentence that summarizes the whole text. </a:t>
            </a:r>
          </a:p>
          <a:p>
            <a:r>
              <a:rPr lang="en-IN" dirty="0" smtClean="0"/>
              <a:t>Write a paragraph (or more): begin with the overall summary sentence and follow it with the paragraph summary sentences. </a:t>
            </a:r>
          </a:p>
          <a:p>
            <a:r>
              <a:rPr lang="en-IN" dirty="0" smtClean="0"/>
              <a:t>Rearrange and rewrite the paragraph to make it clear and concise, to eliminate repetition and relatively minor points, and to provide transitions. The final version should be a complete, unified, and coherent.</a:t>
            </a:r>
            <a:endParaRPr lang="en-IN" dirty="0"/>
          </a:p>
        </p:txBody>
      </p:sp>
    </p:spTree>
    <p:extLst>
      <p:ext uri="{BB962C8B-B14F-4D97-AF65-F5344CB8AC3E}">
        <p14:creationId xmlns:p14="http://schemas.microsoft.com/office/powerpoint/2010/main" val="29518156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Summarizing Longer Texts (more than ten pages) </a:t>
            </a:r>
            <a:endParaRPr lang="en-IN" b="1" dirty="0"/>
          </a:p>
        </p:txBody>
      </p:sp>
      <p:sp>
        <p:nvSpPr>
          <p:cNvPr id="3" name="Content Placeholder 2"/>
          <p:cNvSpPr>
            <a:spLocks noGrp="1"/>
          </p:cNvSpPr>
          <p:nvPr>
            <p:ph idx="1"/>
          </p:nvPr>
        </p:nvSpPr>
        <p:spPr/>
        <p:txBody>
          <a:bodyPr>
            <a:normAutofit/>
          </a:bodyPr>
          <a:lstStyle/>
          <a:p>
            <a:r>
              <a:rPr lang="en-IN" dirty="0" smtClean="0"/>
              <a:t>Outline the text. Break it down into its major sections—groups of paragraphs focused on a common topic—and list the main supporting points for each section. </a:t>
            </a:r>
          </a:p>
          <a:p>
            <a:r>
              <a:rPr lang="en-IN" dirty="0" smtClean="0"/>
              <a:t>Write a one or two sentence summary of each section. </a:t>
            </a:r>
          </a:p>
          <a:p>
            <a:r>
              <a:rPr lang="en-IN" dirty="0" smtClean="0"/>
              <a:t>Formulate a single sentence to summarize the whole text, looking at the author's thesis or topic sentences as a guide. </a:t>
            </a:r>
          </a:p>
          <a:p>
            <a:r>
              <a:rPr lang="en-IN" dirty="0" smtClean="0"/>
              <a:t>Write a paragraph (or more): begin with the overall summary sentence and follow it with the section summary sentences. </a:t>
            </a:r>
            <a:endParaRPr lang="en-IN" dirty="0"/>
          </a:p>
        </p:txBody>
      </p:sp>
    </p:spTree>
    <p:extLst>
      <p:ext uri="{BB962C8B-B14F-4D97-AF65-F5344CB8AC3E}">
        <p14:creationId xmlns:p14="http://schemas.microsoft.com/office/powerpoint/2010/main" val="3460915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Rewrite and rearrange your paragraph(s) as needed to make your writing clear and concise, to eliminate relatively minor or repetitious points, and to provide transitions. Make sure your summary includes all the major supporting points of each idea. The final version should be a complete, unified, and coherent.</a:t>
            </a:r>
          </a:p>
          <a:p>
            <a:endParaRPr lang="en-IN" dirty="0"/>
          </a:p>
        </p:txBody>
      </p:sp>
    </p:spTree>
    <p:extLst>
      <p:ext uri="{BB962C8B-B14F-4D97-AF65-F5344CB8AC3E}">
        <p14:creationId xmlns:p14="http://schemas.microsoft.com/office/powerpoint/2010/main" val="2268025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Process</a:t>
            </a:r>
            <a:r>
              <a:rPr lang="en-IN" dirty="0" smtClean="0"/>
              <a:t> </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t>Read the work first to understand the author’s intent. This is a crucial step because an incomplete reading could lead to an inaccurate summary. Note: an inaccurate summary is plagiarism! </a:t>
            </a:r>
          </a:p>
          <a:p>
            <a:r>
              <a:rPr lang="en-IN" dirty="0" smtClean="0"/>
              <a:t>In your own words, write the thesis and main ideas in point form. </a:t>
            </a:r>
          </a:p>
          <a:p>
            <a:r>
              <a:rPr lang="en-IN" dirty="0" smtClean="0"/>
              <a:t>Decide which points are crucial to an accurate summary of the author’s work. It is very important that the summary does not misrepresent the author’s argument. </a:t>
            </a:r>
          </a:p>
          <a:p>
            <a:r>
              <a:rPr lang="en-IN" dirty="0" smtClean="0"/>
              <a:t>Edit the summary by deleting extraneous descriptors, details, and examples. </a:t>
            </a:r>
          </a:p>
          <a:p>
            <a:r>
              <a:rPr lang="en-IN" dirty="0" smtClean="0"/>
              <a:t>Reread the original work to ensure that you have accurately represented the main ideas in your summary. </a:t>
            </a:r>
          </a:p>
          <a:p>
            <a:r>
              <a:rPr lang="en-IN" dirty="0" smtClean="0"/>
              <a:t>Opposite to essay writing, the goal is to be brief and general rather than supporting all statements with facts, examples, or other details.</a:t>
            </a:r>
            <a:endParaRPr lang="en-IN" dirty="0"/>
          </a:p>
        </p:txBody>
      </p:sp>
    </p:spTree>
    <p:extLst>
      <p:ext uri="{BB962C8B-B14F-4D97-AF65-F5344CB8AC3E}">
        <p14:creationId xmlns:p14="http://schemas.microsoft.com/office/powerpoint/2010/main" val="31372651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What can be summarized</a:t>
            </a:r>
            <a:endParaRPr lang="en-IN" b="1" dirty="0"/>
          </a:p>
        </p:txBody>
      </p:sp>
      <p:sp>
        <p:nvSpPr>
          <p:cNvPr id="3" name="Content Placeholder 2"/>
          <p:cNvSpPr>
            <a:spLocks noGrp="1"/>
          </p:cNvSpPr>
          <p:nvPr>
            <p:ph idx="1"/>
          </p:nvPr>
        </p:nvSpPr>
        <p:spPr/>
        <p:txBody>
          <a:bodyPr/>
          <a:lstStyle/>
          <a:p>
            <a:r>
              <a:rPr lang="en-IN" dirty="0" smtClean="0"/>
              <a:t>Results of studies you are reporting on </a:t>
            </a:r>
          </a:p>
          <a:p>
            <a:r>
              <a:rPr lang="en-IN" dirty="0" smtClean="0"/>
              <a:t>Methods or approaches others have taken in an area </a:t>
            </a:r>
          </a:p>
          <a:p>
            <a:r>
              <a:rPr lang="en-IN" dirty="0" smtClean="0"/>
              <a:t>Various researchers’/authors’ viewpoints on given issues </a:t>
            </a:r>
          </a:p>
          <a:p>
            <a:r>
              <a:rPr lang="en-IN" dirty="0" smtClean="0"/>
              <a:t>Points you have made in an essay at any juncture or in a conclusion </a:t>
            </a:r>
          </a:p>
          <a:p>
            <a:r>
              <a:rPr lang="en-IN" dirty="0" smtClean="0"/>
              <a:t>Contexts of a text you are reviewing </a:t>
            </a:r>
          </a:p>
          <a:p>
            <a:r>
              <a:rPr lang="en-IN" dirty="0" smtClean="0"/>
              <a:t>Issues peripheral to your paper but necessary for providing context for your writing </a:t>
            </a:r>
          </a:p>
          <a:p>
            <a:r>
              <a:rPr lang="en-IN" dirty="0" smtClean="0"/>
              <a:t>Historical events leading to the event/issue/philosophy you are discussing</a:t>
            </a:r>
            <a:endParaRPr lang="en-IN" dirty="0"/>
          </a:p>
        </p:txBody>
      </p:sp>
    </p:spTree>
    <p:extLst>
      <p:ext uri="{BB962C8B-B14F-4D97-AF65-F5344CB8AC3E}">
        <p14:creationId xmlns:p14="http://schemas.microsoft.com/office/powerpoint/2010/main" val="34688971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EXAMPLE OF A SUMMARY</a:t>
            </a:r>
            <a:endParaRPr lang="en-IN" b="1"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IN" b="1" dirty="0" smtClean="0"/>
              <a:t>Original </a:t>
            </a:r>
          </a:p>
          <a:p>
            <a:pPr marL="0" indent="0" algn="ctr">
              <a:buNone/>
            </a:pPr>
            <a:r>
              <a:rPr lang="en-IN" dirty="0" smtClean="0"/>
              <a:t>“The Northern Lights” </a:t>
            </a:r>
          </a:p>
          <a:p>
            <a:r>
              <a:rPr lang="en-IN" dirty="0" smtClean="0"/>
              <a:t>There are times when the night sky glows with bands of </a:t>
            </a:r>
            <a:r>
              <a:rPr lang="en-IN" dirty="0" err="1" smtClean="0"/>
              <a:t>color</a:t>
            </a:r>
            <a:r>
              <a:rPr lang="en-IN" dirty="0" smtClean="0"/>
              <a:t>. The bands may begin as cloud shapes and then spread into a great arc across the entire sky. They may fall in folds like a curtain drawn across the heavens. The lights usually grow brighter, then suddenly dim. During this time the sky glows with pale yellow, pink, green, violet, blue, and red. These lights are called the Aurora Borealis. Some people call them the Northern Lights. Scientists have been watching them for hundreds of years. They are not quite sure what causes them. In ancient times people were afraid of the Lights. They imagined that they saw fiery dragons in the sky. Some even concluded that the heavens were on fire.</a:t>
            </a:r>
            <a:endParaRPr lang="en-IN" dirty="0"/>
          </a:p>
        </p:txBody>
      </p:sp>
    </p:spTree>
    <p:extLst>
      <p:ext uri="{BB962C8B-B14F-4D97-AF65-F5344CB8AC3E}">
        <p14:creationId xmlns:p14="http://schemas.microsoft.com/office/powerpoint/2010/main" val="25088135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ctr">
              <a:buNone/>
            </a:pPr>
            <a:r>
              <a:rPr lang="en-IN" b="1" dirty="0" smtClean="0"/>
              <a:t>Summary </a:t>
            </a:r>
          </a:p>
          <a:p>
            <a:pPr marL="0" indent="0">
              <a:buNone/>
            </a:pPr>
            <a:r>
              <a:rPr lang="en-IN" dirty="0" smtClean="0"/>
              <a:t>The Aurora Borealis, or Northern Lights, are bands of </a:t>
            </a:r>
            <a:r>
              <a:rPr lang="en-IN" dirty="0" err="1" smtClean="0"/>
              <a:t>color</a:t>
            </a:r>
            <a:r>
              <a:rPr lang="en-IN" dirty="0" smtClean="0"/>
              <a:t> in the night sky. Ancient people thought that these lights were dragon on fire, and even modern scientists are not sure what they are.</a:t>
            </a:r>
            <a:endParaRPr lang="en-IN" dirty="0"/>
          </a:p>
        </p:txBody>
      </p:sp>
    </p:spTree>
    <p:extLst>
      <p:ext uri="{BB962C8B-B14F-4D97-AF65-F5344CB8AC3E}">
        <p14:creationId xmlns:p14="http://schemas.microsoft.com/office/powerpoint/2010/main" val="25600293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5124" name="Picture 4" descr="Summary example - Paraphrasing, quoting and summarising - LibGuides at  University of Newcastle Librar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21279" y="336837"/>
            <a:ext cx="5773783" cy="6089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4297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2318</Words>
  <Application>Microsoft Office PowerPoint</Application>
  <PresentationFormat>Widescreen</PresentationFormat>
  <Paragraphs>154</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Calibri Light</vt:lpstr>
      <vt:lpstr>Wingdings</vt:lpstr>
      <vt:lpstr>Office Theme</vt:lpstr>
      <vt:lpstr>Quoting, Paraphrasing and Summarizing</vt:lpstr>
      <vt:lpstr>Quoting</vt:lpstr>
      <vt:lpstr>When to use quotations</vt:lpstr>
      <vt:lpstr>How to use quotations correctly</vt:lpstr>
      <vt:lpstr>PowerPoint Presentation</vt:lpstr>
      <vt:lpstr>What to avoid</vt:lpstr>
      <vt:lpstr>Types of Quotations</vt:lpstr>
      <vt:lpstr>Direct Quotation</vt:lpstr>
      <vt:lpstr>Examples of Direct Quotations</vt:lpstr>
      <vt:lpstr>Indirect quotations</vt:lpstr>
      <vt:lpstr>Paraphrasing</vt:lpstr>
      <vt:lpstr>Techniques for paraphrasing</vt:lpstr>
      <vt:lpstr>PowerPoint Presentation</vt:lpstr>
      <vt:lpstr>Step-by-step guide</vt:lpstr>
      <vt:lpstr>What makes a paraphrase good?</vt:lpstr>
      <vt:lpstr>What makes a paraphrase bad?</vt:lpstr>
      <vt:lpstr>Let’s look at some examples…</vt:lpstr>
      <vt:lpstr>PowerPoint Presentation</vt:lpstr>
      <vt:lpstr>PowerPoint Presentation</vt:lpstr>
      <vt:lpstr>Now you try—is this a good paraphrase?</vt:lpstr>
      <vt:lpstr>PowerPoint Presentation</vt:lpstr>
      <vt:lpstr>PowerPoint Presentation</vt:lpstr>
      <vt:lpstr>PowerPoint Presentation</vt:lpstr>
      <vt:lpstr>Time to try your own…</vt:lpstr>
      <vt:lpstr>Summarizing</vt:lpstr>
      <vt:lpstr>Key aspects of summarizing</vt:lpstr>
      <vt:lpstr>How to summarize</vt:lpstr>
      <vt:lpstr>QUALITIES OF A SUMMARY </vt:lpstr>
      <vt:lpstr>PowerPoint Presentation</vt:lpstr>
      <vt:lpstr>Summarizing Shorter Texts (ten pages or fewer) </vt:lpstr>
      <vt:lpstr>Summarizing Longer Texts (more than ten pages) </vt:lpstr>
      <vt:lpstr>PowerPoint Presentation</vt:lpstr>
      <vt:lpstr>Process </vt:lpstr>
      <vt:lpstr>What can be summarized</vt:lpstr>
      <vt:lpstr>EXAMPLE OF A SUMMARY</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Quoting, Paraphrasing and Summarizing</dc:title>
  <dc:creator>Mojibur Rahman</dc:creator>
  <cp:lastModifiedBy>Mojibur Rahman</cp:lastModifiedBy>
  <cp:revision>12</cp:revision>
  <dcterms:created xsi:type="dcterms:W3CDTF">2025-10-20T12:05:04Z</dcterms:created>
  <dcterms:modified xsi:type="dcterms:W3CDTF">2025-10-20T13:32:21Z</dcterms:modified>
</cp:coreProperties>
</file>