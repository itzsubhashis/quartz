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7" r:id="rId9"/>
    <p:sldId id="263" r:id="rId10"/>
    <p:sldId id="264" r:id="rId11"/>
    <p:sldId id="265" r:id="rId12"/>
    <p:sldId id="266" r:id="rId13"/>
    <p:sldId id="268" r:id="rId14"/>
    <p:sldId id="274" r:id="rId15"/>
    <p:sldId id="269" r:id="rId16"/>
    <p:sldId id="270" r:id="rId17"/>
    <p:sldId id="272" r:id="rId18"/>
    <p:sldId id="271" r:id="rId19"/>
    <p:sldId id="273" r:id="rId20"/>
    <p:sldId id="275" r:id="rId21"/>
    <p:sldId id="276"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16" d="100"/>
          <a:sy n="116" d="100"/>
        </p:scale>
        <p:origin x="336"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1C97CA03-526D-44F5-95B6-1B0C82E3A9A9}" type="datetimeFigureOut">
              <a:rPr lang="en-IN" smtClean="0"/>
              <a:t>18-08-2022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8F157E1-F017-4FBB-8E43-49EA8CDB267F}" type="slidenum">
              <a:rPr lang="en-IN" smtClean="0"/>
              <a:t>‹#›</a:t>
            </a:fld>
            <a:endParaRPr lang="en-IN"/>
          </a:p>
        </p:txBody>
      </p:sp>
    </p:spTree>
    <p:extLst>
      <p:ext uri="{BB962C8B-B14F-4D97-AF65-F5344CB8AC3E}">
        <p14:creationId xmlns:p14="http://schemas.microsoft.com/office/powerpoint/2010/main" val="41085465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1C97CA03-526D-44F5-95B6-1B0C82E3A9A9}" type="datetimeFigureOut">
              <a:rPr lang="en-IN" smtClean="0"/>
              <a:t>18-08-2022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8F157E1-F017-4FBB-8E43-49EA8CDB267F}" type="slidenum">
              <a:rPr lang="en-IN" smtClean="0"/>
              <a:t>‹#›</a:t>
            </a:fld>
            <a:endParaRPr lang="en-IN"/>
          </a:p>
        </p:txBody>
      </p:sp>
    </p:spTree>
    <p:extLst>
      <p:ext uri="{BB962C8B-B14F-4D97-AF65-F5344CB8AC3E}">
        <p14:creationId xmlns:p14="http://schemas.microsoft.com/office/powerpoint/2010/main" val="14576260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C97CA03-526D-44F5-95B6-1B0C82E3A9A9}" type="datetimeFigureOut">
              <a:rPr lang="en-IN" smtClean="0"/>
              <a:t>18-08-2022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8F157E1-F017-4FBB-8E43-49EA8CDB267F}" type="slidenum">
              <a:rPr lang="en-IN" smtClean="0"/>
              <a:t>‹#›</a:t>
            </a:fld>
            <a:endParaRPr lang="en-IN"/>
          </a:p>
        </p:txBody>
      </p:sp>
    </p:spTree>
    <p:extLst>
      <p:ext uri="{BB962C8B-B14F-4D97-AF65-F5344CB8AC3E}">
        <p14:creationId xmlns:p14="http://schemas.microsoft.com/office/powerpoint/2010/main" val="14160286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1C97CA03-526D-44F5-95B6-1B0C82E3A9A9}" type="datetimeFigureOut">
              <a:rPr lang="en-IN" smtClean="0"/>
              <a:t>18-08-2022</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8F157E1-F017-4FBB-8E43-49EA8CDB267F}" type="slidenum">
              <a:rPr lang="en-IN" smtClean="0"/>
              <a:t>‹#›</a:t>
            </a:fld>
            <a:endParaRPr lang="en-IN"/>
          </a:p>
        </p:txBody>
      </p:sp>
    </p:spTree>
    <p:extLst>
      <p:ext uri="{BB962C8B-B14F-4D97-AF65-F5344CB8AC3E}">
        <p14:creationId xmlns:p14="http://schemas.microsoft.com/office/powerpoint/2010/main" val="11632445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1C97CA03-526D-44F5-95B6-1B0C82E3A9A9}" type="datetimeFigureOut">
              <a:rPr lang="en-IN" smtClean="0"/>
              <a:t>18-08-2022</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08F157E1-F017-4FBB-8E43-49EA8CDB267F}" type="slidenum">
              <a:rPr lang="en-IN" smtClean="0"/>
              <a:t>‹#›</a:t>
            </a:fld>
            <a:endParaRPr lang="en-IN"/>
          </a:p>
        </p:txBody>
      </p:sp>
    </p:spTree>
    <p:extLst>
      <p:ext uri="{BB962C8B-B14F-4D97-AF65-F5344CB8AC3E}">
        <p14:creationId xmlns:p14="http://schemas.microsoft.com/office/powerpoint/2010/main" val="20647889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1C97CA03-526D-44F5-95B6-1B0C82E3A9A9}" type="datetimeFigureOut">
              <a:rPr lang="en-IN" smtClean="0"/>
              <a:t>18-08-2022</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08F157E1-F017-4FBB-8E43-49EA8CDB267F}" type="slidenum">
              <a:rPr lang="en-IN" smtClean="0"/>
              <a:t>‹#›</a:t>
            </a:fld>
            <a:endParaRPr lang="en-IN"/>
          </a:p>
        </p:txBody>
      </p:sp>
    </p:spTree>
    <p:extLst>
      <p:ext uri="{BB962C8B-B14F-4D97-AF65-F5344CB8AC3E}">
        <p14:creationId xmlns:p14="http://schemas.microsoft.com/office/powerpoint/2010/main" val="30503695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C97CA03-526D-44F5-95B6-1B0C82E3A9A9}" type="datetimeFigureOut">
              <a:rPr lang="en-IN" smtClean="0"/>
              <a:t>18-08-2022</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08F157E1-F017-4FBB-8E43-49EA8CDB267F}" type="slidenum">
              <a:rPr lang="en-IN" smtClean="0"/>
              <a:t>‹#›</a:t>
            </a:fld>
            <a:endParaRPr lang="en-IN"/>
          </a:p>
        </p:txBody>
      </p:sp>
    </p:spTree>
    <p:extLst>
      <p:ext uri="{BB962C8B-B14F-4D97-AF65-F5344CB8AC3E}">
        <p14:creationId xmlns:p14="http://schemas.microsoft.com/office/powerpoint/2010/main" val="20281218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C97CA03-526D-44F5-95B6-1B0C82E3A9A9}" type="datetimeFigureOut">
              <a:rPr lang="en-IN" smtClean="0"/>
              <a:t>18-08-2022</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8F157E1-F017-4FBB-8E43-49EA8CDB267F}" type="slidenum">
              <a:rPr lang="en-IN" smtClean="0"/>
              <a:t>‹#›</a:t>
            </a:fld>
            <a:endParaRPr lang="en-IN"/>
          </a:p>
        </p:txBody>
      </p:sp>
    </p:spTree>
    <p:extLst>
      <p:ext uri="{BB962C8B-B14F-4D97-AF65-F5344CB8AC3E}">
        <p14:creationId xmlns:p14="http://schemas.microsoft.com/office/powerpoint/2010/main" val="39198108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C97CA03-526D-44F5-95B6-1B0C82E3A9A9}" type="datetimeFigureOut">
              <a:rPr lang="en-IN" smtClean="0"/>
              <a:t>18-08-2022</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8F157E1-F017-4FBB-8E43-49EA8CDB267F}" type="slidenum">
              <a:rPr lang="en-IN" smtClean="0"/>
              <a:t>‹#›</a:t>
            </a:fld>
            <a:endParaRPr lang="en-IN"/>
          </a:p>
        </p:txBody>
      </p:sp>
    </p:spTree>
    <p:extLst>
      <p:ext uri="{BB962C8B-B14F-4D97-AF65-F5344CB8AC3E}">
        <p14:creationId xmlns:p14="http://schemas.microsoft.com/office/powerpoint/2010/main" val="29410889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1C97CA03-526D-44F5-95B6-1B0C82E3A9A9}" type="datetimeFigureOut">
              <a:rPr lang="en-IN" smtClean="0"/>
              <a:t>18-08-2022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8F157E1-F017-4FBB-8E43-49EA8CDB267F}" type="slidenum">
              <a:rPr lang="en-IN" smtClean="0"/>
              <a:t>‹#›</a:t>
            </a:fld>
            <a:endParaRPr lang="en-IN"/>
          </a:p>
        </p:txBody>
      </p:sp>
    </p:spTree>
    <p:extLst>
      <p:ext uri="{BB962C8B-B14F-4D97-AF65-F5344CB8AC3E}">
        <p14:creationId xmlns:p14="http://schemas.microsoft.com/office/powerpoint/2010/main" val="39958396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1C97CA03-526D-44F5-95B6-1B0C82E3A9A9}" type="datetimeFigureOut">
              <a:rPr lang="en-IN" smtClean="0"/>
              <a:t>18-08-2022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8F157E1-F017-4FBB-8E43-49EA8CDB267F}" type="slidenum">
              <a:rPr lang="en-IN" smtClean="0"/>
              <a:t>‹#›</a:t>
            </a:fld>
            <a:endParaRPr lang="en-IN"/>
          </a:p>
        </p:txBody>
      </p:sp>
    </p:spTree>
    <p:extLst>
      <p:ext uri="{BB962C8B-B14F-4D97-AF65-F5344CB8AC3E}">
        <p14:creationId xmlns:p14="http://schemas.microsoft.com/office/powerpoint/2010/main" val="25254304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C97CA03-526D-44F5-95B6-1B0C82E3A9A9}" type="datetimeFigureOut">
              <a:rPr lang="en-IN" smtClean="0"/>
              <a:t>18-08-2022</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8F157E1-F017-4FBB-8E43-49EA8CDB267F}" type="slidenum">
              <a:rPr lang="en-IN" smtClean="0"/>
              <a:t>‹#›</a:t>
            </a:fld>
            <a:endParaRPr lang="en-IN"/>
          </a:p>
        </p:txBody>
      </p:sp>
    </p:spTree>
    <p:extLst>
      <p:ext uri="{BB962C8B-B14F-4D97-AF65-F5344CB8AC3E}">
        <p14:creationId xmlns:p14="http://schemas.microsoft.com/office/powerpoint/2010/main" val="229755758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hyperlink" Target="https://writing.ku.edu/chicago-manual-style" TargetMode="External"/><Relationship Id="rId2" Type="http://schemas.openxmlformats.org/officeDocument/2006/relationships/hyperlink" Target="https://writing.ku.edu/apa-format" TargetMode="External"/><Relationship Id="rId1" Type="http://schemas.openxmlformats.org/officeDocument/2006/relationships/slideLayout" Target="../slideLayouts/slideLayout2.xml"/><Relationship Id="rId4" Type="http://schemas.openxmlformats.org/officeDocument/2006/relationships/hyperlink" Target="https://writing.ku.edu/mla-format"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IN" sz="6600" b="1" dirty="0"/>
              <a:t>Academic Writing Process</a:t>
            </a:r>
            <a:r>
              <a:rPr lang="en-IN" dirty="0"/>
              <a:t/>
            </a:r>
            <a:br>
              <a:rPr lang="en-IN" dirty="0"/>
            </a:br>
            <a:endParaRPr lang="en-IN" dirty="0"/>
          </a:p>
        </p:txBody>
      </p:sp>
      <p:sp>
        <p:nvSpPr>
          <p:cNvPr id="3" name="Subtitle 2"/>
          <p:cNvSpPr>
            <a:spLocks noGrp="1"/>
          </p:cNvSpPr>
          <p:nvPr>
            <p:ph type="subTitle" idx="1"/>
          </p:nvPr>
        </p:nvSpPr>
        <p:spPr/>
        <p:txBody>
          <a:bodyPr/>
          <a:lstStyle/>
          <a:p>
            <a:endParaRPr lang="en-IN" dirty="0" smtClean="0"/>
          </a:p>
          <a:p>
            <a:r>
              <a:rPr lang="en-IN" dirty="0" smtClean="0"/>
              <a:t>Md. Mojibur Rahman</a:t>
            </a:r>
          </a:p>
          <a:p>
            <a:r>
              <a:rPr lang="en-IN" dirty="0" smtClean="0"/>
              <a:t>mrahmanelt@iitism.ac.in</a:t>
            </a:r>
            <a:endParaRPr lang="en-IN" dirty="0"/>
          </a:p>
        </p:txBody>
      </p:sp>
    </p:spTree>
    <p:extLst>
      <p:ext uri="{BB962C8B-B14F-4D97-AF65-F5344CB8AC3E}">
        <p14:creationId xmlns:p14="http://schemas.microsoft.com/office/powerpoint/2010/main" val="16768455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b="1" dirty="0"/>
              <a:t>The academic writing process is like sketching a </a:t>
            </a:r>
            <a:r>
              <a:rPr lang="en-IN" b="1" dirty="0" smtClean="0"/>
              <a:t>portrait</a:t>
            </a:r>
            <a:endParaRPr lang="en-IN" b="1" dirty="0"/>
          </a:p>
        </p:txBody>
      </p:sp>
      <p:sp>
        <p:nvSpPr>
          <p:cNvPr id="3" name="Content Placeholder 2"/>
          <p:cNvSpPr>
            <a:spLocks noGrp="1"/>
          </p:cNvSpPr>
          <p:nvPr>
            <p:ph idx="1"/>
          </p:nvPr>
        </p:nvSpPr>
        <p:spPr/>
        <p:txBody>
          <a:bodyPr/>
          <a:lstStyle/>
          <a:p>
            <a:r>
              <a:rPr lang="en-IN" dirty="0"/>
              <a:t>You need preparation and planning for what you will draw.  </a:t>
            </a:r>
            <a:endParaRPr lang="en-IN" dirty="0" smtClean="0"/>
          </a:p>
          <a:p>
            <a:r>
              <a:rPr lang="en-IN" dirty="0" smtClean="0"/>
              <a:t>You </a:t>
            </a:r>
            <a:r>
              <a:rPr lang="en-IN" dirty="0"/>
              <a:t>sketch, and then erase and change what you’ve drawn, and then show it to others.  </a:t>
            </a:r>
            <a:endParaRPr lang="en-IN" dirty="0" smtClean="0"/>
          </a:p>
          <a:p>
            <a:r>
              <a:rPr lang="en-IN" dirty="0" smtClean="0"/>
              <a:t>As </a:t>
            </a:r>
            <a:r>
              <a:rPr lang="en-IN" dirty="0"/>
              <a:t>you continue to work, you grow as a sketch artist.  </a:t>
            </a:r>
            <a:endParaRPr lang="en-IN" dirty="0" smtClean="0"/>
          </a:p>
          <a:p>
            <a:r>
              <a:rPr lang="en-IN" dirty="0" smtClean="0"/>
              <a:t>The </a:t>
            </a:r>
            <a:r>
              <a:rPr lang="en-IN" dirty="0"/>
              <a:t>academic writing process is the same.  </a:t>
            </a:r>
            <a:endParaRPr lang="en-IN" dirty="0" smtClean="0"/>
          </a:p>
          <a:p>
            <a:r>
              <a:rPr lang="en-IN" dirty="0" smtClean="0"/>
              <a:t>You </a:t>
            </a:r>
            <a:r>
              <a:rPr lang="en-IN" dirty="0"/>
              <a:t>prewrite, write, revise, edit, and create a final draft for others to read. </a:t>
            </a:r>
            <a:endParaRPr lang="en-IN" dirty="0" smtClean="0"/>
          </a:p>
          <a:p>
            <a:r>
              <a:rPr lang="en-IN" dirty="0" smtClean="0"/>
              <a:t>Then </a:t>
            </a:r>
            <a:r>
              <a:rPr lang="en-IN" dirty="0"/>
              <a:t>you advance your academic writing knowledge and skills.  </a:t>
            </a:r>
          </a:p>
        </p:txBody>
      </p:sp>
    </p:spTree>
    <p:extLst>
      <p:ext uri="{BB962C8B-B14F-4D97-AF65-F5344CB8AC3E}">
        <p14:creationId xmlns:p14="http://schemas.microsoft.com/office/powerpoint/2010/main" val="261524062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dirty="0"/>
          </a:p>
        </p:txBody>
      </p:sp>
      <p:pic>
        <p:nvPicPr>
          <p:cNvPr id="7" name="Content Placeholder 6" descr="C:\Users\mraha\Desktop\Writing-Process-graphic.png"/>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314831" y="560172"/>
            <a:ext cx="6507893" cy="5741773"/>
          </a:xfrm>
          <a:prstGeom prst="rect">
            <a:avLst/>
          </a:prstGeom>
          <a:noFill/>
          <a:ln>
            <a:noFill/>
          </a:ln>
        </p:spPr>
      </p:pic>
    </p:spTree>
    <p:extLst>
      <p:ext uri="{BB962C8B-B14F-4D97-AF65-F5344CB8AC3E}">
        <p14:creationId xmlns:p14="http://schemas.microsoft.com/office/powerpoint/2010/main" val="146655926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Prewriting: the First Step in the Writing Process</a:t>
            </a:r>
          </a:p>
        </p:txBody>
      </p:sp>
      <p:sp>
        <p:nvSpPr>
          <p:cNvPr id="3" name="Content Placeholder 2"/>
          <p:cNvSpPr>
            <a:spLocks noGrp="1"/>
          </p:cNvSpPr>
          <p:nvPr>
            <p:ph idx="1"/>
          </p:nvPr>
        </p:nvSpPr>
        <p:spPr/>
        <p:txBody>
          <a:bodyPr>
            <a:normAutofit lnSpcReduction="10000"/>
          </a:bodyPr>
          <a:lstStyle/>
          <a:p>
            <a:r>
              <a:rPr lang="en-IN" dirty="0"/>
              <a:t>Prewriting is the first step in the writing process and includes any work a writer does before producing a formatted document. In other words, if the end goal is a five-paragraph essay, prewriting is every step that comes before actually writing five paragraphs. Prewriting is sometimes called the planning stage. Prewriting activities include</a:t>
            </a:r>
            <a:r>
              <a:rPr lang="en-IN" dirty="0" smtClean="0"/>
              <a:t>:</a:t>
            </a:r>
          </a:p>
          <a:p>
            <a:r>
              <a:rPr lang="en-IN" b="1" dirty="0"/>
              <a:t>Topic </a:t>
            </a:r>
            <a:r>
              <a:rPr lang="en-IN" b="1" dirty="0" smtClean="0"/>
              <a:t>selection</a:t>
            </a:r>
          </a:p>
          <a:p>
            <a:r>
              <a:rPr lang="en-IN" b="1" dirty="0" smtClean="0"/>
              <a:t>Research</a:t>
            </a:r>
          </a:p>
          <a:p>
            <a:r>
              <a:rPr lang="en-IN" b="1" dirty="0" smtClean="0"/>
              <a:t>Brainstorming</a:t>
            </a:r>
          </a:p>
          <a:p>
            <a:r>
              <a:rPr lang="en-IN" b="1" dirty="0"/>
              <a:t>Thesis </a:t>
            </a:r>
            <a:r>
              <a:rPr lang="en-IN" b="1" dirty="0" smtClean="0"/>
              <a:t>development</a:t>
            </a:r>
          </a:p>
          <a:p>
            <a:r>
              <a:rPr lang="en-IN" b="1" dirty="0" smtClean="0"/>
              <a:t>Organization</a:t>
            </a:r>
            <a:endParaRPr lang="en-IN" dirty="0"/>
          </a:p>
        </p:txBody>
      </p:sp>
    </p:spTree>
    <p:extLst>
      <p:ext uri="{BB962C8B-B14F-4D97-AF65-F5344CB8AC3E}">
        <p14:creationId xmlns:p14="http://schemas.microsoft.com/office/powerpoint/2010/main" val="418948742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Topic </a:t>
            </a:r>
            <a:r>
              <a:rPr lang="en-IN" b="1" dirty="0" smtClean="0"/>
              <a:t>S</a:t>
            </a:r>
            <a:r>
              <a:rPr lang="en-IN" b="1" dirty="0" smtClean="0"/>
              <a:t>election</a:t>
            </a:r>
            <a:endParaRPr lang="en-IN" b="1" dirty="0" smtClean="0"/>
          </a:p>
        </p:txBody>
      </p:sp>
      <p:sp>
        <p:nvSpPr>
          <p:cNvPr id="3" name="Content Placeholder 2"/>
          <p:cNvSpPr>
            <a:spLocks noGrp="1"/>
          </p:cNvSpPr>
          <p:nvPr>
            <p:ph idx="1"/>
          </p:nvPr>
        </p:nvSpPr>
        <p:spPr/>
        <p:txBody>
          <a:bodyPr/>
          <a:lstStyle/>
          <a:p>
            <a:r>
              <a:rPr lang="en-IN" dirty="0"/>
              <a:t>A topic may be assigned by a teacher or selected by a writer. </a:t>
            </a:r>
            <a:endParaRPr lang="en-IN" dirty="0" smtClean="0"/>
          </a:p>
          <a:p>
            <a:r>
              <a:rPr lang="en-IN" dirty="0" smtClean="0"/>
              <a:t>The </a:t>
            </a:r>
            <a:r>
              <a:rPr lang="en-IN" dirty="0"/>
              <a:t>writer should consider both the audience and the goal of their writing. </a:t>
            </a:r>
            <a:endParaRPr lang="en-IN" dirty="0" smtClean="0"/>
          </a:p>
          <a:p>
            <a:r>
              <a:rPr lang="en-IN" dirty="0" smtClean="0"/>
              <a:t>When </a:t>
            </a:r>
            <a:r>
              <a:rPr lang="en-IN" dirty="0"/>
              <a:t>choosing a topic, a writer must also identify the writing they will produce, such as narrative, persuasive, or expository.</a:t>
            </a:r>
          </a:p>
        </p:txBody>
      </p:sp>
    </p:spTree>
    <p:extLst>
      <p:ext uri="{BB962C8B-B14F-4D97-AF65-F5344CB8AC3E}">
        <p14:creationId xmlns:p14="http://schemas.microsoft.com/office/powerpoint/2010/main" val="21753001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Research</a:t>
            </a:r>
            <a:endParaRPr lang="en-IN" dirty="0"/>
          </a:p>
        </p:txBody>
      </p:sp>
      <p:sp>
        <p:nvSpPr>
          <p:cNvPr id="3" name="Content Placeholder 2"/>
          <p:cNvSpPr>
            <a:spLocks noGrp="1"/>
          </p:cNvSpPr>
          <p:nvPr>
            <p:ph idx="1"/>
          </p:nvPr>
        </p:nvSpPr>
        <p:spPr/>
        <p:txBody>
          <a:bodyPr/>
          <a:lstStyle/>
          <a:p>
            <a:r>
              <a:rPr lang="en-IN" dirty="0"/>
              <a:t>Some types of writing require gathering information from various sources. </a:t>
            </a:r>
            <a:endParaRPr lang="en-IN" dirty="0" smtClean="0"/>
          </a:p>
          <a:p>
            <a:r>
              <a:rPr lang="en-IN" dirty="0" smtClean="0"/>
              <a:t>Writers </a:t>
            </a:r>
            <a:r>
              <a:rPr lang="en-IN" dirty="0"/>
              <a:t>should choose current, reliable, valid sources and keep track of which information came from which source.</a:t>
            </a:r>
          </a:p>
        </p:txBody>
      </p:sp>
    </p:spTree>
    <p:extLst>
      <p:ext uri="{BB962C8B-B14F-4D97-AF65-F5344CB8AC3E}">
        <p14:creationId xmlns:p14="http://schemas.microsoft.com/office/powerpoint/2010/main" val="30968157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Brainstorming</a:t>
            </a:r>
            <a:endParaRPr lang="en-IN" dirty="0"/>
          </a:p>
        </p:txBody>
      </p:sp>
      <p:sp>
        <p:nvSpPr>
          <p:cNvPr id="3" name="Content Placeholder 2"/>
          <p:cNvSpPr>
            <a:spLocks noGrp="1"/>
          </p:cNvSpPr>
          <p:nvPr>
            <p:ph idx="1"/>
          </p:nvPr>
        </p:nvSpPr>
        <p:spPr/>
        <p:txBody>
          <a:bodyPr>
            <a:normAutofit/>
          </a:bodyPr>
          <a:lstStyle/>
          <a:p>
            <a:r>
              <a:rPr lang="en-IN" dirty="0"/>
              <a:t>Brainstorming is a gathering of ideas. There are many ways to brainstorm, including</a:t>
            </a:r>
            <a:r>
              <a:rPr lang="en-IN" dirty="0" smtClean="0"/>
              <a:t>:</a:t>
            </a:r>
          </a:p>
          <a:p>
            <a:r>
              <a:rPr lang="en-IN" b="1" dirty="0"/>
              <a:t>Freewriting:</a:t>
            </a:r>
            <a:r>
              <a:rPr lang="en-IN" dirty="0"/>
              <a:t> On a blank piece of paper, write everything that comes to mind on the chosen topic. Write continuously for several minutes. When finished, go through the freewriting and highlight words, phrases, and sentences useful in the writing</a:t>
            </a:r>
            <a:r>
              <a:rPr lang="en-IN" dirty="0" smtClean="0"/>
              <a:t>.</a:t>
            </a:r>
          </a:p>
          <a:p>
            <a:endParaRPr lang="en-IN" dirty="0"/>
          </a:p>
        </p:txBody>
      </p:sp>
    </p:spTree>
    <p:extLst>
      <p:ext uri="{BB962C8B-B14F-4D97-AF65-F5344CB8AC3E}">
        <p14:creationId xmlns:p14="http://schemas.microsoft.com/office/powerpoint/2010/main" val="28916503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IN" b="1" smtClean="0"/>
              <a:t>Graphic organizers: </a:t>
            </a:r>
            <a:r>
              <a:rPr lang="en-IN" smtClean="0"/>
              <a:t>Graphic organizers come in almost limitless varieties. They have in common a visual way to write and connect words, phrases, and ideas. A graphic organizer might look like a spider web, with circled words connected by lines, or it might look like a flowchart showing which ideas come first, second, third, etc.</a:t>
            </a:r>
          </a:p>
          <a:p>
            <a:endParaRPr lang="en-IN" dirty="0"/>
          </a:p>
        </p:txBody>
      </p:sp>
      <p:pic>
        <p:nvPicPr>
          <p:cNvPr id="4" name="Picture 3" descr="C:\Users\mraha\Desktop\writing_process_16154712287905780409.png"/>
          <p:cNvPicPr/>
          <p:nvPr/>
        </p:nvPicPr>
        <p:blipFill>
          <a:blip r:embed="rId2">
            <a:extLst>
              <a:ext uri="{28A0092B-C50C-407E-A947-70E740481C1C}">
                <a14:useLocalDpi xmlns:a14="http://schemas.microsoft.com/office/drawing/2010/main" val="0"/>
              </a:ext>
            </a:extLst>
          </a:blip>
          <a:srcRect/>
          <a:stretch>
            <a:fillRect/>
          </a:stretch>
        </p:blipFill>
        <p:spPr bwMode="auto">
          <a:xfrm>
            <a:off x="6796217" y="4053015"/>
            <a:ext cx="3517556" cy="1968844"/>
          </a:xfrm>
          <a:prstGeom prst="rect">
            <a:avLst/>
          </a:prstGeom>
          <a:noFill/>
          <a:ln>
            <a:noFill/>
          </a:ln>
        </p:spPr>
      </p:pic>
      <p:sp>
        <p:nvSpPr>
          <p:cNvPr id="5" name="Rectangle 4"/>
          <p:cNvSpPr/>
          <p:nvPr/>
        </p:nvSpPr>
        <p:spPr>
          <a:xfrm>
            <a:off x="1565189" y="4324865"/>
            <a:ext cx="4399006" cy="149104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i="1"/>
              <a:t>Graphic organizers are one tool that can be used for brainstorming. Brainstorming is part of prewriting, the first step of the writing process.</a:t>
            </a:r>
            <a:endParaRPr lang="en-IN" dirty="0"/>
          </a:p>
        </p:txBody>
      </p:sp>
    </p:spTree>
    <p:extLst>
      <p:ext uri="{BB962C8B-B14F-4D97-AF65-F5344CB8AC3E}">
        <p14:creationId xmlns:p14="http://schemas.microsoft.com/office/powerpoint/2010/main" val="21165697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IN" b="1" dirty="0"/>
              <a:t>Lists: </a:t>
            </a:r>
            <a:r>
              <a:rPr lang="en-IN" dirty="0"/>
              <a:t>Simple lists of items that need to be included in a text can be an effective means of brainstorming.</a:t>
            </a:r>
          </a:p>
          <a:p>
            <a:r>
              <a:rPr lang="en-IN" b="1" dirty="0" smtClean="0"/>
              <a:t>Pictures</a:t>
            </a:r>
            <a:r>
              <a:rPr lang="en-IN" b="1" dirty="0"/>
              <a:t>:</a:t>
            </a:r>
            <a:r>
              <a:rPr lang="en-IN" dirty="0"/>
              <a:t> Drawing pictures of text elements can be a way to organize thoughts during the brainstorming stage.</a:t>
            </a:r>
          </a:p>
        </p:txBody>
      </p:sp>
    </p:spTree>
    <p:extLst>
      <p:ext uri="{BB962C8B-B14F-4D97-AF65-F5344CB8AC3E}">
        <p14:creationId xmlns:p14="http://schemas.microsoft.com/office/powerpoint/2010/main" val="6710537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Thesis </a:t>
            </a:r>
            <a:r>
              <a:rPr lang="en-IN" b="1" dirty="0" smtClean="0"/>
              <a:t>Development</a:t>
            </a:r>
            <a:endParaRPr lang="en-IN" dirty="0"/>
          </a:p>
        </p:txBody>
      </p:sp>
      <p:sp>
        <p:nvSpPr>
          <p:cNvPr id="3" name="Content Placeholder 2"/>
          <p:cNvSpPr>
            <a:spLocks noGrp="1"/>
          </p:cNvSpPr>
          <p:nvPr>
            <p:ph idx="1"/>
          </p:nvPr>
        </p:nvSpPr>
        <p:spPr/>
        <p:txBody>
          <a:bodyPr/>
          <a:lstStyle/>
          <a:p>
            <a:r>
              <a:rPr lang="en-IN" dirty="0"/>
              <a:t>A thesis is a concise statement of the central idea or argument of the text. </a:t>
            </a:r>
            <a:endParaRPr lang="en-IN" dirty="0" smtClean="0"/>
          </a:p>
          <a:p>
            <a:r>
              <a:rPr lang="en-IN" dirty="0" smtClean="0"/>
              <a:t>The </a:t>
            </a:r>
            <a:r>
              <a:rPr lang="en-IN" dirty="0"/>
              <a:t>thesis, presented as part of the introduction, informs the reader of what the author intends to accomplish in the text. </a:t>
            </a:r>
            <a:endParaRPr lang="en-IN" dirty="0" smtClean="0"/>
          </a:p>
          <a:p>
            <a:r>
              <a:rPr lang="en-IN" dirty="0" smtClean="0"/>
              <a:t>A </a:t>
            </a:r>
            <a:r>
              <a:rPr lang="en-IN" dirty="0"/>
              <a:t>writer should experiment with several versions of a thesis statement, then choose the one that best fits the text.</a:t>
            </a:r>
          </a:p>
        </p:txBody>
      </p:sp>
    </p:spTree>
    <p:extLst>
      <p:ext uri="{BB962C8B-B14F-4D97-AF65-F5344CB8AC3E}">
        <p14:creationId xmlns:p14="http://schemas.microsoft.com/office/powerpoint/2010/main" val="28574879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Organization</a:t>
            </a:r>
            <a:endParaRPr lang="en-IN" dirty="0"/>
          </a:p>
        </p:txBody>
      </p:sp>
      <p:sp>
        <p:nvSpPr>
          <p:cNvPr id="3" name="Content Placeholder 2"/>
          <p:cNvSpPr>
            <a:spLocks noGrp="1"/>
          </p:cNvSpPr>
          <p:nvPr>
            <p:ph idx="1"/>
          </p:nvPr>
        </p:nvSpPr>
        <p:spPr/>
        <p:txBody>
          <a:bodyPr/>
          <a:lstStyle/>
          <a:p>
            <a:r>
              <a:rPr lang="en-IN" dirty="0"/>
              <a:t>It is essential to take the ideas and information gathered during the prewriting process and organize it into a logical format. </a:t>
            </a:r>
            <a:endParaRPr lang="en-IN" dirty="0" smtClean="0"/>
          </a:p>
          <a:p>
            <a:r>
              <a:rPr lang="en-IN" dirty="0" smtClean="0"/>
              <a:t>Organization </a:t>
            </a:r>
            <a:r>
              <a:rPr lang="en-IN" dirty="0"/>
              <a:t>often takes the form of an outline, but it could also be a story map, a series of pictures, or a list. </a:t>
            </a:r>
            <a:endParaRPr lang="en-IN" dirty="0" smtClean="0"/>
          </a:p>
          <a:p>
            <a:r>
              <a:rPr lang="en-IN" dirty="0" smtClean="0"/>
              <a:t>While </a:t>
            </a:r>
            <a:r>
              <a:rPr lang="en-IN" dirty="0"/>
              <a:t>organizing, consider how the information can be ordered to best support the thesis statement.</a:t>
            </a:r>
          </a:p>
        </p:txBody>
      </p:sp>
    </p:spTree>
    <p:extLst>
      <p:ext uri="{BB962C8B-B14F-4D97-AF65-F5344CB8AC3E}">
        <p14:creationId xmlns:p14="http://schemas.microsoft.com/office/powerpoint/2010/main" val="17104447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b="1" dirty="0"/>
              <a:t>Drafting: the Second Step in the Writing </a:t>
            </a:r>
            <a:r>
              <a:rPr lang="en-IN" b="1" dirty="0" smtClean="0"/>
              <a:t>Process</a:t>
            </a:r>
            <a:endParaRPr lang="en-IN" dirty="0"/>
          </a:p>
        </p:txBody>
      </p:sp>
      <p:sp>
        <p:nvSpPr>
          <p:cNvPr id="3" name="Content Placeholder 2"/>
          <p:cNvSpPr>
            <a:spLocks noGrp="1"/>
          </p:cNvSpPr>
          <p:nvPr>
            <p:ph idx="1"/>
          </p:nvPr>
        </p:nvSpPr>
        <p:spPr/>
        <p:txBody>
          <a:bodyPr>
            <a:normAutofit/>
          </a:bodyPr>
          <a:lstStyle/>
          <a:p>
            <a:r>
              <a:rPr lang="en-IN" dirty="0"/>
              <a:t>Drafting is the next phase of the writing process. </a:t>
            </a:r>
            <a:endParaRPr lang="en-IN" dirty="0" smtClean="0"/>
          </a:p>
          <a:p>
            <a:r>
              <a:rPr lang="en-IN" dirty="0" smtClean="0"/>
              <a:t>The</a:t>
            </a:r>
            <a:r>
              <a:rPr lang="en-IN" dirty="0"/>
              <a:t> </a:t>
            </a:r>
            <a:r>
              <a:rPr lang="en-IN" b="1" dirty="0"/>
              <a:t>first draft</a:t>
            </a:r>
            <a:r>
              <a:rPr lang="en-IN" dirty="0"/>
              <a:t> is the first time the prewriting ideas, goals, and information are written in the paper's intended format, including complete sentences and paragraphs. </a:t>
            </a:r>
            <a:endParaRPr lang="en-IN" dirty="0" smtClean="0"/>
          </a:p>
          <a:p>
            <a:r>
              <a:rPr lang="en-IN" dirty="0" smtClean="0"/>
              <a:t>A </a:t>
            </a:r>
            <a:r>
              <a:rPr lang="en-IN" dirty="0"/>
              <a:t>first draft should follow the outline or other organizational plan developed during prewriting and should include the major components of the paper, such as introduction, body, and conclusion. </a:t>
            </a:r>
            <a:endParaRPr lang="en-IN" dirty="0" smtClean="0"/>
          </a:p>
        </p:txBody>
      </p:sp>
    </p:spTree>
    <p:extLst>
      <p:ext uri="{BB962C8B-B14F-4D97-AF65-F5344CB8AC3E}">
        <p14:creationId xmlns:p14="http://schemas.microsoft.com/office/powerpoint/2010/main" val="254199365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IN" dirty="0" smtClean="0"/>
              <a:t>It is important to note that mechanics should not be the focus of the first draft, and the first draft does not need to be good. </a:t>
            </a:r>
          </a:p>
          <a:p>
            <a:r>
              <a:rPr lang="en-IN" dirty="0" smtClean="0"/>
              <a:t>Once ideas are on the page, they can be revised, rearranged, and edited as necessary. </a:t>
            </a:r>
          </a:p>
          <a:p>
            <a:r>
              <a:rPr lang="en-IN" dirty="0" smtClean="0"/>
              <a:t>Careful writers should not skip the drafting process. </a:t>
            </a:r>
          </a:p>
          <a:p>
            <a:r>
              <a:rPr lang="en-IN" dirty="0" smtClean="0"/>
              <a:t>Many papers go through several drafts before being completed. </a:t>
            </a:r>
          </a:p>
          <a:p>
            <a:r>
              <a:rPr lang="en-IN" dirty="0" smtClean="0"/>
              <a:t>The goal of a first draft is to put sentences and paragraphs on the page.</a:t>
            </a:r>
          </a:p>
          <a:p>
            <a:endParaRPr lang="en-IN" dirty="0"/>
          </a:p>
        </p:txBody>
      </p:sp>
    </p:spTree>
    <p:extLst>
      <p:ext uri="{BB962C8B-B14F-4D97-AF65-F5344CB8AC3E}">
        <p14:creationId xmlns:p14="http://schemas.microsoft.com/office/powerpoint/2010/main" val="2475616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fontScale="92500" lnSpcReduction="20000"/>
          </a:bodyPr>
          <a:lstStyle/>
          <a:p>
            <a:r>
              <a:rPr lang="en-IN" dirty="0"/>
              <a:t>Write sentences and paragraphs even if they are not perfect.</a:t>
            </a:r>
          </a:p>
          <a:p>
            <a:r>
              <a:rPr lang="en-IN" dirty="0"/>
              <a:t>Create a thesis statement with your main idea. </a:t>
            </a:r>
          </a:p>
          <a:p>
            <a:r>
              <a:rPr lang="en-IN" dirty="0"/>
              <a:t>Put the information you researched into your essay accurately without plagiarizing. Remember to include both in-text citations and a bibliographic page.  </a:t>
            </a:r>
          </a:p>
          <a:p>
            <a:r>
              <a:rPr lang="en-IN" dirty="0"/>
              <a:t>Read what you have written and judge if it says what you mean. Write some more.</a:t>
            </a:r>
          </a:p>
          <a:p>
            <a:r>
              <a:rPr lang="en-IN" dirty="0"/>
              <a:t>Read it again.</a:t>
            </a:r>
          </a:p>
          <a:p>
            <a:r>
              <a:rPr lang="en-IN" dirty="0"/>
              <a:t>Write some more.</a:t>
            </a:r>
          </a:p>
          <a:p>
            <a:r>
              <a:rPr lang="en-IN" dirty="0"/>
              <a:t>Read it again.</a:t>
            </a:r>
          </a:p>
          <a:p>
            <a:r>
              <a:rPr lang="en-IN" dirty="0"/>
              <a:t>Write until you have said everything you want to say about the topic.</a:t>
            </a:r>
          </a:p>
          <a:p>
            <a:endParaRPr lang="en-IN" dirty="0"/>
          </a:p>
        </p:txBody>
      </p:sp>
    </p:spTree>
    <p:extLst>
      <p:ext uri="{BB962C8B-B14F-4D97-AF65-F5344CB8AC3E}">
        <p14:creationId xmlns:p14="http://schemas.microsoft.com/office/powerpoint/2010/main" val="39109771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Revising: the Third Step in the Writing </a:t>
            </a:r>
            <a:r>
              <a:rPr lang="en-IN" b="1" dirty="0" smtClean="0"/>
              <a:t>Process</a:t>
            </a:r>
            <a:endParaRPr lang="en-IN" dirty="0"/>
          </a:p>
        </p:txBody>
      </p:sp>
      <p:sp>
        <p:nvSpPr>
          <p:cNvPr id="3" name="Content Placeholder 2"/>
          <p:cNvSpPr>
            <a:spLocks noGrp="1"/>
          </p:cNvSpPr>
          <p:nvPr>
            <p:ph idx="1"/>
          </p:nvPr>
        </p:nvSpPr>
        <p:spPr/>
        <p:txBody>
          <a:bodyPr>
            <a:normAutofit lnSpcReduction="10000"/>
          </a:bodyPr>
          <a:lstStyle/>
          <a:p>
            <a:r>
              <a:rPr lang="en-IN" dirty="0"/>
              <a:t>Revision is the key to effective documents. </a:t>
            </a:r>
            <a:endParaRPr lang="en-IN" dirty="0" smtClean="0"/>
          </a:p>
          <a:p>
            <a:r>
              <a:rPr lang="en-IN" dirty="0" smtClean="0"/>
              <a:t>Here </a:t>
            </a:r>
            <a:r>
              <a:rPr lang="en-IN" dirty="0"/>
              <a:t>you think more deeply about your readers’ needs and expectations. The document becomes reader-</a:t>
            </a:r>
            <a:r>
              <a:rPr lang="en-IN" dirty="0" err="1"/>
              <a:t>centered</a:t>
            </a:r>
            <a:r>
              <a:rPr lang="en-IN" dirty="0"/>
              <a:t>. </a:t>
            </a:r>
            <a:endParaRPr lang="en-IN" dirty="0" smtClean="0"/>
          </a:p>
          <a:p>
            <a:r>
              <a:rPr lang="en-IN" dirty="0" smtClean="0"/>
              <a:t>How </a:t>
            </a:r>
            <a:r>
              <a:rPr lang="en-IN" dirty="0"/>
              <a:t>much support will each idea need to convince your readers? </a:t>
            </a:r>
            <a:endParaRPr lang="en-IN" dirty="0" smtClean="0"/>
          </a:p>
          <a:p>
            <a:r>
              <a:rPr lang="en-IN" dirty="0" smtClean="0"/>
              <a:t>Which </a:t>
            </a:r>
            <a:r>
              <a:rPr lang="en-IN" dirty="0"/>
              <a:t>terms should be defined for these particular readers? </a:t>
            </a:r>
            <a:endParaRPr lang="en-IN" dirty="0" smtClean="0"/>
          </a:p>
          <a:p>
            <a:r>
              <a:rPr lang="en-IN" dirty="0" smtClean="0"/>
              <a:t>Is </a:t>
            </a:r>
            <a:r>
              <a:rPr lang="en-IN" dirty="0"/>
              <a:t>your organization effective? </a:t>
            </a:r>
            <a:endParaRPr lang="en-IN" dirty="0" smtClean="0"/>
          </a:p>
          <a:p>
            <a:r>
              <a:rPr lang="en-IN" dirty="0" smtClean="0"/>
              <a:t>Do </a:t>
            </a:r>
            <a:r>
              <a:rPr lang="en-IN" dirty="0"/>
              <a:t>readers need to know X before they can understand Y</a:t>
            </a:r>
            <a:r>
              <a:rPr lang="en-IN" dirty="0" smtClean="0"/>
              <a:t>?</a:t>
            </a:r>
          </a:p>
          <a:p>
            <a:r>
              <a:rPr lang="en-IN" dirty="0"/>
              <a:t>At this stage you also refine your prose, making each sentence as concise and accurate as possible. Make connections between ideas explicit and clear.</a:t>
            </a:r>
          </a:p>
          <a:p>
            <a:endParaRPr lang="en-IN" dirty="0"/>
          </a:p>
        </p:txBody>
      </p:sp>
    </p:spTree>
    <p:extLst>
      <p:ext uri="{BB962C8B-B14F-4D97-AF65-F5344CB8AC3E}">
        <p14:creationId xmlns:p14="http://schemas.microsoft.com/office/powerpoint/2010/main" val="251110390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fontScale="92500" lnSpcReduction="20000"/>
          </a:bodyPr>
          <a:lstStyle/>
          <a:p>
            <a:pPr fontAlgn="base"/>
            <a:r>
              <a:rPr lang="en-IN" dirty="0"/>
              <a:t>There are 2 types of revision: </a:t>
            </a:r>
            <a:endParaRPr lang="en-IN" dirty="0" smtClean="0"/>
          </a:p>
          <a:p>
            <a:pPr marL="514350" indent="-514350" fontAlgn="base">
              <a:buAutoNum type="arabicParenBoth"/>
            </a:pPr>
            <a:r>
              <a:rPr lang="en-IN" b="1" dirty="0" smtClean="0"/>
              <a:t>self- revision</a:t>
            </a:r>
            <a:endParaRPr lang="en-IN" b="1" dirty="0"/>
          </a:p>
          <a:p>
            <a:pPr marL="514350" indent="-514350" fontAlgn="base">
              <a:buAutoNum type="arabicParenBoth"/>
            </a:pPr>
            <a:r>
              <a:rPr lang="en-IN" b="1" dirty="0" smtClean="0"/>
              <a:t>peer/teacher/coach</a:t>
            </a:r>
            <a:r>
              <a:rPr lang="en-IN" dirty="0" smtClean="0"/>
              <a:t> revision. </a:t>
            </a:r>
          </a:p>
          <a:p>
            <a:pPr fontAlgn="base"/>
            <a:r>
              <a:rPr lang="en-IN" dirty="0" smtClean="0"/>
              <a:t>When </a:t>
            </a:r>
            <a:r>
              <a:rPr lang="en-IN" dirty="0"/>
              <a:t>you revise, read your writing, and </a:t>
            </a:r>
            <a:r>
              <a:rPr lang="en-IN" dirty="0" err="1"/>
              <a:t>analyze</a:t>
            </a:r>
            <a:r>
              <a:rPr lang="en-IN" dirty="0"/>
              <a:t> the content.  Ask yourself:</a:t>
            </a:r>
          </a:p>
          <a:p>
            <a:pPr marL="514350" indent="-514350" fontAlgn="base">
              <a:buFont typeface="+mj-lt"/>
              <a:buAutoNum type="arabicPeriod"/>
            </a:pPr>
            <a:r>
              <a:rPr lang="en-IN" b="1" dirty="0" smtClean="0"/>
              <a:t>Does </a:t>
            </a:r>
            <a:r>
              <a:rPr lang="en-IN" b="1" dirty="0"/>
              <a:t>everything is your essay or paper connect to your thesis?</a:t>
            </a:r>
            <a:r>
              <a:rPr lang="en-IN" i="1" dirty="0"/>
              <a:t> Does it prove it? Is it off-topic?  </a:t>
            </a:r>
            <a:endParaRPr lang="en-IN" dirty="0"/>
          </a:p>
          <a:p>
            <a:pPr marL="514350" indent="-514350" fontAlgn="base">
              <a:buFont typeface="+mj-lt"/>
              <a:buAutoNum type="arabicPeriod"/>
            </a:pPr>
            <a:r>
              <a:rPr lang="en-IN" b="1" dirty="0"/>
              <a:t>Do you have enough content to support your thesis?</a:t>
            </a:r>
            <a:r>
              <a:rPr lang="en-IN" i="1" dirty="0"/>
              <a:t> If not, find more evidence.</a:t>
            </a:r>
            <a:endParaRPr lang="en-IN" dirty="0"/>
          </a:p>
          <a:p>
            <a:pPr marL="514350" indent="-514350" fontAlgn="base">
              <a:buFont typeface="+mj-lt"/>
              <a:buAutoNum type="arabicPeriod"/>
            </a:pPr>
            <a:r>
              <a:rPr lang="en-IN" b="1" dirty="0"/>
              <a:t>Does the organization of your essay or paper make sense? </a:t>
            </a:r>
            <a:endParaRPr lang="en-IN" dirty="0"/>
          </a:p>
          <a:p>
            <a:pPr marL="514350" indent="-514350" fontAlgn="base">
              <a:buFont typeface="+mj-lt"/>
              <a:buAutoNum type="arabicPeriod"/>
            </a:pPr>
            <a:r>
              <a:rPr lang="en-IN" b="1" dirty="0"/>
              <a:t>Do you have an engaging introduction that sets up your essay, research paper, etc.? </a:t>
            </a:r>
            <a:r>
              <a:rPr lang="en-IN" i="1" dirty="0"/>
              <a:t> Is your conclusion powerful? </a:t>
            </a:r>
            <a:endParaRPr lang="en-IN" dirty="0"/>
          </a:p>
          <a:p>
            <a:endParaRPr lang="en-IN" dirty="0"/>
          </a:p>
        </p:txBody>
      </p:sp>
    </p:spTree>
    <p:extLst>
      <p:ext uri="{BB962C8B-B14F-4D97-AF65-F5344CB8AC3E}">
        <p14:creationId xmlns:p14="http://schemas.microsoft.com/office/powerpoint/2010/main" val="314746894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IN" dirty="0" smtClean="0"/>
              <a:t>Read what you have written again. Rearrange words, sentences, or paragraphs into a clear and logical order. </a:t>
            </a:r>
          </a:p>
          <a:p>
            <a:r>
              <a:rPr lang="en-IN" dirty="0" smtClean="0"/>
              <a:t>Take out or add parts.</a:t>
            </a:r>
          </a:p>
          <a:p>
            <a:r>
              <a:rPr lang="en-IN" dirty="0" smtClean="0"/>
              <a:t>Do more research if you think you should.</a:t>
            </a:r>
          </a:p>
          <a:p>
            <a:r>
              <a:rPr lang="en-IN" dirty="0" smtClean="0"/>
              <a:t>Replace overused or unclear words.</a:t>
            </a:r>
          </a:p>
          <a:p>
            <a:r>
              <a:rPr lang="en-IN" dirty="0" smtClean="0"/>
              <a:t>Read your writing aloud to be sure it flows smoothly. Add transitions.</a:t>
            </a:r>
          </a:p>
          <a:p>
            <a:endParaRPr lang="en-IN" dirty="0"/>
          </a:p>
        </p:txBody>
      </p:sp>
    </p:spTree>
    <p:extLst>
      <p:ext uri="{BB962C8B-B14F-4D97-AF65-F5344CB8AC3E}">
        <p14:creationId xmlns:p14="http://schemas.microsoft.com/office/powerpoint/2010/main" val="196113241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IN" dirty="0"/>
              <a:t>When you have another person help you revise, ask them to read your work and give you feedback on the content, organization, clarity, and things they </a:t>
            </a:r>
            <a:r>
              <a:rPr lang="en-IN" dirty="0" smtClean="0"/>
              <a:t>like </a:t>
            </a:r>
            <a:r>
              <a:rPr lang="en-IN" dirty="0"/>
              <a:t>and suggestions about what to improve</a:t>
            </a:r>
            <a:r>
              <a:rPr lang="en-IN" dirty="0" smtClean="0"/>
              <a:t>.</a:t>
            </a:r>
          </a:p>
          <a:p>
            <a:endParaRPr lang="en-IN" dirty="0"/>
          </a:p>
          <a:p>
            <a:r>
              <a:rPr lang="en-IN" dirty="0"/>
              <a:t>The difference between revising and editing writing is that revising focuses on changing the content and organization of what you write.  Editing is where you fix mistakes: grammar, spelling, omitted words, punctuation, vocabulary, citations, and references, etc.</a:t>
            </a:r>
          </a:p>
        </p:txBody>
      </p:sp>
    </p:spTree>
    <p:extLst>
      <p:ext uri="{BB962C8B-B14F-4D97-AF65-F5344CB8AC3E}">
        <p14:creationId xmlns:p14="http://schemas.microsoft.com/office/powerpoint/2010/main" val="324717552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Editing and </a:t>
            </a:r>
            <a:r>
              <a:rPr lang="en-IN" b="1" dirty="0" smtClean="0"/>
              <a:t>Proofreading</a:t>
            </a:r>
            <a:endParaRPr lang="en-IN" b="1" dirty="0"/>
          </a:p>
        </p:txBody>
      </p:sp>
      <p:sp>
        <p:nvSpPr>
          <p:cNvPr id="3" name="Content Placeholder 2"/>
          <p:cNvSpPr>
            <a:spLocks noGrp="1"/>
          </p:cNvSpPr>
          <p:nvPr>
            <p:ph idx="1"/>
          </p:nvPr>
        </p:nvSpPr>
        <p:spPr/>
        <p:txBody>
          <a:bodyPr>
            <a:normAutofit fontScale="92500" lnSpcReduction="10000"/>
          </a:bodyPr>
          <a:lstStyle/>
          <a:p>
            <a:pPr fontAlgn="base"/>
            <a:r>
              <a:rPr lang="en-IN" dirty="0"/>
              <a:t>Editing is where you fine-tune your essay, research paper, or another project.  It is looking at the small details that make your writing grammatically correct and easy to understand. </a:t>
            </a:r>
          </a:p>
          <a:p>
            <a:pPr fontAlgn="base"/>
            <a:r>
              <a:rPr lang="en-IN" dirty="0"/>
              <a:t>Editing a piece of academic writing involves the same things as other pieces of writing: sentence mechanics and variety, grammar, punctuation, and spelling.  It also includes looking for omitted words or wording that is confusing, or vocabulary that doesn’t make sense.</a:t>
            </a:r>
          </a:p>
          <a:p>
            <a:pPr fontAlgn="base"/>
            <a:r>
              <a:rPr lang="en-IN" dirty="0"/>
              <a:t>What makes editing academic writing different is that you need to look for mistakes with citations, references, and any charts and graphs that you include. You’ll want to make sure that you are following the correct reference system for your subject (MLA, APA, Chicago Style, </a:t>
            </a:r>
            <a:r>
              <a:rPr lang="en-IN" dirty="0" err="1"/>
              <a:t>Turabian</a:t>
            </a:r>
            <a:r>
              <a:rPr lang="en-IN" dirty="0"/>
              <a:t>, etc.).   </a:t>
            </a:r>
          </a:p>
          <a:p>
            <a:endParaRPr lang="en-IN" dirty="0"/>
          </a:p>
        </p:txBody>
      </p:sp>
    </p:spTree>
    <p:extLst>
      <p:ext uri="{BB962C8B-B14F-4D97-AF65-F5344CB8AC3E}">
        <p14:creationId xmlns:p14="http://schemas.microsoft.com/office/powerpoint/2010/main" val="402362760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IN" dirty="0"/>
              <a:t>Be sure all sentences are complete. </a:t>
            </a:r>
            <a:endParaRPr lang="en-IN" dirty="0" smtClean="0"/>
          </a:p>
          <a:p>
            <a:r>
              <a:rPr lang="en-IN" dirty="0" smtClean="0"/>
              <a:t>Correct </a:t>
            </a:r>
            <a:r>
              <a:rPr lang="en-IN" dirty="0"/>
              <a:t>spelling, capitalization, and punctuation.</a:t>
            </a:r>
          </a:p>
          <a:p>
            <a:r>
              <a:rPr lang="en-IN" dirty="0"/>
              <a:t>Change words that are not used correctly or are unclear.</a:t>
            </a:r>
          </a:p>
          <a:p>
            <a:r>
              <a:rPr lang="en-IN" dirty="0"/>
              <a:t>Make sure you are using the appropriate style formatting.</a:t>
            </a:r>
          </a:p>
          <a:p>
            <a:pPr lvl="1"/>
            <a:r>
              <a:rPr lang="en-IN" dirty="0">
                <a:hlinkClick r:id="rId2"/>
              </a:rPr>
              <a:t>APA Formatting</a:t>
            </a:r>
            <a:endParaRPr lang="en-IN" dirty="0"/>
          </a:p>
          <a:p>
            <a:pPr lvl="1"/>
            <a:r>
              <a:rPr lang="en-IN" dirty="0">
                <a:hlinkClick r:id="rId3"/>
              </a:rPr>
              <a:t>Chicago Style Formatting</a:t>
            </a:r>
            <a:endParaRPr lang="en-IN" dirty="0"/>
          </a:p>
          <a:p>
            <a:pPr lvl="1"/>
            <a:r>
              <a:rPr lang="en-IN" dirty="0">
                <a:hlinkClick r:id="rId4"/>
              </a:rPr>
              <a:t>MLA Formatting</a:t>
            </a:r>
            <a:r>
              <a:rPr lang="en-IN" dirty="0"/>
              <a:t> </a:t>
            </a:r>
          </a:p>
          <a:p>
            <a:r>
              <a:rPr lang="en-IN" dirty="0"/>
              <a:t>Have someone else check your work.</a:t>
            </a:r>
          </a:p>
          <a:p>
            <a:endParaRPr lang="en-IN" dirty="0"/>
          </a:p>
        </p:txBody>
      </p:sp>
    </p:spTree>
    <p:extLst>
      <p:ext uri="{BB962C8B-B14F-4D97-AF65-F5344CB8AC3E}">
        <p14:creationId xmlns:p14="http://schemas.microsoft.com/office/powerpoint/2010/main" val="413320000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Publishing</a:t>
            </a:r>
            <a:endParaRPr lang="en-IN" b="1" dirty="0"/>
          </a:p>
        </p:txBody>
      </p:sp>
      <p:sp>
        <p:nvSpPr>
          <p:cNvPr id="3" name="Content Placeholder 2"/>
          <p:cNvSpPr>
            <a:spLocks noGrp="1"/>
          </p:cNvSpPr>
          <p:nvPr>
            <p:ph idx="1"/>
          </p:nvPr>
        </p:nvSpPr>
        <p:spPr/>
        <p:txBody>
          <a:bodyPr/>
          <a:lstStyle/>
          <a:p>
            <a:pPr fontAlgn="base"/>
            <a:r>
              <a:rPr lang="en-IN" dirty="0"/>
              <a:t>Publishing is the last phase of the academic writing process. </a:t>
            </a:r>
            <a:endParaRPr lang="en-IN" dirty="0" smtClean="0"/>
          </a:p>
          <a:p>
            <a:pPr fontAlgn="base"/>
            <a:r>
              <a:rPr lang="en-IN" dirty="0" smtClean="0"/>
              <a:t>It’s </a:t>
            </a:r>
            <a:r>
              <a:rPr lang="en-IN" dirty="0"/>
              <a:t>where you take your piece of writing and share it with others (your classmates, colleagues, professors, online or in a book or journal).  </a:t>
            </a:r>
            <a:endParaRPr lang="en-IN" dirty="0" smtClean="0"/>
          </a:p>
          <a:p>
            <a:pPr fontAlgn="base"/>
            <a:r>
              <a:rPr lang="en-IN" dirty="0" smtClean="0"/>
              <a:t>What </a:t>
            </a:r>
            <a:r>
              <a:rPr lang="en-IN" dirty="0"/>
              <a:t>is essential about publishing is you’re sharing your ideas and knowledge with an audience.  </a:t>
            </a:r>
            <a:endParaRPr lang="en-IN" dirty="0" smtClean="0"/>
          </a:p>
          <a:p>
            <a:pPr fontAlgn="base"/>
            <a:r>
              <a:rPr lang="en-IN" dirty="0" smtClean="0"/>
              <a:t>You </a:t>
            </a:r>
            <a:r>
              <a:rPr lang="en-IN" dirty="0"/>
              <a:t>have the chance to change what people think, how they act, and open their eyes to things they never knew before. </a:t>
            </a:r>
          </a:p>
          <a:p>
            <a:pPr marL="0" indent="0" algn="ctr" fontAlgn="base">
              <a:buNone/>
            </a:pPr>
            <a:r>
              <a:rPr lang="en-IN" i="1" dirty="0">
                <a:solidFill>
                  <a:srgbClr val="C00000"/>
                </a:solidFill>
              </a:rPr>
              <a:t>You are making your mark on the world through your writing.</a:t>
            </a:r>
            <a:r>
              <a:rPr lang="en-IN" i="1" dirty="0"/>
              <a:t> </a:t>
            </a:r>
            <a:endParaRPr lang="en-IN" dirty="0"/>
          </a:p>
          <a:p>
            <a:endParaRPr lang="en-IN" dirty="0"/>
          </a:p>
        </p:txBody>
      </p:sp>
    </p:spTree>
    <p:extLst>
      <p:ext uri="{BB962C8B-B14F-4D97-AF65-F5344CB8AC3E}">
        <p14:creationId xmlns:p14="http://schemas.microsoft.com/office/powerpoint/2010/main" val="176247191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52</TotalTime>
  <Words>952</Words>
  <Application>Microsoft Office PowerPoint</Application>
  <PresentationFormat>Widescreen</PresentationFormat>
  <Paragraphs>99</Paragraphs>
  <Slides>21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21</vt:i4>
      </vt:variant>
    </vt:vector>
  </HeadingPairs>
  <TitlesOfParts>
    <vt:vector size="25" baseType="lpstr">
      <vt:lpstr>Arial</vt:lpstr>
      <vt:lpstr>Calibri</vt:lpstr>
      <vt:lpstr>Calibri Light</vt:lpstr>
      <vt:lpstr>Office Theme</vt:lpstr>
      <vt:lpstr>Academic Writing Process </vt:lpstr>
      <vt:lpstr>The academic writing process is like sketching a portrait</vt:lpstr>
      <vt:lpstr>PowerPoint Presentation</vt:lpstr>
      <vt:lpstr>Prewriting: the First Step in the Writing Process</vt:lpstr>
      <vt:lpstr>Topic Selection</vt:lpstr>
      <vt:lpstr>Research</vt:lpstr>
      <vt:lpstr>Brainstorming</vt:lpstr>
      <vt:lpstr>PowerPoint Presentation</vt:lpstr>
      <vt:lpstr>PowerPoint Presentation</vt:lpstr>
      <vt:lpstr>Thesis Development</vt:lpstr>
      <vt:lpstr>Organization</vt:lpstr>
      <vt:lpstr>Drafting: the Second Step in the Writing Process</vt:lpstr>
      <vt:lpstr>PowerPoint Presentation</vt:lpstr>
      <vt:lpstr>PowerPoint Presentation</vt:lpstr>
      <vt:lpstr>Revising: the Third Step in the Writing Process</vt:lpstr>
      <vt:lpstr>PowerPoint Presentation</vt:lpstr>
      <vt:lpstr>PowerPoint Presentation</vt:lpstr>
      <vt:lpstr>PowerPoint Presentation</vt:lpstr>
      <vt:lpstr>Editing and Proofreading</vt:lpstr>
      <vt:lpstr>PowerPoint Presentation</vt:lpstr>
      <vt:lpstr>Publishing</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Academic Writing Process</dc:title>
  <dc:creator>Mojibur Rahman</dc:creator>
  <cp:lastModifiedBy>Mojibur Rahman</cp:lastModifiedBy>
  <cp:revision>6</cp:revision>
  <dcterms:created xsi:type="dcterms:W3CDTF">2022-08-18T10:43:30Z</dcterms:created>
  <dcterms:modified xsi:type="dcterms:W3CDTF">2022-08-18T11:35:57Z</dcterms:modified>
</cp:coreProperties>
</file>