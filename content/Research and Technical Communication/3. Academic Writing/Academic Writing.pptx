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9" r:id="rId3"/>
    <p:sldId id="344" r:id="rId4"/>
    <p:sldId id="290" r:id="rId5"/>
    <p:sldId id="291" r:id="rId6"/>
    <p:sldId id="292" r:id="rId7"/>
    <p:sldId id="293" r:id="rId8"/>
    <p:sldId id="337" r:id="rId9"/>
    <p:sldId id="294" r:id="rId10"/>
    <p:sldId id="257" r:id="rId11"/>
    <p:sldId id="258" r:id="rId12"/>
    <p:sldId id="259" r:id="rId13"/>
    <p:sldId id="338"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339" r:id="rId30"/>
    <p:sldId id="275" r:id="rId31"/>
    <p:sldId id="276" r:id="rId32"/>
    <p:sldId id="340" r:id="rId33"/>
    <p:sldId id="277" r:id="rId34"/>
    <p:sldId id="341" r:id="rId35"/>
    <p:sldId id="345" r:id="rId36"/>
    <p:sldId id="346" r:id="rId37"/>
    <p:sldId id="347" r:id="rId38"/>
    <p:sldId id="34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CC"/>
    <a:srgbClr val="CC0066"/>
    <a:srgbClr val="6699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F55DFE-D4A2-483B-B86D-8CEB8C1D487C}" v="6" dt="2025-08-19T11:10:58.6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Rahman" userId="b92400c6-d630-4f43-bd6b-2b035b259fc7" providerId="ADAL" clId="{8BF55DFE-D4A2-483B-B86D-8CEB8C1D487C}"/>
    <pc:docChg chg="undo custSel addSld delSld modSld sldOrd">
      <pc:chgData name="Md Rahman" userId="b92400c6-d630-4f43-bd6b-2b035b259fc7" providerId="ADAL" clId="{8BF55DFE-D4A2-483B-B86D-8CEB8C1D487C}" dt="2025-08-19T11:11:09.865" v="86" actId="14100"/>
      <pc:docMkLst>
        <pc:docMk/>
      </pc:docMkLst>
      <pc:sldChg chg="modSp mod">
        <pc:chgData name="Md Rahman" userId="b92400c6-d630-4f43-bd6b-2b035b259fc7" providerId="ADAL" clId="{8BF55DFE-D4A2-483B-B86D-8CEB8C1D487C}" dt="2025-08-07T07:12:32.566" v="33" actId="20577"/>
        <pc:sldMkLst>
          <pc:docMk/>
          <pc:sldMk cId="2431473834" sldId="256"/>
        </pc:sldMkLst>
        <pc:spChg chg="mod">
          <ac:chgData name="Md Rahman" userId="b92400c6-d630-4f43-bd6b-2b035b259fc7" providerId="ADAL" clId="{8BF55DFE-D4A2-483B-B86D-8CEB8C1D487C}" dt="2025-08-07T07:12:12.215" v="1" actId="14100"/>
          <ac:spMkLst>
            <pc:docMk/>
            <pc:sldMk cId="2431473834" sldId="256"/>
            <ac:spMk id="2" creationId="{00000000-0000-0000-0000-000000000000}"/>
          </ac:spMkLst>
        </pc:spChg>
        <pc:spChg chg="mod">
          <ac:chgData name="Md Rahman" userId="b92400c6-d630-4f43-bd6b-2b035b259fc7" providerId="ADAL" clId="{8BF55DFE-D4A2-483B-B86D-8CEB8C1D487C}" dt="2025-08-07T07:12:32.566" v="33" actId="20577"/>
          <ac:spMkLst>
            <pc:docMk/>
            <pc:sldMk cId="2431473834" sldId="256"/>
            <ac:spMk id="3" creationId="{00000000-0000-0000-0000-000000000000}"/>
          </ac:spMkLst>
        </pc:spChg>
      </pc:sldChg>
      <pc:sldChg chg="del">
        <pc:chgData name="Md Rahman" userId="b92400c6-d630-4f43-bd6b-2b035b259fc7" providerId="ADAL" clId="{8BF55DFE-D4A2-483B-B86D-8CEB8C1D487C}" dt="2025-08-07T07:14:11.536" v="38" actId="47"/>
        <pc:sldMkLst>
          <pc:docMk/>
          <pc:sldMk cId="1157849687" sldId="278"/>
        </pc:sldMkLst>
      </pc:sldChg>
      <pc:sldChg chg="del">
        <pc:chgData name="Md Rahman" userId="b92400c6-d630-4f43-bd6b-2b035b259fc7" providerId="ADAL" clId="{8BF55DFE-D4A2-483B-B86D-8CEB8C1D487C}" dt="2025-08-07T07:14:11.536" v="38" actId="47"/>
        <pc:sldMkLst>
          <pc:docMk/>
          <pc:sldMk cId="691176579" sldId="279"/>
        </pc:sldMkLst>
      </pc:sldChg>
      <pc:sldChg chg="del">
        <pc:chgData name="Md Rahman" userId="b92400c6-d630-4f43-bd6b-2b035b259fc7" providerId="ADAL" clId="{8BF55DFE-D4A2-483B-B86D-8CEB8C1D487C}" dt="2025-08-07T07:14:11.536" v="38" actId="47"/>
        <pc:sldMkLst>
          <pc:docMk/>
          <pc:sldMk cId="224880964" sldId="280"/>
        </pc:sldMkLst>
      </pc:sldChg>
      <pc:sldChg chg="del">
        <pc:chgData name="Md Rahman" userId="b92400c6-d630-4f43-bd6b-2b035b259fc7" providerId="ADAL" clId="{8BF55DFE-D4A2-483B-B86D-8CEB8C1D487C}" dt="2025-08-07T07:14:11.536" v="38" actId="47"/>
        <pc:sldMkLst>
          <pc:docMk/>
          <pc:sldMk cId="1565113977" sldId="281"/>
        </pc:sldMkLst>
      </pc:sldChg>
      <pc:sldChg chg="del">
        <pc:chgData name="Md Rahman" userId="b92400c6-d630-4f43-bd6b-2b035b259fc7" providerId="ADAL" clId="{8BF55DFE-D4A2-483B-B86D-8CEB8C1D487C}" dt="2025-08-07T07:14:11.536" v="38" actId="47"/>
        <pc:sldMkLst>
          <pc:docMk/>
          <pc:sldMk cId="2231680004" sldId="282"/>
        </pc:sldMkLst>
      </pc:sldChg>
      <pc:sldChg chg="del">
        <pc:chgData name="Md Rahman" userId="b92400c6-d630-4f43-bd6b-2b035b259fc7" providerId="ADAL" clId="{8BF55DFE-D4A2-483B-B86D-8CEB8C1D487C}" dt="2025-08-07T07:14:11.536" v="38" actId="47"/>
        <pc:sldMkLst>
          <pc:docMk/>
          <pc:sldMk cId="836828469" sldId="283"/>
        </pc:sldMkLst>
      </pc:sldChg>
      <pc:sldChg chg="del">
        <pc:chgData name="Md Rahman" userId="b92400c6-d630-4f43-bd6b-2b035b259fc7" providerId="ADAL" clId="{8BF55DFE-D4A2-483B-B86D-8CEB8C1D487C}" dt="2025-08-07T07:14:11.536" v="38" actId="47"/>
        <pc:sldMkLst>
          <pc:docMk/>
          <pc:sldMk cId="1556062882" sldId="284"/>
        </pc:sldMkLst>
      </pc:sldChg>
      <pc:sldChg chg="del">
        <pc:chgData name="Md Rahman" userId="b92400c6-d630-4f43-bd6b-2b035b259fc7" providerId="ADAL" clId="{8BF55DFE-D4A2-483B-B86D-8CEB8C1D487C}" dt="2025-08-07T07:14:11.536" v="38" actId="47"/>
        <pc:sldMkLst>
          <pc:docMk/>
          <pc:sldMk cId="3380961746" sldId="285"/>
        </pc:sldMkLst>
      </pc:sldChg>
      <pc:sldChg chg="del">
        <pc:chgData name="Md Rahman" userId="b92400c6-d630-4f43-bd6b-2b035b259fc7" providerId="ADAL" clId="{8BF55DFE-D4A2-483B-B86D-8CEB8C1D487C}" dt="2025-08-07T07:14:11.536" v="38" actId="47"/>
        <pc:sldMkLst>
          <pc:docMk/>
          <pc:sldMk cId="1343306665" sldId="286"/>
        </pc:sldMkLst>
      </pc:sldChg>
      <pc:sldChg chg="del">
        <pc:chgData name="Md Rahman" userId="b92400c6-d630-4f43-bd6b-2b035b259fc7" providerId="ADAL" clId="{8BF55DFE-D4A2-483B-B86D-8CEB8C1D487C}" dt="2025-08-07T07:14:11.536" v="38" actId="47"/>
        <pc:sldMkLst>
          <pc:docMk/>
          <pc:sldMk cId="2052972499" sldId="287"/>
        </pc:sldMkLst>
      </pc:sldChg>
      <pc:sldChg chg="del">
        <pc:chgData name="Md Rahman" userId="b92400c6-d630-4f43-bd6b-2b035b259fc7" providerId="ADAL" clId="{8BF55DFE-D4A2-483B-B86D-8CEB8C1D487C}" dt="2025-08-07T07:14:11.536" v="38" actId="47"/>
        <pc:sldMkLst>
          <pc:docMk/>
          <pc:sldMk cId="587174054" sldId="295"/>
        </pc:sldMkLst>
      </pc:sldChg>
      <pc:sldChg chg="del">
        <pc:chgData name="Md Rahman" userId="b92400c6-d630-4f43-bd6b-2b035b259fc7" providerId="ADAL" clId="{8BF55DFE-D4A2-483B-B86D-8CEB8C1D487C}" dt="2025-08-07T07:14:11.536" v="38" actId="47"/>
        <pc:sldMkLst>
          <pc:docMk/>
          <pc:sldMk cId="3036739936" sldId="296"/>
        </pc:sldMkLst>
      </pc:sldChg>
      <pc:sldChg chg="del">
        <pc:chgData name="Md Rahman" userId="b92400c6-d630-4f43-bd6b-2b035b259fc7" providerId="ADAL" clId="{8BF55DFE-D4A2-483B-B86D-8CEB8C1D487C}" dt="2025-08-07T07:14:11.536" v="38" actId="47"/>
        <pc:sldMkLst>
          <pc:docMk/>
          <pc:sldMk cId="2370617509" sldId="297"/>
        </pc:sldMkLst>
      </pc:sldChg>
      <pc:sldChg chg="del">
        <pc:chgData name="Md Rahman" userId="b92400c6-d630-4f43-bd6b-2b035b259fc7" providerId="ADAL" clId="{8BF55DFE-D4A2-483B-B86D-8CEB8C1D487C}" dt="2025-08-07T07:14:11.536" v="38" actId="47"/>
        <pc:sldMkLst>
          <pc:docMk/>
          <pc:sldMk cId="1762848519" sldId="298"/>
        </pc:sldMkLst>
      </pc:sldChg>
      <pc:sldChg chg="del">
        <pc:chgData name="Md Rahman" userId="b92400c6-d630-4f43-bd6b-2b035b259fc7" providerId="ADAL" clId="{8BF55DFE-D4A2-483B-B86D-8CEB8C1D487C}" dt="2025-08-07T07:14:11.536" v="38" actId="47"/>
        <pc:sldMkLst>
          <pc:docMk/>
          <pc:sldMk cId="835175127" sldId="299"/>
        </pc:sldMkLst>
      </pc:sldChg>
      <pc:sldChg chg="del">
        <pc:chgData name="Md Rahman" userId="b92400c6-d630-4f43-bd6b-2b035b259fc7" providerId="ADAL" clId="{8BF55DFE-D4A2-483B-B86D-8CEB8C1D487C}" dt="2025-08-07T07:14:11.536" v="38" actId="47"/>
        <pc:sldMkLst>
          <pc:docMk/>
          <pc:sldMk cId="2094569820" sldId="300"/>
        </pc:sldMkLst>
      </pc:sldChg>
      <pc:sldChg chg="del">
        <pc:chgData name="Md Rahman" userId="b92400c6-d630-4f43-bd6b-2b035b259fc7" providerId="ADAL" clId="{8BF55DFE-D4A2-483B-B86D-8CEB8C1D487C}" dt="2025-08-07T07:14:11.536" v="38" actId="47"/>
        <pc:sldMkLst>
          <pc:docMk/>
          <pc:sldMk cId="3816647526" sldId="301"/>
        </pc:sldMkLst>
      </pc:sldChg>
      <pc:sldChg chg="del">
        <pc:chgData name="Md Rahman" userId="b92400c6-d630-4f43-bd6b-2b035b259fc7" providerId="ADAL" clId="{8BF55DFE-D4A2-483B-B86D-8CEB8C1D487C}" dt="2025-08-07T07:14:11.536" v="38" actId="47"/>
        <pc:sldMkLst>
          <pc:docMk/>
          <pc:sldMk cId="3522076813" sldId="302"/>
        </pc:sldMkLst>
      </pc:sldChg>
      <pc:sldChg chg="del">
        <pc:chgData name="Md Rahman" userId="b92400c6-d630-4f43-bd6b-2b035b259fc7" providerId="ADAL" clId="{8BF55DFE-D4A2-483B-B86D-8CEB8C1D487C}" dt="2025-08-07T07:14:11.536" v="38" actId="47"/>
        <pc:sldMkLst>
          <pc:docMk/>
          <pc:sldMk cId="1147049371" sldId="303"/>
        </pc:sldMkLst>
      </pc:sldChg>
      <pc:sldChg chg="del">
        <pc:chgData name="Md Rahman" userId="b92400c6-d630-4f43-bd6b-2b035b259fc7" providerId="ADAL" clId="{8BF55DFE-D4A2-483B-B86D-8CEB8C1D487C}" dt="2025-08-07T07:14:11.536" v="38" actId="47"/>
        <pc:sldMkLst>
          <pc:docMk/>
          <pc:sldMk cId="3206078671" sldId="304"/>
        </pc:sldMkLst>
      </pc:sldChg>
      <pc:sldChg chg="del">
        <pc:chgData name="Md Rahman" userId="b92400c6-d630-4f43-bd6b-2b035b259fc7" providerId="ADAL" clId="{8BF55DFE-D4A2-483B-B86D-8CEB8C1D487C}" dt="2025-08-07T07:14:11.536" v="38" actId="47"/>
        <pc:sldMkLst>
          <pc:docMk/>
          <pc:sldMk cId="2474349205" sldId="305"/>
        </pc:sldMkLst>
      </pc:sldChg>
      <pc:sldChg chg="del">
        <pc:chgData name="Md Rahman" userId="b92400c6-d630-4f43-bd6b-2b035b259fc7" providerId="ADAL" clId="{8BF55DFE-D4A2-483B-B86D-8CEB8C1D487C}" dt="2025-08-07T07:14:11.536" v="38" actId="47"/>
        <pc:sldMkLst>
          <pc:docMk/>
          <pc:sldMk cId="3759517386" sldId="306"/>
        </pc:sldMkLst>
      </pc:sldChg>
      <pc:sldChg chg="del">
        <pc:chgData name="Md Rahman" userId="b92400c6-d630-4f43-bd6b-2b035b259fc7" providerId="ADAL" clId="{8BF55DFE-D4A2-483B-B86D-8CEB8C1D487C}" dt="2025-08-07T07:14:11.536" v="38" actId="47"/>
        <pc:sldMkLst>
          <pc:docMk/>
          <pc:sldMk cId="3538307600" sldId="307"/>
        </pc:sldMkLst>
      </pc:sldChg>
      <pc:sldChg chg="del">
        <pc:chgData name="Md Rahman" userId="b92400c6-d630-4f43-bd6b-2b035b259fc7" providerId="ADAL" clId="{8BF55DFE-D4A2-483B-B86D-8CEB8C1D487C}" dt="2025-08-07T07:14:11.536" v="38" actId="47"/>
        <pc:sldMkLst>
          <pc:docMk/>
          <pc:sldMk cId="2467733684" sldId="308"/>
        </pc:sldMkLst>
      </pc:sldChg>
      <pc:sldChg chg="del">
        <pc:chgData name="Md Rahman" userId="b92400c6-d630-4f43-bd6b-2b035b259fc7" providerId="ADAL" clId="{8BF55DFE-D4A2-483B-B86D-8CEB8C1D487C}" dt="2025-08-07T07:14:11.536" v="38" actId="47"/>
        <pc:sldMkLst>
          <pc:docMk/>
          <pc:sldMk cId="3698135990" sldId="309"/>
        </pc:sldMkLst>
      </pc:sldChg>
      <pc:sldChg chg="del">
        <pc:chgData name="Md Rahman" userId="b92400c6-d630-4f43-bd6b-2b035b259fc7" providerId="ADAL" clId="{8BF55DFE-D4A2-483B-B86D-8CEB8C1D487C}" dt="2025-08-07T07:14:11.536" v="38" actId="47"/>
        <pc:sldMkLst>
          <pc:docMk/>
          <pc:sldMk cId="89891095" sldId="310"/>
        </pc:sldMkLst>
      </pc:sldChg>
      <pc:sldChg chg="del">
        <pc:chgData name="Md Rahman" userId="b92400c6-d630-4f43-bd6b-2b035b259fc7" providerId="ADAL" clId="{8BF55DFE-D4A2-483B-B86D-8CEB8C1D487C}" dt="2025-08-07T07:14:11.536" v="38" actId="47"/>
        <pc:sldMkLst>
          <pc:docMk/>
          <pc:sldMk cId="1606841087" sldId="311"/>
        </pc:sldMkLst>
      </pc:sldChg>
      <pc:sldChg chg="del">
        <pc:chgData name="Md Rahman" userId="b92400c6-d630-4f43-bd6b-2b035b259fc7" providerId="ADAL" clId="{8BF55DFE-D4A2-483B-B86D-8CEB8C1D487C}" dt="2025-08-07T07:14:11.536" v="38" actId="47"/>
        <pc:sldMkLst>
          <pc:docMk/>
          <pc:sldMk cId="1092056613" sldId="312"/>
        </pc:sldMkLst>
      </pc:sldChg>
      <pc:sldChg chg="del">
        <pc:chgData name="Md Rahman" userId="b92400c6-d630-4f43-bd6b-2b035b259fc7" providerId="ADAL" clId="{8BF55DFE-D4A2-483B-B86D-8CEB8C1D487C}" dt="2025-08-07T07:14:11.536" v="38" actId="47"/>
        <pc:sldMkLst>
          <pc:docMk/>
          <pc:sldMk cId="1536035670" sldId="313"/>
        </pc:sldMkLst>
      </pc:sldChg>
      <pc:sldChg chg="del">
        <pc:chgData name="Md Rahman" userId="b92400c6-d630-4f43-bd6b-2b035b259fc7" providerId="ADAL" clId="{8BF55DFE-D4A2-483B-B86D-8CEB8C1D487C}" dt="2025-08-07T07:14:11.536" v="38" actId="47"/>
        <pc:sldMkLst>
          <pc:docMk/>
          <pc:sldMk cId="1165450387" sldId="314"/>
        </pc:sldMkLst>
      </pc:sldChg>
      <pc:sldChg chg="del">
        <pc:chgData name="Md Rahman" userId="b92400c6-d630-4f43-bd6b-2b035b259fc7" providerId="ADAL" clId="{8BF55DFE-D4A2-483B-B86D-8CEB8C1D487C}" dt="2025-08-07T07:14:11.536" v="38" actId="47"/>
        <pc:sldMkLst>
          <pc:docMk/>
          <pc:sldMk cId="3219312603" sldId="315"/>
        </pc:sldMkLst>
      </pc:sldChg>
      <pc:sldChg chg="del">
        <pc:chgData name="Md Rahman" userId="b92400c6-d630-4f43-bd6b-2b035b259fc7" providerId="ADAL" clId="{8BF55DFE-D4A2-483B-B86D-8CEB8C1D487C}" dt="2025-08-07T07:14:11.536" v="38" actId="47"/>
        <pc:sldMkLst>
          <pc:docMk/>
          <pc:sldMk cId="1868228342" sldId="316"/>
        </pc:sldMkLst>
      </pc:sldChg>
      <pc:sldChg chg="del">
        <pc:chgData name="Md Rahman" userId="b92400c6-d630-4f43-bd6b-2b035b259fc7" providerId="ADAL" clId="{8BF55DFE-D4A2-483B-B86D-8CEB8C1D487C}" dt="2025-08-07T07:14:11.536" v="38" actId="47"/>
        <pc:sldMkLst>
          <pc:docMk/>
          <pc:sldMk cId="1386501108" sldId="317"/>
        </pc:sldMkLst>
      </pc:sldChg>
      <pc:sldChg chg="del">
        <pc:chgData name="Md Rahman" userId="b92400c6-d630-4f43-bd6b-2b035b259fc7" providerId="ADAL" clId="{8BF55DFE-D4A2-483B-B86D-8CEB8C1D487C}" dt="2025-08-07T07:14:11.536" v="38" actId="47"/>
        <pc:sldMkLst>
          <pc:docMk/>
          <pc:sldMk cId="1642127266" sldId="318"/>
        </pc:sldMkLst>
      </pc:sldChg>
      <pc:sldChg chg="del">
        <pc:chgData name="Md Rahman" userId="b92400c6-d630-4f43-bd6b-2b035b259fc7" providerId="ADAL" clId="{8BF55DFE-D4A2-483B-B86D-8CEB8C1D487C}" dt="2025-08-07T07:14:11.536" v="38" actId="47"/>
        <pc:sldMkLst>
          <pc:docMk/>
          <pc:sldMk cId="577276735" sldId="319"/>
        </pc:sldMkLst>
      </pc:sldChg>
      <pc:sldChg chg="del">
        <pc:chgData name="Md Rahman" userId="b92400c6-d630-4f43-bd6b-2b035b259fc7" providerId="ADAL" clId="{8BF55DFE-D4A2-483B-B86D-8CEB8C1D487C}" dt="2025-08-07T07:14:11.536" v="38" actId="47"/>
        <pc:sldMkLst>
          <pc:docMk/>
          <pc:sldMk cId="3471833039" sldId="320"/>
        </pc:sldMkLst>
      </pc:sldChg>
      <pc:sldChg chg="del">
        <pc:chgData name="Md Rahman" userId="b92400c6-d630-4f43-bd6b-2b035b259fc7" providerId="ADAL" clId="{8BF55DFE-D4A2-483B-B86D-8CEB8C1D487C}" dt="2025-08-07T07:14:11.536" v="38" actId="47"/>
        <pc:sldMkLst>
          <pc:docMk/>
          <pc:sldMk cId="590545249" sldId="321"/>
        </pc:sldMkLst>
      </pc:sldChg>
      <pc:sldChg chg="del">
        <pc:chgData name="Md Rahman" userId="b92400c6-d630-4f43-bd6b-2b035b259fc7" providerId="ADAL" clId="{8BF55DFE-D4A2-483B-B86D-8CEB8C1D487C}" dt="2025-08-07T07:14:11.536" v="38" actId="47"/>
        <pc:sldMkLst>
          <pc:docMk/>
          <pc:sldMk cId="2192704876" sldId="322"/>
        </pc:sldMkLst>
      </pc:sldChg>
      <pc:sldChg chg="del">
        <pc:chgData name="Md Rahman" userId="b92400c6-d630-4f43-bd6b-2b035b259fc7" providerId="ADAL" clId="{8BF55DFE-D4A2-483B-B86D-8CEB8C1D487C}" dt="2025-08-07T07:14:11.536" v="38" actId="47"/>
        <pc:sldMkLst>
          <pc:docMk/>
          <pc:sldMk cId="2117101452" sldId="323"/>
        </pc:sldMkLst>
      </pc:sldChg>
      <pc:sldChg chg="del">
        <pc:chgData name="Md Rahman" userId="b92400c6-d630-4f43-bd6b-2b035b259fc7" providerId="ADAL" clId="{8BF55DFE-D4A2-483B-B86D-8CEB8C1D487C}" dt="2025-08-07T07:14:11.536" v="38" actId="47"/>
        <pc:sldMkLst>
          <pc:docMk/>
          <pc:sldMk cId="3281770235" sldId="324"/>
        </pc:sldMkLst>
      </pc:sldChg>
      <pc:sldChg chg="del">
        <pc:chgData name="Md Rahman" userId="b92400c6-d630-4f43-bd6b-2b035b259fc7" providerId="ADAL" clId="{8BF55DFE-D4A2-483B-B86D-8CEB8C1D487C}" dt="2025-08-07T07:14:11.536" v="38" actId="47"/>
        <pc:sldMkLst>
          <pc:docMk/>
          <pc:sldMk cId="369143621" sldId="325"/>
        </pc:sldMkLst>
      </pc:sldChg>
      <pc:sldChg chg="del">
        <pc:chgData name="Md Rahman" userId="b92400c6-d630-4f43-bd6b-2b035b259fc7" providerId="ADAL" clId="{8BF55DFE-D4A2-483B-B86D-8CEB8C1D487C}" dt="2025-08-07T07:14:11.536" v="38" actId="47"/>
        <pc:sldMkLst>
          <pc:docMk/>
          <pc:sldMk cId="3376099859" sldId="326"/>
        </pc:sldMkLst>
      </pc:sldChg>
      <pc:sldChg chg="del">
        <pc:chgData name="Md Rahman" userId="b92400c6-d630-4f43-bd6b-2b035b259fc7" providerId="ADAL" clId="{8BF55DFE-D4A2-483B-B86D-8CEB8C1D487C}" dt="2025-08-07T07:14:11.536" v="38" actId="47"/>
        <pc:sldMkLst>
          <pc:docMk/>
          <pc:sldMk cId="3811157312" sldId="327"/>
        </pc:sldMkLst>
      </pc:sldChg>
      <pc:sldChg chg="del">
        <pc:chgData name="Md Rahman" userId="b92400c6-d630-4f43-bd6b-2b035b259fc7" providerId="ADAL" clId="{8BF55DFE-D4A2-483B-B86D-8CEB8C1D487C}" dt="2025-08-07T07:14:11.536" v="38" actId="47"/>
        <pc:sldMkLst>
          <pc:docMk/>
          <pc:sldMk cId="1967027987" sldId="328"/>
        </pc:sldMkLst>
      </pc:sldChg>
      <pc:sldChg chg="del">
        <pc:chgData name="Md Rahman" userId="b92400c6-d630-4f43-bd6b-2b035b259fc7" providerId="ADAL" clId="{8BF55DFE-D4A2-483B-B86D-8CEB8C1D487C}" dt="2025-08-07T07:14:11.536" v="38" actId="47"/>
        <pc:sldMkLst>
          <pc:docMk/>
          <pc:sldMk cId="435035654" sldId="329"/>
        </pc:sldMkLst>
      </pc:sldChg>
      <pc:sldChg chg="del">
        <pc:chgData name="Md Rahman" userId="b92400c6-d630-4f43-bd6b-2b035b259fc7" providerId="ADAL" clId="{8BF55DFE-D4A2-483B-B86D-8CEB8C1D487C}" dt="2025-08-07T07:14:11.536" v="38" actId="47"/>
        <pc:sldMkLst>
          <pc:docMk/>
          <pc:sldMk cId="3178506018" sldId="330"/>
        </pc:sldMkLst>
      </pc:sldChg>
      <pc:sldChg chg="del">
        <pc:chgData name="Md Rahman" userId="b92400c6-d630-4f43-bd6b-2b035b259fc7" providerId="ADAL" clId="{8BF55DFE-D4A2-483B-B86D-8CEB8C1D487C}" dt="2025-08-07T07:14:11.536" v="38" actId="47"/>
        <pc:sldMkLst>
          <pc:docMk/>
          <pc:sldMk cId="512572625" sldId="331"/>
        </pc:sldMkLst>
      </pc:sldChg>
      <pc:sldChg chg="del">
        <pc:chgData name="Md Rahman" userId="b92400c6-d630-4f43-bd6b-2b035b259fc7" providerId="ADAL" clId="{8BF55DFE-D4A2-483B-B86D-8CEB8C1D487C}" dt="2025-08-07T07:14:11.536" v="38" actId="47"/>
        <pc:sldMkLst>
          <pc:docMk/>
          <pc:sldMk cId="638732818" sldId="332"/>
        </pc:sldMkLst>
      </pc:sldChg>
      <pc:sldChg chg="del">
        <pc:chgData name="Md Rahman" userId="b92400c6-d630-4f43-bd6b-2b035b259fc7" providerId="ADAL" clId="{8BF55DFE-D4A2-483B-B86D-8CEB8C1D487C}" dt="2025-08-07T07:14:11.536" v="38" actId="47"/>
        <pc:sldMkLst>
          <pc:docMk/>
          <pc:sldMk cId="3799699009" sldId="333"/>
        </pc:sldMkLst>
      </pc:sldChg>
      <pc:sldChg chg="del">
        <pc:chgData name="Md Rahman" userId="b92400c6-d630-4f43-bd6b-2b035b259fc7" providerId="ADAL" clId="{8BF55DFE-D4A2-483B-B86D-8CEB8C1D487C}" dt="2025-08-07T07:14:11.536" v="38" actId="47"/>
        <pc:sldMkLst>
          <pc:docMk/>
          <pc:sldMk cId="3765105805" sldId="334"/>
        </pc:sldMkLst>
      </pc:sldChg>
      <pc:sldChg chg="del">
        <pc:chgData name="Md Rahman" userId="b92400c6-d630-4f43-bd6b-2b035b259fc7" providerId="ADAL" clId="{8BF55DFE-D4A2-483B-B86D-8CEB8C1D487C}" dt="2025-08-07T07:14:11.536" v="38" actId="47"/>
        <pc:sldMkLst>
          <pc:docMk/>
          <pc:sldMk cId="1835326412" sldId="335"/>
        </pc:sldMkLst>
      </pc:sldChg>
      <pc:sldChg chg="del">
        <pc:chgData name="Md Rahman" userId="b92400c6-d630-4f43-bd6b-2b035b259fc7" providerId="ADAL" clId="{8BF55DFE-D4A2-483B-B86D-8CEB8C1D487C}" dt="2025-08-07T07:14:11.536" v="38" actId="47"/>
        <pc:sldMkLst>
          <pc:docMk/>
          <pc:sldMk cId="587352257" sldId="336"/>
        </pc:sldMkLst>
      </pc:sldChg>
      <pc:sldChg chg="modSp mod">
        <pc:chgData name="Md Rahman" userId="b92400c6-d630-4f43-bd6b-2b035b259fc7" providerId="ADAL" clId="{8BF55DFE-D4A2-483B-B86D-8CEB8C1D487C}" dt="2025-08-07T07:13:59.292" v="37" actId="14100"/>
        <pc:sldMkLst>
          <pc:docMk/>
          <pc:sldMk cId="1657260218" sldId="341"/>
        </pc:sldMkLst>
        <pc:spChg chg="mod">
          <ac:chgData name="Md Rahman" userId="b92400c6-d630-4f43-bd6b-2b035b259fc7" providerId="ADAL" clId="{8BF55DFE-D4A2-483B-B86D-8CEB8C1D487C}" dt="2025-08-07T07:13:44.663" v="35" actId="14100"/>
          <ac:spMkLst>
            <pc:docMk/>
            <pc:sldMk cId="1657260218" sldId="341"/>
            <ac:spMk id="3" creationId="{00000000-0000-0000-0000-000000000000}"/>
          </ac:spMkLst>
        </pc:spChg>
        <pc:graphicFrameChg chg="mod modGraphic">
          <ac:chgData name="Md Rahman" userId="b92400c6-d630-4f43-bd6b-2b035b259fc7" providerId="ADAL" clId="{8BF55DFE-D4A2-483B-B86D-8CEB8C1D487C}" dt="2025-08-07T07:13:59.292" v="37" actId="14100"/>
          <ac:graphicFrameMkLst>
            <pc:docMk/>
            <pc:sldMk cId="1657260218" sldId="341"/>
            <ac:graphicFrameMk id="6" creationId="{00000000-0000-0000-0000-000000000000}"/>
          </ac:graphicFrameMkLst>
        </pc:graphicFrameChg>
      </pc:sldChg>
      <pc:sldChg chg="del">
        <pc:chgData name="Md Rahman" userId="b92400c6-d630-4f43-bd6b-2b035b259fc7" providerId="ADAL" clId="{8BF55DFE-D4A2-483B-B86D-8CEB8C1D487C}" dt="2025-08-07T07:14:11.536" v="38" actId="47"/>
        <pc:sldMkLst>
          <pc:docMk/>
          <pc:sldMk cId="2532342184" sldId="342"/>
        </pc:sldMkLst>
      </pc:sldChg>
      <pc:sldChg chg="addSp delSp modSp new mod ord setBg">
        <pc:chgData name="Md Rahman" userId="b92400c6-d630-4f43-bd6b-2b035b259fc7" providerId="ADAL" clId="{8BF55DFE-D4A2-483B-B86D-8CEB8C1D487C}" dt="2025-08-19T11:10:13.872" v="75"/>
        <pc:sldMkLst>
          <pc:docMk/>
          <pc:sldMk cId="2630508248" sldId="345"/>
        </pc:sldMkLst>
        <pc:spChg chg="add del">
          <ac:chgData name="Md Rahman" userId="b92400c6-d630-4f43-bd6b-2b035b259fc7" providerId="ADAL" clId="{8BF55DFE-D4A2-483B-B86D-8CEB8C1D487C}" dt="2025-08-19T11:06:14.807" v="43" actId="26606"/>
          <ac:spMkLst>
            <pc:docMk/>
            <pc:sldMk cId="2630508248" sldId="345"/>
            <ac:spMk id="2" creationId="{43107CC8-24BD-187A-57EB-EA29ACB8C830}"/>
          </ac:spMkLst>
        </pc:spChg>
        <pc:spChg chg="del">
          <ac:chgData name="Md Rahman" userId="b92400c6-d630-4f43-bd6b-2b035b259fc7" providerId="ADAL" clId="{8BF55DFE-D4A2-483B-B86D-8CEB8C1D487C}" dt="2025-08-19T11:06:00.480" v="40"/>
          <ac:spMkLst>
            <pc:docMk/>
            <pc:sldMk cId="2630508248" sldId="345"/>
            <ac:spMk id="3" creationId="{B6F7C28F-B2E5-BA65-447A-4EDB9A4109A3}"/>
          </ac:spMkLst>
        </pc:spChg>
        <pc:spChg chg="add del">
          <ac:chgData name="Md Rahman" userId="b92400c6-d630-4f43-bd6b-2b035b259fc7" providerId="ADAL" clId="{8BF55DFE-D4A2-483B-B86D-8CEB8C1D487C}" dt="2025-08-19T11:06:14.776" v="42" actId="26606"/>
          <ac:spMkLst>
            <pc:docMk/>
            <pc:sldMk cId="2630508248" sldId="345"/>
            <ac:spMk id="9" creationId="{F3060C83-F051-4F0E-ABAD-AA0DFC48B218}"/>
          </ac:spMkLst>
        </pc:spChg>
        <pc:spChg chg="add del">
          <ac:chgData name="Md Rahman" userId="b92400c6-d630-4f43-bd6b-2b035b259fc7" providerId="ADAL" clId="{8BF55DFE-D4A2-483B-B86D-8CEB8C1D487C}" dt="2025-08-19T11:06:14.776" v="42" actId="26606"/>
          <ac:spMkLst>
            <pc:docMk/>
            <pc:sldMk cId="2630508248" sldId="345"/>
            <ac:spMk id="11" creationId="{83C98ABE-055B-441F-B07E-44F97F083C39}"/>
          </ac:spMkLst>
        </pc:spChg>
        <pc:spChg chg="add del">
          <ac:chgData name="Md Rahman" userId="b92400c6-d630-4f43-bd6b-2b035b259fc7" providerId="ADAL" clId="{8BF55DFE-D4A2-483B-B86D-8CEB8C1D487C}" dt="2025-08-19T11:06:14.776" v="42" actId="26606"/>
          <ac:spMkLst>
            <pc:docMk/>
            <pc:sldMk cId="2630508248" sldId="345"/>
            <ac:spMk id="13" creationId="{29FDB030-9B49-4CED-8CCD-4D99382388AC}"/>
          </ac:spMkLst>
        </pc:spChg>
        <pc:spChg chg="add del">
          <ac:chgData name="Md Rahman" userId="b92400c6-d630-4f43-bd6b-2b035b259fc7" providerId="ADAL" clId="{8BF55DFE-D4A2-483B-B86D-8CEB8C1D487C}" dt="2025-08-19T11:06:14.776" v="42" actId="26606"/>
          <ac:spMkLst>
            <pc:docMk/>
            <pc:sldMk cId="2630508248" sldId="345"/>
            <ac:spMk id="15" creationId="{3783CA14-24A1-485C-8B30-D6A5D87987AD}"/>
          </ac:spMkLst>
        </pc:spChg>
        <pc:spChg chg="add del">
          <ac:chgData name="Md Rahman" userId="b92400c6-d630-4f43-bd6b-2b035b259fc7" providerId="ADAL" clId="{8BF55DFE-D4A2-483B-B86D-8CEB8C1D487C}" dt="2025-08-19T11:06:14.776" v="42" actId="26606"/>
          <ac:spMkLst>
            <pc:docMk/>
            <pc:sldMk cId="2630508248" sldId="345"/>
            <ac:spMk id="17" creationId="{9A97C86A-04D6-40F7-AE84-31AB43E6A846}"/>
          </ac:spMkLst>
        </pc:spChg>
        <pc:spChg chg="add del">
          <ac:chgData name="Md Rahman" userId="b92400c6-d630-4f43-bd6b-2b035b259fc7" providerId="ADAL" clId="{8BF55DFE-D4A2-483B-B86D-8CEB8C1D487C}" dt="2025-08-19T11:06:14.776" v="42" actId="26606"/>
          <ac:spMkLst>
            <pc:docMk/>
            <pc:sldMk cId="2630508248" sldId="345"/>
            <ac:spMk id="19" creationId="{FF9F2414-84E8-453E-B1F3-389FDE8192D9}"/>
          </ac:spMkLst>
        </pc:spChg>
        <pc:spChg chg="add del">
          <ac:chgData name="Md Rahman" userId="b92400c6-d630-4f43-bd6b-2b035b259fc7" providerId="ADAL" clId="{8BF55DFE-D4A2-483B-B86D-8CEB8C1D487C}" dt="2025-08-19T11:06:14.776" v="42" actId="26606"/>
          <ac:spMkLst>
            <pc:docMk/>
            <pc:sldMk cId="2630508248" sldId="345"/>
            <ac:spMk id="21" creationId="{3ECA69A1-7536-43AC-85EF-C7106179F5ED}"/>
          </ac:spMkLst>
        </pc:spChg>
        <pc:spChg chg="add">
          <ac:chgData name="Md Rahman" userId="b92400c6-d630-4f43-bd6b-2b035b259fc7" providerId="ADAL" clId="{8BF55DFE-D4A2-483B-B86D-8CEB8C1D487C}" dt="2025-08-19T11:06:14.807" v="43" actId="26606"/>
          <ac:spMkLst>
            <pc:docMk/>
            <pc:sldMk cId="2630508248" sldId="345"/>
            <ac:spMk id="24" creationId="{345A976A-8DE3-4B67-B94B-2044FDD12899}"/>
          </ac:spMkLst>
        </pc:spChg>
        <pc:spChg chg="add">
          <ac:chgData name="Md Rahman" userId="b92400c6-d630-4f43-bd6b-2b035b259fc7" providerId="ADAL" clId="{8BF55DFE-D4A2-483B-B86D-8CEB8C1D487C}" dt="2025-08-19T11:06:14.807" v="43" actId="26606"/>
          <ac:spMkLst>
            <pc:docMk/>
            <pc:sldMk cId="2630508248" sldId="345"/>
            <ac:spMk id="25" creationId="{6EAAA1B9-2DDB-49C9-A037-A523D2F13C15}"/>
          </ac:spMkLst>
        </pc:spChg>
        <pc:spChg chg="add mod">
          <ac:chgData name="Md Rahman" userId="b92400c6-d630-4f43-bd6b-2b035b259fc7" providerId="ADAL" clId="{8BF55DFE-D4A2-483B-B86D-8CEB8C1D487C}" dt="2025-08-19T11:06:47.509" v="52" actId="113"/>
          <ac:spMkLst>
            <pc:docMk/>
            <pc:sldMk cId="2630508248" sldId="345"/>
            <ac:spMk id="26" creationId="{43107CC8-24BD-187A-57EB-EA29ACB8C830}"/>
          </ac:spMkLst>
        </pc:spChg>
        <pc:grpChg chg="add">
          <ac:chgData name="Md Rahman" userId="b92400c6-d630-4f43-bd6b-2b035b259fc7" providerId="ADAL" clId="{8BF55DFE-D4A2-483B-B86D-8CEB8C1D487C}" dt="2025-08-19T11:06:14.807" v="43" actId="26606"/>
          <ac:grpSpMkLst>
            <pc:docMk/>
            <pc:sldMk cId="2630508248" sldId="345"/>
            <ac:grpSpMk id="27" creationId="{76566969-F813-4CC5-B3E9-363D85B55C3B}"/>
          </ac:grpSpMkLst>
        </pc:grpChg>
        <pc:grpChg chg="add">
          <ac:chgData name="Md Rahman" userId="b92400c6-d630-4f43-bd6b-2b035b259fc7" providerId="ADAL" clId="{8BF55DFE-D4A2-483B-B86D-8CEB8C1D487C}" dt="2025-08-19T11:06:14.807" v="43" actId="26606"/>
          <ac:grpSpMkLst>
            <pc:docMk/>
            <pc:sldMk cId="2630508248" sldId="345"/>
            <ac:grpSpMk id="30" creationId="{0217D733-97B6-4C43-AF0C-5E3CB0EA132A}"/>
          </ac:grpSpMkLst>
        </pc:grpChg>
        <pc:graphicFrameChg chg="add mod modGraphic">
          <ac:chgData name="Md Rahman" userId="b92400c6-d630-4f43-bd6b-2b035b259fc7" providerId="ADAL" clId="{8BF55DFE-D4A2-483B-B86D-8CEB8C1D487C}" dt="2025-08-19T11:08:41.455" v="62" actId="14734"/>
          <ac:graphicFrameMkLst>
            <pc:docMk/>
            <pc:sldMk cId="2630508248" sldId="345"/>
            <ac:graphicFrameMk id="4" creationId="{E7072714-138F-44F8-B4F4-CCEA77CD26BE}"/>
          </ac:graphicFrameMkLst>
        </pc:graphicFrameChg>
      </pc:sldChg>
      <pc:sldChg chg="modSp new mod">
        <pc:chgData name="Md Rahman" userId="b92400c6-d630-4f43-bd6b-2b035b259fc7" providerId="ADAL" clId="{8BF55DFE-D4A2-483B-B86D-8CEB8C1D487C}" dt="2025-08-19T11:10:02.769" v="73" actId="27636"/>
        <pc:sldMkLst>
          <pc:docMk/>
          <pc:sldMk cId="1749598625" sldId="346"/>
        </pc:sldMkLst>
        <pc:spChg chg="mod">
          <ac:chgData name="Md Rahman" userId="b92400c6-d630-4f43-bd6b-2b035b259fc7" providerId="ADAL" clId="{8BF55DFE-D4A2-483B-B86D-8CEB8C1D487C}" dt="2025-08-19T11:09:56.021" v="70" actId="122"/>
          <ac:spMkLst>
            <pc:docMk/>
            <pc:sldMk cId="1749598625" sldId="346"/>
            <ac:spMk id="2" creationId="{3E192D2C-F837-901E-1F3B-DA65934070AD}"/>
          </ac:spMkLst>
        </pc:spChg>
        <pc:spChg chg="mod">
          <ac:chgData name="Md Rahman" userId="b92400c6-d630-4f43-bd6b-2b035b259fc7" providerId="ADAL" clId="{8BF55DFE-D4A2-483B-B86D-8CEB8C1D487C}" dt="2025-08-19T11:10:02.769" v="73" actId="27636"/>
          <ac:spMkLst>
            <pc:docMk/>
            <pc:sldMk cId="1749598625" sldId="346"/>
            <ac:spMk id="3" creationId="{537C798A-8FE8-344D-493E-6D685B90C221}"/>
          </ac:spMkLst>
        </pc:spChg>
      </pc:sldChg>
      <pc:sldChg chg="modSp new mod">
        <pc:chgData name="Md Rahman" userId="b92400c6-d630-4f43-bd6b-2b035b259fc7" providerId="ADAL" clId="{8BF55DFE-D4A2-483B-B86D-8CEB8C1D487C}" dt="2025-08-19T11:11:09.865" v="86" actId="14100"/>
        <pc:sldMkLst>
          <pc:docMk/>
          <pc:sldMk cId="4006902437" sldId="347"/>
        </pc:sldMkLst>
        <pc:spChg chg="mod">
          <ac:chgData name="Md Rahman" userId="b92400c6-d630-4f43-bd6b-2b035b259fc7" providerId="ADAL" clId="{8BF55DFE-D4A2-483B-B86D-8CEB8C1D487C}" dt="2025-08-19T11:11:04.449" v="83" actId="14100"/>
          <ac:spMkLst>
            <pc:docMk/>
            <pc:sldMk cId="4006902437" sldId="347"/>
            <ac:spMk id="2" creationId="{5E3B5A9F-D452-793A-682A-4A4DD018BCD6}"/>
          </ac:spMkLst>
        </pc:spChg>
        <pc:spChg chg="mod">
          <ac:chgData name="Md Rahman" userId="b92400c6-d630-4f43-bd6b-2b035b259fc7" providerId="ADAL" clId="{8BF55DFE-D4A2-483B-B86D-8CEB8C1D487C}" dt="2025-08-19T11:11:09.865" v="86" actId="14100"/>
          <ac:spMkLst>
            <pc:docMk/>
            <pc:sldMk cId="4006902437" sldId="347"/>
            <ac:spMk id="3" creationId="{3C1858F9-ED21-8D14-F3C0-91DBA02D406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55A138E-D483-40E9-B439-C5D52416F662}"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8F43C8-47FA-47AB-9181-7DE449BBB225}" type="slidenum">
              <a:rPr lang="en-IN" smtClean="0"/>
              <a:t>‹#›</a:t>
            </a:fld>
            <a:endParaRPr lang="en-IN"/>
          </a:p>
        </p:txBody>
      </p:sp>
    </p:spTree>
    <p:extLst>
      <p:ext uri="{BB962C8B-B14F-4D97-AF65-F5344CB8AC3E}">
        <p14:creationId xmlns:p14="http://schemas.microsoft.com/office/powerpoint/2010/main" val="3426520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55A138E-D483-40E9-B439-C5D52416F662}"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8F43C8-47FA-47AB-9181-7DE449BBB225}" type="slidenum">
              <a:rPr lang="en-IN" smtClean="0"/>
              <a:t>‹#›</a:t>
            </a:fld>
            <a:endParaRPr lang="en-IN"/>
          </a:p>
        </p:txBody>
      </p:sp>
    </p:spTree>
    <p:extLst>
      <p:ext uri="{BB962C8B-B14F-4D97-AF65-F5344CB8AC3E}">
        <p14:creationId xmlns:p14="http://schemas.microsoft.com/office/powerpoint/2010/main" val="2767680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5A138E-D483-40E9-B439-C5D52416F662}"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8F43C8-47FA-47AB-9181-7DE449BBB225}" type="slidenum">
              <a:rPr lang="en-IN" smtClean="0"/>
              <a:t>‹#›</a:t>
            </a:fld>
            <a:endParaRPr lang="en-IN"/>
          </a:p>
        </p:txBody>
      </p:sp>
    </p:spTree>
    <p:extLst>
      <p:ext uri="{BB962C8B-B14F-4D97-AF65-F5344CB8AC3E}">
        <p14:creationId xmlns:p14="http://schemas.microsoft.com/office/powerpoint/2010/main" val="60154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55A138E-D483-40E9-B439-C5D52416F662}"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8F43C8-47FA-47AB-9181-7DE449BBB225}" type="slidenum">
              <a:rPr lang="en-IN" smtClean="0"/>
              <a:t>‹#›</a:t>
            </a:fld>
            <a:endParaRPr lang="en-IN"/>
          </a:p>
        </p:txBody>
      </p:sp>
    </p:spTree>
    <p:extLst>
      <p:ext uri="{BB962C8B-B14F-4D97-AF65-F5344CB8AC3E}">
        <p14:creationId xmlns:p14="http://schemas.microsoft.com/office/powerpoint/2010/main" val="4113470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55A138E-D483-40E9-B439-C5D52416F662}" type="datetimeFigureOut">
              <a:rPr lang="en-IN" smtClean="0"/>
              <a:t>19-08-2025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48F43C8-47FA-47AB-9181-7DE449BBB225}" type="slidenum">
              <a:rPr lang="en-IN" smtClean="0"/>
              <a:t>‹#›</a:t>
            </a:fld>
            <a:endParaRPr lang="en-IN"/>
          </a:p>
        </p:txBody>
      </p:sp>
    </p:spTree>
    <p:extLst>
      <p:ext uri="{BB962C8B-B14F-4D97-AF65-F5344CB8AC3E}">
        <p14:creationId xmlns:p14="http://schemas.microsoft.com/office/powerpoint/2010/main" val="2747856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55A138E-D483-40E9-B439-C5D52416F662}" type="datetimeFigureOut">
              <a:rPr lang="en-IN" smtClean="0"/>
              <a:t>19-08-2025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48F43C8-47FA-47AB-9181-7DE449BBB225}" type="slidenum">
              <a:rPr lang="en-IN" smtClean="0"/>
              <a:t>‹#›</a:t>
            </a:fld>
            <a:endParaRPr lang="en-IN"/>
          </a:p>
        </p:txBody>
      </p:sp>
    </p:spTree>
    <p:extLst>
      <p:ext uri="{BB962C8B-B14F-4D97-AF65-F5344CB8AC3E}">
        <p14:creationId xmlns:p14="http://schemas.microsoft.com/office/powerpoint/2010/main" val="2134406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5A138E-D483-40E9-B439-C5D52416F662}" type="datetimeFigureOut">
              <a:rPr lang="en-IN" smtClean="0"/>
              <a:t>19-08-2025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48F43C8-47FA-47AB-9181-7DE449BBB225}" type="slidenum">
              <a:rPr lang="en-IN" smtClean="0"/>
              <a:t>‹#›</a:t>
            </a:fld>
            <a:endParaRPr lang="en-IN"/>
          </a:p>
        </p:txBody>
      </p:sp>
    </p:spTree>
    <p:extLst>
      <p:ext uri="{BB962C8B-B14F-4D97-AF65-F5344CB8AC3E}">
        <p14:creationId xmlns:p14="http://schemas.microsoft.com/office/powerpoint/2010/main" val="3138479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A138E-D483-40E9-B439-C5D52416F662}"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8F43C8-47FA-47AB-9181-7DE449BBB225}" type="slidenum">
              <a:rPr lang="en-IN" smtClean="0"/>
              <a:t>‹#›</a:t>
            </a:fld>
            <a:endParaRPr lang="en-IN"/>
          </a:p>
        </p:txBody>
      </p:sp>
    </p:spTree>
    <p:extLst>
      <p:ext uri="{BB962C8B-B14F-4D97-AF65-F5344CB8AC3E}">
        <p14:creationId xmlns:p14="http://schemas.microsoft.com/office/powerpoint/2010/main" val="1019547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5A138E-D483-40E9-B439-C5D52416F662}"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48F43C8-47FA-47AB-9181-7DE449BBB225}" type="slidenum">
              <a:rPr lang="en-IN" smtClean="0"/>
              <a:t>‹#›</a:t>
            </a:fld>
            <a:endParaRPr lang="en-IN"/>
          </a:p>
        </p:txBody>
      </p:sp>
    </p:spTree>
    <p:extLst>
      <p:ext uri="{BB962C8B-B14F-4D97-AF65-F5344CB8AC3E}">
        <p14:creationId xmlns:p14="http://schemas.microsoft.com/office/powerpoint/2010/main" val="4128868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55A138E-D483-40E9-B439-C5D52416F662}"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8F43C8-47FA-47AB-9181-7DE449BBB225}" type="slidenum">
              <a:rPr lang="en-IN" smtClean="0"/>
              <a:t>‹#›</a:t>
            </a:fld>
            <a:endParaRPr lang="en-IN"/>
          </a:p>
        </p:txBody>
      </p:sp>
    </p:spTree>
    <p:extLst>
      <p:ext uri="{BB962C8B-B14F-4D97-AF65-F5344CB8AC3E}">
        <p14:creationId xmlns:p14="http://schemas.microsoft.com/office/powerpoint/2010/main" val="1732156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55A138E-D483-40E9-B439-C5D52416F662}"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48F43C8-47FA-47AB-9181-7DE449BBB225}" type="slidenum">
              <a:rPr lang="en-IN" smtClean="0"/>
              <a:t>‹#›</a:t>
            </a:fld>
            <a:endParaRPr lang="en-IN"/>
          </a:p>
        </p:txBody>
      </p:sp>
    </p:spTree>
    <p:extLst>
      <p:ext uri="{BB962C8B-B14F-4D97-AF65-F5344CB8AC3E}">
        <p14:creationId xmlns:p14="http://schemas.microsoft.com/office/powerpoint/2010/main" val="210466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5A138E-D483-40E9-B439-C5D52416F662}" type="datetimeFigureOut">
              <a:rPr lang="en-IN" smtClean="0"/>
              <a:t>19-08-2025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8F43C8-47FA-47AB-9181-7DE449BBB225}" type="slidenum">
              <a:rPr lang="en-IN" smtClean="0"/>
              <a:t>‹#›</a:t>
            </a:fld>
            <a:endParaRPr lang="en-IN"/>
          </a:p>
        </p:txBody>
      </p:sp>
    </p:spTree>
    <p:extLst>
      <p:ext uri="{BB962C8B-B14F-4D97-AF65-F5344CB8AC3E}">
        <p14:creationId xmlns:p14="http://schemas.microsoft.com/office/powerpoint/2010/main" val="11111415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sydney.edu.au/students/writing.html#objective" TargetMode="External"/><Relationship Id="rId2" Type="http://schemas.openxmlformats.org/officeDocument/2006/relationships/hyperlink" Target="https://www.sydney.edu.au/students/writing.html#formal" TargetMode="External"/><Relationship Id="rId1" Type="http://schemas.openxmlformats.org/officeDocument/2006/relationships/slideLayout" Target="../slideLayouts/slideLayout2.xml"/><Relationship Id="rId4" Type="http://schemas.openxmlformats.org/officeDocument/2006/relationships/hyperlink" Target="https://www.sydney.edu.au/students/writing.html#technic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uefap.com/writing/citation/citefram.htm" TargetMode="External"/><Relationship Id="rId2" Type="http://schemas.openxmlformats.org/officeDocument/2006/relationships/hyperlink" Target="http://www.uefap.com/writing/report/repfram.htm"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hyperlink" Target="http://www.uefap.com/writing/genre/genrefram_litrev.htm" TargetMode="External"/><Relationship Id="rId13" Type="http://schemas.openxmlformats.org/officeDocument/2006/relationships/hyperlink" Target="http://www.uefap.com/writing/genre/genrefram_discuss.htm" TargetMode="External"/><Relationship Id="rId3" Type="http://schemas.openxmlformats.org/officeDocument/2006/relationships/hyperlink" Target="http://www.uefap.com/writing/genre/genrefram_report.htm" TargetMode="External"/><Relationship Id="rId7" Type="http://schemas.openxmlformats.org/officeDocument/2006/relationships/hyperlink" Target="http://www.uefap.com/writing/genre/genrefram_briefreport.htm" TargetMode="External"/><Relationship Id="rId12" Type="http://schemas.openxmlformats.org/officeDocument/2006/relationships/hyperlink" Target="http://www.uefap.com/writing/genre/genrefram_results.htm" TargetMode="External"/><Relationship Id="rId2" Type="http://schemas.openxmlformats.org/officeDocument/2006/relationships/hyperlink" Target="http://www.uefap.com/writing/genre/genrefram_essay.htm" TargetMode="External"/><Relationship Id="rId16" Type="http://schemas.openxmlformats.org/officeDocument/2006/relationships/hyperlink" Target="http://www.uefap.com/writing/genre/genrefram_theses.htm" TargetMode="External"/><Relationship Id="rId1" Type="http://schemas.openxmlformats.org/officeDocument/2006/relationships/slideLayout" Target="../slideLayouts/slideLayout2.xml"/><Relationship Id="rId6" Type="http://schemas.openxmlformats.org/officeDocument/2006/relationships/hyperlink" Target="http://www.uefap.com/writing/genre/genrefram_review.htm" TargetMode="External"/><Relationship Id="rId11" Type="http://schemas.openxmlformats.org/officeDocument/2006/relationships/hyperlink" Target="http://www.uefap.com/writing/genre/genrefram_method.htm" TargetMode="External"/><Relationship Id="rId5" Type="http://schemas.openxmlformats.org/officeDocument/2006/relationships/hyperlink" Target="http://www.uefap.com/writing/genre/genrefram_proposal.htm" TargetMode="External"/><Relationship Id="rId15" Type="http://schemas.openxmlformats.org/officeDocument/2006/relationships/hyperlink" Target="http://www.uefap.com/writing/genre/genrefram_abstract.htm" TargetMode="External"/><Relationship Id="rId10" Type="http://schemas.openxmlformats.org/officeDocument/2006/relationships/hyperlink" Target="http://www.uefap.com/writing/genre/genrefram_introd.htm" TargetMode="External"/><Relationship Id="rId4" Type="http://schemas.openxmlformats.org/officeDocument/2006/relationships/hyperlink" Target="http://www.uefap.com/writing/genre/genrefram_case.htm" TargetMode="External"/><Relationship Id="rId9" Type="http://schemas.openxmlformats.org/officeDocument/2006/relationships/hyperlink" Target="http://www.uefap.com/writing/genre/genrefram_reflect.htm" TargetMode="External"/><Relationship Id="rId14" Type="http://schemas.openxmlformats.org/officeDocument/2006/relationships/hyperlink" Target="http://www.uefap.com/writing/genre/genrefram_conclude.ht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unep.org/news-and-stories/story/why-bees-are-essential-people-and-planet" TargetMode="External"/><Relationship Id="rId2" Type="http://schemas.openxmlformats.org/officeDocument/2006/relationships/hyperlink" Target="http://www.unep.org/new"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517320"/>
          </a:xfrm>
        </p:spPr>
        <p:txBody>
          <a:bodyPr>
            <a:normAutofit/>
          </a:bodyPr>
          <a:lstStyle/>
          <a:p>
            <a:r>
              <a:rPr lang="en-IN" sz="6600" b="1" dirty="0">
                <a:latin typeface="Times New Roman" panose="02020603050405020304" pitchFamily="18" charset="0"/>
                <a:cs typeface="Times New Roman" panose="02020603050405020304" pitchFamily="18" charset="0"/>
              </a:rPr>
              <a:t>Academic Writing</a:t>
            </a:r>
          </a:p>
        </p:txBody>
      </p:sp>
      <p:sp>
        <p:nvSpPr>
          <p:cNvPr id="3" name="Subtitle 2"/>
          <p:cNvSpPr>
            <a:spLocks noGrp="1"/>
          </p:cNvSpPr>
          <p:nvPr>
            <p:ph type="subTitle" idx="1"/>
          </p:nvPr>
        </p:nvSpPr>
        <p:spPr/>
        <p:txBody>
          <a:bodyPr/>
          <a:lstStyle/>
          <a:p>
            <a:endParaRPr lang="en-IN" dirty="0"/>
          </a:p>
          <a:p>
            <a:r>
              <a:rPr lang="en-IN" dirty="0"/>
              <a:t>Md. Mojibur Rahman</a:t>
            </a:r>
          </a:p>
          <a:p>
            <a:r>
              <a:rPr lang="en-IN" dirty="0"/>
              <a:t>mrahmanelt@iitism.ac.in</a:t>
            </a:r>
          </a:p>
        </p:txBody>
      </p:sp>
    </p:spTree>
    <p:extLst>
      <p:ext uri="{BB962C8B-B14F-4D97-AF65-F5344CB8AC3E}">
        <p14:creationId xmlns:p14="http://schemas.microsoft.com/office/powerpoint/2010/main" val="2431473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Academic Writing</a:t>
            </a:r>
            <a:endParaRPr lang="en-IN" dirty="0"/>
          </a:p>
        </p:txBody>
      </p:sp>
      <p:sp>
        <p:nvSpPr>
          <p:cNvPr id="3" name="Content Placeholder 2"/>
          <p:cNvSpPr>
            <a:spLocks noGrp="1"/>
          </p:cNvSpPr>
          <p:nvPr>
            <p:ph idx="1"/>
          </p:nvPr>
        </p:nvSpPr>
        <p:spPr/>
        <p:txBody>
          <a:bodyPr>
            <a:normAutofit/>
          </a:bodyPr>
          <a:lstStyle/>
          <a:p>
            <a:r>
              <a:rPr lang="en-IN" dirty="0"/>
              <a:t>Academic writing is generally quite </a:t>
            </a:r>
            <a:r>
              <a:rPr lang="en-IN" u="sng" dirty="0">
                <a:hlinkClick r:id="rId2"/>
              </a:rPr>
              <a:t>formal</a:t>
            </a:r>
            <a:r>
              <a:rPr lang="en-IN" dirty="0"/>
              <a:t>, </a:t>
            </a:r>
            <a:r>
              <a:rPr lang="en-IN" u="sng" dirty="0">
                <a:hlinkClick r:id="rId3"/>
              </a:rPr>
              <a:t>objective (impersonal)</a:t>
            </a:r>
            <a:r>
              <a:rPr lang="en-IN" dirty="0"/>
              <a:t> and </a:t>
            </a:r>
            <a:r>
              <a:rPr lang="en-IN" u="sng" dirty="0">
                <a:hlinkClick r:id="rId4"/>
              </a:rPr>
              <a:t>technical</a:t>
            </a:r>
            <a:r>
              <a:rPr lang="en-IN" dirty="0"/>
              <a:t>. </a:t>
            </a:r>
          </a:p>
          <a:p>
            <a:pPr>
              <a:buFont typeface="Wingdings" panose="05000000000000000000" pitchFamily="2" charset="2"/>
              <a:buChar char="ü"/>
            </a:pPr>
            <a:r>
              <a:rPr lang="en-IN" dirty="0">
                <a:solidFill>
                  <a:schemeClr val="accent6">
                    <a:lumMod val="75000"/>
                  </a:schemeClr>
                </a:solidFill>
              </a:rPr>
              <a:t>It is formal by avoiding casual or conversational language, such as contractions or informal vocabulary. </a:t>
            </a:r>
          </a:p>
          <a:p>
            <a:pPr>
              <a:buFont typeface="Wingdings" panose="05000000000000000000" pitchFamily="2" charset="2"/>
              <a:buChar char="ü"/>
            </a:pPr>
            <a:r>
              <a:rPr lang="en-IN" dirty="0">
                <a:solidFill>
                  <a:schemeClr val="accent6">
                    <a:lumMod val="75000"/>
                  </a:schemeClr>
                </a:solidFill>
              </a:rPr>
              <a:t>It is impersonal and objective by avoiding direct reference to people or feelings, and instead emphasising objects, facts and ideas. </a:t>
            </a:r>
          </a:p>
          <a:p>
            <a:pPr>
              <a:buFont typeface="Wingdings" panose="05000000000000000000" pitchFamily="2" charset="2"/>
              <a:buChar char="ü"/>
            </a:pPr>
            <a:r>
              <a:rPr lang="en-IN" dirty="0">
                <a:solidFill>
                  <a:schemeClr val="accent6">
                    <a:lumMod val="75000"/>
                  </a:schemeClr>
                </a:solidFill>
              </a:rPr>
              <a:t>It is technical by using vocabulary specific to the discipline.</a:t>
            </a:r>
          </a:p>
          <a:p>
            <a:endParaRPr lang="en-IN" dirty="0"/>
          </a:p>
        </p:txBody>
      </p:sp>
    </p:spTree>
    <p:extLst>
      <p:ext uri="{BB962C8B-B14F-4D97-AF65-F5344CB8AC3E}">
        <p14:creationId xmlns:p14="http://schemas.microsoft.com/office/powerpoint/2010/main" val="3355247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Different disciplines also have different styles and structures of writing. </a:t>
            </a:r>
          </a:p>
          <a:p>
            <a:r>
              <a:rPr lang="en-IN" dirty="0"/>
              <a:t>For example, some disciplines, such as in the humanities, expect longer paragraphs, which include topic sentences to show how your argument is structured. Other disciplines, for example in the sciences, expect short paragraphs, with no topic sentences, which are denser in factual information.</a:t>
            </a:r>
          </a:p>
          <a:p>
            <a:endParaRPr lang="en-IN" dirty="0"/>
          </a:p>
        </p:txBody>
      </p:sp>
    </p:spTree>
    <p:extLst>
      <p:ext uri="{BB962C8B-B14F-4D97-AF65-F5344CB8AC3E}">
        <p14:creationId xmlns:p14="http://schemas.microsoft.com/office/powerpoint/2010/main" val="2666701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IN" dirty="0"/>
              <a:t>To be a good academic writer, you will need to learn the specific styles and structures for your discipline, as well as for each individual writing task. Some ways to do this are to:</a:t>
            </a:r>
          </a:p>
          <a:p>
            <a:pPr>
              <a:buFont typeface="Wingdings" panose="05000000000000000000" pitchFamily="2" charset="2"/>
              <a:buChar char="ü"/>
            </a:pPr>
            <a:r>
              <a:rPr lang="en-IN" dirty="0">
                <a:solidFill>
                  <a:srgbClr val="0070C0"/>
                </a:solidFill>
              </a:rPr>
              <a:t>ask for more information from your lecturer/supervisor/tutor</a:t>
            </a:r>
          </a:p>
          <a:p>
            <a:pPr>
              <a:buFont typeface="Wingdings" panose="05000000000000000000" pitchFamily="2" charset="2"/>
              <a:buChar char="ü"/>
            </a:pPr>
            <a:r>
              <a:rPr lang="en-IN" dirty="0">
                <a:solidFill>
                  <a:srgbClr val="0070C0"/>
                </a:solidFill>
              </a:rPr>
              <a:t>study the writing style of the academic articles in the most prestigious journals in your discipline</a:t>
            </a:r>
          </a:p>
          <a:p>
            <a:pPr>
              <a:buFont typeface="Wingdings" panose="05000000000000000000" pitchFamily="2" charset="2"/>
              <a:buChar char="ü"/>
            </a:pPr>
            <a:r>
              <a:rPr lang="en-IN" dirty="0">
                <a:solidFill>
                  <a:srgbClr val="0070C0"/>
                </a:solidFill>
              </a:rPr>
              <a:t>look at the successful writing by other students in your subject area.</a:t>
            </a:r>
          </a:p>
          <a:p>
            <a:endParaRPr lang="en-IN" dirty="0"/>
          </a:p>
        </p:txBody>
      </p:sp>
    </p:spTree>
    <p:extLst>
      <p:ext uri="{BB962C8B-B14F-4D97-AF65-F5344CB8AC3E}">
        <p14:creationId xmlns:p14="http://schemas.microsoft.com/office/powerpoint/2010/main" val="1563420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Formal Language</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r>
              <a:rPr lang="en-IN" dirty="0"/>
              <a:t>You can make your writing more formal through the vocabulary that you use. For academic writing:</a:t>
            </a:r>
          </a:p>
          <a:p>
            <a:pPr>
              <a:buFont typeface="Wingdings" panose="05000000000000000000" pitchFamily="2" charset="2"/>
              <a:buChar char="ü"/>
            </a:pPr>
            <a:r>
              <a:rPr lang="en-IN" dirty="0">
                <a:solidFill>
                  <a:srgbClr val="0070C0"/>
                </a:solidFill>
              </a:rPr>
              <a:t>choose formal instead of informal vocabulary. For example, ‘somewhat’ is more formal than ‘a bit’, ‘insufficient’ is more formal than ‘not enough’.</a:t>
            </a:r>
          </a:p>
          <a:p>
            <a:pPr>
              <a:buFont typeface="Wingdings" panose="05000000000000000000" pitchFamily="2" charset="2"/>
              <a:buChar char="ü"/>
            </a:pPr>
            <a:r>
              <a:rPr lang="en-IN" dirty="0">
                <a:solidFill>
                  <a:srgbClr val="0070C0"/>
                </a:solidFill>
              </a:rPr>
              <a:t>avoid contractions. For example, use ‘did not’ rather than ‘didn’t’.</a:t>
            </a:r>
          </a:p>
          <a:p>
            <a:pPr>
              <a:buFont typeface="Wingdings" panose="05000000000000000000" pitchFamily="2" charset="2"/>
              <a:buChar char="ü"/>
            </a:pPr>
            <a:r>
              <a:rPr lang="en-IN" dirty="0">
                <a:solidFill>
                  <a:srgbClr val="0070C0"/>
                </a:solidFill>
              </a:rPr>
              <a:t>avoid emotional language. For example, instead of strong words such as ‘wonderful’ or ‘terrible’, use more moderate words such as ‘helpful’ or ‘problematic’.</a:t>
            </a:r>
          </a:p>
          <a:p>
            <a:pPr>
              <a:buFont typeface="Wingdings" panose="05000000000000000000" pitchFamily="2" charset="2"/>
              <a:buChar char="ü"/>
            </a:pPr>
            <a:r>
              <a:rPr lang="en-IN" dirty="0">
                <a:solidFill>
                  <a:srgbClr val="0070C0"/>
                </a:solidFill>
              </a:rPr>
              <a:t>instead of using absolute positives and negatives, such as ‘proof’ or ‘wrong’, use more cautious evaluations, such as ‘strong evidence’ or ‘less convincing’.</a:t>
            </a:r>
          </a:p>
          <a:p>
            <a:endParaRPr lang="en-IN" dirty="0"/>
          </a:p>
        </p:txBody>
      </p:sp>
    </p:spTree>
    <p:extLst>
      <p:ext uri="{BB962C8B-B14F-4D97-AF65-F5344CB8AC3E}">
        <p14:creationId xmlns:p14="http://schemas.microsoft.com/office/powerpoint/2010/main" val="1935440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Objective Language</a:t>
            </a:r>
            <a:br>
              <a:rPr lang="en-IN" b="1" dirty="0"/>
            </a:br>
            <a:endParaRPr lang="en-IN" dirty="0"/>
          </a:p>
        </p:txBody>
      </p:sp>
      <p:sp>
        <p:nvSpPr>
          <p:cNvPr id="3" name="Content Placeholder 2"/>
          <p:cNvSpPr>
            <a:spLocks noGrp="1"/>
          </p:cNvSpPr>
          <p:nvPr>
            <p:ph idx="1"/>
          </p:nvPr>
        </p:nvSpPr>
        <p:spPr/>
        <p:txBody>
          <a:bodyPr/>
          <a:lstStyle/>
          <a:p>
            <a:r>
              <a:rPr lang="en-IN" dirty="0"/>
              <a:t>Although academic writing usually requires you to be objective and impersonal (not mentioning personal feelings), often you may still have to present your opinion. For example, you may need to:</a:t>
            </a:r>
          </a:p>
          <a:p>
            <a:pPr>
              <a:buFont typeface="Wingdings" panose="05000000000000000000" pitchFamily="2" charset="2"/>
              <a:buChar char="ü"/>
            </a:pPr>
            <a:r>
              <a:rPr lang="en-IN" dirty="0">
                <a:solidFill>
                  <a:srgbClr val="0070C0"/>
                </a:solidFill>
              </a:rPr>
              <a:t>interpret findings</a:t>
            </a:r>
          </a:p>
          <a:p>
            <a:pPr>
              <a:buFont typeface="Wingdings" panose="05000000000000000000" pitchFamily="2" charset="2"/>
              <a:buChar char="ü"/>
            </a:pPr>
            <a:r>
              <a:rPr lang="en-IN" dirty="0">
                <a:solidFill>
                  <a:srgbClr val="0070C0"/>
                </a:solidFill>
              </a:rPr>
              <a:t>evaluate a theory</a:t>
            </a:r>
          </a:p>
          <a:p>
            <a:pPr>
              <a:buFont typeface="Wingdings" panose="05000000000000000000" pitchFamily="2" charset="2"/>
              <a:buChar char="ü"/>
            </a:pPr>
            <a:r>
              <a:rPr lang="en-IN" dirty="0">
                <a:solidFill>
                  <a:srgbClr val="0070C0"/>
                </a:solidFill>
              </a:rPr>
              <a:t>develop an argument</a:t>
            </a:r>
          </a:p>
          <a:p>
            <a:pPr>
              <a:buFont typeface="Wingdings" panose="05000000000000000000" pitchFamily="2" charset="2"/>
              <a:buChar char="ü"/>
            </a:pPr>
            <a:r>
              <a:rPr lang="en-IN" dirty="0">
                <a:solidFill>
                  <a:srgbClr val="0070C0"/>
                </a:solidFill>
              </a:rPr>
              <a:t>critique the work of others.</a:t>
            </a:r>
          </a:p>
          <a:p>
            <a:endParaRPr lang="en-IN" dirty="0"/>
          </a:p>
        </p:txBody>
      </p:sp>
    </p:spTree>
    <p:extLst>
      <p:ext uri="{BB962C8B-B14F-4D97-AF65-F5344CB8AC3E}">
        <p14:creationId xmlns:p14="http://schemas.microsoft.com/office/powerpoint/2010/main" val="3720864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IN" dirty="0"/>
              <a:t>To express your point of view and still write in an objective style, you can use the following strategies:</a:t>
            </a:r>
          </a:p>
          <a:p>
            <a:pPr>
              <a:buFont typeface="Wingdings" panose="05000000000000000000" pitchFamily="2" charset="2"/>
              <a:buChar char="ü"/>
            </a:pPr>
            <a:r>
              <a:rPr lang="en-IN" sz="2400" dirty="0">
                <a:solidFill>
                  <a:srgbClr val="0070C0"/>
                </a:solidFill>
              </a:rPr>
              <a:t>Move information around in the sentence to emphasise things and ideas, instead of people and feelings. For example, instead of writing ‘I believe the model is valid, based on these findings’, write ‘These findings indicate that the model is valid’.</a:t>
            </a:r>
          </a:p>
          <a:p>
            <a:pPr>
              <a:buFont typeface="Wingdings" panose="05000000000000000000" pitchFamily="2" charset="2"/>
              <a:buChar char="ü"/>
            </a:pPr>
            <a:r>
              <a:rPr lang="en-IN" sz="2400" dirty="0">
                <a:solidFill>
                  <a:srgbClr val="0070C0"/>
                </a:solidFill>
              </a:rPr>
              <a:t>Avoid evaluative words that are based on non-technical judgements and feelings. For example, use ‘valid’ or ‘did not demonstrate’ instead of ‘amazing’ or ‘disappointment’.</a:t>
            </a:r>
          </a:p>
          <a:p>
            <a:pPr>
              <a:buFont typeface="Wingdings" panose="05000000000000000000" pitchFamily="2" charset="2"/>
              <a:buChar char="ü"/>
            </a:pPr>
            <a:r>
              <a:rPr lang="en-IN" sz="2400" dirty="0">
                <a:solidFill>
                  <a:srgbClr val="0070C0"/>
                </a:solidFill>
              </a:rPr>
              <a:t>Avoid intense or emotional evaluative language. For example, instead of writing ‘Parents who smoke are obviously abusing their children’, write ‘Second hand smoke has some harmful effects on children’s health’.</a:t>
            </a:r>
          </a:p>
          <a:p>
            <a:endParaRPr lang="en-IN" dirty="0"/>
          </a:p>
        </p:txBody>
      </p:sp>
    </p:spTree>
    <p:extLst>
      <p:ext uri="{BB962C8B-B14F-4D97-AF65-F5344CB8AC3E}">
        <p14:creationId xmlns:p14="http://schemas.microsoft.com/office/powerpoint/2010/main" val="4293340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ü"/>
            </a:pPr>
            <a:r>
              <a:rPr lang="en-IN" dirty="0">
                <a:solidFill>
                  <a:srgbClr val="0070C0"/>
                </a:solidFill>
              </a:rPr>
              <a:t>Use modality to show caution about your views, or to allow room for others to disagree. For example, instead of writing ‘I think </a:t>
            </a:r>
            <a:r>
              <a:rPr lang="en-IN" dirty="0" err="1">
                <a:solidFill>
                  <a:srgbClr val="0070C0"/>
                </a:solidFill>
              </a:rPr>
              <a:t>secondhand</a:t>
            </a:r>
            <a:r>
              <a:rPr lang="en-IN" dirty="0">
                <a:solidFill>
                  <a:srgbClr val="0070C0"/>
                </a:solidFill>
              </a:rPr>
              <a:t> smoke causes cancer’, write ‘There is evidence to support the possibility that </a:t>
            </a:r>
            <a:r>
              <a:rPr lang="en-IN" dirty="0" err="1">
                <a:solidFill>
                  <a:srgbClr val="0070C0"/>
                </a:solidFill>
              </a:rPr>
              <a:t>secondhand</a:t>
            </a:r>
            <a:r>
              <a:rPr lang="en-IN" dirty="0">
                <a:solidFill>
                  <a:srgbClr val="0070C0"/>
                </a:solidFill>
              </a:rPr>
              <a:t> smoke increases the risk of cancer’.</a:t>
            </a:r>
          </a:p>
          <a:p>
            <a:pPr>
              <a:buFont typeface="Wingdings" panose="05000000000000000000" pitchFamily="2" charset="2"/>
              <a:buChar char="ü"/>
            </a:pPr>
            <a:r>
              <a:rPr lang="en-IN" dirty="0">
                <a:solidFill>
                  <a:srgbClr val="0070C0"/>
                </a:solidFill>
              </a:rPr>
              <a:t>Find authoritative sources, such as authors, researchers and theorists in books or articles, who support your point of view, and refer to them in your writing. For example, instead of writing ‘Language is, in my view, clearly something social’, write ‘As Halliday (1973) argues, language is intrinsically social’.</a:t>
            </a:r>
          </a:p>
          <a:p>
            <a:r>
              <a:rPr lang="en-IN" dirty="0"/>
              <a:t>Different disciplines often have quite different expectations about how objective or subjective your writing can be. For example, in some fields it is fine to use first person, such as 'my view is that...', while in other fields this is not acceptable. You should look at the convention used in published articles in your discipline area, and check with your lecturer.</a:t>
            </a:r>
          </a:p>
          <a:p>
            <a:endParaRPr lang="en-IN" dirty="0"/>
          </a:p>
        </p:txBody>
      </p:sp>
    </p:spTree>
    <p:extLst>
      <p:ext uri="{BB962C8B-B14F-4D97-AF65-F5344CB8AC3E}">
        <p14:creationId xmlns:p14="http://schemas.microsoft.com/office/powerpoint/2010/main" val="2779896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Technical Language</a:t>
            </a:r>
            <a:br>
              <a:rPr lang="en-IN" b="1" dirty="0"/>
            </a:br>
            <a:endParaRPr lang="en-IN" dirty="0"/>
          </a:p>
        </p:txBody>
      </p:sp>
      <p:sp>
        <p:nvSpPr>
          <p:cNvPr id="3" name="Content Placeholder 2"/>
          <p:cNvSpPr>
            <a:spLocks noGrp="1"/>
          </p:cNvSpPr>
          <p:nvPr>
            <p:ph idx="1"/>
          </p:nvPr>
        </p:nvSpPr>
        <p:spPr/>
        <p:txBody>
          <a:bodyPr>
            <a:normAutofit fontScale="92500" lnSpcReduction="20000"/>
          </a:bodyPr>
          <a:lstStyle/>
          <a:p>
            <a:r>
              <a:rPr lang="en-IN" dirty="0"/>
              <a:t>As well as using formal language, you also need to write technically. This means that you need to develop a large vocabulary for the concepts specific to the discipline or specialisation you’re writing for. To do this, take note of terminology used by your lecturer and tutor, as well as in your readings.</a:t>
            </a:r>
          </a:p>
          <a:p>
            <a:r>
              <a:rPr lang="en-IN" dirty="0"/>
              <a:t>Be careful about the meaning of technical terms. Often the same word has a different meaning in another discipline. For example, ‘discourse’ is a technical term used in multiple disciplines with different meanings.</a:t>
            </a:r>
          </a:p>
          <a:p>
            <a:r>
              <a:rPr lang="en-IN" dirty="0"/>
              <a:t>Make sure you also understand and use the key categories and relationships in your discipline, that is, the way information and ideas are organised into groups. For example, in the discipline of Law, law is separated into two types: common law and statute law. Knowing these distinctions will help you structure your writing and make it more technical and analytical.</a:t>
            </a:r>
          </a:p>
          <a:p>
            <a:endParaRPr lang="en-IN" dirty="0"/>
          </a:p>
        </p:txBody>
      </p:sp>
    </p:spTree>
    <p:extLst>
      <p:ext uri="{BB962C8B-B14F-4D97-AF65-F5344CB8AC3E}">
        <p14:creationId xmlns:p14="http://schemas.microsoft.com/office/powerpoint/2010/main" val="476279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The Purpose of Academic Writing</a:t>
            </a:r>
          </a:p>
        </p:txBody>
      </p:sp>
      <p:sp>
        <p:nvSpPr>
          <p:cNvPr id="3" name="Content Placeholder 2"/>
          <p:cNvSpPr>
            <a:spLocks noGrp="1"/>
          </p:cNvSpPr>
          <p:nvPr>
            <p:ph idx="1"/>
          </p:nvPr>
        </p:nvSpPr>
        <p:spPr/>
        <p:txBody>
          <a:bodyPr/>
          <a:lstStyle/>
          <a:p>
            <a:pPr marL="0" indent="0">
              <a:buNone/>
            </a:pPr>
            <a:r>
              <a:rPr lang="en-IN" dirty="0"/>
              <a:t>Writers should be clear why they are writing. The most common reasons for writing include:</a:t>
            </a:r>
          </a:p>
          <a:p>
            <a:pPr marL="0" indent="0">
              <a:buNone/>
            </a:pPr>
            <a:endParaRPr lang="en-IN" dirty="0"/>
          </a:p>
          <a:p>
            <a:r>
              <a:rPr lang="en-IN" dirty="0"/>
              <a:t>to report on a piece of research the writer has conducted</a:t>
            </a:r>
          </a:p>
          <a:p>
            <a:r>
              <a:rPr lang="en-IN" dirty="0"/>
              <a:t>to answer a question the writer has been given or chosen</a:t>
            </a:r>
          </a:p>
          <a:p>
            <a:r>
              <a:rPr lang="en-IN" dirty="0"/>
              <a:t>to discuss a subject of common interest and give the writer’s view</a:t>
            </a:r>
          </a:p>
          <a:p>
            <a:r>
              <a:rPr lang="en-IN" dirty="0"/>
              <a:t>to synthesise research done by others on a topic</a:t>
            </a:r>
          </a:p>
        </p:txBody>
      </p:sp>
    </p:spTree>
    <p:extLst>
      <p:ext uri="{BB962C8B-B14F-4D97-AF65-F5344CB8AC3E}">
        <p14:creationId xmlns:p14="http://schemas.microsoft.com/office/powerpoint/2010/main" val="2729314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Features of Academic Writing</a:t>
            </a:r>
            <a:br>
              <a:rPr lang="en-IN" b="1" dirty="0"/>
            </a:br>
            <a:endParaRPr lang="en-IN" dirty="0"/>
          </a:p>
        </p:txBody>
      </p:sp>
      <p:sp>
        <p:nvSpPr>
          <p:cNvPr id="3" name="Content Placeholder 2"/>
          <p:cNvSpPr>
            <a:spLocks noGrp="1"/>
          </p:cNvSpPr>
          <p:nvPr>
            <p:ph idx="1"/>
          </p:nvPr>
        </p:nvSpPr>
        <p:spPr/>
        <p:txBody>
          <a:bodyPr/>
          <a:lstStyle/>
          <a:p>
            <a:pPr marL="0" indent="0">
              <a:buNone/>
            </a:pPr>
            <a:r>
              <a:rPr lang="en-IN" dirty="0"/>
              <a:t>Academic writing in English is linear, which means it has one central point or theme with every part contributing to the main line of argument, without digressions or repetitions. Its objective is to inform rather than entertain. As well as this it is in the standard written form of the language. There are ten main features of academic writing that are often discussed. Academic writing is to some extent: complex, formal, objective, explicit, hedged, and responsible. It uses language precisely and accurately. It is also well organised and planned.</a:t>
            </a:r>
          </a:p>
        </p:txBody>
      </p:sp>
    </p:spTree>
    <p:extLst>
      <p:ext uri="{BB962C8B-B14F-4D97-AF65-F5344CB8AC3E}">
        <p14:creationId xmlns:p14="http://schemas.microsoft.com/office/powerpoint/2010/main" val="2785604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Complexity</a:t>
            </a:r>
            <a:br>
              <a:rPr lang="en-IN" sz="4900" b="1" dirty="0"/>
            </a:br>
            <a:endParaRPr lang="en-IN" dirty="0"/>
          </a:p>
        </p:txBody>
      </p:sp>
      <p:sp>
        <p:nvSpPr>
          <p:cNvPr id="3" name="Content Placeholder 2"/>
          <p:cNvSpPr>
            <a:spLocks noGrp="1"/>
          </p:cNvSpPr>
          <p:nvPr>
            <p:ph idx="1"/>
          </p:nvPr>
        </p:nvSpPr>
        <p:spPr>
          <a:xfrm>
            <a:off x="838200" y="1442906"/>
            <a:ext cx="10515600" cy="4734057"/>
          </a:xfrm>
        </p:spPr>
        <p:txBody>
          <a:bodyPr/>
          <a:lstStyle/>
          <a:p>
            <a:pPr marL="0" indent="0">
              <a:buNone/>
            </a:pPr>
            <a:endParaRPr lang="en-IN" dirty="0"/>
          </a:p>
          <a:p>
            <a:pPr marL="0" indent="0">
              <a:buNone/>
            </a:pPr>
            <a:r>
              <a:rPr lang="en-IN" dirty="0"/>
              <a:t>Written language is relatively more complex than spoken language. Written language has longer words, it is lexically more dense and it has a more varied vocabulary. It uses more noun-based phrases than verb-based phrases. Written texts are shorter and the language has more grammatical complexity, including more subordinate clauses and more passives.</a:t>
            </a:r>
          </a:p>
        </p:txBody>
      </p:sp>
    </p:spTree>
    <p:extLst>
      <p:ext uri="{BB962C8B-B14F-4D97-AF65-F5344CB8AC3E}">
        <p14:creationId xmlns:p14="http://schemas.microsoft.com/office/powerpoint/2010/main" val="2459657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br>
              <a:rPr lang="en-IN" b="1" dirty="0"/>
            </a:br>
            <a:endParaRPr lang="en-IN" dirty="0"/>
          </a:p>
        </p:txBody>
      </p:sp>
      <p:sp>
        <p:nvSpPr>
          <p:cNvPr id="3" name="Content Placeholder 2"/>
          <p:cNvSpPr>
            <a:spLocks noGrp="1"/>
          </p:cNvSpPr>
          <p:nvPr>
            <p:ph idx="1"/>
          </p:nvPr>
        </p:nvSpPr>
        <p:spPr>
          <a:xfrm>
            <a:off x="838200" y="1442906"/>
            <a:ext cx="10515600" cy="4734057"/>
          </a:xfrm>
        </p:spPr>
        <p:txBody>
          <a:bodyPr/>
          <a:lstStyle/>
          <a:p>
            <a:pPr marL="0" indent="0">
              <a:buNone/>
            </a:pPr>
            <a:r>
              <a:rPr lang="en-IN" dirty="0"/>
              <a:t>Example:</a:t>
            </a:r>
          </a:p>
        </p:txBody>
      </p:sp>
      <p:graphicFrame>
        <p:nvGraphicFramePr>
          <p:cNvPr id="4" name="Table 3"/>
          <p:cNvGraphicFramePr>
            <a:graphicFrameLocks noGrp="1"/>
          </p:cNvGraphicFramePr>
          <p:nvPr>
            <p:extLst>
              <p:ext uri="{D42A27DB-BD31-4B8C-83A1-F6EECF244321}">
                <p14:modId xmlns:p14="http://schemas.microsoft.com/office/powerpoint/2010/main" val="4074512114"/>
              </p:ext>
            </p:extLst>
          </p:nvPr>
        </p:nvGraphicFramePr>
        <p:xfrm>
          <a:off x="895865" y="1894075"/>
          <a:ext cx="10515600" cy="4141666"/>
        </p:xfrm>
        <a:graphic>
          <a:graphicData uri="http://schemas.openxmlformats.org/drawingml/2006/table">
            <a:tbl>
              <a:tblPr firstRow="1" firstCol="1" bandRow="1">
                <a:tableStyleId>{5C22544A-7EE6-4342-B048-85BDC9FD1C3A}</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456346">
                <a:tc>
                  <a:txBody>
                    <a:bodyPr/>
                    <a:lstStyle/>
                    <a:p>
                      <a:pPr algn="ctr">
                        <a:lnSpc>
                          <a:spcPct val="107000"/>
                        </a:lnSpc>
                        <a:spcAft>
                          <a:spcPts val="800"/>
                        </a:spcAft>
                      </a:pPr>
                      <a:r>
                        <a:rPr lang="en-IN" sz="2000" dirty="0">
                          <a:effectLst/>
                        </a:rPr>
                        <a:t>Spoken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gn="ctr">
                        <a:lnSpc>
                          <a:spcPct val="107000"/>
                        </a:lnSpc>
                        <a:spcAft>
                          <a:spcPts val="800"/>
                        </a:spcAft>
                      </a:pPr>
                      <a:r>
                        <a:rPr lang="en-IN" sz="2000">
                          <a:effectLst/>
                        </a:rPr>
                        <a:t>Written</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000"/>
                  </a:ext>
                </a:extLst>
              </a:tr>
              <a:tr h="878730">
                <a:tc>
                  <a:txBody>
                    <a:bodyPr/>
                    <a:lstStyle/>
                    <a:p>
                      <a:pPr>
                        <a:lnSpc>
                          <a:spcPct val="107000"/>
                        </a:lnSpc>
                        <a:spcAft>
                          <a:spcPts val="800"/>
                        </a:spcAft>
                      </a:pPr>
                      <a:r>
                        <a:rPr lang="en-IN" sz="2000" dirty="0">
                          <a:effectLst/>
                        </a:rPr>
                        <a:t>Whenever I'd visited there before, I'd ended up feeling that it would be futile if I tried to do anything more.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2000" dirty="0">
                          <a:effectLst/>
                        </a:rPr>
                        <a:t>Every previous visit had left me with a sense of the futility of further action on my part.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001"/>
                  </a:ext>
                </a:extLst>
              </a:tr>
              <a:tr h="878730">
                <a:tc>
                  <a:txBody>
                    <a:bodyPr/>
                    <a:lstStyle/>
                    <a:p>
                      <a:pPr>
                        <a:lnSpc>
                          <a:spcPct val="107000"/>
                        </a:lnSpc>
                        <a:spcAft>
                          <a:spcPts val="800"/>
                        </a:spcAft>
                      </a:pPr>
                      <a:r>
                        <a:rPr lang="en-IN" sz="2000">
                          <a:effectLst/>
                        </a:rPr>
                        <a:t>The cities in Switzerland had once been peaceful, but they changed when people became violent.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2000" dirty="0">
                          <a:effectLst/>
                        </a:rPr>
                        <a:t>Violence changed the face of once peaceful Swiss cities.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002"/>
                  </a:ext>
                </a:extLst>
              </a:tr>
              <a:tr h="878730">
                <a:tc>
                  <a:txBody>
                    <a:bodyPr/>
                    <a:lstStyle/>
                    <a:p>
                      <a:pPr>
                        <a:lnSpc>
                          <a:spcPct val="107000"/>
                        </a:lnSpc>
                        <a:spcAft>
                          <a:spcPts val="800"/>
                        </a:spcAft>
                      </a:pPr>
                      <a:r>
                        <a:rPr lang="en-IN" sz="2000">
                          <a:effectLst/>
                        </a:rPr>
                        <a:t>Because the technology has improved its less risky than it used to be when you install them at the same time, and it doesn't cost so much either.</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2000" dirty="0">
                          <a:effectLst/>
                        </a:rPr>
                        <a:t>Improvements in technology have reduced the risks and high costs associated with simultaneous installation.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003"/>
                  </a:ext>
                </a:extLst>
              </a:tr>
              <a:tr h="878730">
                <a:tc>
                  <a:txBody>
                    <a:bodyPr/>
                    <a:lstStyle/>
                    <a:p>
                      <a:pPr>
                        <a:lnSpc>
                          <a:spcPct val="107000"/>
                        </a:lnSpc>
                        <a:spcAft>
                          <a:spcPts val="800"/>
                        </a:spcAft>
                      </a:pPr>
                      <a:r>
                        <a:rPr lang="en-IN" sz="2000" dirty="0">
                          <a:effectLst/>
                        </a:rPr>
                        <a:t>The people in the colony rejoiced when it was promised that things would change in this way.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a:lnSpc>
                          <a:spcPct val="107000"/>
                        </a:lnSpc>
                        <a:spcAft>
                          <a:spcPts val="800"/>
                        </a:spcAft>
                      </a:pPr>
                      <a:r>
                        <a:rPr lang="en-IN" sz="2000" dirty="0">
                          <a:effectLst/>
                        </a:rPr>
                        <a:t>Opinion in the colony greeted the promised change with enthusiasm.</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93444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Formality</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IN" dirty="0"/>
              <a:t>Academic writing is relatively formal. In general this means that in an essay you should avoid colloquial words and expressions.</a:t>
            </a:r>
          </a:p>
          <a:p>
            <a:pPr marL="0" indent="0">
              <a:buNone/>
            </a:pPr>
            <a:endParaRPr lang="en-IN" dirty="0"/>
          </a:p>
          <a:p>
            <a:pPr marL="0" indent="0">
              <a:buNone/>
            </a:pPr>
            <a:r>
              <a:rPr lang="en-IN" dirty="0"/>
              <a:t>In general this means in an essay that you should avoid:</a:t>
            </a:r>
          </a:p>
          <a:p>
            <a:r>
              <a:rPr lang="en-IN" dirty="0"/>
              <a:t>colloquial words and expressions; ""stuff", "a lot of", "thing", "sort of",</a:t>
            </a:r>
          </a:p>
          <a:p>
            <a:r>
              <a:rPr lang="en-IN" dirty="0"/>
              <a:t>abbreviated forms: "can't", "doesn't", "shouldn't"</a:t>
            </a:r>
          </a:p>
          <a:p>
            <a:r>
              <a:rPr lang="en-IN" dirty="0"/>
              <a:t>two word verbs: "put off", "bring up"</a:t>
            </a:r>
          </a:p>
          <a:p>
            <a:r>
              <a:rPr lang="en-IN" dirty="0"/>
              <a:t>sub-headings, numbering and bullet-points in formal essays - but use them in reports.</a:t>
            </a:r>
          </a:p>
          <a:p>
            <a:r>
              <a:rPr lang="en-IN" dirty="0"/>
              <a:t>asking questions.</a:t>
            </a:r>
          </a:p>
          <a:p>
            <a:pPr marL="0" indent="0">
              <a:buNone/>
            </a:pPr>
            <a:endParaRPr lang="en-IN" dirty="0"/>
          </a:p>
        </p:txBody>
      </p:sp>
    </p:spTree>
    <p:extLst>
      <p:ext uri="{BB962C8B-B14F-4D97-AF65-F5344CB8AC3E}">
        <p14:creationId xmlns:p14="http://schemas.microsoft.com/office/powerpoint/2010/main" val="2830999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Precision</a:t>
            </a:r>
            <a:br>
              <a:rPr lang="en-IN" sz="4900" b="1" dirty="0"/>
            </a:b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r>
              <a:rPr lang="en-IN" dirty="0"/>
              <a:t>In academic writing, facts and figures are given precisely.</a:t>
            </a:r>
          </a:p>
          <a:p>
            <a:pPr marL="0" indent="0">
              <a:buNone/>
            </a:pPr>
            <a:endParaRPr lang="en-IN" dirty="0"/>
          </a:p>
          <a:p>
            <a:pPr marL="0" indent="0">
              <a:buNone/>
            </a:pPr>
            <a:r>
              <a:rPr lang="en-IN" dirty="0"/>
              <a:t>In academic writing you need to be precise when you use information, dates or figures. Do not use "a lot of people" when you can say "50 million people".</a:t>
            </a:r>
          </a:p>
          <a:p>
            <a:pPr marL="0" indent="0">
              <a:buNone/>
            </a:pPr>
            <a:r>
              <a:rPr lang="en-IN" dirty="0"/>
              <a:t>For example:</a:t>
            </a:r>
          </a:p>
          <a:p>
            <a:r>
              <a:rPr lang="en-IN" dirty="0"/>
              <a:t>Chemists had attempted to synthesize quinine for the previous hundred years but all they had achieved was to discover the extreme complexity of the problem.</a:t>
            </a:r>
          </a:p>
          <a:p>
            <a:r>
              <a:rPr lang="en-IN" dirty="0"/>
              <a:t>The volatile oily liquid beta-</a:t>
            </a:r>
            <a:r>
              <a:rPr lang="en-IN" dirty="0" err="1"/>
              <a:t>chloro</a:t>
            </a:r>
            <a:r>
              <a:rPr lang="en-IN" dirty="0"/>
              <a:t>-beta-ethyl sulphide was first synthesized in 1854, and in 1887 it was reported to produce blisters if it touched the skin. It was called mustard gas and was used at Ypres in 19I7, when it caused many thousands of casualties.</a:t>
            </a:r>
          </a:p>
          <a:p>
            <a:r>
              <a:rPr lang="en-IN" dirty="0"/>
              <a:t>It is approximately eight inches in length and runs from the urinary bladder, through the prostate gland, under the front of the pelvis, and, passing through the corpus </a:t>
            </a:r>
            <a:r>
              <a:rPr lang="en-IN" dirty="0" err="1"/>
              <a:t>spongiosum</a:t>
            </a:r>
            <a:r>
              <a:rPr lang="en-IN" dirty="0"/>
              <a:t>, it ends at the tip of the glans penis in an opening called the </a:t>
            </a:r>
            <a:r>
              <a:rPr lang="en-IN" i="1" dirty="0"/>
              <a:t>urethral meatus </a:t>
            </a:r>
            <a:r>
              <a:rPr lang="en-IN" dirty="0"/>
              <a:t>.</a:t>
            </a:r>
          </a:p>
          <a:p>
            <a:pPr marL="0" indent="0">
              <a:buNone/>
            </a:pPr>
            <a:endParaRPr lang="en-IN" dirty="0"/>
          </a:p>
        </p:txBody>
      </p:sp>
    </p:spTree>
    <p:extLst>
      <p:ext uri="{BB962C8B-B14F-4D97-AF65-F5344CB8AC3E}">
        <p14:creationId xmlns:p14="http://schemas.microsoft.com/office/powerpoint/2010/main" val="6527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Objectivity</a:t>
            </a:r>
            <a:br>
              <a:rPr lang="en-IN" sz="4900" b="1" dirty="0"/>
            </a:br>
            <a:endParaRPr lang="en-IN" dirty="0"/>
          </a:p>
        </p:txBody>
      </p:sp>
      <p:sp>
        <p:nvSpPr>
          <p:cNvPr id="3" name="Content Placeholder 2"/>
          <p:cNvSpPr>
            <a:spLocks noGrp="1"/>
          </p:cNvSpPr>
          <p:nvPr>
            <p:ph idx="1"/>
          </p:nvPr>
        </p:nvSpPr>
        <p:spPr/>
        <p:txBody>
          <a:bodyPr>
            <a:normAutofit fontScale="85000" lnSpcReduction="20000"/>
          </a:bodyPr>
          <a:lstStyle/>
          <a:p>
            <a:r>
              <a:rPr lang="en-IN" dirty="0"/>
              <a:t>Written language is in general objective rather than personal. </a:t>
            </a:r>
          </a:p>
          <a:p>
            <a:r>
              <a:rPr lang="en-IN" dirty="0"/>
              <a:t>It has fewer words that refer to the writer or the reader. </a:t>
            </a:r>
          </a:p>
          <a:p>
            <a:r>
              <a:rPr lang="en-IN" dirty="0"/>
              <a:t>The main emphasis should be on the information that you want to give and the arguments you want to make, rather than you. </a:t>
            </a:r>
          </a:p>
          <a:p>
            <a:r>
              <a:rPr lang="en-IN" dirty="0"/>
              <a:t>Academic writing tends to use nouns (and adjectives), rather than verbs (and adverbs).</a:t>
            </a:r>
          </a:p>
          <a:p>
            <a:r>
              <a:rPr lang="en-IN" dirty="0"/>
              <a:t>This is related to the basic nature of academic study and academic writing, in particular. </a:t>
            </a:r>
          </a:p>
          <a:p>
            <a:r>
              <a:rPr lang="en-IN" dirty="0"/>
              <a:t>Nobody really wants to know what you "think" or "believe". </a:t>
            </a:r>
          </a:p>
          <a:p>
            <a:r>
              <a:rPr lang="en-IN" dirty="0"/>
              <a:t>They want to know what you have studied and learned and how this has led you to your various conclusions. </a:t>
            </a:r>
          </a:p>
          <a:p>
            <a:r>
              <a:rPr lang="en-IN" dirty="0"/>
              <a:t>The thoughts and beliefs should be based on your lectures, reading, discussion and research and it is important to make this clear.</a:t>
            </a:r>
          </a:p>
        </p:txBody>
      </p:sp>
    </p:spTree>
    <p:extLst>
      <p:ext uri="{BB962C8B-B14F-4D97-AF65-F5344CB8AC3E}">
        <p14:creationId xmlns:p14="http://schemas.microsoft.com/office/powerpoint/2010/main" val="2262858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825625"/>
            <a:ext cx="10515600" cy="4649316"/>
          </a:xfrm>
        </p:spPr>
        <p:txBody>
          <a:bodyPr>
            <a:normAutofit fontScale="85000" lnSpcReduction="10000"/>
          </a:bodyPr>
          <a:lstStyle/>
          <a:p>
            <a:pPr marL="0" indent="0">
              <a:buNone/>
            </a:pPr>
            <a:r>
              <a:rPr lang="en-IN" b="1" dirty="0"/>
              <a:t>Compare these two paragraphs:</a:t>
            </a:r>
          </a:p>
          <a:p>
            <a:r>
              <a:rPr lang="en-IN" dirty="0">
                <a:solidFill>
                  <a:srgbClr val="0070C0"/>
                </a:solidFill>
              </a:rPr>
              <a:t>The question of what constitutes "language proficiency" and the nature of its cross-lingual dimensions is also at the core of many hotly debated issues in the areas of bilingual education and second language pedagogy and testing. Researchers have suggested ways of making second language teaching and testing more "communicative" (e.g., </a:t>
            </a:r>
            <a:r>
              <a:rPr lang="en-IN" dirty="0" err="1">
                <a:solidFill>
                  <a:srgbClr val="0070C0"/>
                </a:solidFill>
              </a:rPr>
              <a:t>Canale</a:t>
            </a:r>
            <a:r>
              <a:rPr lang="en-IN" dirty="0">
                <a:solidFill>
                  <a:srgbClr val="0070C0"/>
                </a:solidFill>
              </a:rPr>
              <a:t> and Swain, 1980; </a:t>
            </a:r>
            <a:r>
              <a:rPr lang="en-IN" dirty="0" err="1">
                <a:solidFill>
                  <a:srgbClr val="0070C0"/>
                </a:solidFill>
              </a:rPr>
              <a:t>Oller</a:t>
            </a:r>
            <a:r>
              <a:rPr lang="en-IN" dirty="0">
                <a:solidFill>
                  <a:srgbClr val="0070C0"/>
                </a:solidFill>
              </a:rPr>
              <a:t>, 1979b) on the grounds that a communicative approach better reflects the nature of language proficiency than one which emphasizes the acquisition of discrete language skills.</a:t>
            </a:r>
          </a:p>
          <a:p>
            <a:r>
              <a:rPr lang="en-IN" dirty="0">
                <a:solidFill>
                  <a:srgbClr val="7030A0"/>
                </a:solidFill>
              </a:rPr>
              <a:t>We don't really know what language proficiency is but many people have talked about it for a long time. Some researchers have tried to find ways for us to make teaching and testing more communicative because that is how language works. I think that language is something we use for communicating, not an object for us to study and we remember that when we teach and test it.</a:t>
            </a:r>
          </a:p>
          <a:p>
            <a:pPr marL="0" indent="0" algn="ctr">
              <a:buNone/>
            </a:pPr>
            <a:r>
              <a:rPr lang="en-IN" dirty="0">
                <a:solidFill>
                  <a:srgbClr val="FF0000"/>
                </a:solidFill>
              </a:rPr>
              <a:t>Which is the most objective?</a:t>
            </a:r>
          </a:p>
          <a:p>
            <a:pPr marL="0" indent="0">
              <a:buNone/>
            </a:pPr>
            <a:endParaRPr lang="en-IN" dirty="0"/>
          </a:p>
        </p:txBody>
      </p:sp>
    </p:spTree>
    <p:extLst>
      <p:ext uri="{BB962C8B-B14F-4D97-AF65-F5344CB8AC3E}">
        <p14:creationId xmlns:p14="http://schemas.microsoft.com/office/powerpoint/2010/main" val="2841527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In general, avoid words like "I", "me", "myself".</a:t>
            </a:r>
          </a:p>
          <a:p>
            <a:r>
              <a:rPr lang="en-IN" dirty="0"/>
              <a:t>A reader will normally assume that any idea not referenced is your own. It is therefore unnecessary to make this explicit.</a:t>
            </a:r>
          </a:p>
          <a:p>
            <a:pPr marL="0" indent="0">
              <a:buNone/>
            </a:pPr>
            <a:r>
              <a:rPr lang="en-IN" dirty="0">
                <a:solidFill>
                  <a:srgbClr val="FF0000"/>
                </a:solidFill>
              </a:rPr>
              <a:t>Don't write:" In my opinion, this a very interesting study."</a:t>
            </a:r>
          </a:p>
          <a:p>
            <a:pPr marL="0" indent="0">
              <a:buNone/>
            </a:pPr>
            <a:r>
              <a:rPr lang="en-IN" dirty="0">
                <a:solidFill>
                  <a:srgbClr val="00B050"/>
                </a:solidFill>
              </a:rPr>
              <a:t>Write: "This is a very interesting study."</a:t>
            </a:r>
          </a:p>
          <a:p>
            <a:r>
              <a:rPr lang="en-IN" dirty="0"/>
              <a:t>Avoid "you" to refer to the reader or people in general.</a:t>
            </a:r>
          </a:p>
          <a:p>
            <a:pPr marL="0" indent="0">
              <a:buNone/>
            </a:pPr>
            <a:r>
              <a:rPr lang="en-IN" dirty="0">
                <a:solidFill>
                  <a:srgbClr val="FF0000"/>
                </a:solidFill>
              </a:rPr>
              <a:t>Don't write: "You can easily forget how different life was 50 years ago."</a:t>
            </a:r>
          </a:p>
          <a:p>
            <a:pPr marL="0" indent="0">
              <a:buNone/>
            </a:pPr>
            <a:r>
              <a:rPr lang="en-IN" dirty="0">
                <a:solidFill>
                  <a:srgbClr val="00B050"/>
                </a:solidFill>
              </a:rPr>
              <a:t>Write: "It is easy to forget how difficult life was 50 years ago."</a:t>
            </a:r>
          </a:p>
          <a:p>
            <a:endParaRPr lang="en-IN" dirty="0"/>
          </a:p>
        </p:txBody>
      </p:sp>
    </p:spTree>
    <p:extLst>
      <p:ext uri="{BB962C8B-B14F-4D97-AF65-F5344CB8AC3E}">
        <p14:creationId xmlns:p14="http://schemas.microsoft.com/office/powerpoint/2010/main" val="1878241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marL="0" indent="0">
              <a:buNone/>
            </a:pPr>
            <a:r>
              <a:rPr lang="en-IN" b="1" dirty="0"/>
              <a:t>Examples</a:t>
            </a:r>
          </a:p>
          <a:p>
            <a:r>
              <a:rPr lang="en-IN" dirty="0"/>
              <a:t>Clearly this was far less true of France than ...</a:t>
            </a:r>
          </a:p>
          <a:p>
            <a:r>
              <a:rPr lang="en-IN" dirty="0"/>
              <a:t>This is where the disagreements and controversies begin ...</a:t>
            </a:r>
          </a:p>
          <a:p>
            <a:r>
              <a:rPr lang="en-IN" dirty="0"/>
              <a:t>The data indicates that ...</a:t>
            </a:r>
          </a:p>
          <a:p>
            <a:r>
              <a:rPr lang="en-IN" dirty="0"/>
              <a:t>This is not a view shared by everyone; Jones, for example, claims that ...</a:t>
            </a:r>
          </a:p>
          <a:p>
            <a:r>
              <a:rPr lang="en-IN" dirty="0"/>
              <a:t>. . .very few people would claim ...</a:t>
            </a:r>
          </a:p>
          <a:p>
            <a:r>
              <a:rPr lang="en-IN" dirty="0"/>
              <a:t>It is worthwhile at this stage to consider ...</a:t>
            </a:r>
          </a:p>
          <a:p>
            <a:r>
              <a:rPr lang="en-IN" dirty="0"/>
              <a:t>Of course, more concrete evidence is needed before ...</a:t>
            </a:r>
          </a:p>
          <a:p>
            <a:r>
              <a:rPr lang="en-IN" dirty="0"/>
              <a:t>Several possibilities emerge ...</a:t>
            </a:r>
          </a:p>
          <a:p>
            <a:r>
              <a:rPr lang="en-IN" dirty="0"/>
              <a:t>A common solution is ...</a:t>
            </a:r>
          </a:p>
          <a:p>
            <a:pPr marL="0" indent="0">
              <a:buNone/>
            </a:pPr>
            <a:endParaRPr lang="en-IN" dirty="0"/>
          </a:p>
        </p:txBody>
      </p:sp>
    </p:spTree>
    <p:extLst>
      <p:ext uri="{BB962C8B-B14F-4D97-AF65-F5344CB8AC3E}">
        <p14:creationId xmlns:p14="http://schemas.microsoft.com/office/powerpoint/2010/main" val="1798124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Explicitness</a:t>
            </a:r>
            <a:br>
              <a:rPr lang="en-IN" sz="4900" b="1" dirty="0"/>
            </a:br>
            <a:endParaRPr lang="en-IN" dirty="0"/>
          </a:p>
        </p:txBody>
      </p:sp>
      <p:sp>
        <p:nvSpPr>
          <p:cNvPr id="3" name="Content Placeholder 2"/>
          <p:cNvSpPr>
            <a:spLocks noGrp="1"/>
          </p:cNvSpPr>
          <p:nvPr>
            <p:ph idx="1"/>
          </p:nvPr>
        </p:nvSpPr>
        <p:spPr/>
        <p:txBody>
          <a:bodyPr>
            <a:normAutofit fontScale="92500" lnSpcReduction="20000"/>
          </a:bodyPr>
          <a:lstStyle/>
          <a:p>
            <a:r>
              <a:rPr lang="en-IN" dirty="0"/>
              <a:t>Academic writing is explicit about the relationships </a:t>
            </a:r>
            <a:r>
              <a:rPr lang="en-IN" dirty="0" err="1"/>
              <a:t>int</a:t>
            </a:r>
            <a:r>
              <a:rPr lang="en-IN" dirty="0"/>
              <a:t> he text. </a:t>
            </a:r>
          </a:p>
          <a:p>
            <a:r>
              <a:rPr lang="en-IN" dirty="0"/>
              <a:t>It is the responsibility of the writer in English to make it clear to the reader how the various parts of the text are related. </a:t>
            </a:r>
          </a:p>
          <a:p>
            <a:r>
              <a:rPr lang="en-IN" dirty="0"/>
              <a:t>These connections can be made explicit by the use of different signalling words.</a:t>
            </a:r>
          </a:p>
          <a:p>
            <a:pPr marL="0" indent="0">
              <a:buNone/>
            </a:pPr>
            <a:endParaRPr lang="en-IN" dirty="0"/>
          </a:p>
          <a:p>
            <a:pPr marL="0" indent="0">
              <a:buNone/>
            </a:pPr>
            <a:r>
              <a:rPr lang="en-IN" dirty="0"/>
              <a:t>Academic writing is explicit in several ways:</a:t>
            </a:r>
          </a:p>
          <a:p>
            <a:r>
              <a:rPr lang="en-IN" dirty="0"/>
              <a:t>It is explicit in its signposting of the organisation of the ideas in the text (</a:t>
            </a:r>
            <a:r>
              <a:rPr lang="en-IN" dirty="0" err="1"/>
              <a:t>Biber</a:t>
            </a:r>
            <a:r>
              <a:rPr lang="en-IN" dirty="0"/>
              <a:t>, Johansson, Leech, Conrad &amp; </a:t>
            </a:r>
            <a:r>
              <a:rPr lang="en-IN" dirty="0" err="1"/>
              <a:t>Finegan</a:t>
            </a:r>
            <a:r>
              <a:rPr lang="en-IN" dirty="0"/>
              <a:t>, 1999, pp. 880-882). As a writer of academic English, it is your responsibility to make it clear to your reader how various parts of the text are related. These connections can be made explicit by the use of different signalling words.</a:t>
            </a:r>
          </a:p>
          <a:p>
            <a:endParaRPr lang="en-IN" dirty="0"/>
          </a:p>
          <a:p>
            <a:pPr marL="0" indent="0">
              <a:buNone/>
            </a:pPr>
            <a:endParaRPr lang="en-IN" dirty="0"/>
          </a:p>
        </p:txBody>
      </p:sp>
    </p:spTree>
    <p:extLst>
      <p:ext uri="{BB962C8B-B14F-4D97-AF65-F5344CB8AC3E}">
        <p14:creationId xmlns:p14="http://schemas.microsoft.com/office/powerpoint/2010/main" val="466128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marL="0" indent="0">
              <a:buNone/>
            </a:pPr>
            <a:r>
              <a:rPr lang="en-IN" dirty="0"/>
              <a:t>For example, if you want to tell your reader that your line of argument is going to change, make it clear.</a:t>
            </a:r>
          </a:p>
          <a:p>
            <a:pPr marL="0" indent="0">
              <a:buNone/>
            </a:pPr>
            <a:endParaRPr lang="en-IN" dirty="0"/>
          </a:p>
          <a:p>
            <a:pPr marL="0" indent="0">
              <a:buNone/>
            </a:pPr>
            <a:r>
              <a:rPr lang="en-IN" dirty="0">
                <a:solidFill>
                  <a:srgbClr val="CC0066"/>
                </a:solidFill>
              </a:rPr>
              <a:t>The Bristol 167 was to be Britain's great new advance on American types such as the Lockheed Constellation and Douglas DC-6, which did not have the range to fly the Atlantic non-stop. It was also to be the largest aircraft ever built in Britain. However, even by the end of the war, the design had run into serious difficulties.</a:t>
            </a:r>
          </a:p>
          <a:p>
            <a:pPr marL="0" indent="0">
              <a:buNone/>
            </a:pPr>
            <a:endParaRPr lang="en-IN" dirty="0"/>
          </a:p>
          <a:p>
            <a:pPr marL="0" indent="0">
              <a:buNone/>
            </a:pPr>
            <a:r>
              <a:rPr lang="en-IN" dirty="0"/>
              <a:t>If you think that one sentence gives reasons for something in another sentence, make it explicit.</a:t>
            </a:r>
          </a:p>
          <a:p>
            <a:pPr marL="0" indent="0">
              <a:buNone/>
            </a:pPr>
            <a:endParaRPr lang="en-IN" dirty="0"/>
          </a:p>
          <a:p>
            <a:pPr marL="0" indent="0">
              <a:buNone/>
            </a:pPr>
            <a:r>
              <a:rPr lang="en-IN" dirty="0">
                <a:solidFill>
                  <a:srgbClr val="CC0066"/>
                </a:solidFill>
              </a:rPr>
              <a:t>While an earlier generation of writers had noted this feature of the period, it was not until the recent work of </a:t>
            </a:r>
            <a:r>
              <a:rPr lang="en-IN" dirty="0" err="1">
                <a:solidFill>
                  <a:srgbClr val="CC0066"/>
                </a:solidFill>
              </a:rPr>
              <a:t>Cairncross</a:t>
            </a:r>
            <a:r>
              <a:rPr lang="en-IN" dirty="0">
                <a:solidFill>
                  <a:srgbClr val="CC0066"/>
                </a:solidFill>
              </a:rPr>
              <a:t> that the significance of this outflow was realized. Partly this was because the current account deficit appears much smaller in current (1980s) data than it was thought to be by contemporaries.</a:t>
            </a:r>
          </a:p>
        </p:txBody>
      </p:sp>
    </p:spTree>
    <p:extLst>
      <p:ext uri="{BB962C8B-B14F-4D97-AF65-F5344CB8AC3E}">
        <p14:creationId xmlns:p14="http://schemas.microsoft.com/office/powerpoint/2010/main" val="1796879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If you think two ideas are almost the same, say so.</a:t>
            </a:r>
          </a:p>
          <a:p>
            <a:pPr marL="0" indent="0">
              <a:buNone/>
            </a:pPr>
            <a:endParaRPr lang="en-IN" dirty="0"/>
          </a:p>
          <a:p>
            <a:pPr marL="0" indent="0">
              <a:buNone/>
            </a:pPr>
            <a:r>
              <a:rPr lang="en-IN" dirty="0">
                <a:solidFill>
                  <a:srgbClr val="CC0066"/>
                </a:solidFill>
              </a:rPr>
              <a:t>Marx referred throughout his work to other systems than the capitalist system, especially those which he knew from the history of Europe to have preceded capitalism; systems such as feudalism, where the relation of production was characterized by the personal relation of the feudal lord and his serf and a relation of subordination which came from the lord's control of the land. Similarly, Marx was interested in slavery and in the classical Indian and Chinese social systems, or in those systems where the ties of local community are all important.</a:t>
            </a:r>
          </a:p>
        </p:txBody>
      </p:sp>
    </p:spTree>
    <p:extLst>
      <p:ext uri="{BB962C8B-B14F-4D97-AF65-F5344CB8AC3E}">
        <p14:creationId xmlns:p14="http://schemas.microsoft.com/office/powerpoint/2010/main" val="2198165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pPr marL="0" indent="0">
              <a:buNone/>
            </a:pPr>
            <a:r>
              <a:rPr lang="en-IN" dirty="0"/>
              <a:t>If you intend your sentence to give extra information, make it clear.</a:t>
            </a:r>
          </a:p>
          <a:p>
            <a:pPr marL="0" indent="0">
              <a:buNone/>
            </a:pPr>
            <a:endParaRPr lang="en-IN" dirty="0"/>
          </a:p>
          <a:p>
            <a:pPr marL="0" indent="0">
              <a:buNone/>
            </a:pPr>
            <a:r>
              <a:rPr lang="en-IN" dirty="0">
                <a:solidFill>
                  <a:srgbClr val="CC0066"/>
                </a:solidFill>
              </a:rPr>
              <a:t>He is born into a family, he marries into a family, and he becomes the husband and father of his own family. In addition, he has a definite place of origin and more relatives than he knows what to do with, and he receives a rudimentary education at the Canadian Mission School.</a:t>
            </a:r>
          </a:p>
          <a:p>
            <a:pPr marL="0" indent="0">
              <a:buNone/>
            </a:pPr>
            <a:endParaRPr lang="en-IN" dirty="0"/>
          </a:p>
          <a:p>
            <a:pPr marL="0" indent="0">
              <a:buNone/>
            </a:pPr>
            <a:r>
              <a:rPr lang="en-IN" dirty="0"/>
              <a:t>If you are giving examples, do it explicitly.</a:t>
            </a:r>
          </a:p>
          <a:p>
            <a:pPr marL="0" indent="0">
              <a:buNone/>
            </a:pPr>
            <a:endParaRPr lang="en-IN" dirty="0"/>
          </a:p>
          <a:p>
            <a:pPr marL="0" indent="0">
              <a:buNone/>
            </a:pPr>
            <a:r>
              <a:rPr lang="en-IN" dirty="0">
                <a:solidFill>
                  <a:srgbClr val="CC0066"/>
                </a:solidFill>
              </a:rPr>
              <a:t>This has sometimes led to disputes between religious and secular clergy, between orders and bishops. For example, in the Northern context, the previous bishop of Down and Connor, Dr </a:t>
            </a:r>
            <a:r>
              <a:rPr lang="en-IN" dirty="0" err="1">
                <a:solidFill>
                  <a:srgbClr val="CC0066"/>
                </a:solidFill>
              </a:rPr>
              <a:t>Philbin</a:t>
            </a:r>
            <a:r>
              <a:rPr lang="en-IN" dirty="0">
                <a:solidFill>
                  <a:srgbClr val="CC0066"/>
                </a:solidFill>
              </a:rPr>
              <a:t>, refused for most of his period of leadership in Belfast to have Jesuits visiting or residing in his diocese.</a:t>
            </a:r>
          </a:p>
        </p:txBody>
      </p:sp>
    </p:spTree>
    <p:extLst>
      <p:ext uri="{BB962C8B-B14F-4D97-AF65-F5344CB8AC3E}">
        <p14:creationId xmlns:p14="http://schemas.microsoft.com/office/powerpoint/2010/main" val="3903722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marL="0" indent="0">
              <a:buNone/>
            </a:pPr>
            <a:r>
              <a:rPr lang="en-IN" dirty="0"/>
              <a:t>It is explicit in its acknowledgment of the sources of the ideas in the text.</a:t>
            </a:r>
          </a:p>
          <a:p>
            <a:pPr marL="0" indent="0">
              <a:buNone/>
            </a:pPr>
            <a:endParaRPr lang="en-IN" dirty="0"/>
          </a:p>
          <a:p>
            <a:r>
              <a:rPr lang="en-IN" dirty="0"/>
              <a:t>If you know the source of the ideas you are presenting, acknowledge it</a:t>
            </a:r>
          </a:p>
          <a:p>
            <a:r>
              <a:rPr lang="en-IN" dirty="0"/>
              <a:t>Do THIS in academic writing</a:t>
            </a:r>
          </a:p>
          <a:p>
            <a:pPr marL="0" indent="0">
              <a:buNone/>
            </a:pPr>
            <a:endParaRPr lang="en-IN" dirty="0"/>
          </a:p>
          <a:p>
            <a:pPr marL="0" indent="0">
              <a:buNone/>
            </a:pPr>
            <a:r>
              <a:rPr lang="en-IN" dirty="0" err="1">
                <a:solidFill>
                  <a:srgbClr val="CC0066"/>
                </a:solidFill>
              </a:rPr>
              <a:t>McGreil</a:t>
            </a:r>
            <a:r>
              <a:rPr lang="en-IN" dirty="0">
                <a:solidFill>
                  <a:srgbClr val="CC0066"/>
                </a:solidFill>
              </a:rPr>
              <a:t> (1977: 363-408) has shown that though Dubliners find the English more acceptable than the Northern Irish, Dubliners still seek a solution to the Northern problem within an all-Ireland state.</a:t>
            </a:r>
          </a:p>
        </p:txBody>
      </p:sp>
    </p:spTree>
    <p:extLst>
      <p:ext uri="{BB962C8B-B14F-4D97-AF65-F5344CB8AC3E}">
        <p14:creationId xmlns:p14="http://schemas.microsoft.com/office/powerpoint/2010/main" val="4120628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Accuracy</a:t>
            </a:r>
            <a:br>
              <a:rPr lang="en-IN" sz="4900" b="1" dirty="0"/>
            </a:br>
            <a:endParaRPr lang="en-IN" dirty="0"/>
          </a:p>
        </p:txBody>
      </p:sp>
      <p:sp>
        <p:nvSpPr>
          <p:cNvPr id="3" name="Content Placeholder 2"/>
          <p:cNvSpPr>
            <a:spLocks noGrp="1"/>
          </p:cNvSpPr>
          <p:nvPr>
            <p:ph idx="1"/>
          </p:nvPr>
        </p:nvSpPr>
        <p:spPr/>
        <p:txBody>
          <a:bodyPr>
            <a:normAutofit lnSpcReduction="10000"/>
          </a:bodyPr>
          <a:lstStyle/>
          <a:p>
            <a:pPr marL="0" indent="0">
              <a:buNone/>
            </a:pPr>
            <a:r>
              <a:rPr lang="en-IN" dirty="0"/>
              <a:t>Academic writing uses vocabulary accurately. Most subjects have words with narrow specific meanings. Linguistics distinguishes clearly between "phonetics" and "phonemics"; general English does not.</a:t>
            </a:r>
          </a:p>
          <a:p>
            <a:pPr marL="0" indent="0">
              <a:buNone/>
            </a:pPr>
            <a:endParaRPr lang="en-IN" dirty="0"/>
          </a:p>
          <a:p>
            <a:r>
              <a:rPr lang="en-IN" dirty="0"/>
              <a:t>In academic writing you need to be accurate in your use of vocabulary. Do not confuse, for example, "phonetics" and "phonology" or "grammar" with "syntax".</a:t>
            </a:r>
          </a:p>
          <a:p>
            <a:r>
              <a:rPr lang="en-IN" dirty="0"/>
              <a:t>Choose the correct word, for example, "meeting", "assembly" , "gathering" or "conference".</a:t>
            </a:r>
          </a:p>
          <a:p>
            <a:r>
              <a:rPr lang="en-IN" dirty="0"/>
              <a:t>Or from: "money", "cash", "currency", "capital" or "funds".</a:t>
            </a:r>
          </a:p>
          <a:p>
            <a:pPr marL="0" indent="0">
              <a:buNone/>
            </a:pPr>
            <a:endParaRPr lang="en-IN" dirty="0"/>
          </a:p>
        </p:txBody>
      </p:sp>
    </p:spTree>
    <p:extLst>
      <p:ext uri="{BB962C8B-B14F-4D97-AF65-F5344CB8AC3E}">
        <p14:creationId xmlns:p14="http://schemas.microsoft.com/office/powerpoint/2010/main" val="28638845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Hedging</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r>
              <a:rPr lang="en-IN" dirty="0"/>
              <a:t>In any kind of academic writing you do, it is necessary to make decisions about your stance on a particular subject, or the strength of the claims you are making. Different subjects prefer to do this in different ways.</a:t>
            </a:r>
          </a:p>
          <a:p>
            <a:r>
              <a:rPr lang="en-IN" dirty="0"/>
              <a:t>A technique common in certain kinds of academic writing is known by linguists as a ‘hedge’.</a:t>
            </a:r>
          </a:p>
          <a:p>
            <a:r>
              <a:rPr lang="en-IN" dirty="0"/>
              <a:t>It is often believed that academic writing, particularly scientific writing, is factual, simply to convey facts and information. However it is now recognised that an important feature of academic writing is the concept of cautious language, often called "hedging" or "vague language". In other words, it is necessary to make decisions about your stance on a particular subject, or the strength of the claims you are making. Different subjects prefer to do this in different ways.</a:t>
            </a:r>
          </a:p>
        </p:txBody>
      </p:sp>
    </p:spTree>
    <p:extLst>
      <p:ext uri="{BB962C8B-B14F-4D97-AF65-F5344CB8AC3E}">
        <p14:creationId xmlns:p14="http://schemas.microsoft.com/office/powerpoint/2010/main" val="5128545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br>
            <a:r>
              <a:rPr kumimoji="0" lang="en-US" altLang="en-US" b="0" i="0" u="none" strike="noStrike" cap="none" normalizeH="0" baseline="0" dirty="0">
                <a:ln>
                  <a:noFill/>
                </a:ln>
                <a:solidFill>
                  <a:srgbClr val="000000"/>
                </a:solidFill>
                <a:effectLst/>
                <a:latin typeface="Arial" panose="020B0604020202020204" pitchFamily="34" charset="0"/>
                <a:cs typeface="Arial" panose="020B0604020202020204" pitchFamily="34" charset="0"/>
              </a:rPr>
              <a:t>Language used in hedging:</a:t>
            </a:r>
            <a:br>
              <a:rPr kumimoji="0" lang="en-US" altLang="en-US" b="0" i="0" u="none" strike="noStrike" cap="none" normalizeH="0" baseline="0" dirty="0">
                <a:ln>
                  <a:noFill/>
                </a:ln>
                <a:solidFill>
                  <a:schemeClr val="tx1"/>
                </a:solidFill>
                <a:effectLst/>
              </a:rPr>
            </a:br>
            <a:endParaRPr lang="en-IN" dirty="0"/>
          </a:p>
        </p:txBody>
      </p:sp>
      <p:graphicFrame>
        <p:nvGraphicFramePr>
          <p:cNvPr id="4" name="Content Placeholder 3"/>
          <p:cNvGraphicFramePr>
            <a:graphicFrameLocks noGrp="1"/>
          </p:cNvGraphicFramePr>
          <p:nvPr>
            <p:ph idx="1"/>
          </p:nvPr>
        </p:nvGraphicFramePr>
        <p:xfrm>
          <a:off x="2469885" y="1825625"/>
          <a:ext cx="7252230" cy="4351338"/>
        </p:xfrm>
        <a:graphic>
          <a:graphicData uri="http://schemas.openxmlformats.org/drawingml/2006/table">
            <a:tbl>
              <a:tblPr/>
              <a:tblGrid>
                <a:gridCol w="2417410">
                  <a:extLst>
                    <a:ext uri="{9D8B030D-6E8A-4147-A177-3AD203B41FA5}">
                      <a16:colId xmlns:a16="http://schemas.microsoft.com/office/drawing/2014/main" val="20000"/>
                    </a:ext>
                  </a:extLst>
                </a:gridCol>
                <a:gridCol w="2417410">
                  <a:extLst>
                    <a:ext uri="{9D8B030D-6E8A-4147-A177-3AD203B41FA5}">
                      <a16:colId xmlns:a16="http://schemas.microsoft.com/office/drawing/2014/main" val="20001"/>
                    </a:ext>
                  </a:extLst>
                </a:gridCol>
                <a:gridCol w="2417410">
                  <a:extLst>
                    <a:ext uri="{9D8B030D-6E8A-4147-A177-3AD203B41FA5}">
                      <a16:colId xmlns:a16="http://schemas.microsoft.com/office/drawing/2014/main" val="20002"/>
                    </a:ext>
                  </a:extLst>
                </a:gridCol>
              </a:tblGrid>
              <a:tr h="630629">
                <a:tc>
                  <a:txBody>
                    <a:bodyPr/>
                    <a:lstStyle/>
                    <a:p>
                      <a:pPr algn="l"/>
                      <a:r>
                        <a:rPr lang="en-IN" sz="1200">
                          <a:effectLst/>
                          <a:latin typeface="Arial" panose="020B0604020202020204" pitchFamily="34" charset="0"/>
                        </a:rPr>
                        <a:t>1.</a:t>
                      </a:r>
                    </a:p>
                  </a:txBody>
                  <a:tcPr marL="63063" marR="63063" marT="31531" marB="31531">
                    <a:lnL>
                      <a:noFill/>
                    </a:lnL>
                    <a:lnR>
                      <a:noFill/>
                    </a:lnR>
                    <a:lnT>
                      <a:noFill/>
                    </a:lnT>
                    <a:lnB>
                      <a:noFill/>
                    </a:lnB>
                  </a:tcPr>
                </a:tc>
                <a:tc>
                  <a:txBody>
                    <a:bodyPr/>
                    <a:lstStyle/>
                    <a:p>
                      <a:pPr algn="l"/>
                      <a:r>
                        <a:rPr lang="en-IN" sz="1200">
                          <a:effectLst/>
                          <a:latin typeface="Arial" panose="020B0604020202020204" pitchFamily="34" charset="0"/>
                        </a:rPr>
                        <a:t>Introductory verbs:</a:t>
                      </a:r>
                    </a:p>
                  </a:txBody>
                  <a:tcPr marL="63063" marR="63063" marT="31531" marB="31531">
                    <a:lnL>
                      <a:noFill/>
                    </a:lnL>
                    <a:lnR>
                      <a:noFill/>
                    </a:lnR>
                    <a:lnT>
                      <a:noFill/>
                    </a:lnT>
                    <a:lnB>
                      <a:noFill/>
                    </a:lnB>
                  </a:tcPr>
                </a:tc>
                <a:tc>
                  <a:txBody>
                    <a:bodyPr/>
                    <a:lstStyle/>
                    <a:p>
                      <a:pPr algn="l"/>
                      <a:r>
                        <a:rPr lang="en-IN" sz="1200" b="0" i="0">
                          <a:solidFill>
                            <a:srgbClr val="000080"/>
                          </a:solidFill>
                          <a:effectLst/>
                          <a:latin typeface="Times New Roman" panose="02020603050405020304" pitchFamily="18" charset="0"/>
                        </a:rPr>
                        <a:t>e.g. seem, tend, look like, appear to be, think, believe, doubt, be sure, indicate, suggest</a:t>
                      </a:r>
                    </a:p>
                  </a:txBody>
                  <a:tcPr marL="63063" marR="63063" marT="31531" marB="31531">
                    <a:lnL>
                      <a:noFill/>
                    </a:lnL>
                    <a:lnR>
                      <a:noFill/>
                    </a:lnR>
                    <a:lnT>
                      <a:noFill/>
                    </a:lnT>
                    <a:lnB>
                      <a:noFill/>
                    </a:lnB>
                  </a:tcPr>
                </a:tc>
                <a:extLst>
                  <a:ext uri="{0D108BD9-81ED-4DB2-BD59-A6C34878D82A}">
                    <a16:rowId xmlns:a16="http://schemas.microsoft.com/office/drawing/2014/main" val="10000"/>
                  </a:ext>
                </a:extLst>
              </a:tr>
              <a:tr h="252251">
                <a:tc>
                  <a:txBody>
                    <a:bodyPr/>
                    <a:lstStyle/>
                    <a:p>
                      <a:pPr algn="l"/>
                      <a:r>
                        <a:rPr lang="en-IN" sz="1200"/>
                        <a:t>2.</a:t>
                      </a:r>
                    </a:p>
                  </a:txBody>
                  <a:tcPr marL="63063" marR="63063" marT="31531" marB="31531">
                    <a:lnL>
                      <a:noFill/>
                    </a:lnL>
                    <a:lnR>
                      <a:noFill/>
                    </a:lnR>
                    <a:lnT>
                      <a:noFill/>
                    </a:lnT>
                    <a:lnB>
                      <a:noFill/>
                    </a:lnB>
                  </a:tcPr>
                </a:tc>
                <a:tc>
                  <a:txBody>
                    <a:bodyPr/>
                    <a:lstStyle/>
                    <a:p>
                      <a:pPr algn="l"/>
                      <a:r>
                        <a:rPr lang="en-IN" sz="1200"/>
                        <a:t>Certain lexical verbs</a:t>
                      </a:r>
                    </a:p>
                  </a:txBody>
                  <a:tcPr marL="63063" marR="63063" marT="31531" marB="31531">
                    <a:lnL>
                      <a:noFill/>
                    </a:lnL>
                    <a:lnR>
                      <a:noFill/>
                    </a:lnR>
                    <a:lnT>
                      <a:noFill/>
                    </a:lnT>
                    <a:lnB>
                      <a:noFill/>
                    </a:lnB>
                  </a:tcPr>
                </a:tc>
                <a:tc>
                  <a:txBody>
                    <a:bodyPr/>
                    <a:lstStyle/>
                    <a:p>
                      <a:pPr algn="l"/>
                      <a:r>
                        <a:rPr lang="en-IN" sz="1200" b="0" i="0">
                          <a:solidFill>
                            <a:srgbClr val="000080"/>
                          </a:solidFill>
                          <a:effectLst/>
                          <a:latin typeface="Times New Roman" panose="02020603050405020304" pitchFamily="18" charset="0"/>
                        </a:rPr>
                        <a:t>e.g. believe, assume, suggest</a:t>
                      </a:r>
                    </a:p>
                  </a:txBody>
                  <a:tcPr marL="63063" marR="63063" marT="31531" marB="31531">
                    <a:lnL>
                      <a:noFill/>
                    </a:lnL>
                    <a:lnR>
                      <a:noFill/>
                    </a:lnR>
                    <a:lnT>
                      <a:noFill/>
                    </a:lnT>
                    <a:lnB>
                      <a:noFill/>
                    </a:lnB>
                  </a:tcPr>
                </a:tc>
                <a:extLst>
                  <a:ext uri="{0D108BD9-81ED-4DB2-BD59-A6C34878D82A}">
                    <a16:rowId xmlns:a16="http://schemas.microsoft.com/office/drawing/2014/main" val="10001"/>
                  </a:ext>
                </a:extLst>
              </a:tr>
              <a:tr h="441440">
                <a:tc>
                  <a:txBody>
                    <a:bodyPr/>
                    <a:lstStyle/>
                    <a:p>
                      <a:pPr algn="l"/>
                      <a:r>
                        <a:rPr lang="en-IN" sz="1200">
                          <a:effectLst/>
                          <a:latin typeface="Arial" panose="020B0604020202020204" pitchFamily="34" charset="0"/>
                        </a:rPr>
                        <a:t>3.</a:t>
                      </a:r>
                    </a:p>
                  </a:txBody>
                  <a:tcPr marL="63063" marR="63063" marT="31531" marB="31531">
                    <a:lnL>
                      <a:noFill/>
                    </a:lnL>
                    <a:lnR>
                      <a:noFill/>
                    </a:lnR>
                    <a:lnT>
                      <a:noFill/>
                    </a:lnT>
                    <a:lnB>
                      <a:noFill/>
                    </a:lnB>
                  </a:tcPr>
                </a:tc>
                <a:tc>
                  <a:txBody>
                    <a:bodyPr/>
                    <a:lstStyle/>
                    <a:p>
                      <a:pPr algn="l"/>
                      <a:r>
                        <a:rPr lang="en-IN" sz="1200">
                          <a:effectLst/>
                          <a:latin typeface="Arial" panose="020B0604020202020204" pitchFamily="34" charset="0"/>
                        </a:rPr>
                        <a:t>Certain modal verbs:</a:t>
                      </a:r>
                    </a:p>
                  </a:txBody>
                  <a:tcPr marL="63063" marR="63063" marT="31531" marB="31531">
                    <a:lnL>
                      <a:noFill/>
                    </a:lnL>
                    <a:lnR>
                      <a:noFill/>
                    </a:lnR>
                    <a:lnT>
                      <a:noFill/>
                    </a:lnT>
                    <a:lnB>
                      <a:noFill/>
                    </a:lnB>
                  </a:tcPr>
                </a:tc>
                <a:tc>
                  <a:txBody>
                    <a:bodyPr/>
                    <a:lstStyle/>
                    <a:p>
                      <a:pPr algn="l"/>
                      <a:r>
                        <a:rPr lang="en-IN" sz="1200" b="0" i="0">
                          <a:solidFill>
                            <a:srgbClr val="000080"/>
                          </a:solidFill>
                          <a:effectLst/>
                          <a:latin typeface="Times New Roman" panose="02020603050405020304" pitchFamily="18" charset="0"/>
                        </a:rPr>
                        <a:t>e.g. will, must, would, may, might, could</a:t>
                      </a:r>
                    </a:p>
                  </a:txBody>
                  <a:tcPr marL="63063" marR="63063" marT="31531" marB="31531">
                    <a:lnL>
                      <a:noFill/>
                    </a:lnL>
                    <a:lnR>
                      <a:noFill/>
                    </a:lnR>
                    <a:lnT>
                      <a:noFill/>
                    </a:lnT>
                    <a:lnB>
                      <a:noFill/>
                    </a:lnB>
                  </a:tcPr>
                </a:tc>
                <a:extLst>
                  <a:ext uri="{0D108BD9-81ED-4DB2-BD59-A6C34878D82A}">
                    <a16:rowId xmlns:a16="http://schemas.microsoft.com/office/drawing/2014/main" val="10002"/>
                  </a:ext>
                </a:extLst>
              </a:tr>
              <a:tr h="252251">
                <a:tc>
                  <a:txBody>
                    <a:bodyPr/>
                    <a:lstStyle/>
                    <a:p>
                      <a:pPr algn="l"/>
                      <a:r>
                        <a:rPr lang="en-IN" sz="1200"/>
                        <a:t>4.</a:t>
                      </a:r>
                    </a:p>
                  </a:txBody>
                  <a:tcPr marL="63063" marR="63063" marT="31531" marB="31531">
                    <a:lnL>
                      <a:noFill/>
                    </a:lnL>
                    <a:lnR>
                      <a:noFill/>
                    </a:lnR>
                    <a:lnT>
                      <a:noFill/>
                    </a:lnT>
                    <a:lnB>
                      <a:noFill/>
                    </a:lnB>
                  </a:tcPr>
                </a:tc>
                <a:tc>
                  <a:txBody>
                    <a:bodyPr/>
                    <a:lstStyle/>
                    <a:p>
                      <a:pPr algn="l"/>
                      <a:r>
                        <a:rPr lang="en-IN" sz="1200"/>
                        <a:t>Adverbs of frequency</a:t>
                      </a:r>
                    </a:p>
                  </a:txBody>
                  <a:tcPr marL="63063" marR="63063" marT="31531" marB="31531">
                    <a:lnL>
                      <a:noFill/>
                    </a:lnL>
                    <a:lnR>
                      <a:noFill/>
                    </a:lnR>
                    <a:lnT>
                      <a:noFill/>
                    </a:lnT>
                    <a:lnB>
                      <a:noFill/>
                    </a:lnB>
                  </a:tcPr>
                </a:tc>
                <a:tc>
                  <a:txBody>
                    <a:bodyPr/>
                    <a:lstStyle/>
                    <a:p>
                      <a:pPr algn="l"/>
                      <a:r>
                        <a:rPr lang="en-IN" sz="1200" b="0" i="0">
                          <a:solidFill>
                            <a:srgbClr val="000080"/>
                          </a:solidFill>
                          <a:effectLst/>
                          <a:latin typeface="Times New Roman" panose="02020603050405020304" pitchFamily="18" charset="0"/>
                        </a:rPr>
                        <a:t>e.g. often, sometimes, usually</a:t>
                      </a:r>
                    </a:p>
                  </a:txBody>
                  <a:tcPr marL="63063" marR="63063" marT="31531" marB="31531">
                    <a:lnL>
                      <a:noFill/>
                    </a:lnL>
                    <a:lnR>
                      <a:noFill/>
                    </a:lnR>
                    <a:lnT>
                      <a:noFill/>
                    </a:lnT>
                    <a:lnB>
                      <a:noFill/>
                    </a:lnB>
                  </a:tcPr>
                </a:tc>
                <a:extLst>
                  <a:ext uri="{0D108BD9-81ED-4DB2-BD59-A6C34878D82A}">
                    <a16:rowId xmlns:a16="http://schemas.microsoft.com/office/drawing/2014/main" val="10003"/>
                  </a:ext>
                </a:extLst>
              </a:tr>
              <a:tr h="630629">
                <a:tc>
                  <a:txBody>
                    <a:bodyPr/>
                    <a:lstStyle/>
                    <a:p>
                      <a:pPr algn="l"/>
                      <a:r>
                        <a:rPr lang="en-IN" sz="1200">
                          <a:effectLst/>
                          <a:latin typeface="Arial" panose="020B0604020202020204" pitchFamily="34" charset="0"/>
                        </a:rPr>
                        <a:t>4.</a:t>
                      </a:r>
                    </a:p>
                  </a:txBody>
                  <a:tcPr marL="63063" marR="63063" marT="31531" marB="31531">
                    <a:lnL>
                      <a:noFill/>
                    </a:lnL>
                    <a:lnR>
                      <a:noFill/>
                    </a:lnR>
                    <a:lnT>
                      <a:noFill/>
                    </a:lnT>
                    <a:lnB>
                      <a:noFill/>
                    </a:lnB>
                  </a:tcPr>
                </a:tc>
                <a:tc>
                  <a:txBody>
                    <a:bodyPr/>
                    <a:lstStyle/>
                    <a:p>
                      <a:pPr algn="l"/>
                      <a:r>
                        <a:rPr lang="en-IN" sz="1200">
                          <a:effectLst/>
                          <a:latin typeface="Arial" panose="020B0604020202020204" pitchFamily="34" charset="0"/>
                        </a:rPr>
                        <a:t>Modal adverbs</a:t>
                      </a:r>
                    </a:p>
                  </a:txBody>
                  <a:tcPr marL="63063" marR="63063" marT="31531" marB="31531">
                    <a:lnL>
                      <a:noFill/>
                    </a:lnL>
                    <a:lnR>
                      <a:noFill/>
                    </a:lnR>
                    <a:lnT>
                      <a:noFill/>
                    </a:lnT>
                    <a:lnB>
                      <a:noFill/>
                    </a:lnB>
                  </a:tcPr>
                </a:tc>
                <a:tc>
                  <a:txBody>
                    <a:bodyPr/>
                    <a:lstStyle/>
                    <a:p>
                      <a:pPr algn="l"/>
                      <a:r>
                        <a:rPr lang="en-IN" sz="1200" b="0" i="0">
                          <a:solidFill>
                            <a:srgbClr val="000080"/>
                          </a:solidFill>
                          <a:effectLst/>
                          <a:latin typeface="Times New Roman" panose="02020603050405020304" pitchFamily="18" charset="0"/>
                        </a:rPr>
                        <a:t>e.g. certainly, definitely, clearly, probably, possibly, perhaps, conceivably,</a:t>
                      </a:r>
                    </a:p>
                  </a:txBody>
                  <a:tcPr marL="63063" marR="63063" marT="31531" marB="31531">
                    <a:lnL>
                      <a:noFill/>
                    </a:lnL>
                    <a:lnR>
                      <a:noFill/>
                    </a:lnR>
                    <a:lnT>
                      <a:noFill/>
                    </a:lnT>
                    <a:lnB>
                      <a:noFill/>
                    </a:lnB>
                  </a:tcPr>
                </a:tc>
                <a:extLst>
                  <a:ext uri="{0D108BD9-81ED-4DB2-BD59-A6C34878D82A}">
                    <a16:rowId xmlns:a16="http://schemas.microsoft.com/office/drawing/2014/main" val="10004"/>
                  </a:ext>
                </a:extLst>
              </a:tr>
              <a:tr h="441440">
                <a:tc>
                  <a:txBody>
                    <a:bodyPr/>
                    <a:lstStyle/>
                    <a:p>
                      <a:pPr algn="l"/>
                      <a:r>
                        <a:rPr lang="en-IN" sz="1200"/>
                        <a:t>5.</a:t>
                      </a:r>
                    </a:p>
                  </a:txBody>
                  <a:tcPr marL="63063" marR="63063" marT="31531" marB="31531">
                    <a:lnL>
                      <a:noFill/>
                    </a:lnL>
                    <a:lnR>
                      <a:noFill/>
                    </a:lnR>
                    <a:lnT>
                      <a:noFill/>
                    </a:lnT>
                    <a:lnB>
                      <a:noFill/>
                    </a:lnB>
                  </a:tcPr>
                </a:tc>
                <a:tc>
                  <a:txBody>
                    <a:bodyPr/>
                    <a:lstStyle/>
                    <a:p>
                      <a:pPr algn="l"/>
                      <a:r>
                        <a:rPr lang="en-IN" sz="1200"/>
                        <a:t>Modal adjectives</a:t>
                      </a:r>
                    </a:p>
                  </a:txBody>
                  <a:tcPr marL="63063" marR="63063" marT="31531" marB="31531">
                    <a:lnL>
                      <a:noFill/>
                    </a:lnL>
                    <a:lnR>
                      <a:noFill/>
                    </a:lnR>
                    <a:lnT>
                      <a:noFill/>
                    </a:lnT>
                    <a:lnB>
                      <a:noFill/>
                    </a:lnB>
                  </a:tcPr>
                </a:tc>
                <a:tc>
                  <a:txBody>
                    <a:bodyPr/>
                    <a:lstStyle/>
                    <a:p>
                      <a:pPr algn="l"/>
                      <a:r>
                        <a:rPr lang="en-IN" sz="1200" b="0" i="0">
                          <a:solidFill>
                            <a:srgbClr val="000080"/>
                          </a:solidFill>
                          <a:effectLst/>
                          <a:latin typeface="Times New Roman" panose="02020603050405020304" pitchFamily="18" charset="0"/>
                        </a:rPr>
                        <a:t>e.g. certain, definite, clear, probable, possible</a:t>
                      </a:r>
                    </a:p>
                  </a:txBody>
                  <a:tcPr marL="63063" marR="63063" marT="31531" marB="31531">
                    <a:lnL>
                      <a:noFill/>
                    </a:lnL>
                    <a:lnR>
                      <a:noFill/>
                    </a:lnR>
                    <a:lnT>
                      <a:noFill/>
                    </a:lnT>
                    <a:lnB>
                      <a:noFill/>
                    </a:lnB>
                  </a:tcPr>
                </a:tc>
                <a:extLst>
                  <a:ext uri="{0D108BD9-81ED-4DB2-BD59-A6C34878D82A}">
                    <a16:rowId xmlns:a16="http://schemas.microsoft.com/office/drawing/2014/main" val="10005"/>
                  </a:ext>
                </a:extLst>
              </a:tr>
              <a:tr h="441440">
                <a:tc>
                  <a:txBody>
                    <a:bodyPr/>
                    <a:lstStyle/>
                    <a:p>
                      <a:pPr algn="l"/>
                      <a:r>
                        <a:rPr lang="en-IN" sz="1200"/>
                        <a:t>6.</a:t>
                      </a:r>
                    </a:p>
                  </a:txBody>
                  <a:tcPr marL="63063" marR="63063" marT="31531" marB="31531">
                    <a:lnL>
                      <a:noFill/>
                    </a:lnL>
                    <a:lnR>
                      <a:noFill/>
                    </a:lnR>
                    <a:lnT>
                      <a:noFill/>
                    </a:lnT>
                    <a:lnB>
                      <a:noFill/>
                    </a:lnB>
                  </a:tcPr>
                </a:tc>
                <a:tc>
                  <a:txBody>
                    <a:bodyPr/>
                    <a:lstStyle/>
                    <a:p>
                      <a:pPr algn="l"/>
                      <a:r>
                        <a:rPr lang="en-IN" sz="1200"/>
                        <a:t>Modal nouns</a:t>
                      </a:r>
                    </a:p>
                  </a:txBody>
                  <a:tcPr marL="63063" marR="63063" marT="31531" marB="31531">
                    <a:lnL>
                      <a:noFill/>
                    </a:lnL>
                    <a:lnR>
                      <a:noFill/>
                    </a:lnR>
                    <a:lnT>
                      <a:noFill/>
                    </a:lnT>
                    <a:lnB>
                      <a:noFill/>
                    </a:lnB>
                  </a:tcPr>
                </a:tc>
                <a:tc>
                  <a:txBody>
                    <a:bodyPr/>
                    <a:lstStyle/>
                    <a:p>
                      <a:pPr algn="l"/>
                      <a:r>
                        <a:rPr lang="en-IN" sz="1200" b="0" i="0">
                          <a:solidFill>
                            <a:srgbClr val="000080"/>
                          </a:solidFill>
                          <a:effectLst/>
                          <a:latin typeface="Times New Roman" panose="02020603050405020304" pitchFamily="18" charset="0"/>
                        </a:rPr>
                        <a:t>e.g. assumption, possibility, probability</a:t>
                      </a:r>
                    </a:p>
                  </a:txBody>
                  <a:tcPr marL="63063" marR="63063" marT="31531" marB="31531">
                    <a:lnL>
                      <a:noFill/>
                    </a:lnL>
                    <a:lnR>
                      <a:noFill/>
                    </a:lnR>
                    <a:lnT>
                      <a:noFill/>
                    </a:lnT>
                    <a:lnB>
                      <a:noFill/>
                    </a:lnB>
                  </a:tcPr>
                </a:tc>
                <a:extLst>
                  <a:ext uri="{0D108BD9-81ED-4DB2-BD59-A6C34878D82A}">
                    <a16:rowId xmlns:a16="http://schemas.microsoft.com/office/drawing/2014/main" val="10006"/>
                  </a:ext>
                </a:extLst>
              </a:tr>
              <a:tr h="630629">
                <a:tc>
                  <a:txBody>
                    <a:bodyPr/>
                    <a:lstStyle/>
                    <a:p>
                      <a:pPr algn="l"/>
                      <a:r>
                        <a:rPr lang="en-IN" sz="1200">
                          <a:effectLst/>
                          <a:latin typeface="Arial" panose="020B0604020202020204" pitchFamily="34" charset="0"/>
                        </a:rPr>
                        <a:t>7.</a:t>
                      </a:r>
                    </a:p>
                  </a:txBody>
                  <a:tcPr marL="63063" marR="63063" marT="31531" marB="31531">
                    <a:lnL>
                      <a:noFill/>
                    </a:lnL>
                    <a:lnR>
                      <a:noFill/>
                    </a:lnR>
                    <a:lnT>
                      <a:noFill/>
                    </a:lnT>
                    <a:lnB>
                      <a:noFill/>
                    </a:lnB>
                  </a:tcPr>
                </a:tc>
                <a:tc>
                  <a:txBody>
                    <a:bodyPr/>
                    <a:lstStyle/>
                    <a:p>
                      <a:pPr algn="l"/>
                      <a:r>
                        <a:rPr lang="en-IN" sz="1200">
                          <a:effectLst/>
                          <a:latin typeface="Arial" panose="020B0604020202020204" pitchFamily="34" charset="0"/>
                        </a:rPr>
                        <a:t>That clauses</a:t>
                      </a:r>
                    </a:p>
                  </a:txBody>
                  <a:tcPr marL="63063" marR="63063" marT="31531" marB="31531">
                    <a:lnL>
                      <a:noFill/>
                    </a:lnL>
                    <a:lnR>
                      <a:noFill/>
                    </a:lnR>
                    <a:lnT>
                      <a:noFill/>
                    </a:lnT>
                    <a:lnB>
                      <a:noFill/>
                    </a:lnB>
                  </a:tcPr>
                </a:tc>
                <a:tc>
                  <a:txBody>
                    <a:bodyPr/>
                    <a:lstStyle/>
                    <a:p>
                      <a:pPr algn="l"/>
                      <a:r>
                        <a:rPr lang="en-IN" sz="1200" b="0" i="0">
                          <a:solidFill>
                            <a:srgbClr val="000080"/>
                          </a:solidFill>
                          <a:effectLst/>
                          <a:latin typeface="Times New Roman" panose="02020603050405020304" pitchFamily="18" charset="0"/>
                        </a:rPr>
                        <a:t>e.g. It could be the case that .</a:t>
                      </a:r>
                      <a:br>
                        <a:rPr lang="en-IN" sz="1200" b="0" i="0">
                          <a:solidFill>
                            <a:srgbClr val="000080"/>
                          </a:solidFill>
                          <a:effectLst/>
                          <a:latin typeface="Times New Roman" panose="02020603050405020304" pitchFamily="18" charset="0"/>
                        </a:rPr>
                      </a:br>
                      <a:r>
                        <a:rPr lang="en-IN" sz="1200" b="0" i="0">
                          <a:solidFill>
                            <a:srgbClr val="000080"/>
                          </a:solidFill>
                          <a:effectLst/>
                          <a:latin typeface="Times New Roman" panose="02020603050405020304" pitchFamily="18" charset="0"/>
                        </a:rPr>
                        <a:t>e.g. It might be suggested that .</a:t>
                      </a:r>
                      <a:br>
                        <a:rPr lang="en-IN" sz="1200" b="0" i="0">
                          <a:solidFill>
                            <a:srgbClr val="000080"/>
                          </a:solidFill>
                          <a:effectLst/>
                          <a:latin typeface="Times New Roman" panose="02020603050405020304" pitchFamily="18" charset="0"/>
                        </a:rPr>
                      </a:br>
                      <a:r>
                        <a:rPr lang="en-IN" sz="1200" b="0" i="0">
                          <a:solidFill>
                            <a:srgbClr val="000080"/>
                          </a:solidFill>
                          <a:effectLst/>
                          <a:latin typeface="Times New Roman" panose="02020603050405020304" pitchFamily="18" charset="0"/>
                        </a:rPr>
                        <a:t>e.g. There is every hope that .</a:t>
                      </a:r>
                    </a:p>
                  </a:txBody>
                  <a:tcPr marL="63063" marR="63063" marT="31531" marB="31531">
                    <a:lnL>
                      <a:noFill/>
                    </a:lnL>
                    <a:lnR>
                      <a:noFill/>
                    </a:lnR>
                    <a:lnT>
                      <a:noFill/>
                    </a:lnT>
                    <a:lnB>
                      <a:noFill/>
                    </a:lnB>
                  </a:tcPr>
                </a:tc>
                <a:extLst>
                  <a:ext uri="{0D108BD9-81ED-4DB2-BD59-A6C34878D82A}">
                    <a16:rowId xmlns:a16="http://schemas.microsoft.com/office/drawing/2014/main" val="10007"/>
                  </a:ext>
                </a:extLst>
              </a:tr>
              <a:tr h="630629">
                <a:tc>
                  <a:txBody>
                    <a:bodyPr/>
                    <a:lstStyle/>
                    <a:p>
                      <a:pPr algn="l"/>
                      <a:r>
                        <a:rPr lang="en-IN" sz="1200">
                          <a:effectLst/>
                          <a:latin typeface="Arial" panose="020B0604020202020204" pitchFamily="34" charset="0"/>
                        </a:rPr>
                        <a:t>8.</a:t>
                      </a:r>
                    </a:p>
                  </a:txBody>
                  <a:tcPr marL="63063" marR="63063" marT="31531" marB="31531">
                    <a:lnL>
                      <a:noFill/>
                    </a:lnL>
                    <a:lnR>
                      <a:noFill/>
                    </a:lnR>
                    <a:lnT>
                      <a:noFill/>
                    </a:lnT>
                    <a:lnB>
                      <a:noFill/>
                    </a:lnB>
                  </a:tcPr>
                </a:tc>
                <a:tc>
                  <a:txBody>
                    <a:bodyPr/>
                    <a:lstStyle/>
                    <a:p>
                      <a:pPr algn="l"/>
                      <a:r>
                        <a:rPr lang="en-IN" sz="1200">
                          <a:effectLst/>
                          <a:latin typeface="Arial" panose="020B0604020202020204" pitchFamily="34" charset="0"/>
                        </a:rPr>
                        <a:t>To-clause + adjective</a:t>
                      </a:r>
                    </a:p>
                  </a:txBody>
                  <a:tcPr marL="63063" marR="63063" marT="31531" marB="31531">
                    <a:lnL>
                      <a:noFill/>
                    </a:lnL>
                    <a:lnR>
                      <a:noFill/>
                    </a:lnR>
                    <a:lnT>
                      <a:noFill/>
                    </a:lnT>
                    <a:lnB>
                      <a:noFill/>
                    </a:lnB>
                  </a:tcPr>
                </a:tc>
                <a:tc>
                  <a:txBody>
                    <a:bodyPr/>
                    <a:lstStyle/>
                    <a:p>
                      <a:pPr algn="l"/>
                      <a:r>
                        <a:rPr lang="en-IN" sz="1200" b="0" i="0" dirty="0">
                          <a:solidFill>
                            <a:srgbClr val="000080"/>
                          </a:solidFill>
                          <a:effectLst/>
                          <a:latin typeface="Times New Roman" panose="02020603050405020304" pitchFamily="18" charset="0"/>
                        </a:rPr>
                        <a:t>e.g. It may be possible to obtain .</a:t>
                      </a:r>
                      <a:br>
                        <a:rPr lang="en-IN" sz="1200" b="0" i="0" dirty="0">
                          <a:solidFill>
                            <a:srgbClr val="000080"/>
                          </a:solidFill>
                          <a:effectLst/>
                          <a:latin typeface="Times New Roman" panose="02020603050405020304" pitchFamily="18" charset="0"/>
                        </a:rPr>
                      </a:br>
                      <a:r>
                        <a:rPr lang="en-IN" sz="1200" b="0" i="0" dirty="0">
                          <a:solidFill>
                            <a:srgbClr val="000080"/>
                          </a:solidFill>
                          <a:effectLst/>
                          <a:latin typeface="Times New Roman" panose="02020603050405020304" pitchFamily="18" charset="0"/>
                        </a:rPr>
                        <a:t>e.g. It is important to develop .</a:t>
                      </a:r>
                      <a:br>
                        <a:rPr lang="en-IN" sz="1200" b="0" i="0" dirty="0">
                          <a:solidFill>
                            <a:srgbClr val="000080"/>
                          </a:solidFill>
                          <a:effectLst/>
                          <a:latin typeface="Times New Roman" panose="02020603050405020304" pitchFamily="18" charset="0"/>
                        </a:rPr>
                      </a:br>
                      <a:r>
                        <a:rPr lang="en-IN" sz="1200" b="0" i="0" dirty="0">
                          <a:solidFill>
                            <a:srgbClr val="000080"/>
                          </a:solidFill>
                          <a:effectLst/>
                          <a:latin typeface="Times New Roman" panose="02020603050405020304" pitchFamily="18" charset="0"/>
                        </a:rPr>
                        <a:t>e.g. It is useful to study .</a:t>
                      </a:r>
                    </a:p>
                  </a:txBody>
                  <a:tcPr marL="63063" marR="63063" marT="31531" marB="31531">
                    <a:lnL>
                      <a:noFill/>
                    </a:lnL>
                    <a:lnR>
                      <a:noFill/>
                    </a:lnR>
                    <a:lnT>
                      <a:noFill/>
                    </a:lnT>
                    <a:lnB>
                      <a:noFill/>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867967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p:txBody>
          <a:bodyPr>
            <a:normAutofit fontScale="77500" lnSpcReduction="20000"/>
          </a:bodyPr>
          <a:lstStyle/>
          <a:p>
            <a:pPr marL="0" indent="0">
              <a:buNone/>
            </a:pPr>
            <a:r>
              <a:rPr lang="en-IN" b="1" dirty="0"/>
              <a:t>Compare the following:</a:t>
            </a:r>
          </a:p>
          <a:p>
            <a:r>
              <a:rPr lang="en-IN" dirty="0">
                <a:solidFill>
                  <a:srgbClr val="00B050"/>
                </a:solidFill>
              </a:rPr>
              <a:t>It may be said that the commitment to some of the social and economic concepts was less strong than it is now.</a:t>
            </a:r>
            <a:br>
              <a:rPr lang="en-IN" dirty="0">
                <a:solidFill>
                  <a:srgbClr val="00B050"/>
                </a:solidFill>
              </a:rPr>
            </a:br>
            <a:r>
              <a:rPr lang="en-IN" dirty="0">
                <a:solidFill>
                  <a:schemeClr val="accent2">
                    <a:lumMod val="75000"/>
                  </a:schemeClr>
                </a:solidFill>
              </a:rPr>
              <a:t>The commitment to some of the social and economic concepts was less strong than it is now.</a:t>
            </a:r>
          </a:p>
          <a:p>
            <a:r>
              <a:rPr lang="en-IN" dirty="0">
                <a:solidFill>
                  <a:srgbClr val="00B050"/>
                </a:solidFill>
              </a:rPr>
              <a:t>The lives they chose may seem overly ascetic and self-denying to most women today.</a:t>
            </a:r>
            <a:br>
              <a:rPr lang="en-IN" dirty="0">
                <a:solidFill>
                  <a:srgbClr val="00B050"/>
                </a:solidFill>
              </a:rPr>
            </a:br>
            <a:r>
              <a:rPr lang="en-IN" dirty="0">
                <a:solidFill>
                  <a:schemeClr val="accent2">
                    <a:lumMod val="75000"/>
                  </a:schemeClr>
                </a:solidFill>
              </a:rPr>
              <a:t>The lives they chose seem overly ascetic and self-denying to most women today.</a:t>
            </a:r>
          </a:p>
          <a:p>
            <a:r>
              <a:rPr lang="en-IN" dirty="0">
                <a:solidFill>
                  <a:srgbClr val="00B050"/>
                </a:solidFill>
              </a:rPr>
              <a:t>Weismann suggested that animals become old because, if they did not, there could be no successive replacement of individuals and hence no evolution.</a:t>
            </a:r>
            <a:br>
              <a:rPr lang="en-IN" dirty="0">
                <a:solidFill>
                  <a:srgbClr val="00B050"/>
                </a:solidFill>
              </a:rPr>
            </a:br>
            <a:r>
              <a:rPr lang="en-IN" dirty="0">
                <a:solidFill>
                  <a:schemeClr val="accent2">
                    <a:lumMod val="75000"/>
                  </a:schemeClr>
                </a:solidFill>
              </a:rPr>
              <a:t>Weismann proved that animals become old because, if they did not, there could be no successive replacement of individuals and hence no evolution.</a:t>
            </a:r>
          </a:p>
          <a:p>
            <a:r>
              <a:rPr lang="en-IN" dirty="0">
                <a:solidFill>
                  <a:srgbClr val="00B050"/>
                </a:solidFill>
              </a:rPr>
              <a:t>Yet often it cannot have been the case that a recalcitrant trustee remained in possession of the property entrusted to him.</a:t>
            </a:r>
            <a:br>
              <a:rPr lang="en-IN" dirty="0"/>
            </a:br>
            <a:r>
              <a:rPr lang="en-IN" dirty="0">
                <a:solidFill>
                  <a:schemeClr val="accent2">
                    <a:lumMod val="75000"/>
                  </a:schemeClr>
                </a:solidFill>
              </a:rPr>
              <a:t>Yet a recalcitrant trustee did not remain in possession of the property entrusted to him.</a:t>
            </a:r>
          </a:p>
          <a:p>
            <a:pPr marL="0" indent="0">
              <a:buNone/>
            </a:pPr>
            <a:endParaRPr lang="en-IN" dirty="0"/>
          </a:p>
        </p:txBody>
      </p:sp>
    </p:spTree>
    <p:extLst>
      <p:ext uri="{BB962C8B-B14F-4D97-AF65-F5344CB8AC3E}">
        <p14:creationId xmlns:p14="http://schemas.microsoft.com/office/powerpoint/2010/main" val="3185242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idx="1"/>
          </p:nvPr>
        </p:nvSpPr>
        <p:spPr/>
        <p:txBody>
          <a:bodyPr>
            <a:normAutofit fontScale="70000" lnSpcReduction="20000"/>
          </a:bodyPr>
          <a:lstStyle/>
          <a:p>
            <a:pPr marL="0" indent="0">
              <a:buNone/>
            </a:pPr>
            <a:r>
              <a:rPr lang="en-IN" b="1" dirty="0"/>
              <a:t>Compare the following:</a:t>
            </a:r>
          </a:p>
          <a:p>
            <a:r>
              <a:rPr lang="en-IN" dirty="0">
                <a:solidFill>
                  <a:srgbClr val="00B050"/>
                </a:solidFill>
              </a:rPr>
              <a:t>Recent work on the religious demography of Northern Ireland indicates a separating out of protestant and catholic, with the catholic population drifting westwards and vice versa.</a:t>
            </a:r>
            <a:br>
              <a:rPr lang="en-IN" dirty="0">
                <a:solidFill>
                  <a:srgbClr val="00B050"/>
                </a:solidFill>
              </a:rPr>
            </a:br>
            <a:r>
              <a:rPr lang="en-IN" dirty="0">
                <a:solidFill>
                  <a:schemeClr val="accent2">
                    <a:lumMod val="75000"/>
                  </a:schemeClr>
                </a:solidFill>
              </a:rPr>
              <a:t>Recent work on the religious demography of Northern Ireland shows a separating out of protestant and catholic, with the catholic population drifting westwards and vice versa.</a:t>
            </a:r>
          </a:p>
          <a:p>
            <a:r>
              <a:rPr lang="en-IN" dirty="0">
                <a:solidFill>
                  <a:srgbClr val="00B050"/>
                </a:solidFill>
              </a:rPr>
              <a:t>By analogy, it may be possible to walk from one point in hilly country to another by a path which is always level or uphill, and yet a straight line </a:t>
            </a:r>
            <a:r>
              <a:rPr lang="en-IN" dirty="0">
                <a:solidFill>
                  <a:schemeClr val="accent2">
                    <a:lumMod val="75000"/>
                  </a:schemeClr>
                </a:solidFill>
              </a:rPr>
              <a:t>between the points would cross a valley.</a:t>
            </a:r>
            <a:br>
              <a:rPr lang="en-IN" dirty="0">
                <a:solidFill>
                  <a:schemeClr val="accent2">
                    <a:lumMod val="75000"/>
                  </a:schemeClr>
                </a:solidFill>
              </a:rPr>
            </a:br>
            <a:r>
              <a:rPr lang="en-IN" dirty="0">
                <a:solidFill>
                  <a:schemeClr val="accent2">
                    <a:lumMod val="75000"/>
                  </a:schemeClr>
                </a:solidFill>
              </a:rPr>
              <a:t>By analogy, one can walk from one point in hilly country to another by a path which is always level or uphill, and yet a straight line between the points would cross a valley.</a:t>
            </a:r>
          </a:p>
          <a:p>
            <a:r>
              <a:rPr lang="en-IN" dirty="0">
                <a:solidFill>
                  <a:srgbClr val="00B050"/>
                </a:solidFill>
              </a:rPr>
              <a:t>There are certainly cases where this would seem to have been the only possible method of transmission.</a:t>
            </a:r>
            <a:br>
              <a:rPr lang="en-IN" dirty="0"/>
            </a:br>
            <a:r>
              <a:rPr lang="en-IN" dirty="0">
                <a:solidFill>
                  <a:schemeClr val="accent2">
                    <a:lumMod val="75000"/>
                  </a:schemeClr>
                </a:solidFill>
              </a:rPr>
              <a:t>There are cases where this would have been the only possible method of transmission.</a:t>
            </a:r>
          </a:p>
          <a:p>
            <a:r>
              <a:rPr lang="en-IN" dirty="0">
                <a:solidFill>
                  <a:srgbClr val="00B050"/>
                </a:solidFill>
              </a:rPr>
              <a:t>Nowadays the urinary symptoms seem to be of a lesser order.</a:t>
            </a:r>
            <a:br>
              <a:rPr lang="en-IN" dirty="0">
                <a:solidFill>
                  <a:srgbClr val="00B050"/>
                </a:solidFill>
              </a:rPr>
            </a:br>
            <a:r>
              <a:rPr lang="en-IN" dirty="0">
                <a:solidFill>
                  <a:schemeClr val="accent2">
                    <a:lumMod val="75000"/>
                  </a:schemeClr>
                </a:solidFill>
              </a:rPr>
              <a:t>Nowadays the urinary symptoms are of a lesser order.</a:t>
            </a:r>
          </a:p>
          <a:p>
            <a:pPr marL="0" indent="0">
              <a:buNone/>
            </a:pPr>
            <a:endParaRPr lang="en-IN" dirty="0"/>
          </a:p>
        </p:txBody>
      </p:sp>
    </p:spTree>
    <p:extLst>
      <p:ext uri="{BB962C8B-B14F-4D97-AF65-F5344CB8AC3E}">
        <p14:creationId xmlns:p14="http://schemas.microsoft.com/office/powerpoint/2010/main" val="852692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Responsibility</a:t>
            </a:r>
            <a:br>
              <a:rPr lang="en-IN" sz="4900" b="1" dirty="0"/>
            </a:br>
            <a:endParaRPr lang="en-IN" dirty="0"/>
          </a:p>
        </p:txBody>
      </p:sp>
      <p:sp>
        <p:nvSpPr>
          <p:cNvPr id="3" name="Content Placeholder 2"/>
          <p:cNvSpPr>
            <a:spLocks noGrp="1"/>
          </p:cNvSpPr>
          <p:nvPr>
            <p:ph idx="1"/>
          </p:nvPr>
        </p:nvSpPr>
        <p:spPr/>
        <p:txBody>
          <a:bodyPr>
            <a:normAutofit lnSpcReduction="10000"/>
          </a:bodyPr>
          <a:lstStyle/>
          <a:p>
            <a:r>
              <a:rPr lang="en-IN" dirty="0"/>
              <a:t>In academic writing you must be responsible for, and must be able to provide evidence and justification for, any claims you make. You are also responsible for demonstrating an understanding of any source texts you use.</a:t>
            </a:r>
          </a:p>
          <a:p>
            <a:r>
              <a:rPr lang="en-IN" dirty="0"/>
              <a:t>In academic writing you are responsible for demonstrating an understanding of the source text. You must also be responsible for, and must be able to provide evidence and justification for, any claims you make.</a:t>
            </a:r>
          </a:p>
          <a:p>
            <a:r>
              <a:rPr lang="en-IN" dirty="0"/>
              <a:t>This is done by </a:t>
            </a:r>
            <a:r>
              <a:rPr lang="en-IN" dirty="0">
                <a:hlinkClick r:id="rId2"/>
              </a:rPr>
              <a:t>paraphrasing and summarising</a:t>
            </a:r>
            <a:r>
              <a:rPr lang="en-IN" dirty="0"/>
              <a:t> what you read and acknowledging the source of this information or ideas by a system of </a:t>
            </a:r>
            <a:r>
              <a:rPr lang="en-IN" dirty="0">
                <a:hlinkClick r:id="rId3"/>
              </a:rPr>
              <a:t>citation</a:t>
            </a:r>
            <a:r>
              <a:rPr lang="en-IN" dirty="0"/>
              <a:t>.</a:t>
            </a:r>
          </a:p>
        </p:txBody>
      </p:sp>
    </p:spTree>
    <p:extLst>
      <p:ext uri="{BB962C8B-B14F-4D97-AF65-F5344CB8AC3E}">
        <p14:creationId xmlns:p14="http://schemas.microsoft.com/office/powerpoint/2010/main" val="3200230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Organisation</a:t>
            </a:r>
            <a:br>
              <a:rPr lang="en-IN" sz="4900" b="1" dirty="0"/>
            </a:br>
            <a:endParaRPr lang="en-IN" dirty="0"/>
          </a:p>
        </p:txBody>
      </p:sp>
      <p:sp>
        <p:nvSpPr>
          <p:cNvPr id="3" name="Content Placeholder 2"/>
          <p:cNvSpPr>
            <a:spLocks noGrp="1"/>
          </p:cNvSpPr>
          <p:nvPr>
            <p:ph idx="1"/>
          </p:nvPr>
        </p:nvSpPr>
        <p:spPr>
          <a:xfrm>
            <a:off x="838200" y="1466335"/>
            <a:ext cx="10515600" cy="5074508"/>
          </a:xfrm>
        </p:spPr>
        <p:txBody>
          <a:bodyPr>
            <a:normAutofit/>
          </a:bodyPr>
          <a:lstStyle/>
          <a:p>
            <a:r>
              <a:rPr lang="en-IN" dirty="0"/>
              <a:t>Academic writing is well organised. It flows easily from one section to the next in a logical fashion. A good place to start is the genre of your text. Once you have decided on the genre, the structure is easily determined.</a:t>
            </a:r>
          </a:p>
          <a:p>
            <a:r>
              <a:rPr lang="en-IN" dirty="0"/>
              <a:t>Genres are defined by their purpose, their audience and their structure. Looking at typical structures can help you with your organisation.</a:t>
            </a:r>
          </a:p>
        </p:txBody>
      </p:sp>
    </p:spTree>
    <p:extLst>
      <p:ext uri="{BB962C8B-B14F-4D97-AF65-F5344CB8AC3E}">
        <p14:creationId xmlns:p14="http://schemas.microsoft.com/office/powerpoint/2010/main" val="2301343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br>
              <a:rPr lang="en-IN" b="1" dirty="0"/>
            </a:br>
            <a:endParaRPr lang="en-IN" dirty="0"/>
          </a:p>
        </p:txBody>
      </p:sp>
      <p:sp>
        <p:nvSpPr>
          <p:cNvPr id="3" name="Content Placeholder 2"/>
          <p:cNvSpPr>
            <a:spLocks noGrp="1"/>
          </p:cNvSpPr>
          <p:nvPr>
            <p:ph idx="1"/>
          </p:nvPr>
        </p:nvSpPr>
        <p:spPr>
          <a:xfrm>
            <a:off x="838200" y="1762897"/>
            <a:ext cx="10515600" cy="4777946"/>
          </a:xfrm>
        </p:spPr>
        <p:txBody>
          <a:bodyPr>
            <a:normAutofit/>
          </a:bodyPr>
          <a:lstStyle/>
          <a:p>
            <a:r>
              <a:rPr lang="en-IN" dirty="0"/>
              <a:t>The following genres are common in higher education.</a:t>
            </a:r>
          </a:p>
          <a:p>
            <a:pPr marL="0" indent="0">
              <a:buNone/>
            </a:pP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312820133"/>
              </p:ext>
            </p:extLst>
          </p:nvPr>
        </p:nvGraphicFramePr>
        <p:xfrm>
          <a:off x="1142312" y="2402371"/>
          <a:ext cx="8384244" cy="3968496"/>
        </p:xfrm>
        <a:graphic>
          <a:graphicData uri="http://schemas.openxmlformats.org/drawingml/2006/table">
            <a:tbl>
              <a:tblPr firstRow="1" bandRow="1">
                <a:tableStyleId>{5C22544A-7EE6-4342-B048-85BDC9FD1C3A}</a:tableStyleId>
              </a:tblPr>
              <a:tblGrid>
                <a:gridCol w="4192122">
                  <a:extLst>
                    <a:ext uri="{9D8B030D-6E8A-4147-A177-3AD203B41FA5}">
                      <a16:colId xmlns:a16="http://schemas.microsoft.com/office/drawing/2014/main" val="20000"/>
                    </a:ext>
                  </a:extLst>
                </a:gridCol>
                <a:gridCol w="4192122">
                  <a:extLst>
                    <a:ext uri="{9D8B030D-6E8A-4147-A177-3AD203B41FA5}">
                      <a16:colId xmlns:a16="http://schemas.microsoft.com/office/drawing/2014/main" val="20001"/>
                    </a:ext>
                  </a:extLst>
                </a:gridCol>
              </a:tblGrid>
              <a:tr h="3354617">
                <a:tc>
                  <a:txBody>
                    <a:bodyPr/>
                    <a:lstStyle/>
                    <a:p>
                      <a:pPr>
                        <a:lnSpc>
                          <a:spcPct val="120000"/>
                        </a:lnSpc>
                        <a:spcBef>
                          <a:spcPts val="0"/>
                        </a:spcBef>
                      </a:pPr>
                      <a:r>
                        <a:rPr lang="en-IN" sz="2400" dirty="0">
                          <a:hlinkClick r:id="rId2"/>
                        </a:rPr>
                        <a:t>Essays</a:t>
                      </a:r>
                      <a:endParaRPr lang="en-IN" sz="2400" dirty="0"/>
                    </a:p>
                    <a:p>
                      <a:pPr>
                        <a:lnSpc>
                          <a:spcPct val="120000"/>
                        </a:lnSpc>
                        <a:spcBef>
                          <a:spcPts val="0"/>
                        </a:spcBef>
                      </a:pPr>
                      <a:r>
                        <a:rPr lang="en-IN" sz="2400" dirty="0">
                          <a:hlinkClick r:id="rId3"/>
                        </a:rPr>
                        <a:t>Reports</a:t>
                      </a:r>
                      <a:endParaRPr lang="en-IN" sz="2400" dirty="0"/>
                    </a:p>
                    <a:p>
                      <a:pPr>
                        <a:lnSpc>
                          <a:spcPct val="120000"/>
                        </a:lnSpc>
                        <a:spcBef>
                          <a:spcPts val="0"/>
                        </a:spcBef>
                      </a:pPr>
                      <a:r>
                        <a:rPr lang="en-IN" sz="2400" dirty="0">
                          <a:hlinkClick r:id="rId4"/>
                        </a:rPr>
                        <a:t>Case Studies</a:t>
                      </a:r>
                      <a:endParaRPr lang="en-IN" sz="2400" dirty="0"/>
                    </a:p>
                    <a:p>
                      <a:pPr>
                        <a:lnSpc>
                          <a:spcPct val="120000"/>
                        </a:lnSpc>
                        <a:spcBef>
                          <a:spcPts val="0"/>
                        </a:spcBef>
                      </a:pPr>
                      <a:r>
                        <a:rPr lang="en-IN" sz="2400" dirty="0">
                          <a:hlinkClick r:id="rId5"/>
                        </a:rPr>
                        <a:t>Research proposals</a:t>
                      </a:r>
                      <a:endParaRPr lang="en-IN" sz="2400" dirty="0"/>
                    </a:p>
                    <a:p>
                      <a:pPr>
                        <a:lnSpc>
                          <a:spcPct val="120000"/>
                        </a:lnSpc>
                        <a:spcBef>
                          <a:spcPts val="0"/>
                        </a:spcBef>
                      </a:pPr>
                      <a:r>
                        <a:rPr lang="en-IN" sz="2400" dirty="0">
                          <a:hlinkClick r:id="rId6"/>
                        </a:rPr>
                        <a:t>Book reviews</a:t>
                      </a:r>
                      <a:endParaRPr lang="en-IN" sz="2400" dirty="0"/>
                    </a:p>
                    <a:p>
                      <a:pPr>
                        <a:lnSpc>
                          <a:spcPct val="120000"/>
                        </a:lnSpc>
                        <a:spcBef>
                          <a:spcPts val="0"/>
                        </a:spcBef>
                      </a:pPr>
                      <a:r>
                        <a:rPr lang="en-IN" sz="2400" dirty="0">
                          <a:hlinkClick r:id="rId7"/>
                        </a:rPr>
                        <a:t>Brief research reports</a:t>
                      </a:r>
                      <a:endParaRPr lang="en-IN" sz="2400" dirty="0"/>
                    </a:p>
                    <a:p>
                      <a:pPr>
                        <a:lnSpc>
                          <a:spcPct val="120000"/>
                        </a:lnSpc>
                        <a:spcBef>
                          <a:spcPts val="0"/>
                        </a:spcBef>
                      </a:pPr>
                      <a:r>
                        <a:rPr lang="en-IN" sz="2400" dirty="0">
                          <a:hlinkClick r:id="rId8"/>
                        </a:rPr>
                        <a:t>Literature reviews</a:t>
                      </a:r>
                      <a:endParaRPr lang="en-IN" sz="2400" dirty="0"/>
                    </a:p>
                    <a:p>
                      <a:pPr>
                        <a:lnSpc>
                          <a:spcPct val="120000"/>
                        </a:lnSpc>
                        <a:spcBef>
                          <a:spcPts val="0"/>
                        </a:spcBef>
                      </a:pPr>
                      <a:r>
                        <a:rPr lang="en-IN" sz="2400" dirty="0">
                          <a:hlinkClick r:id="rId9"/>
                        </a:rPr>
                        <a:t>Reflective writing</a:t>
                      </a:r>
                      <a:endParaRPr lang="en-IN" sz="2400" dirty="0"/>
                    </a:p>
                  </a:txBody>
                  <a:tcPr>
                    <a:solidFill>
                      <a:schemeClr val="bg1"/>
                    </a:solidFill>
                  </a:tcPr>
                </a:tc>
                <a:tc>
                  <a:txBody>
                    <a:bodyPr/>
                    <a:lstStyle/>
                    <a:p>
                      <a:pPr>
                        <a:lnSpc>
                          <a:spcPct val="120000"/>
                        </a:lnSpc>
                        <a:spcBef>
                          <a:spcPts val="0"/>
                        </a:spcBef>
                      </a:pPr>
                      <a:r>
                        <a:rPr lang="en-IN" sz="2400" dirty="0">
                          <a:hlinkClick r:id="rId10"/>
                        </a:rPr>
                        <a:t>Introductions</a:t>
                      </a:r>
                      <a:endParaRPr lang="en-IN" sz="2400" dirty="0"/>
                    </a:p>
                    <a:p>
                      <a:pPr>
                        <a:lnSpc>
                          <a:spcPct val="120000"/>
                        </a:lnSpc>
                        <a:spcBef>
                          <a:spcPts val="0"/>
                        </a:spcBef>
                      </a:pPr>
                      <a:r>
                        <a:rPr lang="en-IN" sz="2400" dirty="0">
                          <a:hlinkClick r:id="rId11"/>
                        </a:rPr>
                        <a:t>Research methods</a:t>
                      </a:r>
                      <a:endParaRPr lang="en-IN" sz="2400" dirty="0"/>
                    </a:p>
                    <a:p>
                      <a:pPr>
                        <a:lnSpc>
                          <a:spcPct val="120000"/>
                        </a:lnSpc>
                        <a:spcBef>
                          <a:spcPts val="0"/>
                        </a:spcBef>
                      </a:pPr>
                      <a:r>
                        <a:rPr lang="en-IN" sz="2400" dirty="0">
                          <a:hlinkClick r:id="rId12"/>
                        </a:rPr>
                        <a:t>Research results</a:t>
                      </a:r>
                      <a:endParaRPr lang="en-IN" sz="2400" dirty="0"/>
                    </a:p>
                    <a:p>
                      <a:pPr>
                        <a:lnSpc>
                          <a:spcPct val="120000"/>
                        </a:lnSpc>
                        <a:spcBef>
                          <a:spcPts val="0"/>
                        </a:spcBef>
                      </a:pPr>
                      <a:r>
                        <a:rPr lang="en-IN" sz="2400" dirty="0">
                          <a:hlinkClick r:id="rId13"/>
                        </a:rPr>
                        <a:t>Research discussions</a:t>
                      </a:r>
                      <a:endParaRPr lang="en-IN" sz="2400" dirty="0"/>
                    </a:p>
                    <a:p>
                      <a:pPr>
                        <a:lnSpc>
                          <a:spcPct val="120000"/>
                        </a:lnSpc>
                        <a:spcBef>
                          <a:spcPts val="0"/>
                        </a:spcBef>
                      </a:pPr>
                      <a:r>
                        <a:rPr lang="en-IN" sz="2400" dirty="0">
                          <a:hlinkClick r:id="rId14"/>
                        </a:rPr>
                        <a:t>Writing conclusions</a:t>
                      </a:r>
                      <a:endParaRPr lang="en-IN" sz="2400" dirty="0"/>
                    </a:p>
                    <a:p>
                      <a:pPr>
                        <a:lnSpc>
                          <a:spcPct val="120000"/>
                        </a:lnSpc>
                        <a:spcBef>
                          <a:spcPts val="0"/>
                        </a:spcBef>
                      </a:pPr>
                      <a:r>
                        <a:rPr lang="en-IN" sz="2400" dirty="0">
                          <a:hlinkClick r:id="rId15"/>
                        </a:rPr>
                        <a:t>Research abstracts</a:t>
                      </a:r>
                      <a:endParaRPr lang="en-IN" sz="2400" dirty="0"/>
                    </a:p>
                    <a:p>
                      <a:pPr>
                        <a:lnSpc>
                          <a:spcPct val="120000"/>
                        </a:lnSpc>
                        <a:spcBef>
                          <a:spcPts val="0"/>
                        </a:spcBef>
                      </a:pPr>
                      <a:r>
                        <a:rPr lang="en-IN" sz="2400" dirty="0">
                          <a:hlinkClick r:id="rId16"/>
                        </a:rPr>
                        <a:t>Research dissertations &amp; theses</a:t>
                      </a:r>
                      <a:endParaRPr lang="en-IN" sz="2400" dirty="0"/>
                    </a:p>
                    <a:p>
                      <a:endParaRPr lang="en-IN" sz="2400" dirty="0"/>
                    </a:p>
                  </a:txBody>
                  <a:tcPr>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989307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br>
            <a:r>
              <a:rPr lang="en-IN" sz="4900" b="1" dirty="0"/>
              <a:t>Planning</a:t>
            </a:r>
            <a:br>
              <a:rPr lang="en-IN" b="1" dirty="0"/>
            </a:br>
            <a:endParaRPr lang="en-IN" dirty="0"/>
          </a:p>
        </p:txBody>
      </p:sp>
      <p:sp>
        <p:nvSpPr>
          <p:cNvPr id="3" name="Content Placeholder 2"/>
          <p:cNvSpPr>
            <a:spLocks noGrp="1"/>
          </p:cNvSpPr>
          <p:nvPr>
            <p:ph idx="1"/>
          </p:nvPr>
        </p:nvSpPr>
        <p:spPr/>
        <p:txBody>
          <a:bodyPr/>
          <a:lstStyle/>
          <a:p>
            <a:r>
              <a:rPr lang="en-IN" dirty="0"/>
              <a:t>Academic writing is well planned. It usually takes place after research and evaluation, according to a specific purpose and plan.</a:t>
            </a:r>
          </a:p>
          <a:p>
            <a:endParaRPr lang="en-IN" dirty="0"/>
          </a:p>
          <a:p>
            <a:endParaRPr lang="en-IN" dirty="0"/>
          </a:p>
        </p:txBody>
      </p:sp>
    </p:spTree>
    <p:extLst>
      <p:ext uri="{BB962C8B-B14F-4D97-AF65-F5344CB8AC3E}">
        <p14:creationId xmlns:p14="http://schemas.microsoft.com/office/powerpoint/2010/main" val="7046688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br>
              <a:rPr lang="en-IN" b="1" dirty="0"/>
            </a:br>
            <a:endParaRPr lang="en-IN" dirty="0"/>
          </a:p>
        </p:txBody>
      </p:sp>
      <p:sp>
        <p:nvSpPr>
          <p:cNvPr id="3" name="Content Placeholder 2"/>
          <p:cNvSpPr>
            <a:spLocks noGrp="1"/>
          </p:cNvSpPr>
          <p:nvPr>
            <p:ph idx="1"/>
          </p:nvPr>
        </p:nvSpPr>
        <p:spPr>
          <a:xfrm>
            <a:off x="838200" y="517585"/>
            <a:ext cx="10515600" cy="4252823"/>
          </a:xfrm>
        </p:spPr>
        <p:txBody>
          <a:bodyPr/>
          <a:lstStyle/>
          <a:p>
            <a:r>
              <a:rPr lang="en-IN" dirty="0"/>
              <a:t>The following procedure is typical when writing an extended essay or assignment.</a:t>
            </a:r>
          </a:p>
          <a:p>
            <a:endParaRPr lang="en-IN" dirty="0"/>
          </a:p>
          <a:p>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2134359643"/>
              </p:ext>
            </p:extLst>
          </p:nvPr>
        </p:nvGraphicFramePr>
        <p:xfrm>
          <a:off x="1036607" y="1474953"/>
          <a:ext cx="10515600" cy="4477276"/>
        </p:xfrm>
        <a:graphic>
          <a:graphicData uri="http://schemas.openxmlformats.org/drawingml/2006/table">
            <a:tbl>
              <a:tblPr firstRow="1" firstCol="1" bandRow="1">
                <a:tableStyleId>{5C22544A-7EE6-4342-B048-85BDC9FD1C3A}</a:tableStyleId>
              </a:tblPr>
              <a:tblGrid>
                <a:gridCol w="521045">
                  <a:extLst>
                    <a:ext uri="{9D8B030D-6E8A-4147-A177-3AD203B41FA5}">
                      <a16:colId xmlns:a16="http://schemas.microsoft.com/office/drawing/2014/main" val="20000"/>
                    </a:ext>
                  </a:extLst>
                </a:gridCol>
                <a:gridCol w="9994555">
                  <a:extLst>
                    <a:ext uri="{9D8B030D-6E8A-4147-A177-3AD203B41FA5}">
                      <a16:colId xmlns:a16="http://schemas.microsoft.com/office/drawing/2014/main" val="20001"/>
                    </a:ext>
                  </a:extLst>
                </a:gridCol>
              </a:tblGrid>
              <a:tr h="278002">
                <a:tc>
                  <a:txBody>
                    <a:bodyPr/>
                    <a:lstStyle/>
                    <a:p>
                      <a:pPr>
                        <a:lnSpc>
                          <a:spcPct val="100000"/>
                        </a:lnSpc>
                        <a:spcAft>
                          <a:spcPts val="0"/>
                        </a:spcAft>
                      </a:pPr>
                      <a:r>
                        <a:rPr lang="en-IN" sz="1000" dirty="0">
                          <a:effectLst/>
                        </a:rPr>
                        <a: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0000"/>
                        </a:lnSpc>
                        <a:spcAft>
                          <a:spcPts val="0"/>
                        </a:spcAft>
                      </a:pPr>
                      <a:r>
                        <a:rPr lang="en-IN" sz="1000">
                          <a:effectLst/>
                        </a:rPr>
                        <a:t>Task</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00"/>
                  </a:ext>
                </a:extLst>
              </a:tr>
              <a:tr h="580531">
                <a:tc>
                  <a:txBody>
                    <a:bodyPr/>
                    <a:lstStyle/>
                    <a:p>
                      <a:pPr>
                        <a:lnSpc>
                          <a:spcPct val="100000"/>
                        </a:lnSpc>
                        <a:spcAft>
                          <a:spcPts val="0"/>
                        </a:spcAft>
                      </a:pPr>
                      <a:r>
                        <a:rPr lang="en-IN" sz="1000">
                          <a:effectLst/>
                        </a:rPr>
                        <a:t>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0000"/>
                        </a:lnSpc>
                        <a:spcAft>
                          <a:spcPts val="0"/>
                        </a:spcAft>
                      </a:pPr>
                      <a:r>
                        <a:rPr lang="en-IN" sz="1600" dirty="0">
                          <a:effectLst/>
                        </a:rPr>
                        <a:t>Read the question or brief and understand what you are required to do.</a:t>
                      </a:r>
                    </a:p>
                    <a:p>
                      <a:pPr>
                        <a:lnSpc>
                          <a:spcPct val="100000"/>
                        </a:lnSpc>
                        <a:spcAft>
                          <a:spcPts val="0"/>
                        </a:spcAft>
                      </a:pPr>
                      <a:r>
                        <a:rPr lang="en-IN" sz="1600" dirty="0">
                          <a:effectLst/>
                        </a:rPr>
                        <a:t>Think about the subject, the purpose and the audience.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01"/>
                  </a:ext>
                </a:extLst>
              </a:tr>
              <a:tr h="301178">
                <a:tc>
                  <a:txBody>
                    <a:bodyPr/>
                    <a:lstStyle/>
                    <a:p>
                      <a:pPr>
                        <a:lnSpc>
                          <a:spcPct val="100000"/>
                        </a:lnSpc>
                        <a:spcAft>
                          <a:spcPts val="0"/>
                        </a:spcAft>
                      </a:pPr>
                      <a:r>
                        <a:rPr lang="en-IN" sz="1000">
                          <a:effectLst/>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0000"/>
                        </a:lnSpc>
                        <a:spcAft>
                          <a:spcPts val="0"/>
                        </a:spcAft>
                      </a:pPr>
                      <a:r>
                        <a:rPr lang="en-IN" sz="1600" dirty="0">
                          <a:effectLst/>
                        </a:rPr>
                        <a:t>Think about what you know about the subject. Write it down in some way.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02"/>
                  </a:ext>
                </a:extLst>
              </a:tr>
              <a:tr h="301178">
                <a:tc>
                  <a:txBody>
                    <a:bodyPr/>
                    <a:lstStyle/>
                    <a:p>
                      <a:pPr>
                        <a:lnSpc>
                          <a:spcPct val="100000"/>
                        </a:lnSpc>
                        <a:spcAft>
                          <a:spcPts val="0"/>
                        </a:spcAft>
                      </a:pPr>
                      <a:r>
                        <a:rPr lang="en-IN" sz="1000">
                          <a:effectLst/>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0000"/>
                        </a:lnSpc>
                        <a:spcAft>
                          <a:spcPts val="0"/>
                        </a:spcAft>
                      </a:pPr>
                      <a:r>
                        <a:rPr lang="en-IN" sz="1600" dirty="0">
                          <a:effectLst/>
                        </a:rPr>
                        <a:t>Go to the library or internet and find relevant books, articles or websites.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03"/>
                  </a:ext>
                </a:extLst>
              </a:tr>
              <a:tr h="301178">
                <a:tc>
                  <a:txBody>
                    <a:bodyPr/>
                    <a:lstStyle/>
                    <a:p>
                      <a:pPr>
                        <a:lnSpc>
                          <a:spcPct val="100000"/>
                        </a:lnSpc>
                        <a:spcAft>
                          <a:spcPts val="0"/>
                        </a:spcAft>
                      </a:pPr>
                      <a:r>
                        <a:rPr lang="en-IN" sz="1000">
                          <a:effectLst/>
                        </a:rPr>
                        <a:t>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0000"/>
                        </a:lnSpc>
                        <a:spcAft>
                          <a:spcPts val="0"/>
                        </a:spcAft>
                      </a:pPr>
                      <a:r>
                        <a:rPr lang="en-IN" sz="1600" dirty="0">
                          <a:effectLst/>
                        </a:rPr>
                        <a:t>Find the books on your reading list - if you have one - and study them.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04"/>
                  </a:ext>
                </a:extLst>
              </a:tr>
              <a:tr h="327610">
                <a:tc>
                  <a:txBody>
                    <a:bodyPr/>
                    <a:lstStyle/>
                    <a:p>
                      <a:pPr>
                        <a:lnSpc>
                          <a:spcPct val="100000"/>
                        </a:lnSpc>
                        <a:spcAft>
                          <a:spcPts val="0"/>
                        </a:spcAft>
                      </a:pPr>
                      <a:r>
                        <a:rPr lang="en-IN" sz="1000">
                          <a:effectLst/>
                        </a:rPr>
                        <a:t>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gn="l">
                        <a:lnSpc>
                          <a:spcPct val="100000"/>
                        </a:lnSpc>
                        <a:spcAft>
                          <a:spcPts val="0"/>
                        </a:spcAft>
                      </a:pPr>
                      <a:r>
                        <a:rPr lang="en-IN" sz="1600" dirty="0">
                          <a:effectLst/>
                        </a:rPr>
                        <a:t>Make notes on these books and articles. Record full details of the materials you use.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05"/>
                  </a:ext>
                </a:extLst>
              </a:tr>
              <a:tr h="301178">
                <a:tc>
                  <a:txBody>
                    <a:bodyPr/>
                    <a:lstStyle/>
                    <a:p>
                      <a:pPr>
                        <a:lnSpc>
                          <a:spcPct val="100000"/>
                        </a:lnSpc>
                        <a:spcAft>
                          <a:spcPts val="0"/>
                        </a:spcAft>
                      </a:pPr>
                      <a:r>
                        <a:rPr lang="en-IN" sz="1000">
                          <a:effectLst/>
                        </a:rPr>
                        <a:t>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0000"/>
                        </a:lnSpc>
                        <a:spcAft>
                          <a:spcPts val="0"/>
                        </a:spcAft>
                      </a:pPr>
                      <a:r>
                        <a:rPr lang="en-IN" sz="1600" dirty="0">
                          <a:effectLst/>
                        </a:rPr>
                        <a:t>Organise your piece of work.</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06"/>
                  </a:ext>
                </a:extLst>
              </a:tr>
              <a:tr h="301178">
                <a:tc>
                  <a:txBody>
                    <a:bodyPr/>
                    <a:lstStyle/>
                    <a:p>
                      <a:pPr>
                        <a:lnSpc>
                          <a:spcPct val="100000"/>
                        </a:lnSpc>
                        <a:spcAft>
                          <a:spcPts val="0"/>
                        </a:spcAft>
                      </a:pPr>
                      <a:r>
                        <a:rPr lang="en-IN" sz="1000">
                          <a:effectLst/>
                        </a:rPr>
                        <a:t>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0000"/>
                        </a:lnSpc>
                        <a:spcAft>
                          <a:spcPts val="0"/>
                        </a:spcAft>
                      </a:pPr>
                      <a:r>
                        <a:rPr lang="en-IN" sz="1600" dirty="0">
                          <a:effectLst/>
                        </a:rPr>
                        <a:t>Type or write your first draft.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07"/>
                  </a:ext>
                </a:extLst>
              </a:tr>
              <a:tr h="301178">
                <a:tc>
                  <a:txBody>
                    <a:bodyPr/>
                    <a:lstStyle/>
                    <a:p>
                      <a:pPr>
                        <a:lnSpc>
                          <a:spcPct val="100000"/>
                        </a:lnSpc>
                        <a:spcAft>
                          <a:spcPts val="0"/>
                        </a:spcAft>
                      </a:pPr>
                      <a:r>
                        <a:rPr lang="en-IN" sz="1000">
                          <a:effectLst/>
                        </a:rPr>
                        <a:t>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0000"/>
                        </a:lnSpc>
                        <a:spcAft>
                          <a:spcPts val="0"/>
                        </a:spcAft>
                      </a:pPr>
                      <a:r>
                        <a:rPr lang="en-IN" sz="1600" dirty="0">
                          <a:effectLst/>
                        </a:rPr>
                        <a:t>Discuss your first draft informally with friends, other members of your class and your lecturer if possible.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08"/>
                  </a:ext>
                </a:extLst>
              </a:tr>
              <a:tr h="580531">
                <a:tc>
                  <a:txBody>
                    <a:bodyPr/>
                    <a:lstStyle/>
                    <a:p>
                      <a:pPr>
                        <a:lnSpc>
                          <a:spcPct val="100000"/>
                        </a:lnSpc>
                        <a:spcAft>
                          <a:spcPts val="0"/>
                        </a:spcAft>
                      </a:pPr>
                      <a:r>
                        <a:rPr lang="en-IN" sz="1000">
                          <a:effectLst/>
                        </a:rPr>
                        <a:t>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0000"/>
                        </a:lnSpc>
                        <a:spcAft>
                          <a:spcPts val="0"/>
                        </a:spcAft>
                      </a:pPr>
                      <a:r>
                        <a:rPr lang="en-IN" sz="1600" dirty="0">
                          <a:effectLst/>
                        </a:rPr>
                        <a:t>Revise your first draft, bearing in mind any comments that were made in your discussions.</a:t>
                      </a:r>
                    </a:p>
                    <a:p>
                      <a:pPr>
                        <a:lnSpc>
                          <a:spcPct val="100000"/>
                        </a:lnSpc>
                        <a:spcAft>
                          <a:spcPts val="0"/>
                        </a:spcAft>
                      </a:pPr>
                      <a:r>
                        <a:rPr lang="en-IN" sz="1600" dirty="0">
                          <a:effectLst/>
                        </a:rPr>
                        <a:t>Go back to 2. if necessary. Produce your second draft.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09"/>
                  </a:ext>
                </a:extLst>
              </a:tr>
              <a:tr h="301178">
                <a:tc>
                  <a:txBody>
                    <a:bodyPr/>
                    <a:lstStyle/>
                    <a:p>
                      <a:pPr>
                        <a:lnSpc>
                          <a:spcPct val="100000"/>
                        </a:lnSpc>
                        <a:spcAft>
                          <a:spcPts val="0"/>
                        </a:spcAft>
                      </a:pPr>
                      <a:r>
                        <a:rPr lang="en-IN" sz="1000">
                          <a:effectLst/>
                        </a:rPr>
                        <a:t>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0000"/>
                        </a:lnSpc>
                        <a:spcAft>
                          <a:spcPts val="0"/>
                        </a:spcAft>
                      </a:pPr>
                      <a:r>
                        <a:rPr lang="en-IN" sz="1600" dirty="0">
                          <a:effectLst/>
                        </a:rPr>
                        <a:t>Proofread your draft.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10"/>
                  </a:ext>
                </a:extLst>
              </a:tr>
              <a:tr h="301178">
                <a:tc>
                  <a:txBody>
                    <a:bodyPr/>
                    <a:lstStyle/>
                    <a:p>
                      <a:pPr>
                        <a:lnSpc>
                          <a:spcPct val="100000"/>
                        </a:lnSpc>
                        <a:spcAft>
                          <a:spcPts val="0"/>
                        </a:spcAft>
                      </a:pPr>
                      <a:r>
                        <a:rPr lang="en-IN" sz="1000">
                          <a:effectLst/>
                        </a:rPr>
                        <a:t>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0000"/>
                        </a:lnSpc>
                        <a:spcAft>
                          <a:spcPts val="0"/>
                        </a:spcAft>
                      </a:pPr>
                      <a:r>
                        <a:rPr lang="en-IN" sz="1600" dirty="0">
                          <a:effectLst/>
                        </a:rPr>
                        <a:t>Produce a final typed version.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11"/>
                  </a:ext>
                </a:extLst>
              </a:tr>
              <a:tr h="301178">
                <a:tc>
                  <a:txBody>
                    <a:bodyPr/>
                    <a:lstStyle/>
                    <a:p>
                      <a:pPr>
                        <a:lnSpc>
                          <a:spcPct val="100000"/>
                        </a:lnSpc>
                        <a:spcAft>
                          <a:spcPts val="0"/>
                        </a:spcAft>
                      </a:pPr>
                      <a:r>
                        <a:rPr lang="en-IN" sz="1000">
                          <a:effectLst/>
                        </a:rPr>
                        <a:t>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tc>
                  <a:txBody>
                    <a:bodyPr/>
                    <a:lstStyle/>
                    <a:p>
                      <a:pPr>
                        <a:lnSpc>
                          <a:spcPct val="100000"/>
                        </a:lnSpc>
                        <a:spcAft>
                          <a:spcPts val="0"/>
                        </a:spcAft>
                      </a:pPr>
                      <a:r>
                        <a:rPr lang="en-IN" sz="1600" dirty="0">
                          <a:effectLst/>
                        </a:rPr>
                        <a:t>Check everything.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657260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6" name="Title 1">
            <a:extLst>
              <a:ext uri="{FF2B5EF4-FFF2-40B4-BE49-F238E27FC236}">
                <a16:creationId xmlns:a16="http://schemas.microsoft.com/office/drawing/2014/main" id="{43107CC8-24BD-187A-57EB-EA29ACB8C830}"/>
              </a:ext>
            </a:extLst>
          </p:cNvPr>
          <p:cNvSpPr>
            <a:spLocks noGrp="1"/>
          </p:cNvSpPr>
          <p:nvPr>
            <p:ph type="title"/>
          </p:nvPr>
        </p:nvSpPr>
        <p:spPr>
          <a:xfrm>
            <a:off x="804672" y="457200"/>
            <a:ext cx="10579608" cy="1188720"/>
          </a:xfrm>
        </p:spPr>
        <p:txBody>
          <a:bodyPr>
            <a:normAutofit/>
          </a:bodyPr>
          <a:lstStyle/>
          <a:p>
            <a:r>
              <a:rPr lang="en-IN" b="1" dirty="0"/>
              <a:t>Characteristics of Academic Writing</a:t>
            </a:r>
            <a:endParaRPr lang="en-IN" sz="4000" b="1" dirty="0">
              <a:solidFill>
                <a:schemeClr val="tx2"/>
              </a:solidFill>
            </a:endParaRPr>
          </a:p>
        </p:txBody>
      </p:sp>
      <p:grpSp>
        <p:nvGrpSpPr>
          <p:cNvPr id="27" name="Group 26">
            <a:extLst>
              <a:ext uri="{FF2B5EF4-FFF2-40B4-BE49-F238E27FC236}">
                <a16:creationId xmlns:a16="http://schemas.microsoft.com/office/drawing/2014/main" id="{76566969-F813-4CC5-B3E9-363D85B55C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881264" y="-5116"/>
            <a:ext cx="3318648" cy="2490264"/>
            <a:chOff x="-305" y="-1"/>
            <a:chExt cx="3832880" cy="2876136"/>
          </a:xfrm>
        </p:grpSpPr>
        <p:sp>
          <p:nvSpPr>
            <p:cNvPr id="14" name="Freeform: Shape 13">
              <a:extLst>
                <a:ext uri="{FF2B5EF4-FFF2-40B4-BE49-F238E27FC236}">
                  <a16:creationId xmlns:a16="http://schemas.microsoft.com/office/drawing/2014/main" id="{AF8CF66C-45E2-456B-92B0-9E97A331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65D590E-D70D-4D25-B853-D5208F2A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231501E-3F84-4705-A001-13995FA6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552617E4-47FD-4C38-8F70-93BF9B125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0217D733-97B6-4C43-AF0C-5E3CB0EA13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07887"/>
            <a:ext cx="2605762" cy="2252847"/>
            <a:chOff x="-305" y="-4155"/>
            <a:chExt cx="2514948" cy="2174333"/>
          </a:xfrm>
        </p:grpSpPr>
        <p:sp>
          <p:nvSpPr>
            <p:cNvPr id="20" name="Freeform: Shape 19">
              <a:extLst>
                <a:ext uri="{FF2B5EF4-FFF2-40B4-BE49-F238E27FC236}">
                  <a16:creationId xmlns:a16="http://schemas.microsoft.com/office/drawing/2014/main" id="{FD288266-7E76-4D4A-BAAC-E233FA01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B697F88A-8624-4BA2-AF06-E6C3A52F0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8CA77163-C052-481C-9DCF-68C23ACA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02B425B5-0A0E-4B85-B718-E5DA73431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4" name="Content Placeholder 3">
            <a:extLst>
              <a:ext uri="{FF2B5EF4-FFF2-40B4-BE49-F238E27FC236}">
                <a16:creationId xmlns:a16="http://schemas.microsoft.com/office/drawing/2014/main" id="{E7072714-138F-44F8-B4F4-CCEA77CD26BE}"/>
              </a:ext>
            </a:extLst>
          </p:cNvPr>
          <p:cNvGraphicFramePr>
            <a:graphicFrameLocks noGrp="1"/>
          </p:cNvGraphicFramePr>
          <p:nvPr>
            <p:ph idx="1"/>
            <p:extLst>
              <p:ext uri="{D42A27DB-BD31-4B8C-83A1-F6EECF244321}">
                <p14:modId xmlns:p14="http://schemas.microsoft.com/office/powerpoint/2010/main" val="875256624"/>
              </p:ext>
            </p:extLst>
          </p:nvPr>
        </p:nvGraphicFramePr>
        <p:xfrm>
          <a:off x="804143" y="1466492"/>
          <a:ext cx="10579607" cy="4952448"/>
        </p:xfrm>
        <a:graphic>
          <a:graphicData uri="http://schemas.openxmlformats.org/drawingml/2006/table">
            <a:tbl>
              <a:tblPr firstRow="1" firstCol="1" bandRow="1"/>
              <a:tblGrid>
                <a:gridCol w="2063449">
                  <a:extLst>
                    <a:ext uri="{9D8B030D-6E8A-4147-A177-3AD203B41FA5}">
                      <a16:colId xmlns:a16="http://schemas.microsoft.com/office/drawing/2014/main" val="3058575130"/>
                    </a:ext>
                  </a:extLst>
                </a:gridCol>
                <a:gridCol w="2890497">
                  <a:extLst>
                    <a:ext uri="{9D8B030D-6E8A-4147-A177-3AD203B41FA5}">
                      <a16:colId xmlns:a16="http://schemas.microsoft.com/office/drawing/2014/main" val="953144771"/>
                    </a:ext>
                  </a:extLst>
                </a:gridCol>
                <a:gridCol w="2403319">
                  <a:extLst>
                    <a:ext uri="{9D8B030D-6E8A-4147-A177-3AD203B41FA5}">
                      <a16:colId xmlns:a16="http://schemas.microsoft.com/office/drawing/2014/main" val="1526796919"/>
                    </a:ext>
                  </a:extLst>
                </a:gridCol>
                <a:gridCol w="3222342">
                  <a:extLst>
                    <a:ext uri="{9D8B030D-6E8A-4147-A177-3AD203B41FA5}">
                      <a16:colId xmlns:a16="http://schemas.microsoft.com/office/drawing/2014/main" val="527066738"/>
                    </a:ext>
                  </a:extLst>
                </a:gridCol>
              </a:tblGrid>
              <a:tr h="274898">
                <a:tc>
                  <a:txBody>
                    <a:bodyPr/>
                    <a:lstStyle/>
                    <a:p>
                      <a:pPr algn="ctr" fontAlgn="ctr">
                        <a:lnSpc>
                          <a:spcPct val="100000"/>
                        </a:lnSpc>
                        <a:spcAft>
                          <a:spcPts val="0"/>
                        </a:spcAft>
                        <a:buNone/>
                      </a:pPr>
                      <a:r>
                        <a:rPr lang="en-IN" sz="1200" b="1" i="0" u="none" strike="noStrike" kern="100" dirty="0">
                          <a:effectLst/>
                          <a:latin typeface="Aptos" panose="020B0004020202020204" pitchFamily="34" charset="0"/>
                          <a:ea typeface="Aptos" panose="020B0004020202020204" pitchFamily="34" charset="0"/>
                          <a:cs typeface="Times New Roman" panose="02020603050405020304" pitchFamily="18" charset="0"/>
                        </a:rPr>
                        <a:t>Characteristic</a:t>
                      </a:r>
                      <a:endParaRPr lang="en-IN" sz="1200" b="0" i="0" u="none" strike="noStrike" dirty="0">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ctr" fontAlgn="ctr">
                        <a:lnSpc>
                          <a:spcPct val="100000"/>
                        </a:lnSpc>
                        <a:spcAft>
                          <a:spcPts val="0"/>
                        </a:spcAft>
                        <a:buNone/>
                      </a:pPr>
                      <a:r>
                        <a:rPr lang="en-IN" sz="1200" b="1" i="0" u="none" strike="noStrike" kern="100" dirty="0">
                          <a:effectLst/>
                          <a:latin typeface="Aptos" panose="020B0004020202020204" pitchFamily="34" charset="0"/>
                          <a:ea typeface="Aptos" panose="020B0004020202020204" pitchFamily="34" charset="0"/>
                          <a:cs typeface="Times New Roman" panose="02020603050405020304" pitchFamily="18" charset="0"/>
                        </a:rPr>
                        <a:t>Dos</a:t>
                      </a:r>
                      <a:endParaRPr lang="en-IN" sz="1200" b="0" i="0" u="none" strike="noStrike" dirty="0">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ctr" fontAlgn="ctr">
                        <a:lnSpc>
                          <a:spcPct val="100000"/>
                        </a:lnSpc>
                        <a:spcAft>
                          <a:spcPts val="0"/>
                        </a:spcAft>
                        <a:buNone/>
                      </a:pPr>
                      <a:r>
                        <a:rPr lang="en-IN" sz="1200" b="1" i="0" u="none" strike="noStrike" kern="100" dirty="0">
                          <a:effectLst/>
                          <a:latin typeface="Aptos" panose="020B0004020202020204" pitchFamily="34" charset="0"/>
                          <a:ea typeface="Aptos" panose="020B0004020202020204" pitchFamily="34" charset="0"/>
                          <a:cs typeface="Times New Roman" panose="02020603050405020304" pitchFamily="18" charset="0"/>
                        </a:rPr>
                        <a:t>Don’ts</a:t>
                      </a:r>
                      <a:endParaRPr lang="en-IN" sz="1200" b="0" i="0" u="none" strike="noStrike" dirty="0">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ctr" fontAlgn="ctr">
                        <a:lnSpc>
                          <a:spcPct val="100000"/>
                        </a:lnSpc>
                        <a:spcAft>
                          <a:spcPts val="0"/>
                        </a:spcAft>
                        <a:buNone/>
                      </a:pPr>
                      <a:r>
                        <a:rPr lang="en-IN" sz="1200" b="1" i="0" u="none" strike="noStrike" kern="100" dirty="0">
                          <a:effectLst/>
                          <a:latin typeface="Aptos" panose="020B0004020202020204" pitchFamily="34" charset="0"/>
                          <a:ea typeface="Aptos" panose="020B0004020202020204" pitchFamily="34" charset="0"/>
                          <a:cs typeface="Times New Roman" panose="02020603050405020304" pitchFamily="18" charset="0"/>
                        </a:rPr>
                        <a:t>Examples</a:t>
                      </a:r>
                      <a:endParaRPr lang="en-IN" sz="1200" b="0" i="0" u="none" strike="noStrike" dirty="0">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1363123886"/>
                  </a:ext>
                </a:extLst>
              </a:tr>
              <a:tr h="278959">
                <a:tc>
                  <a:txBody>
                    <a:bodyPr/>
                    <a:lstStyle/>
                    <a:p>
                      <a:pPr algn="l" fontAlgn="ctr">
                        <a:lnSpc>
                          <a:spcPct val="100000"/>
                        </a:lnSpc>
                        <a:spcAft>
                          <a:spcPts val="0"/>
                        </a:spcAft>
                        <a:buNone/>
                      </a:pPr>
                      <a:r>
                        <a:rPr lang="en-IN" sz="1200" b="1" i="0" u="none" strike="noStrike" kern="100">
                          <a:effectLst/>
                          <a:latin typeface="Aptos" panose="020B0004020202020204" pitchFamily="34" charset="0"/>
                          <a:ea typeface="Aptos" panose="020B0004020202020204" pitchFamily="34" charset="0"/>
                          <a:cs typeface="Times New Roman" panose="02020603050405020304" pitchFamily="18" charset="0"/>
                        </a:rPr>
                        <a:t>Clear and precise language</a:t>
                      </a:r>
                      <a:endParaRPr lang="en-IN" sz="1200" b="0" i="0" u="none" strike="noStrike">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l" fontAlgn="ctr">
                        <a:lnSpc>
                          <a:spcPct val="100000"/>
                        </a:lnSpc>
                        <a:spcAft>
                          <a:spcPts val="0"/>
                        </a:spcAft>
                        <a:buNone/>
                      </a:pP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Use simple, direct and specific language that accurately focuses on facts, evidence, and logical reasoning.</a:t>
                      </a:r>
                      <a:endParaRPr lang="en-IN" sz="1200" b="0" i="0" u="none" strike="noStrike" dirty="0">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l" fontAlgn="ctr">
                        <a:lnSpc>
                          <a:spcPct val="100000"/>
                        </a:lnSpc>
                        <a:spcAft>
                          <a:spcPts val="0"/>
                        </a:spcAft>
                        <a:buNone/>
                      </a:pP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Do not use vague, complex or ambiguous language that may confuse or mislead readers.</a:t>
                      </a:r>
                      <a:endParaRPr lang="en-IN" sz="1200" b="0" i="0" u="none" strike="noStrike" dirty="0">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l" fontAlgn="ctr">
                        <a:lnSpc>
                          <a:spcPct val="100000"/>
                        </a:lnSpc>
                        <a:spcAft>
                          <a:spcPts val="0"/>
                        </a:spcAft>
                        <a:buNone/>
                      </a:pP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Don’t: The results of this study are very interesting and important. Do: This study reveals that X has a positive effect on Y in Z context.</a:t>
                      </a:r>
                      <a:endParaRPr lang="en-IN" sz="1200" b="0" i="0" u="none" strike="noStrike" dirty="0">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1364417184"/>
                  </a:ext>
                </a:extLst>
              </a:tr>
              <a:tr h="627873">
                <a:tc>
                  <a:txBody>
                    <a:bodyPr/>
                    <a:lstStyle/>
                    <a:p>
                      <a:pPr algn="l" fontAlgn="ctr">
                        <a:lnSpc>
                          <a:spcPct val="100000"/>
                        </a:lnSpc>
                        <a:spcAft>
                          <a:spcPts val="0"/>
                        </a:spcAft>
                        <a:buNone/>
                      </a:pPr>
                      <a:r>
                        <a:rPr lang="en-IN" sz="1200" b="1" i="0" u="none" strike="noStrike" kern="100">
                          <a:effectLst/>
                          <a:latin typeface="Aptos" panose="020B0004020202020204" pitchFamily="34" charset="0"/>
                          <a:ea typeface="Aptos" panose="020B0004020202020204" pitchFamily="34" charset="0"/>
                          <a:cs typeface="Times New Roman" panose="02020603050405020304" pitchFamily="18" charset="0"/>
                        </a:rPr>
                        <a:t>Formal and objective language</a:t>
                      </a:r>
                      <a:endParaRPr lang="en-IN" sz="1200" b="0" i="0" u="none" strike="noStrike">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l" fontAlgn="ctr">
                        <a:lnSpc>
                          <a:spcPct val="100000"/>
                        </a:lnSpc>
                        <a:spcAft>
                          <a:spcPts val="0"/>
                        </a:spcAft>
                        <a:buNone/>
                      </a:pP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Use formal, objective language. Maintain a neutral tone, one that is authoritative and unbiased, reinforcing the credibility of the research presented.</a:t>
                      </a:r>
                      <a:endParaRPr lang="en-IN" sz="1200" b="0" i="0" u="none" strike="noStrike" dirty="0">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l" fontAlgn="ctr">
                        <a:lnSpc>
                          <a:spcPct val="100000"/>
                        </a:lnSpc>
                        <a:spcAft>
                          <a:spcPts val="0"/>
                        </a:spcAft>
                        <a:buNone/>
                      </a:pPr>
                      <a:r>
                        <a:rPr lang="en-IN" sz="1200" b="0" i="0" u="none" strike="noStrike" kern="100">
                          <a:effectLst/>
                          <a:latin typeface="Aptos" panose="020B0004020202020204" pitchFamily="34" charset="0"/>
                          <a:ea typeface="Aptos" panose="020B0004020202020204" pitchFamily="34" charset="0"/>
                          <a:cs typeface="Times New Roman" panose="02020603050405020304" pitchFamily="18" charset="0"/>
                        </a:rPr>
                        <a:t>Do not use emoticons, slang, contractions, or abbreviations that may sound casual or too subjective for scholarly audiences.</a:t>
                      </a:r>
                      <a:endParaRPr lang="en-IN" sz="1200" b="0" i="0" u="none" strike="noStrike">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l" fontAlgn="ctr">
                        <a:lnSpc>
                          <a:spcPct val="100000"/>
                        </a:lnSpc>
                        <a:spcAft>
                          <a:spcPts val="0"/>
                        </a:spcAft>
                        <a:buNone/>
                      </a:pP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Don’t: The study was a flop. We didn’t get any useful data. Do: The experiment failed to produce any valid, reliable data.</a:t>
                      </a:r>
                      <a:endParaRPr lang="en-IN" sz="1200" b="0" i="0" u="none" strike="noStrike" dirty="0">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3194171427"/>
                  </a:ext>
                </a:extLst>
              </a:tr>
              <a:tr h="1121192">
                <a:tc>
                  <a:txBody>
                    <a:bodyPr/>
                    <a:lstStyle/>
                    <a:p>
                      <a:pPr algn="l" fontAlgn="ctr">
                        <a:lnSpc>
                          <a:spcPct val="100000"/>
                        </a:lnSpc>
                        <a:spcAft>
                          <a:spcPts val="0"/>
                        </a:spcAft>
                        <a:buNone/>
                      </a:pPr>
                      <a:r>
                        <a:rPr lang="en-IN" sz="1200" b="1" i="0" u="none" strike="noStrike" kern="100">
                          <a:effectLst/>
                          <a:latin typeface="Aptos" panose="020B0004020202020204" pitchFamily="34" charset="0"/>
                          <a:ea typeface="Aptos" panose="020B0004020202020204" pitchFamily="34" charset="0"/>
                          <a:cs typeface="Times New Roman" panose="02020603050405020304" pitchFamily="18" charset="0"/>
                        </a:rPr>
                        <a:t>Evidence and citations</a:t>
                      </a:r>
                      <a:endParaRPr lang="en-IN" sz="1200" b="0" i="0" u="none" strike="noStrike">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l" fontAlgn="ctr">
                        <a:lnSpc>
                          <a:spcPct val="100000"/>
                        </a:lnSpc>
                        <a:spcAft>
                          <a:spcPts val="0"/>
                        </a:spcAft>
                        <a:buNone/>
                      </a:pPr>
                      <a:r>
                        <a:rPr lang="en-IN" sz="1200" b="0" i="0" u="none" strike="noStrike" kern="100">
                          <a:effectLst/>
                          <a:latin typeface="Aptos" panose="020B0004020202020204" pitchFamily="34" charset="0"/>
                          <a:ea typeface="Aptos" panose="020B0004020202020204" pitchFamily="34" charset="0"/>
                          <a:cs typeface="Times New Roman" panose="02020603050405020304" pitchFamily="18" charset="0"/>
                        </a:rPr>
                        <a:t>Use evidence-based data to support claims. This can be drawn from credible sources like research studies, books, journals, and expert opinions that can prove the validity of your findings.</a:t>
                      </a:r>
                      <a:endParaRPr lang="en-IN" sz="1200" b="0" i="0" u="none" strike="noStrike">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l" fontAlgn="ctr">
                        <a:lnSpc>
                          <a:spcPct val="100000"/>
                        </a:lnSpc>
                        <a:spcAft>
                          <a:spcPts val="0"/>
                        </a:spcAft>
                        <a:buNone/>
                      </a:pPr>
                      <a:r>
                        <a:rPr lang="en-IN" sz="1200" b="0" i="0" u="none" strike="noStrike" kern="100">
                          <a:effectLst/>
                          <a:latin typeface="Aptos" panose="020B0004020202020204" pitchFamily="34" charset="0"/>
                          <a:ea typeface="Aptos" panose="020B0004020202020204" pitchFamily="34" charset="0"/>
                          <a:cs typeface="Times New Roman" panose="02020603050405020304" pitchFamily="18" charset="0"/>
                        </a:rPr>
                        <a:t>Do not rely on your own opinions or assumptions without providing proper sources or references that can verify or challenge your research findings.</a:t>
                      </a:r>
                      <a:endParaRPr lang="en-IN" sz="1200" b="0" i="0" u="none" strike="noStrike">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l" fontAlgn="ctr">
                        <a:lnSpc>
                          <a:spcPct val="100000"/>
                        </a:lnSpc>
                        <a:spcAft>
                          <a:spcPts val="0"/>
                        </a:spcAft>
                        <a:buNone/>
                      </a:pP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Don’t: Many people believe that climate change is a hoax. Do: According to a survey conducted by Pew Research          </a:t>
                      </a:r>
                      <a:r>
                        <a:rPr lang="en-IN" sz="1200" b="0" i="0" u="none" strike="noStrike" kern="100" dirty="0" err="1">
                          <a:effectLst/>
                          <a:latin typeface="Aptos" panose="020B0004020202020204" pitchFamily="34" charset="0"/>
                          <a:ea typeface="Aptos" panose="020B0004020202020204" pitchFamily="34" charset="0"/>
                          <a:cs typeface="Times New Roman" panose="02020603050405020304" pitchFamily="18" charset="0"/>
                        </a:rPr>
                        <a:t>Center</a:t>
                      </a: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 in 2019, 16% of Americans think that there is no evidence for global warming.</a:t>
                      </a:r>
                      <a:endParaRPr lang="en-IN" sz="1200" b="0" i="0" u="none" strike="noStrike" dirty="0">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262773349"/>
                  </a:ext>
                </a:extLst>
              </a:tr>
              <a:tr h="1325856">
                <a:tc>
                  <a:txBody>
                    <a:bodyPr/>
                    <a:lstStyle/>
                    <a:p>
                      <a:pPr algn="l" fontAlgn="ctr">
                        <a:lnSpc>
                          <a:spcPct val="100000"/>
                        </a:lnSpc>
                        <a:spcAft>
                          <a:spcPts val="0"/>
                        </a:spcAft>
                        <a:buNone/>
                      </a:pPr>
                      <a:r>
                        <a:rPr lang="en-IN" sz="1200" b="1" i="0" u="none" strike="noStrike" kern="100">
                          <a:effectLst/>
                          <a:latin typeface="Aptos" panose="020B0004020202020204" pitchFamily="34" charset="0"/>
                          <a:ea typeface="Aptos" panose="020B0004020202020204" pitchFamily="34" charset="0"/>
                          <a:cs typeface="Times New Roman" panose="02020603050405020304" pitchFamily="18" charset="0"/>
                        </a:rPr>
                        <a:t>Original, authentic well-presented content </a:t>
                      </a:r>
                      <a:r>
                        <a:rPr lang="en-IN" sz="1200" b="0" i="0" u="none" strike="noStrike" kern="100">
                          <a:effectLst/>
                          <a:latin typeface="Aptos" panose="020B0004020202020204" pitchFamily="34" charset="0"/>
                          <a:ea typeface="Aptos" panose="020B0004020202020204" pitchFamily="34" charset="0"/>
                          <a:cs typeface="Times New Roman" panose="02020603050405020304" pitchFamily="18" charset="0"/>
                        </a:rPr>
                        <a:t>   </a:t>
                      </a:r>
                      <a:endParaRPr lang="en-IN" sz="1200" b="0" i="0" u="none" strike="noStrike">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l" fontAlgn="ctr">
                        <a:lnSpc>
                          <a:spcPct val="100000"/>
                        </a:lnSpc>
                        <a:spcAft>
                          <a:spcPts val="0"/>
                        </a:spcAft>
                        <a:buNone/>
                      </a:pPr>
                      <a:r>
                        <a:rPr lang="en-IN" sz="1200" b="0" i="0" u="none" strike="noStrike" kern="100">
                          <a:effectLst/>
                          <a:latin typeface="Aptos" panose="020B0004020202020204" pitchFamily="34" charset="0"/>
                          <a:ea typeface="Aptos" panose="020B0004020202020204" pitchFamily="34" charset="0"/>
                          <a:cs typeface="Times New Roman" panose="02020603050405020304" pitchFamily="18" charset="0"/>
                        </a:rPr>
                        <a:t>Use original and authentic content that reflects your own research and contribution to your field. It should be free of errors in grammar, punctuation, and spelling.</a:t>
                      </a:r>
                      <a:endParaRPr lang="en-IN" sz="1200" b="0" i="0" u="none" strike="noStrike">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l" fontAlgn="ctr">
                        <a:lnSpc>
                          <a:spcPct val="100000"/>
                        </a:lnSpc>
                        <a:spcAft>
                          <a:spcPts val="0"/>
                        </a:spcAft>
                        <a:buNone/>
                      </a:pPr>
                      <a:r>
                        <a:rPr lang="en-IN" sz="1200" b="0" i="0" u="none" strike="noStrike" kern="100">
                          <a:effectLst/>
                          <a:latin typeface="Aptos" panose="020B0004020202020204" pitchFamily="34" charset="0"/>
                          <a:ea typeface="Aptos" panose="020B0004020202020204" pitchFamily="34" charset="0"/>
                          <a:cs typeface="Times New Roman" panose="02020603050405020304" pitchFamily="18" charset="0"/>
                        </a:rPr>
                        <a:t>Do not use other’s content without referencing the source.  </a:t>
                      </a:r>
                      <a:endParaRPr lang="en-IN" sz="1200" b="0" i="0" u="none" strike="noStrike">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tc>
                  <a:txBody>
                    <a:bodyPr/>
                    <a:lstStyle/>
                    <a:p>
                      <a:pPr algn="l" fontAlgn="ctr">
                        <a:lnSpc>
                          <a:spcPct val="100000"/>
                        </a:lnSpc>
                        <a:spcAft>
                          <a:spcPts val="0"/>
                        </a:spcAft>
                        <a:buNone/>
                      </a:pPr>
                      <a:r>
                        <a:rPr lang="en-IN" sz="1200" b="1" i="0" u="none" strike="noStrike" kern="100" dirty="0">
                          <a:effectLst/>
                          <a:latin typeface="Aptos" panose="020B0004020202020204" pitchFamily="34" charset="0"/>
                          <a:ea typeface="Aptos" panose="020B0004020202020204" pitchFamily="34" charset="0"/>
                          <a:cs typeface="Times New Roman" panose="02020603050405020304" pitchFamily="18" charset="0"/>
                        </a:rPr>
                        <a:t>Don’t:</a:t>
                      </a: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 In this study, I will argue that bees are vital for nature. (This statement is from: http</a:t>
                      </a:r>
                      <a:r>
                        <a:rPr lang="en-IN" sz="1200" b="0" i="0" u="sng" strike="noStrik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s://www.unep. or</a:t>
                      </a: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g</a:t>
                      </a:r>
                      <a:r>
                        <a:rPr lang="en-IN" sz="1200" b="0" i="0" u="sng" strike="noStrik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/ne</a:t>
                      </a: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ws-and-stories/ story/why-bees-are-essential-people-and-planet) Do: As the UNEP 2019 IPBES report reveals, </a:t>
                      </a:r>
                      <a:r>
                        <a:rPr lang="en-IN" sz="1200" b="0" i="0" u="sng" strike="noStrik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bees are</a:t>
                      </a: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 </a:t>
                      </a:r>
                      <a:r>
                        <a:rPr lang="en-IN" sz="1200" b="0" i="0" u="sng" strike="noStrik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essential to people and</a:t>
                      </a: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 </a:t>
                      </a:r>
                      <a:r>
                        <a:rPr lang="en-IN" sz="1200" b="0" i="0" u="sng" strike="noStrike"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the planet</a:t>
                      </a:r>
                      <a:r>
                        <a:rPr lang="en-IN" sz="1200" b="0" i="0" u="none" strike="noStrike" kern="100" dirty="0">
                          <a:effectLst/>
                          <a:latin typeface="Aptos" panose="020B0004020202020204" pitchFamily="34" charset="0"/>
                          <a:ea typeface="Aptos" panose="020B0004020202020204" pitchFamily="34" charset="0"/>
                          <a:cs typeface="Times New Roman" panose="02020603050405020304" pitchFamily="18" charset="0"/>
                        </a:rPr>
                        <a:t>.</a:t>
                      </a:r>
                      <a:endParaRPr lang="en-IN" sz="1200" b="0" i="0" u="none" strike="noStrike" dirty="0">
                        <a:effectLst/>
                        <a:latin typeface="Arial" panose="020B0604020202020204" pitchFamily="34" charset="0"/>
                      </a:endParaRPr>
                    </a:p>
                  </a:txBody>
                  <a:tcPr marL="90287" marR="90287" marT="90287" marB="90287" anchor="ctr">
                    <a:lnL w="12700" cap="flat" cmpd="sng" algn="ctr">
                      <a:solidFill>
                        <a:srgbClr val="DEDEDE"/>
                      </a:solidFill>
                      <a:prstDash val="solid"/>
                      <a:round/>
                      <a:headEnd type="none" w="med" len="med"/>
                      <a:tailEnd type="none" w="med" len="med"/>
                    </a:lnL>
                    <a:lnR w="12700" cap="flat" cmpd="sng" algn="ctr">
                      <a:solidFill>
                        <a:srgbClr val="DEDEDE"/>
                      </a:solidFill>
                      <a:prstDash val="solid"/>
                      <a:round/>
                      <a:headEnd type="none" w="med" len="med"/>
                      <a:tailEnd type="none" w="med" len="med"/>
                    </a:lnR>
                    <a:lnT w="12700" cap="flat" cmpd="sng" algn="ctr">
                      <a:solidFill>
                        <a:srgbClr val="DEDEDE"/>
                      </a:solidFill>
                      <a:prstDash val="solid"/>
                      <a:round/>
                      <a:headEnd type="none" w="med" len="med"/>
                      <a:tailEnd type="none" w="med" len="med"/>
                    </a:lnT>
                    <a:lnB w="12700" cap="flat" cmpd="sng" algn="ctr">
                      <a:solidFill>
                        <a:srgbClr val="DEDEDE"/>
                      </a:solidFill>
                      <a:prstDash val="solid"/>
                      <a:round/>
                      <a:headEnd type="none" w="med" len="med"/>
                      <a:tailEnd type="none" w="med" len="med"/>
                    </a:lnB>
                    <a:noFill/>
                  </a:tcPr>
                </a:tc>
                <a:extLst>
                  <a:ext uri="{0D108BD9-81ED-4DB2-BD59-A6C34878D82A}">
                    <a16:rowId xmlns:a16="http://schemas.microsoft.com/office/drawing/2014/main" val="2417628526"/>
                  </a:ext>
                </a:extLst>
              </a:tr>
            </a:tbl>
          </a:graphicData>
        </a:graphic>
      </p:graphicFrame>
    </p:spTree>
    <p:extLst>
      <p:ext uri="{BB962C8B-B14F-4D97-AF65-F5344CB8AC3E}">
        <p14:creationId xmlns:p14="http://schemas.microsoft.com/office/powerpoint/2010/main" val="26305082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92D2C-F837-901E-1F3B-DA65934070AD}"/>
              </a:ext>
            </a:extLst>
          </p:cNvPr>
          <p:cNvSpPr>
            <a:spLocks noGrp="1"/>
          </p:cNvSpPr>
          <p:nvPr>
            <p:ph type="title"/>
          </p:nvPr>
        </p:nvSpPr>
        <p:spPr>
          <a:xfrm>
            <a:off x="838200" y="365125"/>
            <a:ext cx="10515600" cy="1058233"/>
          </a:xfrm>
        </p:spPr>
        <p:txBody>
          <a:bodyPr/>
          <a:lstStyle/>
          <a:p>
            <a:pPr algn="ctr"/>
            <a:r>
              <a:rPr lang="en-IN" b="1" dirty="0"/>
              <a:t>Dos:</a:t>
            </a:r>
            <a:endParaRPr lang="en-IN" dirty="0"/>
          </a:p>
        </p:txBody>
      </p:sp>
      <p:sp>
        <p:nvSpPr>
          <p:cNvPr id="3" name="Content Placeholder 2">
            <a:extLst>
              <a:ext uri="{FF2B5EF4-FFF2-40B4-BE49-F238E27FC236}">
                <a16:creationId xmlns:a16="http://schemas.microsoft.com/office/drawing/2014/main" id="{537C798A-8FE8-344D-493E-6D685B90C221}"/>
              </a:ext>
            </a:extLst>
          </p:cNvPr>
          <p:cNvSpPr>
            <a:spLocks noGrp="1"/>
          </p:cNvSpPr>
          <p:nvPr>
            <p:ph idx="1"/>
          </p:nvPr>
        </p:nvSpPr>
        <p:spPr>
          <a:xfrm>
            <a:off x="838200" y="1492370"/>
            <a:ext cx="10515600" cy="4925683"/>
          </a:xfrm>
        </p:spPr>
        <p:txBody>
          <a:bodyPr>
            <a:normAutofit fontScale="92500" lnSpcReduction="20000"/>
          </a:bodyPr>
          <a:lstStyle/>
          <a:p>
            <a:r>
              <a:rPr lang="en-IN" b="1" dirty="0"/>
              <a:t>Use evidence and citations:</a:t>
            </a:r>
            <a:r>
              <a:rPr lang="en-IN" dirty="0"/>
              <a:t> Academic writing relies on research and evidence to support arguments. Referencing credible sources strengthens the validity and reliability of the work.</a:t>
            </a:r>
          </a:p>
          <a:p>
            <a:r>
              <a:rPr lang="en-IN" b="1" dirty="0"/>
              <a:t>Maintain objectivity:</a:t>
            </a:r>
            <a:r>
              <a:rPr lang="en-IN" dirty="0"/>
              <a:t> Present ideas and arguments objectively, without personal biases or opinions. The focus should be on factual information and logical analysis.</a:t>
            </a:r>
          </a:p>
          <a:p>
            <a:r>
              <a:rPr lang="en-IN" b="1" dirty="0"/>
              <a:t>Structure your writing:</a:t>
            </a:r>
            <a:r>
              <a:rPr lang="en-IN" dirty="0"/>
              <a:t> Follow a clear structure, including an introduction, body paragraphs, and a conclusion. Each section should have a distinct purpose and contribute to the coherence of the paper.</a:t>
            </a:r>
          </a:p>
          <a:p>
            <a:r>
              <a:rPr lang="en-IN" b="1" dirty="0"/>
              <a:t>Develop a strong thesis statement: </a:t>
            </a:r>
            <a:r>
              <a:rPr lang="en-IN" dirty="0"/>
              <a:t>Write a clear and concise thesis statement that states the main argument and guides the entire paper.</a:t>
            </a:r>
          </a:p>
          <a:p>
            <a:r>
              <a:rPr lang="en-IN" b="1" dirty="0"/>
              <a:t>Edit and proofread:</a:t>
            </a:r>
            <a:r>
              <a:rPr lang="en-IN" dirty="0"/>
              <a:t> Academic writing demands accuracy and precision. Carefully edit and proofread your work to eliminate errors in grammar, spelling, and punctuation.</a:t>
            </a:r>
          </a:p>
          <a:p>
            <a:endParaRPr lang="en-IN" dirty="0"/>
          </a:p>
        </p:txBody>
      </p:sp>
    </p:spTree>
    <p:extLst>
      <p:ext uri="{BB962C8B-B14F-4D97-AF65-F5344CB8AC3E}">
        <p14:creationId xmlns:p14="http://schemas.microsoft.com/office/powerpoint/2010/main" val="17495986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B5A9F-D452-793A-682A-4A4DD018BCD6}"/>
              </a:ext>
            </a:extLst>
          </p:cNvPr>
          <p:cNvSpPr>
            <a:spLocks noGrp="1"/>
          </p:cNvSpPr>
          <p:nvPr>
            <p:ph type="title"/>
          </p:nvPr>
        </p:nvSpPr>
        <p:spPr>
          <a:xfrm>
            <a:off x="838200" y="365126"/>
            <a:ext cx="10515600" cy="902958"/>
          </a:xfrm>
        </p:spPr>
        <p:txBody>
          <a:bodyPr/>
          <a:lstStyle/>
          <a:p>
            <a:pPr algn="ctr"/>
            <a:r>
              <a:rPr lang="en-IN" b="1" dirty="0"/>
              <a:t>Don’ts:</a:t>
            </a:r>
            <a:endParaRPr lang="en-IN" dirty="0"/>
          </a:p>
        </p:txBody>
      </p:sp>
      <p:sp>
        <p:nvSpPr>
          <p:cNvPr id="3" name="Content Placeholder 2">
            <a:extLst>
              <a:ext uri="{FF2B5EF4-FFF2-40B4-BE49-F238E27FC236}">
                <a16:creationId xmlns:a16="http://schemas.microsoft.com/office/drawing/2014/main" id="{3C1858F9-ED21-8D14-F3C0-91DBA02D4060}"/>
              </a:ext>
            </a:extLst>
          </p:cNvPr>
          <p:cNvSpPr>
            <a:spLocks noGrp="1"/>
          </p:cNvSpPr>
          <p:nvPr>
            <p:ph idx="1"/>
          </p:nvPr>
        </p:nvSpPr>
        <p:spPr>
          <a:xfrm>
            <a:off x="838200" y="1345720"/>
            <a:ext cx="10515600" cy="5063705"/>
          </a:xfrm>
        </p:spPr>
        <p:txBody>
          <a:bodyPr>
            <a:normAutofit fontScale="85000" lnSpcReduction="20000"/>
          </a:bodyPr>
          <a:lstStyle/>
          <a:p>
            <a:r>
              <a:rPr lang="en-IN" b="1" dirty="0"/>
              <a:t>Avoid informal language:</a:t>
            </a:r>
            <a:r>
              <a:rPr lang="en-IN" dirty="0"/>
              <a:t> Colloquialisms, slang, and abbreviations are best avoided in academic writing. It is essential to maintain a formal and professional tone at all times.</a:t>
            </a:r>
          </a:p>
          <a:p>
            <a:r>
              <a:rPr lang="en-IN" b="1" dirty="0"/>
              <a:t>Steer clear of vague language:</a:t>
            </a:r>
            <a:r>
              <a:rPr lang="en-IN" dirty="0"/>
              <a:t> Be specific and precise in your language, avoiding ambiguous terms or generalizations that could weaken the impact of your argument.</a:t>
            </a:r>
          </a:p>
          <a:p>
            <a:r>
              <a:rPr lang="en-IN" b="1" dirty="0"/>
              <a:t>Don’t rely on personal anecdotes:</a:t>
            </a:r>
            <a:r>
              <a:rPr lang="en-IN" dirty="0"/>
              <a:t> Academic writing should be based on research and evidence, rather than personal experiences or anecdotes.</a:t>
            </a:r>
          </a:p>
          <a:p>
            <a:r>
              <a:rPr lang="en-IN" b="1" dirty="0"/>
              <a:t>Avoid plagiarism</a:t>
            </a:r>
            <a:r>
              <a:rPr lang="en-IN" dirty="0"/>
              <a:t>: Properly acknowledge and accurately cite all sources used in your work to avoid charges of plagiarism. Plagiarism is considered highly unethical in academic writing and can affect your reputation and credibility as a researcher.</a:t>
            </a:r>
          </a:p>
          <a:p>
            <a:r>
              <a:rPr lang="en-IN" b="1" dirty="0"/>
              <a:t>Don’t overlook coherence and cohesion</a:t>
            </a:r>
            <a:r>
              <a:rPr lang="en-IN" dirty="0"/>
              <a:t>: Ensure that your ideas flow logically and coherently throughout the paper. Use appropriate transitional phrases and clear connections between sentences and paragraphs to maintain a smooth reading experience.</a:t>
            </a:r>
          </a:p>
          <a:p>
            <a:endParaRPr lang="en-IN" dirty="0"/>
          </a:p>
        </p:txBody>
      </p:sp>
    </p:spTree>
    <p:extLst>
      <p:ext uri="{BB962C8B-B14F-4D97-AF65-F5344CB8AC3E}">
        <p14:creationId xmlns:p14="http://schemas.microsoft.com/office/powerpoint/2010/main" val="40069024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ctr">
              <a:buNone/>
            </a:pPr>
            <a:endParaRPr lang="en-IN" dirty="0"/>
          </a:p>
          <a:p>
            <a:pPr marL="0" indent="0" algn="ctr">
              <a:buNone/>
            </a:pPr>
            <a:endParaRPr lang="en-IN" dirty="0"/>
          </a:p>
          <a:p>
            <a:pPr marL="0" indent="0" algn="ctr">
              <a:buNone/>
            </a:pPr>
            <a:endParaRPr lang="en-IN" dirty="0"/>
          </a:p>
          <a:p>
            <a:pPr marL="0" indent="0" algn="ctr">
              <a:buNone/>
            </a:pPr>
            <a:r>
              <a:rPr lang="en-IN" sz="6600" dirty="0">
                <a:latin typeface="Baskerville Old Face" panose="02020602080505020303" pitchFamily="18" charset="0"/>
              </a:rPr>
              <a:t>Thank You</a:t>
            </a:r>
          </a:p>
        </p:txBody>
      </p:sp>
    </p:spTree>
    <p:extLst>
      <p:ext uri="{BB962C8B-B14F-4D97-AF65-F5344CB8AC3E}">
        <p14:creationId xmlns:p14="http://schemas.microsoft.com/office/powerpoint/2010/main" val="240958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4645</Words>
  <Application>Microsoft Office PowerPoint</Application>
  <PresentationFormat>Widescreen</PresentationFormat>
  <Paragraphs>282</Paragraphs>
  <Slides>38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Aptos</vt:lpstr>
      <vt:lpstr>Arial</vt:lpstr>
      <vt:lpstr>Baskerville Old Face</vt:lpstr>
      <vt:lpstr>Calibri</vt:lpstr>
      <vt:lpstr>Calibri Light</vt:lpstr>
      <vt:lpstr>Times New Roman</vt:lpstr>
      <vt:lpstr>Wingdings</vt:lpstr>
      <vt:lpstr>Office Theme</vt:lpstr>
      <vt:lpstr>Academic Writing</vt:lpstr>
      <vt:lpstr>Academic Writing</vt:lpstr>
      <vt:lpstr>PowerPoint Presentation</vt:lpstr>
      <vt:lpstr>PowerPoint Presentation</vt:lpstr>
      <vt:lpstr> Formal Language </vt:lpstr>
      <vt:lpstr> Objective Language </vt:lpstr>
      <vt:lpstr>PowerPoint Presentation</vt:lpstr>
      <vt:lpstr>PowerPoint Presentation</vt:lpstr>
      <vt:lpstr> Technical Language </vt:lpstr>
      <vt:lpstr>The Purpose of Academic Writing</vt:lpstr>
      <vt:lpstr> Features of Academic Writing </vt:lpstr>
      <vt:lpstr> Complexity </vt:lpstr>
      <vt:lpstr> </vt:lpstr>
      <vt:lpstr> Formality </vt:lpstr>
      <vt:lpstr> Precision </vt:lpstr>
      <vt:lpstr> Objectivity </vt:lpstr>
      <vt:lpstr>PowerPoint Presentation</vt:lpstr>
      <vt:lpstr>PowerPoint Presentation</vt:lpstr>
      <vt:lpstr>PowerPoint Presentation</vt:lpstr>
      <vt:lpstr> Explicitness </vt:lpstr>
      <vt:lpstr>PowerPoint Presentation</vt:lpstr>
      <vt:lpstr>PowerPoint Presentation</vt:lpstr>
      <vt:lpstr>PowerPoint Presentation</vt:lpstr>
      <vt:lpstr>PowerPoint Presentation</vt:lpstr>
      <vt:lpstr> Accuracy </vt:lpstr>
      <vt:lpstr> Hedging </vt:lpstr>
      <vt:lpstr> Language used in hedging: </vt:lpstr>
      <vt:lpstr>EXAMPLE</vt:lpstr>
      <vt:lpstr>EXAMPLE</vt:lpstr>
      <vt:lpstr> Responsibility </vt:lpstr>
      <vt:lpstr> Organisation </vt:lpstr>
      <vt:lpstr> </vt:lpstr>
      <vt:lpstr> Planning </vt:lpstr>
      <vt:lpstr> </vt:lpstr>
      <vt:lpstr>Characteristics of Academic Writing</vt:lpstr>
      <vt:lpstr>Dos:</vt:lpstr>
      <vt:lpstr>Don’ts: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Rhetorical Functions in Academic Writing</dc:title>
  <dc:creator>Mojibur Rahman</dc:creator>
  <cp:lastModifiedBy>Md Rahman</cp:lastModifiedBy>
  <cp:revision>33</cp:revision>
  <dcterms:created xsi:type="dcterms:W3CDTF">2021-02-11T07:26:09Z</dcterms:created>
  <dcterms:modified xsi:type="dcterms:W3CDTF">2025-08-19T11:11:16Z</dcterms:modified>
</cp:coreProperties>
</file>