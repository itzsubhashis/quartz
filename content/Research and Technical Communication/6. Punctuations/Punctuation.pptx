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67" r:id="rId4"/>
    <p:sldId id="268" r:id="rId5"/>
    <p:sldId id="258" r:id="rId6"/>
    <p:sldId id="259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60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94" r:id="rId33"/>
    <p:sldId id="295" r:id="rId34"/>
    <p:sldId id="296" r:id="rId35"/>
    <p:sldId id="264" r:id="rId36"/>
    <p:sldId id="297" r:id="rId37"/>
    <p:sldId id="298" r:id="rId38"/>
    <p:sldId id="299" r:id="rId39"/>
    <p:sldId id="300" r:id="rId40"/>
    <p:sldId id="301" r:id="rId41"/>
    <p:sldId id="265" r:id="rId42"/>
    <p:sldId id="266" r:id="rId43"/>
    <p:sldId id="293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15794-9447-4C03-B685-0E4E07550D75}" type="datetimeFigureOut">
              <a:rPr lang="en-IN" smtClean="0"/>
              <a:t>16-09-2022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98878-AE87-442A-A9F3-7C7C6E3F5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53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BD1FB1-6A01-4834-A506-1C7F3F6BEC97}" type="slidenum">
              <a:rPr lang="en-US" altLang="en-US" smtClean="0"/>
              <a:pPr/>
              <a:t>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93420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746"/>
            <a:ext cx="9144000" cy="10274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4400007" y="0"/>
            <a:ext cx="4743992" cy="600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0"/>
            <a:ext cx="9091760" cy="1021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-1030" y="50927"/>
            <a:ext cx="9146173" cy="9047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4276725" y="2095500"/>
            <a:ext cx="4572000" cy="11811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746"/>
            <a:ext cx="9144000" cy="10274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4400007" y="0"/>
            <a:ext cx="4743992" cy="60007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0"/>
            <a:ext cx="9091760" cy="102146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-1030" y="50927"/>
            <a:ext cx="9146173" cy="90474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652" y="3162085"/>
            <a:ext cx="7584694" cy="977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3240" y="1871975"/>
            <a:ext cx="7930515" cy="2976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9652" y="3162085"/>
            <a:ext cx="7584694" cy="2248115"/>
          </a:xfrm>
        </p:spPr>
        <p:txBody>
          <a:bodyPr/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Md. Mojibur Rahman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4343400" y="4876800"/>
            <a:ext cx="2553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mrahmanelt@iitism.ac.in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927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46"/>
            <a:ext cx="9144000" cy="10274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00007" y="0"/>
            <a:ext cx="4743992" cy="600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091760" cy="1021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-1030" y="50927"/>
            <a:ext cx="9146173" cy="9047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4500" y="1031494"/>
            <a:ext cx="793750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30" dirty="0">
                <a:solidFill>
                  <a:srgbClr val="04607A"/>
                </a:solidFill>
                <a:latin typeface="Calibri"/>
                <a:cs typeface="Calibri"/>
              </a:rPr>
              <a:t>Why </a:t>
            </a:r>
            <a:r>
              <a:rPr sz="5000" spc="-5" dirty="0">
                <a:solidFill>
                  <a:srgbClr val="04607A"/>
                </a:solidFill>
                <a:latin typeface="Calibri"/>
                <a:cs typeface="Calibri"/>
              </a:rPr>
              <a:t>do </a:t>
            </a:r>
            <a:r>
              <a:rPr sz="5000" spc="-30" dirty="0">
                <a:solidFill>
                  <a:srgbClr val="04607A"/>
                </a:solidFill>
                <a:latin typeface="Calibri"/>
                <a:cs typeface="Calibri"/>
              </a:rPr>
              <a:t>we </a:t>
            </a:r>
            <a:r>
              <a:rPr sz="5000" spc="-5" dirty="0">
                <a:solidFill>
                  <a:srgbClr val="04607A"/>
                </a:solidFill>
                <a:latin typeface="Calibri"/>
                <a:cs typeface="Calibri"/>
              </a:rPr>
              <a:t>need</a:t>
            </a:r>
            <a:r>
              <a:rPr sz="5000" spc="-45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5000" spc="-5" dirty="0">
                <a:solidFill>
                  <a:srgbClr val="04607A"/>
                </a:solidFill>
                <a:latin typeface="Calibri"/>
                <a:cs typeface="Calibri"/>
              </a:rPr>
              <a:t>punctuation?</a:t>
            </a:r>
            <a:endParaRPr sz="5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374263"/>
            <a:ext cx="764540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5" dirty="0">
                <a:latin typeface="Constantia"/>
                <a:cs typeface="Constantia"/>
              </a:rPr>
              <a:t>Punctuation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allows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authors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writing</a:t>
            </a:r>
            <a:r>
              <a:rPr sz="2600" spc="-2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to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be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easy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to  </a:t>
            </a:r>
            <a:r>
              <a:rPr sz="2600" spc="-10" dirty="0">
                <a:latin typeface="Constantia"/>
                <a:cs typeface="Constantia"/>
              </a:rPr>
              <a:t>read </a:t>
            </a:r>
            <a:r>
              <a:rPr sz="2600" dirty="0">
                <a:latin typeface="Constantia"/>
                <a:cs typeface="Constantia"/>
              </a:rPr>
              <a:t>and </a:t>
            </a:r>
            <a:r>
              <a:rPr sz="2600" spc="-5" dirty="0">
                <a:latin typeface="Constantia"/>
                <a:cs typeface="Constantia"/>
              </a:rPr>
              <a:t>understandable </a:t>
            </a:r>
            <a:r>
              <a:rPr sz="2600" spc="-10" dirty="0">
                <a:latin typeface="Constantia"/>
                <a:cs typeface="Constantia"/>
              </a:rPr>
              <a:t>for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455" dirty="0">
                <a:latin typeface="Constantia"/>
                <a:cs typeface="Constantia"/>
              </a:rPr>
              <a:t> </a:t>
            </a:r>
            <a:r>
              <a:rPr sz="2600" spc="-40" dirty="0">
                <a:latin typeface="Constantia"/>
                <a:cs typeface="Constantia"/>
              </a:rPr>
              <a:t>reader.</a:t>
            </a:r>
            <a:endParaRPr sz="2600" dirty="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85800"/>
            <a:ext cx="9144000" cy="61722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410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64" t="28857" r="27939" b="14427"/>
          <a:stretch>
            <a:fillRect/>
          </a:stretch>
        </p:blipFill>
        <p:spPr bwMode="auto">
          <a:xfrm>
            <a:off x="2209800" y="1371600"/>
            <a:ext cx="4800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76200" y="76200"/>
            <a:ext cx="5638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</a:rPr>
              <a:t>Punctuation Affects Meaning</a:t>
            </a:r>
          </a:p>
        </p:txBody>
      </p:sp>
    </p:spTree>
    <p:extLst>
      <p:ext uri="{BB962C8B-B14F-4D97-AF65-F5344CB8AC3E}">
        <p14:creationId xmlns:p14="http://schemas.microsoft.com/office/powerpoint/2010/main" val="943011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85800"/>
            <a:ext cx="9144000" cy="617220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366CC"/>
          </a:solidFill>
          <a:ln>
            <a:solidFill>
              <a:srgbClr val="33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124" name="Text Box 5"/>
          <p:cNvSpPr txBox="1">
            <a:spLocks noChangeArrowheads="1"/>
          </p:cNvSpPr>
          <p:nvPr/>
        </p:nvSpPr>
        <p:spPr bwMode="auto">
          <a:xfrm>
            <a:off x="76200" y="76200"/>
            <a:ext cx="5638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chemeClr val="bg1"/>
                </a:solidFill>
                <a:latin typeface="Times New Roman" panose="02020603050405020304" pitchFamily="18" charset="0"/>
              </a:rPr>
              <a:t>Punctuation Affects Meaning</a:t>
            </a:r>
          </a:p>
        </p:txBody>
      </p:sp>
      <p:pic>
        <p:nvPicPr>
          <p:cNvPr id="5125" name="Picture 6" descr="http://rlv.zcache.ca/worlds_greatest_grandpa_cartoon_acrylic_cut_outs-r692729cfd8c149ab96148e2db4953d46_x7saw_8byvr_5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34" t="4688" r="18491" b="26563"/>
          <a:stretch>
            <a:fillRect/>
          </a:stretch>
        </p:blipFill>
        <p:spPr bwMode="auto">
          <a:xfrm>
            <a:off x="2755900" y="1671638"/>
            <a:ext cx="4038600" cy="467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362200" y="1533525"/>
            <a:ext cx="1382713" cy="981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724400" y="1182688"/>
            <a:ext cx="1917700" cy="9794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249988" y="1701800"/>
            <a:ext cx="1382712" cy="981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163888" y="773113"/>
            <a:ext cx="1382712" cy="981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651000" y="5857875"/>
            <a:ext cx="1382713" cy="981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772150" y="5907088"/>
            <a:ext cx="1384300" cy="9810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3302000" y="6297613"/>
            <a:ext cx="2565400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567113" y="6172200"/>
            <a:ext cx="2071687" cy="2301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662363" y="6057900"/>
            <a:ext cx="546100" cy="200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304800" y="1533525"/>
            <a:ext cx="3581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imes New Roman" panose="02020603050405020304" pitchFamily="18" charset="0"/>
              </a:rPr>
              <a:t>“Let’s eat Grandpa!”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359400" y="5105400"/>
            <a:ext cx="3708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“Let’s eat, Grandpa!”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40125" y="1371600"/>
            <a:ext cx="346075" cy="460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480053" y="-43603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0" y="746"/>
            <a:ext cx="9144000" cy="10274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00007" y="0"/>
            <a:ext cx="4743992" cy="600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091760" cy="1021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" y="529445"/>
            <a:ext cx="9146173" cy="9047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59675" y="334813"/>
            <a:ext cx="6131725" cy="7829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b="1" spc="-50" dirty="0">
                <a:solidFill>
                  <a:srgbClr val="04607A"/>
                </a:solidFill>
                <a:latin typeface="Calibri"/>
                <a:cs typeface="Calibri"/>
              </a:rPr>
              <a:t>Types </a:t>
            </a:r>
            <a:r>
              <a:rPr sz="5000" b="1" spc="-5" dirty="0">
                <a:solidFill>
                  <a:srgbClr val="04607A"/>
                </a:solidFill>
                <a:latin typeface="Calibri"/>
                <a:cs typeface="Calibri"/>
              </a:rPr>
              <a:t>of</a:t>
            </a:r>
            <a:r>
              <a:rPr sz="5000" b="1" spc="-35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5000" b="1" spc="-5" dirty="0">
                <a:solidFill>
                  <a:srgbClr val="04607A"/>
                </a:solidFill>
                <a:latin typeface="Calibri"/>
                <a:cs typeface="Calibri"/>
              </a:rPr>
              <a:t>Punctuation</a:t>
            </a:r>
            <a:endParaRPr sz="5000" b="1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77082" y="1162742"/>
            <a:ext cx="1985624" cy="1216103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7082" y="1169628"/>
            <a:ext cx="1985623" cy="1209218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44425" y="2535641"/>
            <a:ext cx="1950495" cy="1161053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474973" y="1935860"/>
            <a:ext cx="2194560" cy="1316355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97352" y="1507016"/>
            <a:ext cx="1115823" cy="9060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17750" algn="l"/>
              </a:tabLst>
            </a:pPr>
            <a:r>
              <a:rPr sz="2900" spc="-80" dirty="0" smtClean="0">
                <a:latin typeface="Constantia"/>
                <a:cs typeface="Constantia"/>
              </a:rPr>
              <a:t>P</a:t>
            </a:r>
            <a:r>
              <a:rPr sz="2900" dirty="0" smtClean="0">
                <a:latin typeface="Constantia"/>
                <a:cs typeface="Constantia"/>
              </a:rPr>
              <a:t>er</a:t>
            </a:r>
            <a:r>
              <a:rPr sz="2900" spc="5" dirty="0" smtClean="0">
                <a:latin typeface="Constantia"/>
                <a:cs typeface="Constantia"/>
              </a:rPr>
              <a:t>i</a:t>
            </a:r>
            <a:r>
              <a:rPr sz="2900" dirty="0" smtClean="0">
                <a:latin typeface="Constantia"/>
                <a:cs typeface="Constantia"/>
              </a:rPr>
              <a:t>od	</a:t>
            </a:r>
            <a:endParaRPr sz="2900" dirty="0">
              <a:latin typeface="Constantia"/>
              <a:cs typeface="Constant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607808" y="1219748"/>
            <a:ext cx="2012192" cy="1106607"/>
          </a:xfrm>
          <a:custGeom>
            <a:avLst/>
            <a:gdLst/>
            <a:ahLst/>
            <a:cxnLst/>
            <a:rect l="l" t="t" r="r" b="b"/>
            <a:pathLst>
              <a:path w="2194559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solidFill>
            <a:srgbClr val="FF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02314" y="1197512"/>
            <a:ext cx="2117686" cy="1138290"/>
          </a:xfrm>
          <a:custGeom>
            <a:avLst/>
            <a:gdLst/>
            <a:ahLst/>
            <a:cxnLst/>
            <a:rect l="l" t="t" r="r" b="b"/>
            <a:pathLst>
              <a:path w="2194559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5256" y="1222807"/>
            <a:ext cx="1983045" cy="1132601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4"/>
                </a:moveTo>
                <a:lnTo>
                  <a:pt x="2194052" y="1316354"/>
                </a:lnTo>
                <a:lnTo>
                  <a:pt x="2194052" y="0"/>
                </a:lnTo>
                <a:lnTo>
                  <a:pt x="0" y="0"/>
                </a:lnTo>
                <a:lnTo>
                  <a:pt x="0" y="1316354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64849" y="2541862"/>
            <a:ext cx="2194560" cy="1316355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4"/>
                </a:moveTo>
                <a:lnTo>
                  <a:pt x="2194052" y="1316354"/>
                </a:lnTo>
                <a:lnTo>
                  <a:pt x="2194052" y="0"/>
                </a:lnTo>
                <a:lnTo>
                  <a:pt x="0" y="0"/>
                </a:lnTo>
                <a:lnTo>
                  <a:pt x="0" y="1316354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331243" y="1407183"/>
            <a:ext cx="2194560" cy="8724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75640" marR="345440" indent="-317500">
              <a:lnSpc>
                <a:spcPts val="3180"/>
              </a:lnSpc>
              <a:spcBef>
                <a:spcPts val="459"/>
              </a:spcBef>
            </a:pPr>
            <a:r>
              <a:rPr sz="2900" spc="-5" dirty="0" smtClean="0">
                <a:latin typeface="Constantia"/>
                <a:cs typeface="Constantia"/>
              </a:rPr>
              <a:t>Question  </a:t>
            </a:r>
            <a:r>
              <a:rPr sz="2900" spc="-15" dirty="0" smtClean="0">
                <a:latin typeface="Constantia"/>
                <a:cs typeface="Constantia"/>
              </a:rPr>
              <a:t>Mark</a:t>
            </a:r>
            <a:endParaRPr sz="2900" dirty="0">
              <a:latin typeface="Constantia"/>
              <a:cs typeface="Constanti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376053" y="2520992"/>
            <a:ext cx="2030071" cy="1172213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4"/>
                </a:moveTo>
                <a:lnTo>
                  <a:pt x="2194052" y="1316354"/>
                </a:lnTo>
                <a:lnTo>
                  <a:pt x="2194052" y="0"/>
                </a:lnTo>
                <a:lnTo>
                  <a:pt x="0" y="0"/>
                </a:lnTo>
                <a:lnTo>
                  <a:pt x="0" y="1316354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 lang="en-IN" dirty="0" smtClean="0"/>
          </a:p>
          <a:p>
            <a:pPr algn="ctr"/>
            <a:r>
              <a:rPr lang="en-IN" sz="2800" b="1" dirty="0" smtClean="0"/>
              <a:t>Semi-Colon</a:t>
            </a:r>
            <a:endParaRPr sz="2800" b="1" dirty="0"/>
          </a:p>
        </p:txBody>
      </p:sp>
      <p:sp>
        <p:nvSpPr>
          <p:cNvPr id="20" name="object 20"/>
          <p:cNvSpPr/>
          <p:nvPr/>
        </p:nvSpPr>
        <p:spPr>
          <a:xfrm>
            <a:off x="3352927" y="2497274"/>
            <a:ext cx="2194560" cy="1316355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4"/>
                </a:moveTo>
                <a:lnTo>
                  <a:pt x="2194052" y="1316354"/>
                </a:lnTo>
                <a:lnTo>
                  <a:pt x="2194052" y="0"/>
                </a:lnTo>
                <a:lnTo>
                  <a:pt x="0" y="0"/>
                </a:lnTo>
                <a:lnTo>
                  <a:pt x="0" y="1316354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90605" y="2486346"/>
            <a:ext cx="2029395" cy="1206860"/>
          </a:xfrm>
          <a:custGeom>
            <a:avLst/>
            <a:gdLst/>
            <a:ahLst/>
            <a:cxnLst/>
            <a:rect l="l" t="t" r="r" b="b"/>
            <a:pathLst>
              <a:path w="2194559" h="1316354">
                <a:moveTo>
                  <a:pt x="0" y="1316354"/>
                </a:moveTo>
                <a:lnTo>
                  <a:pt x="2194052" y="1316354"/>
                </a:lnTo>
                <a:lnTo>
                  <a:pt x="2194052" y="0"/>
                </a:lnTo>
                <a:lnTo>
                  <a:pt x="0" y="0"/>
                </a:lnTo>
                <a:lnTo>
                  <a:pt x="0" y="1316354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 lang="en-IN" dirty="0" smtClean="0"/>
          </a:p>
          <a:p>
            <a:pPr algn="ctr"/>
            <a:r>
              <a:rPr lang="en-IN" sz="2800" b="1" dirty="0" smtClean="0"/>
              <a:t>Colon</a:t>
            </a:r>
          </a:p>
        </p:txBody>
      </p:sp>
      <p:sp>
        <p:nvSpPr>
          <p:cNvPr id="23" name="object 23"/>
          <p:cNvSpPr/>
          <p:nvPr/>
        </p:nvSpPr>
        <p:spPr>
          <a:xfrm>
            <a:off x="5520145" y="2556111"/>
            <a:ext cx="2194560" cy="1316355"/>
          </a:xfrm>
          <a:custGeom>
            <a:avLst/>
            <a:gdLst/>
            <a:ahLst/>
            <a:cxnLst/>
            <a:rect l="l" t="t" r="r" b="b"/>
            <a:pathLst>
              <a:path w="2194559" h="1316354">
                <a:moveTo>
                  <a:pt x="0" y="1316354"/>
                </a:moveTo>
                <a:lnTo>
                  <a:pt x="2194052" y="1316354"/>
                </a:lnTo>
                <a:lnTo>
                  <a:pt x="2194052" y="0"/>
                </a:lnTo>
                <a:lnTo>
                  <a:pt x="0" y="0"/>
                </a:lnTo>
                <a:lnTo>
                  <a:pt x="0" y="1316354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643160" y="1362242"/>
            <a:ext cx="1824440" cy="879727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70560" marR="95885" indent="-559435">
              <a:lnSpc>
                <a:spcPts val="3180"/>
              </a:lnSpc>
              <a:spcBef>
                <a:spcPts val="459"/>
              </a:spcBef>
            </a:pPr>
            <a:r>
              <a:rPr sz="2400" dirty="0" smtClean="0">
                <a:latin typeface="Constantia"/>
                <a:cs typeface="Constantia"/>
              </a:rPr>
              <a:t>E</a:t>
            </a:r>
            <a:r>
              <a:rPr sz="2400" spc="-75" dirty="0" smtClean="0">
                <a:latin typeface="Constantia"/>
                <a:cs typeface="Constantia"/>
              </a:rPr>
              <a:t>x</a:t>
            </a:r>
            <a:r>
              <a:rPr sz="2400" spc="-5" dirty="0" smtClean="0">
                <a:latin typeface="Constantia"/>
                <a:cs typeface="Constantia"/>
              </a:rPr>
              <a:t>clamation  </a:t>
            </a:r>
            <a:r>
              <a:rPr sz="2400" spc="-15" dirty="0" smtClean="0">
                <a:latin typeface="Constantia"/>
                <a:cs typeface="Constantia"/>
              </a:rPr>
              <a:t>Point</a:t>
            </a:r>
            <a:endParaRPr sz="2400" dirty="0">
              <a:latin typeface="Constantia"/>
              <a:cs typeface="Constanti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07577" y="3890002"/>
            <a:ext cx="2072888" cy="970067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68220" y="5007546"/>
            <a:ext cx="2194560" cy="1316355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46741" y="4140135"/>
            <a:ext cx="219456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latin typeface="Constantia"/>
                <a:cs typeface="Constantia"/>
              </a:rPr>
              <a:t>Parenthesis</a:t>
            </a:r>
            <a:endParaRPr sz="2900" dirty="0">
              <a:latin typeface="Constantia"/>
              <a:cs typeface="Constanti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499929" y="3890002"/>
            <a:ext cx="2120071" cy="925122"/>
          </a:xfrm>
          <a:custGeom>
            <a:avLst/>
            <a:gdLst/>
            <a:ahLst/>
            <a:cxnLst/>
            <a:rect l="l" t="t" r="r" b="b"/>
            <a:pathLst>
              <a:path w="2194559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solidFill>
            <a:srgbClr val="A40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08022" y="3890118"/>
            <a:ext cx="2194560" cy="1316355"/>
          </a:xfrm>
          <a:custGeom>
            <a:avLst/>
            <a:gdLst/>
            <a:ahLst/>
            <a:cxnLst/>
            <a:rect l="l" t="t" r="r" b="b"/>
            <a:pathLst>
              <a:path w="2194559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438781" y="4140135"/>
            <a:ext cx="219456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latin typeface="Constantia"/>
                <a:cs typeface="Constantia"/>
              </a:rPr>
              <a:t>Apostrophe</a:t>
            </a:r>
            <a:endParaRPr sz="2900" dirty="0">
              <a:latin typeface="Constantia"/>
              <a:cs typeface="Constantia"/>
            </a:endParaRPr>
          </a:p>
        </p:txBody>
      </p:sp>
      <p:sp>
        <p:nvSpPr>
          <p:cNvPr id="31" name="object 12"/>
          <p:cNvSpPr txBox="1"/>
          <p:nvPr/>
        </p:nvSpPr>
        <p:spPr>
          <a:xfrm>
            <a:off x="1219305" y="2769711"/>
            <a:ext cx="1600095" cy="9650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  <a:tabLst>
                <a:tab pos="2317750" algn="l"/>
              </a:tabLst>
            </a:pPr>
            <a:r>
              <a:rPr lang="en-IN" sz="3200" spc="-35" dirty="0">
                <a:latin typeface="Constantia"/>
                <a:cs typeface="Constantia"/>
              </a:rPr>
              <a:t>C</a:t>
            </a:r>
            <a:r>
              <a:rPr lang="en-IN" sz="3200" dirty="0">
                <a:latin typeface="Constantia"/>
                <a:cs typeface="Constantia"/>
              </a:rPr>
              <a:t>om</a:t>
            </a:r>
            <a:r>
              <a:rPr lang="en-IN" sz="3200" spc="10" dirty="0">
                <a:latin typeface="Constantia"/>
                <a:cs typeface="Constantia"/>
              </a:rPr>
              <a:t>m</a:t>
            </a:r>
            <a:r>
              <a:rPr lang="en-IN" sz="3200" dirty="0">
                <a:latin typeface="Constantia"/>
                <a:cs typeface="Constantia"/>
              </a:rPr>
              <a:t>a</a:t>
            </a:r>
          </a:p>
          <a:p>
            <a:pPr marL="12700" algn="ctr">
              <a:lnSpc>
                <a:spcPct val="100000"/>
              </a:lnSpc>
              <a:spcBef>
                <a:spcPts val="105"/>
              </a:spcBef>
              <a:tabLst>
                <a:tab pos="2317750" algn="l"/>
              </a:tabLst>
            </a:pPr>
            <a:r>
              <a:rPr sz="2900" dirty="0" smtClean="0">
                <a:latin typeface="Constantia"/>
                <a:cs typeface="Constantia"/>
              </a:rPr>
              <a:t>	</a:t>
            </a:r>
            <a:endParaRPr sz="2900" dirty="0">
              <a:latin typeface="Constantia"/>
              <a:cs typeface="Constantia"/>
            </a:endParaRPr>
          </a:p>
        </p:txBody>
      </p:sp>
      <p:sp>
        <p:nvSpPr>
          <p:cNvPr id="33" name="object 10"/>
          <p:cNvSpPr/>
          <p:nvPr/>
        </p:nvSpPr>
        <p:spPr>
          <a:xfrm>
            <a:off x="922032" y="5018733"/>
            <a:ext cx="1950495" cy="1161053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lang="en-IN" dirty="0" smtClean="0"/>
          </a:p>
          <a:p>
            <a:pPr algn="ctr"/>
            <a:r>
              <a:rPr lang="en-IN" sz="2800" b="1" dirty="0" smtClean="0"/>
              <a:t>Quotation Mark</a:t>
            </a:r>
            <a:endParaRPr sz="2800" b="1" dirty="0"/>
          </a:p>
        </p:txBody>
      </p:sp>
      <p:sp>
        <p:nvSpPr>
          <p:cNvPr id="34" name="object 10"/>
          <p:cNvSpPr/>
          <p:nvPr/>
        </p:nvSpPr>
        <p:spPr>
          <a:xfrm>
            <a:off x="3308391" y="5074147"/>
            <a:ext cx="1950495" cy="1161053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solidFill>
            <a:srgbClr val="00B0F0"/>
          </a:solidFill>
        </p:spPr>
        <p:txBody>
          <a:bodyPr wrap="square" lIns="0" tIns="0" rIns="0" bIns="0" rtlCol="0"/>
          <a:lstStyle/>
          <a:p>
            <a:endParaRPr lang="en-IN" dirty="0" smtClean="0"/>
          </a:p>
          <a:p>
            <a:pPr algn="ctr"/>
            <a:r>
              <a:rPr lang="en-IN" sz="2800" b="1" dirty="0" smtClean="0"/>
              <a:t>Hyphen</a:t>
            </a:r>
            <a:endParaRPr sz="2800" b="1" dirty="0"/>
          </a:p>
        </p:txBody>
      </p:sp>
      <p:sp>
        <p:nvSpPr>
          <p:cNvPr id="35" name="object 10"/>
          <p:cNvSpPr/>
          <p:nvPr/>
        </p:nvSpPr>
        <p:spPr>
          <a:xfrm>
            <a:off x="5547488" y="5058376"/>
            <a:ext cx="2097758" cy="1161053"/>
          </a:xfrm>
          <a:custGeom>
            <a:avLst/>
            <a:gdLst/>
            <a:ahLst/>
            <a:cxnLst/>
            <a:rect l="l" t="t" r="r" b="b"/>
            <a:pathLst>
              <a:path w="2194560" h="1316354">
                <a:moveTo>
                  <a:pt x="0" y="1316355"/>
                </a:moveTo>
                <a:lnTo>
                  <a:pt x="2194052" y="1316355"/>
                </a:lnTo>
                <a:lnTo>
                  <a:pt x="2194052" y="0"/>
                </a:lnTo>
                <a:lnTo>
                  <a:pt x="0" y="0"/>
                </a:lnTo>
                <a:lnTo>
                  <a:pt x="0" y="1316355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</p:spPr>
        <p:txBody>
          <a:bodyPr wrap="square" lIns="0" tIns="0" rIns="0" bIns="0" rtlCol="0"/>
          <a:lstStyle/>
          <a:p>
            <a:endParaRPr lang="en-IN" dirty="0" smtClean="0"/>
          </a:p>
          <a:p>
            <a:pPr algn="ctr"/>
            <a:r>
              <a:rPr lang="en-IN" sz="2800" b="1" dirty="0" smtClean="0"/>
              <a:t>Dash</a:t>
            </a:r>
            <a:endParaRPr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46"/>
            <a:ext cx="9144000" cy="10274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00007" y="0"/>
            <a:ext cx="4743992" cy="600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091760" cy="1021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-1030" y="50927"/>
            <a:ext cx="9146173" cy="9047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4500" y="1031494"/>
            <a:ext cx="1694814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20" dirty="0">
                <a:solidFill>
                  <a:srgbClr val="04607A"/>
                </a:solidFill>
                <a:latin typeface="Calibri"/>
                <a:cs typeface="Calibri"/>
              </a:rPr>
              <a:t>Period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1866642"/>
            <a:ext cx="6503670" cy="27362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Use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at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end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of</a:t>
            </a:r>
            <a:r>
              <a:rPr sz="2600" spc="-1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complete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sentence.</a:t>
            </a:r>
            <a:endParaRPr sz="2600">
              <a:latin typeface="Constantia"/>
              <a:cs typeface="Constantia"/>
            </a:endParaRPr>
          </a:p>
          <a:p>
            <a:pPr marL="652780" lvl="1" indent="-247650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</a:tabLst>
            </a:pPr>
            <a:r>
              <a:rPr sz="2400" spc="-5" dirty="0">
                <a:latin typeface="Constantia"/>
                <a:cs typeface="Constantia"/>
              </a:rPr>
              <a:t>Example: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went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to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the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store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for</a:t>
            </a:r>
            <a:r>
              <a:rPr sz="2400" spc="-14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groceries.</a:t>
            </a:r>
            <a:endParaRPr sz="2400">
              <a:latin typeface="Constantia"/>
              <a:cs typeface="Constantia"/>
            </a:endParaRPr>
          </a:p>
          <a:p>
            <a:pPr lvl="1">
              <a:lnSpc>
                <a:spcPct val="100000"/>
              </a:lnSpc>
              <a:buClr>
                <a:srgbClr val="0E6EC5"/>
              </a:buClr>
              <a:buFont typeface="Wingdings 2"/>
              <a:buChar char=""/>
            </a:pPr>
            <a:endParaRPr sz="2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buClr>
                <a:srgbClr val="0E6EC5"/>
              </a:buClr>
              <a:buFont typeface="Wingdings 2"/>
              <a:buChar char=""/>
            </a:pPr>
            <a:endParaRPr sz="2400">
              <a:latin typeface="Times New Roman"/>
              <a:cs typeface="Times New Roman"/>
            </a:endParaRPr>
          </a:p>
          <a:p>
            <a:pPr marL="287020" indent="-274320">
              <a:lnSpc>
                <a:spcPct val="100000"/>
              </a:lnSpc>
              <a:spcBef>
                <a:spcPts val="201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55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Use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at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end</a:t>
            </a:r>
            <a:r>
              <a:rPr sz="2600" spc="-7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of</a:t>
            </a:r>
            <a:r>
              <a:rPr sz="2600" spc="-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an</a:t>
            </a:r>
            <a:r>
              <a:rPr sz="2600" spc="-4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indirect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question.</a:t>
            </a:r>
            <a:endParaRPr sz="2600">
              <a:latin typeface="Constantia"/>
              <a:cs typeface="Constantia"/>
            </a:endParaRPr>
          </a:p>
          <a:p>
            <a:pPr marL="652780" lvl="1" indent="-247650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</a:tabLst>
            </a:pPr>
            <a:r>
              <a:rPr sz="2400" spc="-5" dirty="0">
                <a:latin typeface="Constantia"/>
                <a:cs typeface="Constantia"/>
              </a:rPr>
              <a:t>Example: </a:t>
            </a:r>
            <a:r>
              <a:rPr sz="2400" spc="-30" dirty="0">
                <a:latin typeface="Constantia"/>
                <a:cs typeface="Constantia"/>
              </a:rPr>
              <a:t>He </a:t>
            </a:r>
            <a:r>
              <a:rPr sz="2400" spc="-10" dirty="0">
                <a:latin typeface="Constantia"/>
                <a:cs typeface="Constantia"/>
              </a:rPr>
              <a:t>asked </a:t>
            </a:r>
            <a:r>
              <a:rPr sz="2400" spc="-15" dirty="0">
                <a:latin typeface="Constantia"/>
                <a:cs typeface="Constantia"/>
              </a:rPr>
              <a:t>where </a:t>
            </a:r>
            <a:r>
              <a:rPr sz="2400" spc="-5" dirty="0">
                <a:latin typeface="Constantia"/>
                <a:cs typeface="Constantia"/>
              </a:rPr>
              <a:t>the milk</a:t>
            </a:r>
            <a:r>
              <a:rPr sz="2400" spc="-40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was.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86600" y="51054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533400" y="0"/>
                </a:moveTo>
                <a:lnTo>
                  <a:pt x="484842" y="2179"/>
                </a:lnTo>
                <a:lnTo>
                  <a:pt x="437507" y="8592"/>
                </a:lnTo>
                <a:lnTo>
                  <a:pt x="391583" y="19050"/>
                </a:lnTo>
                <a:lnTo>
                  <a:pt x="347258" y="33364"/>
                </a:lnTo>
                <a:lnTo>
                  <a:pt x="304721" y="51348"/>
                </a:lnTo>
                <a:lnTo>
                  <a:pt x="264160" y="72813"/>
                </a:lnTo>
                <a:lnTo>
                  <a:pt x="225762" y="97570"/>
                </a:lnTo>
                <a:lnTo>
                  <a:pt x="189716" y="125432"/>
                </a:lnTo>
                <a:lnTo>
                  <a:pt x="156210" y="156210"/>
                </a:lnTo>
                <a:lnTo>
                  <a:pt x="125432" y="189716"/>
                </a:lnTo>
                <a:lnTo>
                  <a:pt x="97570" y="225762"/>
                </a:lnTo>
                <a:lnTo>
                  <a:pt x="72813" y="264160"/>
                </a:lnTo>
                <a:lnTo>
                  <a:pt x="51348" y="304721"/>
                </a:lnTo>
                <a:lnTo>
                  <a:pt x="33364" y="347258"/>
                </a:lnTo>
                <a:lnTo>
                  <a:pt x="19050" y="391583"/>
                </a:lnTo>
                <a:lnTo>
                  <a:pt x="8592" y="437507"/>
                </a:lnTo>
                <a:lnTo>
                  <a:pt x="2179" y="484842"/>
                </a:lnTo>
                <a:lnTo>
                  <a:pt x="0" y="533400"/>
                </a:lnTo>
                <a:lnTo>
                  <a:pt x="2179" y="581950"/>
                </a:lnTo>
                <a:lnTo>
                  <a:pt x="8592" y="629279"/>
                </a:lnTo>
                <a:lnTo>
                  <a:pt x="19049" y="675199"/>
                </a:lnTo>
                <a:lnTo>
                  <a:pt x="33364" y="719520"/>
                </a:lnTo>
                <a:lnTo>
                  <a:pt x="51348" y="762056"/>
                </a:lnTo>
                <a:lnTo>
                  <a:pt x="72813" y="802617"/>
                </a:lnTo>
                <a:lnTo>
                  <a:pt x="97570" y="841015"/>
                </a:lnTo>
                <a:lnTo>
                  <a:pt x="125432" y="877063"/>
                </a:lnTo>
                <a:lnTo>
                  <a:pt x="156210" y="910570"/>
                </a:lnTo>
                <a:lnTo>
                  <a:pt x="189716" y="941351"/>
                </a:lnTo>
                <a:lnTo>
                  <a:pt x="225762" y="969215"/>
                </a:lnTo>
                <a:lnTo>
                  <a:pt x="264160" y="993975"/>
                </a:lnTo>
                <a:lnTo>
                  <a:pt x="304721" y="1015442"/>
                </a:lnTo>
                <a:lnTo>
                  <a:pt x="347258" y="1033429"/>
                </a:lnTo>
                <a:lnTo>
                  <a:pt x="391583" y="1047746"/>
                </a:lnTo>
                <a:lnTo>
                  <a:pt x="437507" y="1058206"/>
                </a:lnTo>
                <a:lnTo>
                  <a:pt x="484842" y="1064620"/>
                </a:lnTo>
                <a:lnTo>
                  <a:pt x="533400" y="1066800"/>
                </a:lnTo>
                <a:lnTo>
                  <a:pt x="581957" y="1064620"/>
                </a:lnTo>
                <a:lnTo>
                  <a:pt x="629292" y="1058206"/>
                </a:lnTo>
                <a:lnTo>
                  <a:pt x="675216" y="1047746"/>
                </a:lnTo>
                <a:lnTo>
                  <a:pt x="719541" y="1033429"/>
                </a:lnTo>
                <a:lnTo>
                  <a:pt x="762078" y="1015442"/>
                </a:lnTo>
                <a:lnTo>
                  <a:pt x="802639" y="993975"/>
                </a:lnTo>
                <a:lnTo>
                  <a:pt x="841037" y="969215"/>
                </a:lnTo>
                <a:lnTo>
                  <a:pt x="877083" y="941351"/>
                </a:lnTo>
                <a:lnTo>
                  <a:pt x="910589" y="910570"/>
                </a:lnTo>
                <a:lnTo>
                  <a:pt x="941367" y="877063"/>
                </a:lnTo>
                <a:lnTo>
                  <a:pt x="969229" y="841015"/>
                </a:lnTo>
                <a:lnTo>
                  <a:pt x="993986" y="802617"/>
                </a:lnTo>
                <a:lnTo>
                  <a:pt x="1015451" y="762056"/>
                </a:lnTo>
                <a:lnTo>
                  <a:pt x="1033435" y="719520"/>
                </a:lnTo>
                <a:lnTo>
                  <a:pt x="1047750" y="675199"/>
                </a:lnTo>
                <a:lnTo>
                  <a:pt x="1058207" y="629279"/>
                </a:lnTo>
                <a:lnTo>
                  <a:pt x="1064620" y="581950"/>
                </a:lnTo>
                <a:lnTo>
                  <a:pt x="1066800" y="533400"/>
                </a:lnTo>
                <a:lnTo>
                  <a:pt x="1064620" y="484842"/>
                </a:lnTo>
                <a:lnTo>
                  <a:pt x="1058207" y="437507"/>
                </a:lnTo>
                <a:lnTo>
                  <a:pt x="1047750" y="391583"/>
                </a:lnTo>
                <a:lnTo>
                  <a:pt x="1033435" y="347258"/>
                </a:lnTo>
                <a:lnTo>
                  <a:pt x="1015451" y="304721"/>
                </a:lnTo>
                <a:lnTo>
                  <a:pt x="993986" y="264160"/>
                </a:lnTo>
                <a:lnTo>
                  <a:pt x="969229" y="225762"/>
                </a:lnTo>
                <a:lnTo>
                  <a:pt x="941367" y="189716"/>
                </a:lnTo>
                <a:lnTo>
                  <a:pt x="910589" y="156210"/>
                </a:lnTo>
                <a:lnTo>
                  <a:pt x="877083" y="125432"/>
                </a:lnTo>
                <a:lnTo>
                  <a:pt x="841037" y="97570"/>
                </a:lnTo>
                <a:lnTo>
                  <a:pt x="802639" y="72813"/>
                </a:lnTo>
                <a:lnTo>
                  <a:pt x="762078" y="51348"/>
                </a:lnTo>
                <a:lnTo>
                  <a:pt x="719541" y="33364"/>
                </a:lnTo>
                <a:lnTo>
                  <a:pt x="675216" y="19050"/>
                </a:lnTo>
                <a:lnTo>
                  <a:pt x="629292" y="8592"/>
                </a:lnTo>
                <a:lnTo>
                  <a:pt x="581957" y="2179"/>
                </a:lnTo>
                <a:lnTo>
                  <a:pt x="533400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86600" y="5105400"/>
            <a:ext cx="1066800" cy="1066800"/>
          </a:xfrm>
          <a:custGeom>
            <a:avLst/>
            <a:gdLst/>
            <a:ahLst/>
            <a:cxnLst/>
            <a:rect l="l" t="t" r="r" b="b"/>
            <a:pathLst>
              <a:path w="1066800" h="1066800">
                <a:moveTo>
                  <a:pt x="0" y="533400"/>
                </a:moveTo>
                <a:lnTo>
                  <a:pt x="2179" y="484842"/>
                </a:lnTo>
                <a:lnTo>
                  <a:pt x="8592" y="437507"/>
                </a:lnTo>
                <a:lnTo>
                  <a:pt x="19050" y="391583"/>
                </a:lnTo>
                <a:lnTo>
                  <a:pt x="33364" y="347258"/>
                </a:lnTo>
                <a:lnTo>
                  <a:pt x="51348" y="304721"/>
                </a:lnTo>
                <a:lnTo>
                  <a:pt x="72813" y="264160"/>
                </a:lnTo>
                <a:lnTo>
                  <a:pt x="97570" y="225762"/>
                </a:lnTo>
                <a:lnTo>
                  <a:pt x="125432" y="189716"/>
                </a:lnTo>
                <a:lnTo>
                  <a:pt x="156210" y="156210"/>
                </a:lnTo>
                <a:lnTo>
                  <a:pt x="189716" y="125432"/>
                </a:lnTo>
                <a:lnTo>
                  <a:pt x="225762" y="97570"/>
                </a:lnTo>
                <a:lnTo>
                  <a:pt x="264160" y="72813"/>
                </a:lnTo>
                <a:lnTo>
                  <a:pt x="304721" y="51348"/>
                </a:lnTo>
                <a:lnTo>
                  <a:pt x="347258" y="33364"/>
                </a:lnTo>
                <a:lnTo>
                  <a:pt x="391583" y="19050"/>
                </a:lnTo>
                <a:lnTo>
                  <a:pt x="437507" y="8592"/>
                </a:lnTo>
                <a:lnTo>
                  <a:pt x="484842" y="2179"/>
                </a:lnTo>
                <a:lnTo>
                  <a:pt x="533400" y="0"/>
                </a:lnTo>
                <a:lnTo>
                  <a:pt x="581957" y="2179"/>
                </a:lnTo>
                <a:lnTo>
                  <a:pt x="629292" y="8592"/>
                </a:lnTo>
                <a:lnTo>
                  <a:pt x="675216" y="19050"/>
                </a:lnTo>
                <a:lnTo>
                  <a:pt x="719541" y="33364"/>
                </a:lnTo>
                <a:lnTo>
                  <a:pt x="762078" y="51348"/>
                </a:lnTo>
                <a:lnTo>
                  <a:pt x="802639" y="72813"/>
                </a:lnTo>
                <a:lnTo>
                  <a:pt x="841037" y="97570"/>
                </a:lnTo>
                <a:lnTo>
                  <a:pt x="877083" y="125432"/>
                </a:lnTo>
                <a:lnTo>
                  <a:pt x="910589" y="156209"/>
                </a:lnTo>
                <a:lnTo>
                  <a:pt x="941367" y="189716"/>
                </a:lnTo>
                <a:lnTo>
                  <a:pt x="969229" y="225762"/>
                </a:lnTo>
                <a:lnTo>
                  <a:pt x="993986" y="264159"/>
                </a:lnTo>
                <a:lnTo>
                  <a:pt x="1015451" y="304721"/>
                </a:lnTo>
                <a:lnTo>
                  <a:pt x="1033435" y="347258"/>
                </a:lnTo>
                <a:lnTo>
                  <a:pt x="1047750" y="391583"/>
                </a:lnTo>
                <a:lnTo>
                  <a:pt x="1058207" y="437507"/>
                </a:lnTo>
                <a:lnTo>
                  <a:pt x="1064620" y="484842"/>
                </a:lnTo>
                <a:lnTo>
                  <a:pt x="1066800" y="533400"/>
                </a:lnTo>
                <a:lnTo>
                  <a:pt x="1064620" y="581950"/>
                </a:lnTo>
                <a:lnTo>
                  <a:pt x="1058207" y="629279"/>
                </a:lnTo>
                <a:lnTo>
                  <a:pt x="1047750" y="675199"/>
                </a:lnTo>
                <a:lnTo>
                  <a:pt x="1033435" y="719520"/>
                </a:lnTo>
                <a:lnTo>
                  <a:pt x="1015451" y="762056"/>
                </a:lnTo>
                <a:lnTo>
                  <a:pt x="993986" y="802617"/>
                </a:lnTo>
                <a:lnTo>
                  <a:pt x="969229" y="841015"/>
                </a:lnTo>
                <a:lnTo>
                  <a:pt x="941367" y="877063"/>
                </a:lnTo>
                <a:lnTo>
                  <a:pt x="910589" y="910570"/>
                </a:lnTo>
                <a:lnTo>
                  <a:pt x="877083" y="941351"/>
                </a:lnTo>
                <a:lnTo>
                  <a:pt x="841037" y="969215"/>
                </a:lnTo>
                <a:lnTo>
                  <a:pt x="802639" y="993975"/>
                </a:lnTo>
                <a:lnTo>
                  <a:pt x="762078" y="1015442"/>
                </a:lnTo>
                <a:lnTo>
                  <a:pt x="719541" y="1033429"/>
                </a:lnTo>
                <a:lnTo>
                  <a:pt x="675216" y="1047746"/>
                </a:lnTo>
                <a:lnTo>
                  <a:pt x="629292" y="1058206"/>
                </a:lnTo>
                <a:lnTo>
                  <a:pt x="581957" y="1064620"/>
                </a:lnTo>
                <a:lnTo>
                  <a:pt x="533400" y="1066800"/>
                </a:lnTo>
                <a:lnTo>
                  <a:pt x="484842" y="1064620"/>
                </a:lnTo>
                <a:lnTo>
                  <a:pt x="437507" y="1058206"/>
                </a:lnTo>
                <a:lnTo>
                  <a:pt x="391583" y="1047746"/>
                </a:lnTo>
                <a:lnTo>
                  <a:pt x="347258" y="1033429"/>
                </a:lnTo>
                <a:lnTo>
                  <a:pt x="304721" y="1015442"/>
                </a:lnTo>
                <a:lnTo>
                  <a:pt x="264160" y="993975"/>
                </a:lnTo>
                <a:lnTo>
                  <a:pt x="225762" y="969215"/>
                </a:lnTo>
                <a:lnTo>
                  <a:pt x="189716" y="941351"/>
                </a:lnTo>
                <a:lnTo>
                  <a:pt x="156210" y="910570"/>
                </a:lnTo>
                <a:lnTo>
                  <a:pt x="125432" y="877063"/>
                </a:lnTo>
                <a:lnTo>
                  <a:pt x="97570" y="841015"/>
                </a:lnTo>
                <a:lnTo>
                  <a:pt x="72813" y="802617"/>
                </a:lnTo>
                <a:lnTo>
                  <a:pt x="51348" y="762056"/>
                </a:lnTo>
                <a:lnTo>
                  <a:pt x="33364" y="719520"/>
                </a:lnTo>
                <a:lnTo>
                  <a:pt x="19049" y="675199"/>
                </a:lnTo>
                <a:lnTo>
                  <a:pt x="8592" y="629279"/>
                </a:lnTo>
                <a:lnTo>
                  <a:pt x="2179" y="581950"/>
                </a:lnTo>
                <a:lnTo>
                  <a:pt x="0" y="533400"/>
                </a:lnTo>
                <a:close/>
              </a:path>
            </a:pathLst>
          </a:custGeom>
          <a:ln w="25400">
            <a:solidFill>
              <a:srgbClr val="0A52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46"/>
            <a:ext cx="9144000" cy="10274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00007" y="0"/>
            <a:ext cx="4743992" cy="600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091760" cy="1021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-1030" y="50927"/>
            <a:ext cx="9146173" cy="9047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4500" y="1031494"/>
            <a:ext cx="387032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0" dirty="0">
                <a:solidFill>
                  <a:srgbClr val="04607A"/>
                </a:solidFill>
                <a:latin typeface="Calibri"/>
                <a:cs typeface="Calibri"/>
              </a:rPr>
              <a:t>Question</a:t>
            </a:r>
            <a:r>
              <a:rPr sz="5000" spc="-90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5000" dirty="0">
                <a:solidFill>
                  <a:srgbClr val="04607A"/>
                </a:solidFill>
                <a:latin typeface="Calibri"/>
                <a:cs typeface="Calibri"/>
              </a:rPr>
              <a:t>Mark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1866642"/>
            <a:ext cx="7919084" cy="94361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4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Use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question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mark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only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after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direct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question.</a:t>
            </a:r>
            <a:endParaRPr sz="2600">
              <a:latin typeface="Constantia"/>
              <a:cs typeface="Constantia"/>
            </a:endParaRPr>
          </a:p>
          <a:p>
            <a:pPr marL="652780" lvl="1" indent="-247650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</a:tabLst>
            </a:pPr>
            <a:r>
              <a:rPr sz="2400" spc="-5" dirty="0">
                <a:latin typeface="Constantia"/>
                <a:cs typeface="Constantia"/>
              </a:rPr>
              <a:t>Example: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Will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you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come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over</a:t>
            </a:r>
            <a:r>
              <a:rPr sz="2400" spc="-14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after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school?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96000" y="3810000"/>
            <a:ext cx="2286000" cy="2286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25719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31494"/>
            <a:ext cx="462724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5" dirty="0">
                <a:solidFill>
                  <a:srgbClr val="04607A"/>
                </a:solidFill>
                <a:latin typeface="Calibri"/>
                <a:cs typeface="Calibri"/>
              </a:rPr>
              <a:t>Exclamation</a:t>
            </a:r>
            <a:r>
              <a:rPr sz="5000" spc="-90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5000" spc="-35" dirty="0">
                <a:solidFill>
                  <a:srgbClr val="04607A"/>
                </a:solidFill>
                <a:latin typeface="Calibri"/>
                <a:cs typeface="Calibri"/>
              </a:rPr>
              <a:t>Point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7762240" cy="1259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Use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exclamation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point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to</a:t>
            </a:r>
            <a:r>
              <a:rPr sz="2600" spc="-145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show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emphasis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or  </a:t>
            </a:r>
            <a:r>
              <a:rPr sz="2600" spc="-10" dirty="0">
                <a:latin typeface="Constantia"/>
                <a:cs typeface="Constantia"/>
              </a:rPr>
              <a:t>excitement.</a:t>
            </a:r>
            <a:endParaRPr sz="2600">
              <a:latin typeface="Constantia"/>
              <a:cs typeface="Constantia"/>
            </a:endParaRPr>
          </a:p>
          <a:p>
            <a:pPr marL="652780" lvl="1" indent="-247650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</a:tabLst>
            </a:pPr>
            <a:r>
              <a:rPr sz="2400" dirty="0">
                <a:latin typeface="Constantia"/>
                <a:cs typeface="Constantia"/>
              </a:rPr>
              <a:t>Summer </a:t>
            </a:r>
            <a:r>
              <a:rPr sz="2400" spc="-5" dirty="0">
                <a:latin typeface="Constantia"/>
                <a:cs typeface="Constantia"/>
              </a:rPr>
              <a:t>is in </a:t>
            </a:r>
            <a:r>
              <a:rPr sz="2400" spc="-10" dirty="0">
                <a:latin typeface="Constantia"/>
                <a:cs typeface="Constantia"/>
              </a:rPr>
              <a:t>three</a:t>
            </a:r>
            <a:r>
              <a:rPr sz="2400" spc="-27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months!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7000" y="3962400"/>
            <a:ext cx="2286000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094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 CLARIFICATION…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447800"/>
            <a:ext cx="8382000" cy="32766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End marks </a:t>
            </a:r>
            <a:r>
              <a:rPr lang="en-US" altLang="en-US" sz="2800" smtClean="0"/>
              <a:t>means </a:t>
            </a:r>
            <a:r>
              <a:rPr lang="en-US" altLang="en-US" sz="2800" b="1" smtClean="0"/>
              <a:t>periods, question marks, </a:t>
            </a:r>
            <a:r>
              <a:rPr lang="en-US" altLang="en-US" sz="2800" smtClean="0"/>
              <a:t>or</a:t>
            </a:r>
            <a:r>
              <a:rPr lang="en-US" altLang="en-US" sz="2800" b="1" smtClean="0"/>
              <a:t> exclamation points.</a:t>
            </a:r>
            <a:endParaRPr lang="en-US" altLang="en-US" sz="2800" smtClean="0"/>
          </a:p>
          <a:p>
            <a:pPr eaLnBrk="1" hangingPunct="1"/>
            <a:r>
              <a:rPr lang="en-US" altLang="en-US" sz="2800" b="1" smtClean="0"/>
              <a:t>End marks</a:t>
            </a:r>
            <a:r>
              <a:rPr lang="en-US" altLang="en-US" sz="2800" smtClean="0"/>
              <a:t> don’t necessarily go at the end of a sentence (as with abbreviations).</a:t>
            </a:r>
          </a:p>
        </p:txBody>
      </p:sp>
    </p:spTree>
    <p:extLst>
      <p:ext uri="{BB962C8B-B14F-4D97-AF65-F5344CB8AC3E}">
        <p14:creationId xmlns:p14="http://schemas.microsoft.com/office/powerpoint/2010/main" val="12461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END MARKS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0010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smtClean="0"/>
              <a:t>Use a period at the end of a statement, or you die.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Tea is grown in Sri Lanka.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 smtClean="0"/>
              <a:t>Use a question mark at the end of a question, or you die.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Did you see the exhibit about lightning?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b="1" smtClean="0"/>
              <a:t>Use an exclamation point at the end of an exclamation, or someone else may die.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Look out for that tree!</a:t>
            </a:r>
          </a:p>
        </p:txBody>
      </p:sp>
    </p:spTree>
    <p:extLst>
      <p:ext uri="{BB962C8B-B14F-4D97-AF65-F5344CB8AC3E}">
        <p14:creationId xmlns:p14="http://schemas.microsoft.com/office/powerpoint/2010/main" val="158980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END MARKS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077200" cy="32004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Use either a period or exclamation point at the end of a request or command, depending on emphasis.</a:t>
            </a:r>
          </a:p>
          <a:p>
            <a:pPr lvl="1" eaLnBrk="1" hangingPunct="1"/>
            <a:r>
              <a:rPr lang="en-US" altLang="en-US" sz="2400" smtClean="0"/>
              <a:t>Please call the dog. [average]</a:t>
            </a:r>
          </a:p>
          <a:p>
            <a:pPr lvl="1" eaLnBrk="1" hangingPunct="1"/>
            <a:r>
              <a:rPr lang="en-US" altLang="en-US" sz="2400" smtClean="0"/>
              <a:t>Call the dog! [strong]</a:t>
            </a:r>
          </a:p>
        </p:txBody>
      </p:sp>
      <p:pic>
        <p:nvPicPr>
          <p:cNvPr id="8196" name="Picture 4" descr="MCj0426006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105400" y="4114800"/>
            <a:ext cx="209391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AutoShape 5"/>
          <p:cNvSpPr>
            <a:spLocks noChangeArrowheads="1"/>
          </p:cNvSpPr>
          <p:nvPr/>
        </p:nvSpPr>
        <p:spPr bwMode="auto">
          <a:xfrm>
            <a:off x="228600" y="4673600"/>
            <a:ext cx="3276600" cy="1803400"/>
          </a:xfrm>
          <a:prstGeom prst="wedgeEllipseCallout">
            <a:avLst>
              <a:gd name="adj1" fmla="val -44185"/>
              <a:gd name="adj2" fmla="val 6857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endParaRPr lang="en-US" altLang="en-US"/>
          </a:p>
          <a:p>
            <a:pPr algn="ctr"/>
            <a:r>
              <a:rPr lang="en-US" altLang="en-US"/>
              <a:t>HEY!  MUFFINS!  GET OVER HERE, YOU STUPID MUTT!</a:t>
            </a:r>
          </a:p>
        </p:txBody>
      </p:sp>
      <p:sp>
        <p:nvSpPr>
          <p:cNvPr id="8198" name="AutoShape 6"/>
          <p:cNvSpPr>
            <a:spLocks noChangeArrowheads="1"/>
          </p:cNvSpPr>
          <p:nvPr/>
        </p:nvSpPr>
        <p:spPr bwMode="auto">
          <a:xfrm>
            <a:off x="6629400" y="2286000"/>
            <a:ext cx="2133600" cy="1584325"/>
          </a:xfrm>
          <a:prstGeom prst="cloudCallout">
            <a:avLst>
              <a:gd name="adj1" fmla="val -42185"/>
              <a:gd name="adj2" fmla="val 75051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/>
            <a:r>
              <a:rPr lang="en-US" altLang="en-US"/>
              <a:t>Muffins answers to no man.</a:t>
            </a:r>
          </a:p>
        </p:txBody>
      </p:sp>
    </p:spTree>
    <p:extLst>
      <p:ext uri="{BB962C8B-B14F-4D97-AF65-F5344CB8AC3E}">
        <p14:creationId xmlns:p14="http://schemas.microsoft.com/office/powerpoint/2010/main" val="173377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/>
      <p:bldP spid="819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END MARKS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0772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b="1" smtClean="0"/>
              <a:t>Many abbreviations are followed by a period.*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Personal names [A.B. Guthrie, W.E.B. DuBois]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Titles used w/ names [Mr.  Mrs. Dr.  Jr.  Sr.]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Organizations &amp; companies* [Co.  Inc.  Corp.  Assn.]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Addresses [Ave.  St.  Rd.  Blvd.  P.O. Box]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States* [Tex.  Penn.  Ariz.  Wash.  N.C.]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Times [A.M.  P.M.  B.C.  A.D.]</a:t>
            </a:r>
          </a:p>
        </p:txBody>
      </p:sp>
    </p:spTree>
    <p:extLst>
      <p:ext uri="{BB962C8B-B14F-4D97-AF65-F5344CB8AC3E}">
        <p14:creationId xmlns:p14="http://schemas.microsoft.com/office/powerpoint/2010/main" val="150417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*A COUPLE </a:t>
            </a:r>
            <a:r>
              <a:rPr lang="en-US" dirty="0" smtClean="0"/>
              <a:t>QUICK </a:t>
            </a:r>
            <a:r>
              <a:rPr lang="en-US" dirty="0"/>
              <a:t>NOTES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371600"/>
            <a:ext cx="8229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Government agencies &amp; widely used abbreviations don’t take periods.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NASA, FBI, CIA, NPR, NIH, NAACP, TV, UN, YMCA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Two-letter state abbreviations in ZIP codes don’t take periods.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CA, FL, TX, AK, 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Abbreviations for measurements don’t take periods.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mm, kg, oz, lb, ft, yd, mi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Only </a:t>
            </a:r>
            <a:r>
              <a:rPr lang="en-US" altLang="en-US" sz="2400" i="1" smtClean="0"/>
              <a:t>in.</a:t>
            </a:r>
            <a:r>
              <a:rPr lang="en-US" altLang="en-US" sz="2400" smtClean="0"/>
              <a:t> does, so we don’t confuse it w/ the word </a:t>
            </a:r>
            <a:r>
              <a:rPr lang="en-US" altLang="en-US" sz="2400" i="1" smtClean="0"/>
              <a:t>in.</a:t>
            </a: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7349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*A COUPLE OF QUICK NOTES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524000"/>
            <a:ext cx="8153400" cy="312420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When an abbreviation w/ a period ends a sentence, another period isn’t needed.</a:t>
            </a:r>
          </a:p>
          <a:p>
            <a:pPr lvl="1" eaLnBrk="1" hangingPunct="1"/>
            <a:r>
              <a:rPr lang="en-US" altLang="en-US" sz="2400" smtClean="0"/>
              <a:t>We will arrive by 3:30 P</a:t>
            </a:r>
            <a:r>
              <a:rPr lang="en-US" altLang="en-US" sz="2400" b="1" smtClean="0"/>
              <a:t>.</a:t>
            </a:r>
            <a:r>
              <a:rPr lang="en-US" altLang="en-US" sz="2400" smtClean="0"/>
              <a:t>M</a:t>
            </a:r>
            <a:r>
              <a:rPr lang="en-US" altLang="en-US" sz="2400" b="1" smtClean="0"/>
              <a:t>.</a:t>
            </a:r>
          </a:p>
          <a:p>
            <a:pPr eaLnBrk="1" hangingPunct="1"/>
            <a:r>
              <a:rPr lang="en-US" altLang="en-US" sz="2800" smtClean="0"/>
              <a:t>However, a question mark or exclamation point is still needed.</a:t>
            </a:r>
          </a:p>
          <a:p>
            <a:pPr lvl="1" eaLnBrk="1" hangingPunct="1"/>
            <a:r>
              <a:rPr lang="en-US" altLang="en-US" sz="2400" smtClean="0"/>
              <a:t>Can you be here by 3:30 P</a:t>
            </a:r>
            <a:r>
              <a:rPr lang="en-US" altLang="en-US" sz="2400" b="1" smtClean="0"/>
              <a:t>.</a:t>
            </a:r>
            <a:r>
              <a:rPr lang="en-US" altLang="en-US" sz="2400" smtClean="0"/>
              <a:t>M</a:t>
            </a:r>
            <a:r>
              <a:rPr lang="en-US" altLang="en-US" sz="2400" b="1" smtClean="0"/>
              <a:t>.?</a:t>
            </a:r>
          </a:p>
          <a:p>
            <a:pPr lvl="1" eaLnBrk="1" hangingPunct="1"/>
            <a:r>
              <a:rPr lang="en-US" altLang="en-US" sz="2400" smtClean="0"/>
              <a:t>Be here at 3:30 P</a:t>
            </a:r>
            <a:r>
              <a:rPr lang="en-US" altLang="en-US" sz="2400" b="1" smtClean="0"/>
              <a:t>.</a:t>
            </a:r>
            <a:r>
              <a:rPr lang="en-US" altLang="en-US" sz="2400" smtClean="0"/>
              <a:t>M</a:t>
            </a:r>
            <a:r>
              <a:rPr lang="en-US" altLang="en-US" sz="2400" b="1" smtClean="0"/>
              <a:t>.!</a:t>
            </a:r>
          </a:p>
        </p:txBody>
      </p:sp>
    </p:spTree>
    <p:extLst>
      <p:ext uri="{BB962C8B-B14F-4D97-AF65-F5344CB8AC3E}">
        <p14:creationId xmlns:p14="http://schemas.microsoft.com/office/powerpoint/2010/main" val="2210030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746"/>
            <a:ext cx="9144000" cy="10274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00007" y="0"/>
            <a:ext cx="4743992" cy="6000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091760" cy="10214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-1030" y="50927"/>
            <a:ext cx="9146173" cy="9047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44500" y="1031494"/>
            <a:ext cx="2018664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5" dirty="0">
                <a:solidFill>
                  <a:srgbClr val="04607A"/>
                </a:solidFill>
                <a:latin typeface="Calibri"/>
                <a:cs typeface="Calibri"/>
              </a:rPr>
              <a:t>Comma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99720" indent="-274320">
              <a:lnSpc>
                <a:spcPct val="100000"/>
              </a:lnSpc>
              <a:spcBef>
                <a:spcPts val="415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99720" algn="l"/>
              </a:tabLst>
            </a:pPr>
            <a:r>
              <a:rPr spc="-15" dirty="0"/>
              <a:t>Rule:</a:t>
            </a:r>
            <a:r>
              <a:rPr spc="-25" dirty="0"/>
              <a:t> </a:t>
            </a:r>
            <a:r>
              <a:rPr spc="-15" dirty="0"/>
              <a:t>Use</a:t>
            </a:r>
            <a:r>
              <a:rPr spc="-12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spc="-15" dirty="0"/>
              <a:t>comma</a:t>
            </a:r>
            <a:r>
              <a:rPr spc="-75" dirty="0"/>
              <a:t> </a:t>
            </a:r>
            <a:r>
              <a:rPr spc="-20" dirty="0"/>
              <a:t>to</a:t>
            </a:r>
            <a:r>
              <a:rPr spc="-100" dirty="0"/>
              <a:t> </a:t>
            </a:r>
            <a:r>
              <a:rPr spc="-10" dirty="0"/>
              <a:t>separate</a:t>
            </a:r>
            <a:r>
              <a:rPr spc="-135" dirty="0"/>
              <a:t> </a:t>
            </a:r>
            <a:r>
              <a:rPr spc="-25" dirty="0"/>
              <a:t>words</a:t>
            </a:r>
            <a:r>
              <a:rPr spc="-9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spc="-10" dirty="0"/>
              <a:t>items</a:t>
            </a:r>
            <a:r>
              <a:rPr spc="-65" dirty="0"/>
              <a:t> </a:t>
            </a:r>
            <a:r>
              <a:rPr spc="-5" dirty="0"/>
              <a:t>in</a:t>
            </a:r>
            <a:r>
              <a:rPr spc="-10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list.</a:t>
            </a:r>
          </a:p>
          <a:p>
            <a:pPr marL="665480" marR="17780" lvl="1" indent="-247650">
              <a:lnSpc>
                <a:spcPts val="2380"/>
              </a:lnSpc>
              <a:spcBef>
                <a:spcPts val="585"/>
              </a:spcBef>
              <a:buClr>
                <a:srgbClr val="0E6EC5"/>
              </a:buClr>
              <a:buSzPct val="84090"/>
              <a:buFont typeface="Wingdings 2"/>
              <a:buChar char=""/>
              <a:tabLst>
                <a:tab pos="666115" algn="l"/>
              </a:tabLst>
            </a:pPr>
            <a:r>
              <a:rPr sz="2200" spc="-5" dirty="0">
                <a:latin typeface="Constantia"/>
                <a:cs typeface="Constantia"/>
              </a:rPr>
              <a:t>Example:</a:t>
            </a:r>
            <a:r>
              <a:rPr sz="2200" spc="-20" dirty="0">
                <a:latin typeface="Constantia"/>
                <a:cs typeface="Constantia"/>
              </a:rPr>
              <a:t> </a:t>
            </a:r>
            <a:r>
              <a:rPr sz="2200" spc="-5" dirty="0">
                <a:latin typeface="Constantia"/>
                <a:cs typeface="Constantia"/>
              </a:rPr>
              <a:t>She</a:t>
            </a:r>
            <a:r>
              <a:rPr sz="2200" spc="-55" dirty="0">
                <a:latin typeface="Constantia"/>
                <a:cs typeface="Constantia"/>
              </a:rPr>
              <a:t> </a:t>
            </a:r>
            <a:r>
              <a:rPr sz="2200" spc="-5" dirty="0">
                <a:latin typeface="Constantia"/>
                <a:cs typeface="Constantia"/>
              </a:rPr>
              <a:t>has</a:t>
            </a:r>
            <a:r>
              <a:rPr sz="2200" spc="-75" dirty="0">
                <a:latin typeface="Constantia"/>
                <a:cs typeface="Constantia"/>
              </a:rPr>
              <a:t> </a:t>
            </a:r>
            <a:r>
              <a:rPr sz="2200" spc="-20" dirty="0">
                <a:latin typeface="Constantia"/>
                <a:cs typeface="Constantia"/>
              </a:rPr>
              <a:t>two</a:t>
            </a:r>
            <a:r>
              <a:rPr sz="2200" spc="-120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dogs,</a:t>
            </a:r>
            <a:r>
              <a:rPr sz="2200" spc="-25" dirty="0">
                <a:latin typeface="Constantia"/>
                <a:cs typeface="Constantia"/>
              </a:rPr>
              <a:t> </a:t>
            </a:r>
            <a:r>
              <a:rPr sz="2200" spc="-15" dirty="0">
                <a:latin typeface="Constantia"/>
                <a:cs typeface="Constantia"/>
              </a:rPr>
              <a:t>three</a:t>
            </a:r>
            <a:r>
              <a:rPr sz="2200" spc="-110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cats,</a:t>
            </a:r>
            <a:r>
              <a:rPr sz="2200" spc="-60" dirty="0">
                <a:latin typeface="Constantia"/>
                <a:cs typeface="Constantia"/>
              </a:rPr>
              <a:t> </a:t>
            </a:r>
            <a:r>
              <a:rPr sz="2200" spc="-5" dirty="0">
                <a:latin typeface="Constantia"/>
                <a:cs typeface="Constantia"/>
              </a:rPr>
              <a:t>one</a:t>
            </a:r>
            <a:r>
              <a:rPr sz="2200" spc="-65" dirty="0">
                <a:latin typeface="Constantia"/>
                <a:cs typeface="Constantia"/>
              </a:rPr>
              <a:t> </a:t>
            </a:r>
            <a:r>
              <a:rPr sz="2200" spc="-15" dirty="0">
                <a:latin typeface="Constantia"/>
                <a:cs typeface="Constantia"/>
              </a:rPr>
              <a:t>bird,</a:t>
            </a:r>
            <a:r>
              <a:rPr sz="2200" spc="-45" dirty="0">
                <a:latin typeface="Constantia"/>
                <a:cs typeface="Constantia"/>
              </a:rPr>
              <a:t> </a:t>
            </a:r>
            <a:r>
              <a:rPr sz="2200" spc="-5" dirty="0">
                <a:latin typeface="Constantia"/>
                <a:cs typeface="Constantia"/>
              </a:rPr>
              <a:t>and</a:t>
            </a:r>
            <a:r>
              <a:rPr sz="2200" spc="-40" dirty="0">
                <a:latin typeface="Constantia"/>
                <a:cs typeface="Constantia"/>
              </a:rPr>
              <a:t> </a:t>
            </a:r>
            <a:r>
              <a:rPr sz="2200" spc="-15" dirty="0">
                <a:latin typeface="Constantia"/>
                <a:cs typeface="Constantia"/>
              </a:rPr>
              <a:t>five</a:t>
            </a:r>
            <a:r>
              <a:rPr sz="2200" spc="-65" dirty="0">
                <a:latin typeface="Constantia"/>
                <a:cs typeface="Constantia"/>
              </a:rPr>
              <a:t> </a:t>
            </a:r>
            <a:r>
              <a:rPr sz="2200" spc="5" dirty="0">
                <a:latin typeface="Constantia"/>
                <a:cs typeface="Constantia"/>
              </a:rPr>
              <a:t>fish  </a:t>
            </a:r>
            <a:r>
              <a:rPr sz="2200" spc="-5" dirty="0">
                <a:latin typeface="Constantia"/>
                <a:cs typeface="Constantia"/>
              </a:rPr>
              <a:t>in her</a:t>
            </a:r>
            <a:r>
              <a:rPr sz="2200" spc="-130" dirty="0">
                <a:latin typeface="Constantia"/>
                <a:cs typeface="Constantia"/>
              </a:rPr>
              <a:t> </a:t>
            </a:r>
            <a:r>
              <a:rPr sz="2200" spc="-5" dirty="0">
                <a:latin typeface="Constantia"/>
                <a:cs typeface="Constantia"/>
              </a:rPr>
              <a:t>house</a:t>
            </a:r>
            <a:r>
              <a:rPr sz="1700" spc="-5" dirty="0">
                <a:latin typeface="Constantia"/>
                <a:cs typeface="Constantia"/>
              </a:rPr>
              <a:t>.</a:t>
            </a:r>
            <a:endParaRPr sz="1700">
              <a:latin typeface="Constantia"/>
              <a:cs typeface="Constantia"/>
            </a:endParaRPr>
          </a:p>
          <a:p>
            <a:pPr marL="299720" indent="-274320">
              <a:lnSpc>
                <a:spcPct val="100000"/>
              </a:lnSpc>
              <a:spcBef>
                <a:spcPts val="229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99720" algn="l"/>
              </a:tabLst>
            </a:pPr>
            <a:r>
              <a:rPr spc="-15" dirty="0"/>
              <a:t>Rule:</a:t>
            </a:r>
            <a:r>
              <a:rPr spc="-25" dirty="0"/>
              <a:t> </a:t>
            </a:r>
            <a:r>
              <a:rPr spc="-15" dirty="0"/>
              <a:t>Use</a:t>
            </a:r>
            <a:r>
              <a:rPr spc="-12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spc="-15" dirty="0"/>
              <a:t>comma</a:t>
            </a:r>
            <a:r>
              <a:rPr spc="-75" dirty="0"/>
              <a:t> </a:t>
            </a:r>
            <a:r>
              <a:rPr spc="-20" dirty="0"/>
              <a:t>to</a:t>
            </a:r>
            <a:r>
              <a:rPr spc="-100" dirty="0"/>
              <a:t> </a:t>
            </a:r>
            <a:r>
              <a:rPr spc="-10" dirty="0"/>
              <a:t>separate</a:t>
            </a:r>
            <a:r>
              <a:rPr spc="-140" dirty="0"/>
              <a:t> </a:t>
            </a:r>
            <a:r>
              <a:rPr dirty="0"/>
              <a:t>a</a:t>
            </a:r>
            <a:r>
              <a:rPr spc="-125" dirty="0"/>
              <a:t> </a:t>
            </a:r>
            <a:r>
              <a:rPr spc="-5" dirty="0"/>
              <a:t>city</a:t>
            </a:r>
            <a:r>
              <a:rPr spc="-90" dirty="0"/>
              <a:t> </a:t>
            </a:r>
            <a:r>
              <a:rPr spc="-10" dirty="0"/>
              <a:t>from</a:t>
            </a:r>
            <a:r>
              <a:rPr spc="-40" dirty="0"/>
              <a:t> </a:t>
            </a:r>
            <a:r>
              <a:rPr spc="-5" dirty="0"/>
              <a:t>its</a:t>
            </a:r>
            <a:r>
              <a:rPr spc="-100" dirty="0"/>
              <a:t> </a:t>
            </a:r>
            <a:r>
              <a:rPr spc="-5" dirty="0"/>
              <a:t>state.</a:t>
            </a:r>
          </a:p>
          <a:p>
            <a:pPr marL="665480" lvl="1" indent="-247650">
              <a:lnSpc>
                <a:spcPct val="100000"/>
              </a:lnSpc>
              <a:spcBef>
                <a:spcPts val="280"/>
              </a:spcBef>
              <a:buClr>
                <a:srgbClr val="0E6EC5"/>
              </a:buClr>
              <a:buSzPct val="84090"/>
              <a:buFont typeface="Wingdings 2"/>
              <a:buChar char=""/>
              <a:tabLst>
                <a:tab pos="666115" algn="l"/>
              </a:tabLst>
            </a:pPr>
            <a:r>
              <a:rPr sz="2200" spc="-5" dirty="0">
                <a:latin typeface="Constantia"/>
                <a:cs typeface="Constantia"/>
              </a:rPr>
              <a:t>Example: I am </a:t>
            </a:r>
            <a:r>
              <a:rPr sz="2200" spc="-15" dirty="0">
                <a:latin typeface="Constantia"/>
                <a:cs typeface="Constantia"/>
              </a:rPr>
              <a:t>from </a:t>
            </a:r>
            <a:r>
              <a:rPr sz="2200" spc="-5" dirty="0">
                <a:latin typeface="Constantia"/>
                <a:cs typeface="Constantia"/>
              </a:rPr>
              <a:t>East </a:t>
            </a:r>
            <a:r>
              <a:rPr sz="2200" dirty="0">
                <a:latin typeface="Constantia"/>
                <a:cs typeface="Constantia"/>
              </a:rPr>
              <a:t>Lansing,</a:t>
            </a:r>
            <a:r>
              <a:rPr sz="2200" spc="-240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Michigan.</a:t>
            </a:r>
            <a:endParaRPr sz="2200">
              <a:latin typeface="Constantia"/>
              <a:cs typeface="Constantia"/>
            </a:endParaRPr>
          </a:p>
          <a:p>
            <a:pPr marL="299720" indent="-274320">
              <a:lnSpc>
                <a:spcPts val="2735"/>
              </a:lnSpc>
              <a:spcBef>
                <a:spcPts val="27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99720" algn="l"/>
              </a:tabLst>
            </a:pPr>
            <a:r>
              <a:rPr spc="-15" dirty="0"/>
              <a:t>Rule:</a:t>
            </a:r>
            <a:r>
              <a:rPr spc="-25" dirty="0"/>
              <a:t> </a:t>
            </a:r>
            <a:r>
              <a:rPr spc="-20" dirty="0"/>
              <a:t>Use</a:t>
            </a:r>
            <a:r>
              <a:rPr spc="-125" dirty="0"/>
              <a:t> </a:t>
            </a:r>
            <a:r>
              <a:rPr dirty="0"/>
              <a:t>a</a:t>
            </a:r>
            <a:r>
              <a:rPr spc="-120" dirty="0"/>
              <a:t> </a:t>
            </a:r>
            <a:r>
              <a:rPr spc="-15" dirty="0"/>
              <a:t>comma</a:t>
            </a:r>
            <a:r>
              <a:rPr spc="-80" dirty="0"/>
              <a:t> </a:t>
            </a:r>
            <a:r>
              <a:rPr spc="-20" dirty="0"/>
              <a:t>to</a:t>
            </a:r>
            <a:r>
              <a:rPr spc="-105" dirty="0"/>
              <a:t> </a:t>
            </a:r>
            <a:r>
              <a:rPr spc="-10" dirty="0"/>
              <a:t>separate</a:t>
            </a:r>
            <a:r>
              <a:rPr spc="-105" dirty="0"/>
              <a:t> </a:t>
            </a:r>
            <a:r>
              <a:rPr spc="-5" dirty="0"/>
              <a:t>the</a:t>
            </a:r>
            <a:r>
              <a:rPr spc="-120" dirty="0"/>
              <a:t> </a:t>
            </a:r>
            <a:r>
              <a:rPr spc="-25" dirty="0"/>
              <a:t>day</a:t>
            </a:r>
            <a:r>
              <a:rPr spc="-114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5" dirty="0"/>
              <a:t>the</a:t>
            </a:r>
            <a:r>
              <a:rPr spc="-55" dirty="0"/>
              <a:t> </a:t>
            </a:r>
            <a:r>
              <a:rPr spc="-5" dirty="0"/>
              <a:t>month</a:t>
            </a:r>
            <a:r>
              <a:rPr spc="-50" dirty="0"/>
              <a:t> </a:t>
            </a:r>
            <a:r>
              <a:rPr spc="-10" dirty="0"/>
              <a:t>from</a:t>
            </a:r>
          </a:p>
          <a:p>
            <a:pPr marL="299085">
              <a:lnSpc>
                <a:spcPts val="2735"/>
              </a:lnSpc>
            </a:pPr>
            <a:r>
              <a:rPr spc="-5" dirty="0"/>
              <a:t>the</a:t>
            </a:r>
            <a:r>
              <a:rPr spc="-145" dirty="0"/>
              <a:t> </a:t>
            </a:r>
            <a:r>
              <a:rPr spc="-55" dirty="0"/>
              <a:t>year.</a:t>
            </a:r>
          </a:p>
          <a:p>
            <a:pPr marL="665480" lvl="1" indent="-247650">
              <a:lnSpc>
                <a:spcPct val="100000"/>
              </a:lnSpc>
              <a:spcBef>
                <a:spcPts val="285"/>
              </a:spcBef>
              <a:buClr>
                <a:srgbClr val="0E6EC5"/>
              </a:buClr>
              <a:buSzPct val="84090"/>
              <a:buFont typeface="Wingdings 2"/>
              <a:buChar char=""/>
              <a:tabLst>
                <a:tab pos="666115" algn="l"/>
              </a:tabLst>
            </a:pPr>
            <a:r>
              <a:rPr sz="2200" spc="-5" dirty="0">
                <a:latin typeface="Constantia"/>
                <a:cs typeface="Constantia"/>
              </a:rPr>
              <a:t>Example: </a:t>
            </a:r>
            <a:r>
              <a:rPr sz="2200" spc="-30" dirty="0">
                <a:latin typeface="Constantia"/>
                <a:cs typeface="Constantia"/>
              </a:rPr>
              <a:t>He </a:t>
            </a:r>
            <a:r>
              <a:rPr sz="2200" spc="-15" dirty="0">
                <a:latin typeface="Constantia"/>
                <a:cs typeface="Constantia"/>
              </a:rPr>
              <a:t>was </a:t>
            </a:r>
            <a:r>
              <a:rPr sz="2200" spc="-10" dirty="0">
                <a:latin typeface="Constantia"/>
                <a:cs typeface="Constantia"/>
              </a:rPr>
              <a:t>born </a:t>
            </a:r>
            <a:r>
              <a:rPr sz="2200" spc="-5" dirty="0">
                <a:latin typeface="Constantia"/>
                <a:cs typeface="Constantia"/>
              </a:rPr>
              <a:t>on </a:t>
            </a:r>
            <a:r>
              <a:rPr sz="2200" spc="-15" dirty="0">
                <a:latin typeface="Constantia"/>
                <a:cs typeface="Constantia"/>
              </a:rPr>
              <a:t>August </a:t>
            </a:r>
            <a:r>
              <a:rPr sz="2200" dirty="0">
                <a:latin typeface="Constantia"/>
                <a:cs typeface="Constantia"/>
              </a:rPr>
              <a:t>4</a:t>
            </a:r>
            <a:r>
              <a:rPr sz="2175" baseline="24904" dirty="0">
                <a:latin typeface="Constantia"/>
                <a:cs typeface="Constantia"/>
              </a:rPr>
              <a:t>th</a:t>
            </a:r>
            <a:r>
              <a:rPr sz="2200" dirty="0">
                <a:latin typeface="Constantia"/>
                <a:cs typeface="Constantia"/>
              </a:rPr>
              <a:t>,</a:t>
            </a:r>
            <a:r>
              <a:rPr sz="2200" spc="-340" dirty="0">
                <a:latin typeface="Constantia"/>
                <a:cs typeface="Constantia"/>
              </a:rPr>
              <a:t> </a:t>
            </a:r>
            <a:r>
              <a:rPr sz="2200" spc="-10" dirty="0">
                <a:latin typeface="Constantia"/>
                <a:cs typeface="Constantia"/>
              </a:rPr>
              <a:t>1990.</a:t>
            </a:r>
            <a:endParaRPr sz="2200">
              <a:latin typeface="Constantia"/>
              <a:cs typeface="Constant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4857369"/>
            <a:ext cx="7733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Wingdings 2"/>
              <a:buChar char=""/>
              <a:tabLst>
                <a:tab pos="287020" algn="l"/>
              </a:tabLst>
            </a:pPr>
            <a:r>
              <a:rPr sz="2400" spc="-15" dirty="0">
                <a:latin typeface="Constantia"/>
                <a:cs typeface="Constantia"/>
              </a:rPr>
              <a:t>Rule:</a:t>
            </a:r>
            <a:r>
              <a:rPr sz="2400" spc="-2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Use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comma</a:t>
            </a:r>
            <a:r>
              <a:rPr sz="2400" spc="-7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to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separate</a:t>
            </a:r>
            <a:r>
              <a:rPr sz="2400" spc="-110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two</a:t>
            </a:r>
            <a:r>
              <a:rPr sz="2400" spc="-10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adjectives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(describing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1523" y="5533644"/>
            <a:ext cx="495300" cy="0"/>
          </a:xfrm>
          <a:custGeom>
            <a:avLst/>
            <a:gdLst/>
            <a:ahLst/>
            <a:cxnLst/>
            <a:rect l="l" t="t" r="r" b="b"/>
            <a:pathLst>
              <a:path w="495300">
                <a:moveTo>
                  <a:pt x="0" y="0"/>
                </a:moveTo>
                <a:lnTo>
                  <a:pt x="495300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10259" y="5186629"/>
            <a:ext cx="7602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onstantia"/>
                <a:cs typeface="Constantia"/>
              </a:rPr>
              <a:t>words) </a:t>
            </a:r>
            <a:r>
              <a:rPr sz="2400" spc="-10" dirty="0">
                <a:latin typeface="Constantia"/>
                <a:cs typeface="Constantia"/>
              </a:rPr>
              <a:t>when </a:t>
            </a:r>
            <a:r>
              <a:rPr sz="2400" spc="-5" dirty="0">
                <a:latin typeface="Constantia"/>
                <a:cs typeface="Constantia"/>
              </a:rPr>
              <a:t>the </a:t>
            </a:r>
            <a:r>
              <a:rPr sz="2400" spc="-25" dirty="0">
                <a:latin typeface="Constantia"/>
                <a:cs typeface="Constantia"/>
              </a:rPr>
              <a:t>word </a:t>
            </a:r>
            <a:r>
              <a:rPr sz="2400" spc="-5" dirty="0">
                <a:latin typeface="Constantia"/>
                <a:cs typeface="Constantia"/>
              </a:rPr>
              <a:t>and can be </a:t>
            </a:r>
            <a:r>
              <a:rPr sz="2400" spc="-10" dirty="0">
                <a:latin typeface="Constantia"/>
                <a:cs typeface="Constantia"/>
              </a:rPr>
              <a:t>inserted </a:t>
            </a:r>
            <a:r>
              <a:rPr sz="2400" spc="-15" dirty="0">
                <a:latin typeface="Constantia"/>
                <a:cs typeface="Constantia"/>
              </a:rPr>
              <a:t>between</a:t>
            </a:r>
            <a:r>
              <a:rPr sz="2400" spc="-38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them.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9132" y="5589219"/>
            <a:ext cx="51758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9715" indent="-247650">
              <a:lnSpc>
                <a:spcPct val="100000"/>
              </a:lnSpc>
              <a:spcBef>
                <a:spcPts val="95"/>
              </a:spcBef>
              <a:buClr>
                <a:srgbClr val="0E6EC5"/>
              </a:buClr>
              <a:buSzPct val="84090"/>
              <a:buFont typeface="Wingdings 2"/>
              <a:buChar char=""/>
              <a:tabLst>
                <a:tab pos="260350" algn="l"/>
              </a:tabLst>
            </a:pPr>
            <a:r>
              <a:rPr sz="2200" spc="-5" dirty="0">
                <a:latin typeface="Constantia"/>
                <a:cs typeface="Constantia"/>
              </a:rPr>
              <a:t>Example: She </a:t>
            </a:r>
            <a:r>
              <a:rPr sz="2200" spc="-15" dirty="0">
                <a:latin typeface="Constantia"/>
                <a:cs typeface="Constantia"/>
              </a:rPr>
              <a:t>was </a:t>
            </a:r>
            <a:r>
              <a:rPr sz="2200" spc="-5" dirty="0">
                <a:latin typeface="Constantia"/>
                <a:cs typeface="Constantia"/>
              </a:rPr>
              <a:t>a </a:t>
            </a:r>
            <a:r>
              <a:rPr sz="2200" spc="-20" dirty="0">
                <a:latin typeface="Constantia"/>
                <a:cs typeface="Constantia"/>
              </a:rPr>
              <a:t>young, </a:t>
            </a:r>
            <a:r>
              <a:rPr sz="2200" spc="-5" dirty="0">
                <a:latin typeface="Constantia"/>
                <a:cs typeface="Constantia"/>
              </a:rPr>
              <a:t>beautiful</a:t>
            </a:r>
            <a:r>
              <a:rPr sz="2200" spc="-409" dirty="0">
                <a:latin typeface="Constantia"/>
                <a:cs typeface="Constantia"/>
              </a:rPr>
              <a:t> </a:t>
            </a:r>
            <a:r>
              <a:rPr sz="2200" spc="-20" dirty="0">
                <a:latin typeface="Constantia"/>
                <a:cs typeface="Constantia"/>
              </a:rPr>
              <a:t>dog.</a:t>
            </a:r>
            <a:endParaRPr sz="2200">
              <a:latin typeface="Constantia"/>
              <a:cs typeface="Constant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7209" y="4680610"/>
            <a:ext cx="33782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dirty="0">
                <a:solidFill>
                  <a:srgbClr val="4FCEFF"/>
                </a:solidFill>
                <a:latin typeface="Constantia"/>
                <a:cs typeface="Constantia"/>
              </a:rPr>
              <a:t>,</a:t>
            </a:r>
            <a:endParaRPr sz="9600">
              <a:latin typeface="Constantia"/>
              <a:cs typeface="Constant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COMMAS: Series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6400800" cy="5181600"/>
          </a:xfrm>
        </p:spPr>
        <p:txBody>
          <a:bodyPr/>
          <a:lstStyle/>
          <a:p>
            <a:pPr eaLnBrk="1" hangingPunct="1"/>
            <a:r>
              <a:rPr lang="en-US" altLang="en-US" b="1" smtClean="0"/>
              <a:t>Use commas to separate items in a series.</a:t>
            </a:r>
          </a:p>
          <a:p>
            <a:pPr lvl="1" eaLnBrk="1" hangingPunct="1"/>
            <a:r>
              <a:rPr lang="en-US" altLang="en-US" b="1" smtClean="0"/>
              <a:t>A </a:t>
            </a:r>
            <a:r>
              <a:rPr lang="en-US" altLang="en-US" b="1" i="1" smtClean="0"/>
              <a:t>series</a:t>
            </a:r>
            <a:r>
              <a:rPr lang="en-US" altLang="en-US" b="1" smtClean="0"/>
              <a:t> is three or more items in a row.</a:t>
            </a:r>
          </a:p>
          <a:p>
            <a:pPr eaLnBrk="1" hangingPunct="1"/>
            <a:r>
              <a:rPr lang="en-US" altLang="en-US" u="sng" smtClean="0"/>
              <a:t>Words in a series:</a:t>
            </a:r>
            <a:endParaRPr lang="en-US" altLang="en-US" smtClean="0"/>
          </a:p>
          <a:p>
            <a:pPr lvl="1" eaLnBrk="1" hangingPunct="1"/>
            <a:r>
              <a:rPr lang="en-US" altLang="en-US" smtClean="0"/>
              <a:t>The engine rattled, coughed, and stalled.</a:t>
            </a:r>
          </a:p>
          <a:p>
            <a:pPr eaLnBrk="1" hangingPunct="1"/>
            <a:r>
              <a:rPr lang="en-US" altLang="en-US" u="sng" smtClean="0"/>
              <a:t>Phrases in a series:</a:t>
            </a:r>
          </a:p>
          <a:p>
            <a:pPr lvl="1" eaLnBrk="1" hangingPunct="1"/>
            <a:r>
              <a:rPr lang="en-US" altLang="en-US" smtClean="0"/>
              <a:t>There were fingerprints at the top, on the sides, and on the bottom.</a:t>
            </a:r>
          </a:p>
          <a:p>
            <a:pPr eaLnBrk="1" hangingPunct="1"/>
            <a:r>
              <a:rPr lang="en-US" altLang="en-US" u="sng" smtClean="0"/>
              <a:t>Clauses in a series*:</a:t>
            </a:r>
            <a:endParaRPr lang="en-US" altLang="en-US" smtClean="0"/>
          </a:p>
          <a:p>
            <a:pPr lvl="1" eaLnBrk="1" hangingPunct="1"/>
            <a:r>
              <a:rPr lang="en-US" altLang="en-US" smtClean="0"/>
              <a:t>I knew that we were late, that the ice cream was melting, and that the car was nearly out of gas.</a:t>
            </a:r>
          </a:p>
        </p:txBody>
      </p:sp>
    </p:spTree>
    <p:extLst>
      <p:ext uri="{BB962C8B-B14F-4D97-AF65-F5344CB8AC3E}">
        <p14:creationId xmlns:p14="http://schemas.microsoft.com/office/powerpoint/2010/main" val="306656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* A COUPLE OF QUICK NOTES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600200"/>
            <a:ext cx="78486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Only short independent clauses can be separated by commas; long ones need semicolons.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 </a:t>
            </a:r>
            <a:r>
              <a:rPr lang="en-US" altLang="en-US" sz="2800" i="1" smtClean="0"/>
              <a:t>series </a:t>
            </a:r>
            <a:r>
              <a:rPr lang="en-US" altLang="en-US" sz="2800" smtClean="0"/>
              <a:t>is three or more; two items do not need a comma to separate them.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If all the words are joined by </a:t>
            </a:r>
            <a:r>
              <a:rPr lang="en-US" altLang="en-US" sz="2800" i="1" smtClean="0"/>
              <a:t>and</a:t>
            </a:r>
            <a:r>
              <a:rPr lang="en-US" altLang="en-US" sz="2800" smtClean="0"/>
              <a:t> or </a:t>
            </a:r>
            <a:r>
              <a:rPr lang="en-US" altLang="en-US" sz="2800" i="1" smtClean="0"/>
              <a:t>or</a:t>
            </a:r>
            <a:r>
              <a:rPr lang="en-US" altLang="en-US" sz="2800" smtClean="0"/>
              <a:t>, you don’t need commas.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Take water and food and matches with you.</a:t>
            </a:r>
          </a:p>
        </p:txBody>
      </p:sp>
    </p:spTree>
    <p:extLst>
      <p:ext uri="{BB962C8B-B14F-4D97-AF65-F5344CB8AC3E}">
        <p14:creationId xmlns:p14="http://schemas.microsoft.com/office/powerpoint/2010/main" val="413280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COMMAS: Modifiers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447800"/>
            <a:ext cx="8153400" cy="32004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Use a comma to separate two or more adjectives that come before a noun.*</a:t>
            </a:r>
          </a:p>
          <a:p>
            <a:pPr lvl="1" eaLnBrk="1" hangingPunct="1"/>
            <a:r>
              <a:rPr lang="en-US" altLang="en-US" sz="2400" smtClean="0"/>
              <a:t>A white dwarf is a tiny, dense star.</a:t>
            </a:r>
          </a:p>
          <a:p>
            <a:pPr lvl="1" eaLnBrk="1" hangingPunct="1"/>
            <a:r>
              <a:rPr lang="en-US" altLang="en-US" sz="2400" smtClean="0"/>
              <a:t>Venus Williams played a powerful, brilliant, inspiring game.</a:t>
            </a:r>
          </a:p>
        </p:txBody>
      </p:sp>
    </p:spTree>
    <p:extLst>
      <p:ext uri="{BB962C8B-B14F-4D97-AF65-F5344CB8AC3E}">
        <p14:creationId xmlns:p14="http://schemas.microsoft.com/office/powerpoint/2010/main" val="57353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A COUPLE OF QUICK NOTES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447800"/>
            <a:ext cx="66294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Sometimes the final adjective is actually part of a </a:t>
            </a:r>
            <a:r>
              <a:rPr lang="en-US" altLang="en-US" sz="2800" b="1" smtClean="0"/>
              <a:t>compound noun</a:t>
            </a:r>
            <a:r>
              <a:rPr lang="en-US" altLang="en-US" sz="2800" smtClean="0"/>
              <a:t>.  When they are linked, don’t separate them with a comma.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A huge </a:t>
            </a:r>
            <a:r>
              <a:rPr lang="en-US" altLang="en-US" sz="2400" b="1" smtClean="0"/>
              <a:t>horned owl</a:t>
            </a:r>
            <a:r>
              <a:rPr lang="en-US" altLang="en-US" sz="2400" smtClean="0"/>
              <a:t> lives in those woods. [not </a:t>
            </a:r>
            <a:r>
              <a:rPr lang="en-US" altLang="en-US" sz="2400" i="1" smtClean="0"/>
              <a:t>huge, horned owl</a:t>
            </a:r>
            <a:r>
              <a:rPr lang="en-US" altLang="en-US" sz="2400" smtClean="0"/>
              <a:t>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An unshaded </a:t>
            </a:r>
            <a:r>
              <a:rPr lang="en-US" altLang="en-US" sz="2400" b="1" smtClean="0"/>
              <a:t>electric light</a:t>
            </a:r>
            <a:r>
              <a:rPr lang="en-US" altLang="en-US" sz="2400" smtClean="0"/>
              <a:t> hung from the ceiling. [not </a:t>
            </a:r>
            <a:r>
              <a:rPr lang="en-US" altLang="en-US" sz="2400" i="1" smtClean="0"/>
              <a:t>unshaded, electric light</a:t>
            </a:r>
            <a:r>
              <a:rPr lang="en-US" altLang="en-US" sz="2400" smtClean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5489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COMMAS: Joining clauses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447800"/>
            <a:ext cx="8305800" cy="54102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Use a comma before </a:t>
            </a:r>
            <a:r>
              <a:rPr lang="en-US" altLang="en-US" sz="2800" b="1" i="1" smtClean="0"/>
              <a:t>and, but, for, nor, or, so, </a:t>
            </a:r>
            <a:r>
              <a:rPr lang="en-US" altLang="en-US" sz="2800" b="1" smtClean="0"/>
              <a:t>&amp; </a:t>
            </a:r>
            <a:r>
              <a:rPr lang="en-US" altLang="en-US" sz="2800" b="1" i="1" smtClean="0"/>
              <a:t>yet</a:t>
            </a:r>
            <a:r>
              <a:rPr lang="en-US" altLang="en-US" sz="2800" b="1" smtClean="0"/>
              <a:t> when they join independent clauses.</a:t>
            </a:r>
          </a:p>
          <a:p>
            <a:pPr lvl="1" eaLnBrk="1" hangingPunct="1"/>
            <a:r>
              <a:rPr lang="en-US" altLang="en-US" sz="2400" smtClean="0"/>
              <a:t>Tanisha offered me a ticket</a:t>
            </a:r>
            <a:r>
              <a:rPr lang="en-US" altLang="en-US" sz="2400" b="1" smtClean="0"/>
              <a:t>, and</a:t>
            </a:r>
            <a:r>
              <a:rPr lang="en-US" altLang="en-US" sz="2400" smtClean="0"/>
              <a:t> I accepted.</a:t>
            </a:r>
          </a:p>
          <a:p>
            <a:pPr lvl="1" eaLnBrk="1" hangingPunct="1"/>
            <a:r>
              <a:rPr lang="en-US" altLang="en-US" sz="2400" smtClean="0"/>
              <a:t>They had been working very hard</a:t>
            </a:r>
            <a:r>
              <a:rPr lang="en-US" altLang="en-US" sz="2400" b="1" smtClean="0"/>
              <a:t>, but</a:t>
            </a:r>
            <a:r>
              <a:rPr lang="en-US" altLang="en-US" sz="2400" smtClean="0"/>
              <a:t> they didn’t seem very tired.</a:t>
            </a:r>
          </a:p>
        </p:txBody>
      </p:sp>
    </p:spTree>
    <p:extLst>
      <p:ext uri="{BB962C8B-B14F-4D97-AF65-F5344CB8AC3E}">
        <p14:creationId xmlns:p14="http://schemas.microsoft.com/office/powerpoint/2010/main" val="297726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COMMAS: Interrupters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305800" cy="42672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Use commas to set off an expression that interrupts a sentence (an </a:t>
            </a:r>
            <a:r>
              <a:rPr lang="en-US" altLang="en-US" sz="2800" b="1" i="1" smtClean="0"/>
              <a:t>interrupter</a:t>
            </a:r>
            <a:r>
              <a:rPr lang="en-US" altLang="en-US" sz="2800" b="1" smtClean="0"/>
              <a:t>).</a:t>
            </a:r>
          </a:p>
          <a:p>
            <a:pPr lvl="1" eaLnBrk="1" hangingPunct="1"/>
            <a:r>
              <a:rPr lang="en-US" altLang="en-US" sz="2400" smtClean="0"/>
              <a:t>Ann Meyers</a:t>
            </a:r>
            <a:r>
              <a:rPr lang="en-US" altLang="en-US" sz="2400" b="1" smtClean="0"/>
              <a:t>, our neighbor, </a:t>
            </a:r>
            <a:r>
              <a:rPr lang="en-US" altLang="en-US" sz="2400" smtClean="0"/>
              <a:t>is a fine golfer.</a:t>
            </a:r>
          </a:p>
          <a:p>
            <a:pPr lvl="1" eaLnBrk="1" hangingPunct="1"/>
            <a:r>
              <a:rPr lang="en-US" altLang="en-US" sz="2400" b="1" smtClean="0"/>
              <a:t>Naturally, </a:t>
            </a:r>
            <a:r>
              <a:rPr lang="en-US" altLang="en-US" sz="2400" smtClean="0"/>
              <a:t>we expect to win.</a:t>
            </a:r>
          </a:p>
          <a:p>
            <a:pPr lvl="1" eaLnBrk="1" hangingPunct="1"/>
            <a:r>
              <a:rPr lang="en-US" altLang="en-US" sz="2400" smtClean="0"/>
              <a:t>My answer is correct</a:t>
            </a:r>
            <a:r>
              <a:rPr lang="en-US" altLang="en-US" sz="2400" b="1" smtClean="0"/>
              <a:t>, I think.</a:t>
            </a:r>
          </a:p>
          <a:p>
            <a:pPr eaLnBrk="1" hangingPunct="1"/>
            <a:r>
              <a:rPr lang="en-US" altLang="en-US" sz="2800" smtClean="0"/>
              <a:t>Hint: when we read interrupters aloud, our voice usually drops to a lower register.  Try it!</a:t>
            </a:r>
          </a:p>
        </p:txBody>
      </p:sp>
    </p:spTree>
    <p:extLst>
      <p:ext uri="{BB962C8B-B14F-4D97-AF65-F5344CB8AC3E}">
        <p14:creationId xmlns:p14="http://schemas.microsoft.com/office/powerpoint/2010/main" val="140138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COMMAS: Interrupters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524000"/>
            <a:ext cx="8229600" cy="43434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1. Use commas to set off nonessential phrases and clauses.</a:t>
            </a:r>
          </a:p>
          <a:p>
            <a:pPr lvl="1" eaLnBrk="1" hangingPunct="1"/>
            <a:r>
              <a:rPr lang="en-US" altLang="en-US" sz="2400" smtClean="0"/>
              <a:t>Nonessential phrases and clauses aren’t necessary to the overall meaning of the sentence.</a:t>
            </a:r>
          </a:p>
          <a:p>
            <a:pPr lvl="2" eaLnBrk="1" hangingPunct="1"/>
            <a:r>
              <a:rPr lang="en-US" altLang="en-US" sz="2000" smtClean="0"/>
              <a:t>My sister</a:t>
            </a:r>
            <a:r>
              <a:rPr lang="en-US" altLang="en-US" sz="2000" b="1" smtClean="0"/>
              <a:t>, listening to her radio,</a:t>
            </a:r>
            <a:r>
              <a:rPr lang="en-US" altLang="en-US" sz="2000" smtClean="0"/>
              <a:t> did not hear me.</a:t>
            </a:r>
          </a:p>
          <a:p>
            <a:pPr lvl="3" eaLnBrk="1" hangingPunct="1"/>
            <a:r>
              <a:rPr lang="en-US" altLang="en-US" sz="2000" b="1" i="1" smtClean="0"/>
              <a:t>listening to her radio</a:t>
            </a:r>
            <a:r>
              <a:rPr lang="en-US" altLang="en-US" sz="2000" i="1" smtClean="0"/>
              <a:t> </a:t>
            </a:r>
            <a:r>
              <a:rPr lang="en-US" altLang="en-US" sz="2000" smtClean="0"/>
              <a:t>is a nonessential participial phrase.</a:t>
            </a:r>
          </a:p>
          <a:p>
            <a:pPr lvl="2" eaLnBrk="1" hangingPunct="1"/>
            <a:r>
              <a:rPr lang="en-US" altLang="en-US" sz="2000" smtClean="0"/>
              <a:t>Paul</a:t>
            </a:r>
            <a:r>
              <a:rPr lang="en-US" altLang="en-US" sz="2000" b="1" smtClean="0"/>
              <a:t>, thrilled by the applause, </a:t>
            </a:r>
            <a:r>
              <a:rPr lang="en-US" altLang="en-US" sz="2000" smtClean="0"/>
              <a:t>took a bow.</a:t>
            </a:r>
          </a:p>
          <a:p>
            <a:pPr lvl="3" eaLnBrk="1" hangingPunct="1"/>
            <a:r>
              <a:rPr lang="en-US" altLang="en-US" sz="2000" b="1" i="1" smtClean="0"/>
              <a:t>thrilled by the applause</a:t>
            </a:r>
            <a:r>
              <a:rPr lang="en-US" altLang="en-US" sz="2000" smtClean="0"/>
              <a:t> could be taken out, so it’s nonessential.</a:t>
            </a:r>
            <a:endParaRPr lang="en-US" altLang="en-US" sz="2000" b="1" i="1" smtClean="0"/>
          </a:p>
        </p:txBody>
      </p:sp>
    </p:spTree>
    <p:extLst>
      <p:ext uri="{BB962C8B-B14F-4D97-AF65-F5344CB8AC3E}">
        <p14:creationId xmlns:p14="http://schemas.microsoft.com/office/powerpoint/2010/main" val="322504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COMMAS: Interrupters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305800" cy="56388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2. Don’t set off essential phrases and clauses w/ commas.</a:t>
            </a:r>
          </a:p>
          <a:p>
            <a:pPr lvl="1" eaLnBrk="1" hangingPunct="1"/>
            <a:r>
              <a:rPr lang="en-US" altLang="en-US" sz="2400" smtClean="0"/>
              <a:t>Essential phrases and clauses tell us </a:t>
            </a:r>
            <a:r>
              <a:rPr lang="en-US" altLang="en-US" sz="2400" i="1" smtClean="0"/>
              <a:t>which one(s)</a:t>
            </a:r>
            <a:r>
              <a:rPr lang="en-US" altLang="en-US" sz="2400" smtClean="0"/>
              <a:t>, so they are necessary to the meaning.</a:t>
            </a:r>
          </a:p>
          <a:p>
            <a:pPr lvl="2" eaLnBrk="1" hangingPunct="1"/>
            <a:r>
              <a:rPr lang="en-US" altLang="en-US" sz="2000" smtClean="0"/>
              <a:t>The man </a:t>
            </a:r>
            <a:r>
              <a:rPr lang="en-US" altLang="en-US" sz="2000" b="1" smtClean="0"/>
              <a:t>who tells Navajo folk tales</a:t>
            </a:r>
            <a:r>
              <a:rPr lang="en-US" altLang="en-US" sz="2000" smtClean="0"/>
              <a:t> is Mr. Platero.</a:t>
            </a:r>
          </a:p>
          <a:p>
            <a:pPr lvl="2" eaLnBrk="1" hangingPunct="1"/>
            <a:r>
              <a:rPr lang="en-US" altLang="en-US" sz="2000" smtClean="0"/>
              <a:t>The dress </a:t>
            </a:r>
            <a:r>
              <a:rPr lang="en-US" altLang="en-US" sz="2000" b="1" smtClean="0"/>
              <a:t>that I liked</a:t>
            </a:r>
            <a:r>
              <a:rPr lang="en-US" altLang="en-US" sz="2000" smtClean="0"/>
              <a:t> has been sold.</a:t>
            </a:r>
          </a:p>
          <a:p>
            <a:pPr lvl="2" eaLnBrk="1" hangingPunct="1"/>
            <a:r>
              <a:rPr lang="en-US" altLang="en-US" sz="2000" smtClean="0"/>
              <a:t>A bowl </a:t>
            </a:r>
            <a:r>
              <a:rPr lang="en-US" altLang="en-US" sz="2000" b="1" smtClean="0"/>
              <a:t>made by Maria Martinez</a:t>
            </a:r>
            <a:r>
              <a:rPr lang="en-US" altLang="en-US" sz="2000" smtClean="0"/>
              <a:t> is a collector’s item.</a:t>
            </a:r>
          </a:p>
          <a:p>
            <a:pPr lvl="1" eaLnBrk="1" hangingPunct="1"/>
            <a:r>
              <a:rPr lang="en-US" altLang="en-US" sz="2400" smtClean="0"/>
              <a:t>HINT: a clause beginning with </a:t>
            </a:r>
            <a:r>
              <a:rPr lang="en-US" altLang="en-US" sz="2400" i="1" smtClean="0"/>
              <a:t>that</a:t>
            </a:r>
            <a:r>
              <a:rPr lang="en-US" altLang="en-US" sz="2400" smtClean="0"/>
              <a:t> is usually essential.</a:t>
            </a:r>
          </a:p>
        </p:txBody>
      </p:sp>
    </p:spTree>
    <p:extLst>
      <p:ext uri="{BB962C8B-B14F-4D97-AF65-F5344CB8AC3E}">
        <p14:creationId xmlns:p14="http://schemas.microsoft.com/office/powerpoint/2010/main" val="241378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79652" y="3162085"/>
            <a:ext cx="7584694" cy="40011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COMMAS: </a:t>
            </a:r>
            <a:r>
              <a:rPr lang="en-US" dirty="0" err="1" smtClean="0"/>
              <a:t>Iterrupters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81534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An </a:t>
            </a:r>
            <a:r>
              <a:rPr lang="en-US" altLang="en-US" sz="2800" b="1" smtClean="0"/>
              <a:t>appositive </a:t>
            </a:r>
            <a:r>
              <a:rPr lang="en-US" altLang="en-US" sz="2800" smtClean="0"/>
              <a:t>is a noun or pronoun that describes or identifies another noun or pronoun.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My oldest sister</a:t>
            </a:r>
            <a:r>
              <a:rPr lang="en-US" altLang="en-US" sz="2400" b="1" smtClean="0"/>
              <a:t>, Alicia, </a:t>
            </a:r>
            <a:r>
              <a:rPr lang="en-US" altLang="en-US" sz="2400" smtClean="0"/>
              <a:t>will be at practice until 6:00 P.M.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smtClean="0"/>
              <a:t>Jamaica</a:t>
            </a:r>
            <a:r>
              <a:rPr lang="en-US" altLang="en-US" sz="2400" b="1" smtClean="0"/>
              <a:t>, a popular island for tourists, </a:t>
            </a:r>
            <a:r>
              <a:rPr lang="en-US" altLang="en-US" sz="2400" smtClean="0"/>
              <a:t>is in the Caribbean Sea.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See how each of these re-identifies the previously mentioned word?</a:t>
            </a:r>
          </a:p>
        </p:txBody>
      </p:sp>
    </p:spTree>
    <p:extLst>
      <p:ext uri="{BB962C8B-B14F-4D97-AF65-F5344CB8AC3E}">
        <p14:creationId xmlns:p14="http://schemas.microsoft.com/office/powerpoint/2010/main" val="3414134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COMMAS: Interrupters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447800"/>
            <a:ext cx="8382000" cy="56388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3. If an appositive is non-essential, set it off w/ commas.</a:t>
            </a:r>
          </a:p>
          <a:p>
            <a:pPr eaLnBrk="1" hangingPunct="1"/>
            <a:r>
              <a:rPr lang="en-US" altLang="en-US" sz="2800" b="1" smtClean="0"/>
              <a:t>4. Do not set off essential appositives.</a:t>
            </a:r>
          </a:p>
          <a:p>
            <a:pPr lvl="1" eaLnBrk="1" hangingPunct="1"/>
            <a:r>
              <a:rPr lang="en-US" altLang="en-US" sz="2400" smtClean="0"/>
              <a:t>The planet </a:t>
            </a:r>
            <a:r>
              <a:rPr lang="en-US" altLang="en-US" sz="2400" b="1" smtClean="0"/>
              <a:t>Mercury</a:t>
            </a:r>
            <a:r>
              <a:rPr lang="en-US" altLang="en-US" sz="2400" smtClean="0"/>
              <a:t> is closer to the sun than any other planet.</a:t>
            </a:r>
          </a:p>
          <a:p>
            <a:pPr lvl="2" eaLnBrk="1" hangingPunct="1"/>
            <a:r>
              <a:rPr lang="en-US" altLang="en-US" sz="2000" b="1" i="1" smtClean="0"/>
              <a:t>Mercury </a:t>
            </a:r>
            <a:r>
              <a:rPr lang="en-US" altLang="en-US" sz="2000" smtClean="0"/>
              <a:t>is essential because we have to know </a:t>
            </a:r>
            <a:r>
              <a:rPr lang="en-US" altLang="en-US" sz="2000" i="1" smtClean="0"/>
              <a:t>which</a:t>
            </a:r>
            <a:r>
              <a:rPr lang="en-US" altLang="en-US" sz="2000" smtClean="0"/>
              <a:t> planet the speaker means.</a:t>
            </a:r>
          </a:p>
          <a:p>
            <a:pPr lvl="1" eaLnBrk="1" hangingPunct="1"/>
            <a:r>
              <a:rPr lang="en-US" altLang="en-US" sz="2400" smtClean="0"/>
              <a:t>Our star</a:t>
            </a:r>
            <a:r>
              <a:rPr lang="en-US" altLang="en-US" sz="2400" b="1" smtClean="0"/>
              <a:t>, the sun,</a:t>
            </a:r>
            <a:r>
              <a:rPr lang="en-US" altLang="en-US" sz="2400" smtClean="0"/>
              <a:t> is a medium-sized star.</a:t>
            </a:r>
          </a:p>
          <a:p>
            <a:pPr lvl="2" eaLnBrk="1" hangingPunct="1"/>
            <a:r>
              <a:rPr lang="en-US" altLang="en-US" sz="2000" b="1" i="1" smtClean="0"/>
              <a:t>the sun</a:t>
            </a:r>
            <a:r>
              <a:rPr lang="en-US" altLang="en-US" sz="2000" smtClean="0"/>
              <a:t> is nonessential because we only have one star and it was already named.</a:t>
            </a:r>
            <a:endParaRPr lang="en-US" altLang="en-US" sz="2000" b="1" i="1" smtClean="0"/>
          </a:p>
        </p:txBody>
      </p:sp>
    </p:spTree>
    <p:extLst>
      <p:ext uri="{BB962C8B-B14F-4D97-AF65-F5344CB8AC3E}">
        <p14:creationId xmlns:p14="http://schemas.microsoft.com/office/powerpoint/2010/main" val="209074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COMMAS: Interrupters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905000"/>
            <a:ext cx="5562600" cy="40386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5. Use commas to set off words that are used in direct address.</a:t>
            </a:r>
          </a:p>
          <a:p>
            <a:pPr lvl="1" eaLnBrk="1" hangingPunct="1"/>
            <a:r>
              <a:rPr lang="en-US" altLang="en-US" sz="2400" b="1" smtClean="0"/>
              <a:t>Ben,</a:t>
            </a:r>
            <a:r>
              <a:rPr lang="en-US" altLang="en-US" sz="2400" smtClean="0"/>
              <a:t> please get the door.</a:t>
            </a:r>
          </a:p>
          <a:p>
            <a:pPr lvl="1" eaLnBrk="1" hangingPunct="1"/>
            <a:r>
              <a:rPr lang="en-US" altLang="en-US" sz="2400" smtClean="0"/>
              <a:t>Mom needs you</a:t>
            </a:r>
            <a:r>
              <a:rPr lang="en-US" altLang="en-US" sz="2400" b="1" smtClean="0"/>
              <a:t>, Francine.</a:t>
            </a:r>
            <a:endParaRPr lang="en-US" altLang="en-US" sz="2400" smtClean="0"/>
          </a:p>
          <a:p>
            <a:pPr lvl="1" eaLnBrk="1" hangingPunct="1"/>
            <a:r>
              <a:rPr lang="en-US" altLang="en-US" sz="2400" smtClean="0"/>
              <a:t>Would you show me</a:t>
            </a:r>
            <a:r>
              <a:rPr lang="en-US" altLang="en-US" sz="2400" b="1" smtClean="0"/>
              <a:t>, ma’am,</a:t>
            </a:r>
            <a:r>
              <a:rPr lang="en-US" altLang="en-US" sz="2400" smtClean="0"/>
              <a:t> where the craft store is?</a:t>
            </a:r>
            <a:endParaRPr lang="en-US" altLang="en-US" sz="2400" b="1" smtClean="0"/>
          </a:p>
        </p:txBody>
      </p:sp>
    </p:spTree>
    <p:extLst>
      <p:ext uri="{BB962C8B-B14F-4D97-AF65-F5344CB8AC3E}">
        <p14:creationId xmlns:p14="http://schemas.microsoft.com/office/powerpoint/2010/main" val="351907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COMMAS: Interrupters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524000"/>
            <a:ext cx="7467600" cy="51816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6. Use commas to set off parenthetical expressions.</a:t>
            </a:r>
          </a:p>
          <a:p>
            <a:pPr lvl="1" eaLnBrk="1" hangingPunct="1"/>
            <a:r>
              <a:rPr lang="en-US" altLang="en-US" sz="2400" smtClean="0"/>
              <a:t>A </a:t>
            </a:r>
            <a:r>
              <a:rPr lang="en-US" altLang="en-US" sz="2400" b="1" smtClean="0"/>
              <a:t>parenthetical expression</a:t>
            </a:r>
            <a:r>
              <a:rPr lang="en-US" altLang="en-US" sz="2400" smtClean="0"/>
              <a:t> is a side remark that adds information.</a:t>
            </a:r>
          </a:p>
          <a:p>
            <a:pPr lvl="1" eaLnBrk="1" hangingPunct="1"/>
            <a:r>
              <a:rPr lang="en-US" altLang="en-US" sz="2400" smtClean="0"/>
              <a:t>Like a </a:t>
            </a:r>
            <a:r>
              <a:rPr lang="en-US" altLang="en-US" sz="2400" i="1" smtClean="0"/>
              <a:t>by the way…</a:t>
            </a:r>
          </a:p>
          <a:p>
            <a:pPr lvl="2" eaLnBrk="1" hangingPunct="1"/>
            <a:r>
              <a:rPr lang="en-US" altLang="en-US" sz="2000" smtClean="0"/>
              <a:t>Carla</a:t>
            </a:r>
            <a:r>
              <a:rPr lang="en-US" altLang="en-US" sz="2000" b="1" smtClean="0"/>
              <a:t>, on the contrary, </a:t>
            </a:r>
            <a:r>
              <a:rPr lang="en-US" altLang="en-US" sz="2000" smtClean="0"/>
              <a:t>prefers soccer to baseball.</a:t>
            </a:r>
          </a:p>
          <a:p>
            <a:pPr lvl="2" eaLnBrk="1" hangingPunct="1"/>
            <a:r>
              <a:rPr lang="en-US" altLang="en-US" sz="2000" b="1" smtClean="0"/>
              <a:t>To tell the truth,</a:t>
            </a:r>
            <a:r>
              <a:rPr lang="en-US" altLang="en-US" sz="2000" smtClean="0"/>
              <a:t> Jan is one of my best friends.</a:t>
            </a:r>
            <a:endParaRPr lang="en-US" altLang="en-US" sz="2000" b="1" smtClean="0"/>
          </a:p>
        </p:txBody>
      </p:sp>
    </p:spTree>
    <p:extLst>
      <p:ext uri="{BB962C8B-B14F-4D97-AF65-F5344CB8AC3E}">
        <p14:creationId xmlns:p14="http://schemas.microsoft.com/office/powerpoint/2010/main" val="69158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382000" cy="10668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chemeClr val="tx1"/>
                </a:solidFill>
              </a:rPr>
              <a:t>COMMAS: Introductory elements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153400" cy="4873625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Use a comma after </a:t>
            </a:r>
            <a:r>
              <a:rPr lang="en-US" altLang="en-US" sz="2800" b="1" i="1" smtClean="0"/>
              <a:t>yes, no,</a:t>
            </a:r>
            <a:r>
              <a:rPr lang="en-US" altLang="en-US" sz="2800" b="1" smtClean="0"/>
              <a:t> or a mild exclamation such as </a:t>
            </a:r>
            <a:r>
              <a:rPr lang="en-US" altLang="en-US" sz="2800" b="1" i="1" smtClean="0"/>
              <a:t>well</a:t>
            </a:r>
            <a:r>
              <a:rPr lang="en-US" altLang="en-US" sz="2800" b="1" smtClean="0"/>
              <a:t> at the beginning of a sentence.</a:t>
            </a:r>
          </a:p>
          <a:p>
            <a:pPr lvl="1" eaLnBrk="1" hangingPunct="1"/>
            <a:r>
              <a:rPr lang="en-US" altLang="en-US" sz="2400" b="1" smtClean="0"/>
              <a:t>Yes,</a:t>
            </a:r>
            <a:r>
              <a:rPr lang="en-US" altLang="en-US" sz="2400" smtClean="0"/>
              <a:t> you may borrow my bike.</a:t>
            </a:r>
          </a:p>
          <a:p>
            <a:pPr lvl="1" eaLnBrk="1" hangingPunct="1"/>
            <a:r>
              <a:rPr lang="en-US" altLang="en-US" sz="2400" b="1" smtClean="0"/>
              <a:t>Why, </a:t>
            </a:r>
            <a:r>
              <a:rPr lang="en-US" altLang="en-US" sz="2400" smtClean="0"/>
              <a:t>it’s Lena!</a:t>
            </a:r>
          </a:p>
          <a:p>
            <a:pPr lvl="1" eaLnBrk="1" hangingPunct="1"/>
            <a:r>
              <a:rPr lang="en-US" altLang="en-US" sz="2400" b="1" smtClean="0"/>
              <a:t>Well,</a:t>
            </a:r>
            <a:r>
              <a:rPr lang="en-US" altLang="en-US" sz="2400" smtClean="0"/>
              <a:t> I think you are wrong.</a:t>
            </a:r>
            <a:endParaRPr lang="en-US" altLang="en-US" sz="2400" b="1" smtClean="0"/>
          </a:p>
        </p:txBody>
      </p:sp>
    </p:spTree>
    <p:extLst>
      <p:ext uri="{BB962C8B-B14F-4D97-AF65-F5344CB8AC3E}">
        <p14:creationId xmlns:p14="http://schemas.microsoft.com/office/powerpoint/2010/main" val="298872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5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382000" cy="1066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COMMAS: Introductory elements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219200"/>
            <a:ext cx="8305800" cy="56388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Use a comma after introductory phrases &amp; clauses.</a:t>
            </a:r>
          </a:p>
          <a:p>
            <a:pPr lvl="1" eaLnBrk="1" hangingPunct="1"/>
            <a:r>
              <a:rPr lang="en-US" altLang="en-US" sz="2400" smtClean="0"/>
              <a:t>Introductory participial phrase</a:t>
            </a:r>
          </a:p>
          <a:p>
            <a:pPr lvl="2" eaLnBrk="1" hangingPunct="1"/>
            <a:r>
              <a:rPr lang="en-US" altLang="en-US" sz="2000" b="1" smtClean="0"/>
              <a:t>Beginning a new school year,</a:t>
            </a:r>
            <a:r>
              <a:rPr lang="en-US" altLang="en-US" sz="2000" smtClean="0"/>
              <a:t> Zelda felt somewhat nervous.</a:t>
            </a:r>
          </a:p>
          <a:p>
            <a:pPr lvl="1" eaLnBrk="1" hangingPunct="1"/>
            <a:r>
              <a:rPr lang="en-US" altLang="en-US" sz="2400" smtClean="0"/>
              <a:t>2 or more introductory prepositional phrases</a:t>
            </a:r>
          </a:p>
          <a:p>
            <a:pPr lvl="2" eaLnBrk="1" hangingPunct="1"/>
            <a:r>
              <a:rPr lang="en-US" altLang="en-US" sz="2000" b="1" u="sng" smtClean="0"/>
              <a:t>At the bottom</a:t>
            </a:r>
            <a:r>
              <a:rPr lang="en-US" altLang="en-US" sz="1100" b="1" u="sng" smtClean="0"/>
              <a:t>(1)</a:t>
            </a:r>
            <a:r>
              <a:rPr lang="en-US" altLang="en-US" sz="2000" b="1" smtClean="0"/>
              <a:t>  </a:t>
            </a:r>
            <a:r>
              <a:rPr lang="en-US" altLang="en-US" sz="2000" b="1" u="sng" smtClean="0"/>
              <a:t>of the hill</a:t>
            </a:r>
            <a:r>
              <a:rPr lang="en-US" altLang="en-US" sz="1100" b="1" u="sng" smtClean="0"/>
              <a:t>(2)</a:t>
            </a:r>
            <a:r>
              <a:rPr lang="en-US" altLang="en-US" sz="2000" b="1" smtClean="0"/>
              <a:t>,</a:t>
            </a:r>
            <a:r>
              <a:rPr lang="en-US" altLang="en-US" sz="2000" smtClean="0"/>
              <a:t> you will see the field.</a:t>
            </a:r>
          </a:p>
          <a:p>
            <a:pPr lvl="1" eaLnBrk="1" hangingPunct="1"/>
            <a:r>
              <a:rPr lang="en-US" altLang="en-US" sz="2400" smtClean="0"/>
              <a:t>Introductory adverb clause</a:t>
            </a:r>
          </a:p>
          <a:p>
            <a:pPr lvl="2" eaLnBrk="1" hangingPunct="1"/>
            <a:r>
              <a:rPr lang="en-US" altLang="en-US" sz="2000" b="1" smtClean="0"/>
              <a:t>After I finish my homework,</a:t>
            </a:r>
            <a:r>
              <a:rPr lang="en-US" altLang="en-US" sz="2000" smtClean="0"/>
              <a:t> I will go to the park.</a:t>
            </a:r>
          </a:p>
        </p:txBody>
      </p:sp>
    </p:spTree>
    <p:extLst>
      <p:ext uri="{BB962C8B-B14F-4D97-AF65-F5344CB8AC3E}">
        <p14:creationId xmlns:p14="http://schemas.microsoft.com/office/powerpoint/2010/main" val="247532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COMMAS: </a:t>
            </a:r>
            <a:r>
              <a:rPr lang="en-US" sz="3200" dirty="0" smtClean="0"/>
              <a:t>Conventional</a:t>
            </a:r>
            <a:r>
              <a:rPr lang="en-US" dirty="0" smtClean="0"/>
              <a:t> USES</a:t>
            </a:r>
            <a:endParaRPr 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371600"/>
            <a:ext cx="8305800" cy="54864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Use commas to separate items in dates &amp; addresses.</a:t>
            </a:r>
          </a:p>
          <a:p>
            <a:pPr lvl="1" eaLnBrk="1" hangingPunct="1"/>
            <a:r>
              <a:rPr lang="en-US" altLang="en-US" sz="2400" smtClean="0"/>
              <a:t>She was born on January 26</a:t>
            </a:r>
            <a:r>
              <a:rPr lang="en-US" altLang="en-US" sz="2400" b="1" smtClean="0"/>
              <a:t>,</a:t>
            </a:r>
            <a:r>
              <a:rPr lang="en-US" altLang="en-US" sz="2400" smtClean="0"/>
              <a:t> 1988</a:t>
            </a:r>
            <a:r>
              <a:rPr lang="en-US" altLang="en-US" sz="2400" b="1" smtClean="0"/>
              <a:t>,</a:t>
            </a:r>
            <a:r>
              <a:rPr lang="en-US" altLang="en-US" sz="2400" smtClean="0"/>
              <a:t> in Cheshire</a:t>
            </a:r>
            <a:r>
              <a:rPr lang="en-US" altLang="en-US" sz="2400" b="1" smtClean="0"/>
              <a:t>,</a:t>
            </a:r>
            <a:r>
              <a:rPr lang="en-US" altLang="en-US" sz="2400" smtClean="0"/>
              <a:t> Connecticut.</a:t>
            </a:r>
          </a:p>
          <a:p>
            <a:pPr lvl="1" eaLnBrk="1" hangingPunct="1"/>
            <a:r>
              <a:rPr lang="en-US" altLang="en-US" sz="2400" smtClean="0"/>
              <a:t>A letter dated November 26</a:t>
            </a:r>
            <a:r>
              <a:rPr lang="en-US" altLang="en-US" sz="2400" b="1" smtClean="0"/>
              <a:t>,</a:t>
            </a:r>
            <a:r>
              <a:rPr lang="en-US" altLang="en-US" sz="2400" smtClean="0"/>
              <a:t> 1888</a:t>
            </a:r>
            <a:r>
              <a:rPr lang="en-US" altLang="en-US" sz="2400" b="1" smtClean="0"/>
              <a:t>,</a:t>
            </a:r>
            <a:r>
              <a:rPr lang="en-US" altLang="en-US" sz="2400" smtClean="0"/>
              <a:t> was found in the old house at 980 West Street</a:t>
            </a:r>
            <a:r>
              <a:rPr lang="en-US" altLang="en-US" sz="2400" b="1" smtClean="0"/>
              <a:t>,</a:t>
            </a:r>
            <a:r>
              <a:rPr lang="en-US" altLang="en-US" sz="2400" smtClean="0"/>
              <a:t> Davenport</a:t>
            </a:r>
            <a:r>
              <a:rPr lang="en-US" altLang="en-US" sz="2400" b="1" smtClean="0"/>
              <a:t>,</a:t>
            </a:r>
            <a:r>
              <a:rPr lang="en-US" altLang="en-US" sz="2400" smtClean="0"/>
              <a:t> Iowa</a:t>
            </a:r>
            <a:r>
              <a:rPr lang="en-US" altLang="en-US" sz="2400" b="1" smtClean="0"/>
              <a:t>,</a:t>
            </a:r>
            <a:r>
              <a:rPr lang="en-US" altLang="en-US" sz="2400" smtClean="0"/>
              <a:t> yesterday.</a:t>
            </a:r>
          </a:p>
          <a:p>
            <a:pPr lvl="2" eaLnBrk="1" hangingPunct="1"/>
            <a:r>
              <a:rPr lang="en-US" altLang="en-US" sz="2000" smtClean="0"/>
              <a:t>Don’t separate day from month or street number from street.</a:t>
            </a:r>
          </a:p>
          <a:p>
            <a:pPr lvl="2" eaLnBrk="1" hangingPunct="1"/>
            <a:r>
              <a:rPr lang="en-US" altLang="en-US" sz="2000" smtClean="0"/>
              <a:t>A comma comes between the last item in a date or address and the word that follows it.</a:t>
            </a:r>
          </a:p>
        </p:txBody>
      </p:sp>
    </p:spTree>
    <p:extLst>
      <p:ext uri="{BB962C8B-B14F-4D97-AF65-F5344CB8AC3E}">
        <p14:creationId xmlns:p14="http://schemas.microsoft.com/office/powerpoint/2010/main" val="418487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Commas: </a:t>
            </a:r>
            <a:r>
              <a:rPr lang="en-US" dirty="0" smtClean="0"/>
              <a:t>Conventional uses</a:t>
            </a:r>
            <a:endParaRPr 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447800"/>
            <a:ext cx="7924800" cy="5181600"/>
          </a:xfrm>
        </p:spPr>
        <p:txBody>
          <a:bodyPr/>
          <a:lstStyle/>
          <a:p>
            <a:pPr eaLnBrk="1" hangingPunct="1"/>
            <a:r>
              <a:rPr lang="en-US" altLang="en-US" sz="2800" b="1" smtClean="0"/>
              <a:t>Use a comma after the greeting of a personal letter &amp; after the closing of any letter.</a:t>
            </a:r>
          </a:p>
          <a:p>
            <a:pPr lvl="1" eaLnBrk="1" hangingPunct="1"/>
            <a:r>
              <a:rPr lang="en-US" altLang="en-US" sz="2400" smtClean="0"/>
              <a:t>Dear Dad</a:t>
            </a:r>
            <a:r>
              <a:rPr lang="en-US" altLang="en-US" sz="2400" b="1" smtClean="0"/>
              <a:t>,</a:t>
            </a:r>
          </a:p>
          <a:p>
            <a:pPr lvl="1" eaLnBrk="1" hangingPunct="1"/>
            <a:r>
              <a:rPr lang="en-US" altLang="en-US" sz="2400" smtClean="0"/>
              <a:t>Dear Sharon</a:t>
            </a:r>
            <a:r>
              <a:rPr lang="en-US" altLang="en-US" sz="2400" b="1" smtClean="0"/>
              <a:t>,</a:t>
            </a:r>
          </a:p>
          <a:p>
            <a:pPr lvl="1" eaLnBrk="1" hangingPunct="1"/>
            <a:r>
              <a:rPr lang="en-US" altLang="en-US" sz="2400" smtClean="0"/>
              <a:t>Hey jerk,</a:t>
            </a:r>
          </a:p>
          <a:p>
            <a:pPr lvl="1" eaLnBrk="1" hangingPunct="1"/>
            <a:r>
              <a:rPr lang="en-US" altLang="en-US" sz="2400" smtClean="0"/>
              <a:t>With love</a:t>
            </a:r>
            <a:r>
              <a:rPr lang="en-US" altLang="en-US" sz="2400" b="1" smtClean="0"/>
              <a:t>,</a:t>
            </a:r>
          </a:p>
          <a:p>
            <a:pPr lvl="1" eaLnBrk="1" hangingPunct="1"/>
            <a:r>
              <a:rPr lang="en-US" altLang="en-US" sz="2400" smtClean="0"/>
              <a:t>Yours truly</a:t>
            </a:r>
            <a:r>
              <a:rPr lang="en-US" altLang="en-US" sz="2400" b="1" smtClean="0"/>
              <a:t>,</a:t>
            </a:r>
          </a:p>
          <a:p>
            <a:pPr lvl="1" eaLnBrk="1" hangingPunct="1"/>
            <a:r>
              <a:rPr lang="en-US" altLang="en-US" sz="2400" smtClean="0"/>
              <a:t>Hope you choke,</a:t>
            </a:r>
          </a:p>
        </p:txBody>
      </p:sp>
    </p:spTree>
    <p:extLst>
      <p:ext uri="{BB962C8B-B14F-4D97-AF65-F5344CB8AC3E}">
        <p14:creationId xmlns:p14="http://schemas.microsoft.com/office/powerpoint/2010/main" val="2594455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SEMICOLONS: Joining clauses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2590800"/>
            <a:ext cx="8229600" cy="2438400"/>
          </a:xfrm>
        </p:spPr>
        <p:txBody>
          <a:bodyPr/>
          <a:lstStyle/>
          <a:p>
            <a:pPr eaLnBrk="1" hangingPunct="1"/>
            <a:r>
              <a:rPr lang="en-US" altLang="en-US" sz="2800" b="1" dirty="0" smtClean="0"/>
              <a:t>Use a semicolon between independent clauses if they are </a:t>
            </a:r>
            <a:r>
              <a:rPr lang="en-US" altLang="en-US" sz="2800" b="1" u="sng" dirty="0" smtClean="0"/>
              <a:t>not</a:t>
            </a:r>
            <a:r>
              <a:rPr lang="en-US" altLang="en-US" sz="2800" b="1" dirty="0" smtClean="0"/>
              <a:t> joined by a conjunction.</a:t>
            </a:r>
          </a:p>
          <a:p>
            <a:pPr lvl="1" eaLnBrk="1" hangingPunct="1"/>
            <a:r>
              <a:rPr lang="en-US" altLang="en-US" sz="2400" b="1" i="1" dirty="0" smtClean="0"/>
              <a:t>(and, but, or, for, nor, so, </a:t>
            </a:r>
            <a:r>
              <a:rPr lang="en-US" altLang="en-US" sz="2400" b="1" dirty="0" smtClean="0"/>
              <a:t>or </a:t>
            </a:r>
            <a:r>
              <a:rPr lang="en-US" altLang="en-US" sz="2400" b="1" i="1" dirty="0" smtClean="0"/>
              <a:t>yet.)</a:t>
            </a:r>
          </a:p>
          <a:p>
            <a:pPr lvl="1" eaLnBrk="1" hangingPunct="1"/>
            <a:r>
              <a:rPr lang="en-US" altLang="en-US" sz="2400" dirty="0" smtClean="0"/>
              <a:t>Jerry took my suitcase upstairs</a:t>
            </a:r>
            <a:r>
              <a:rPr lang="en-US" altLang="en-US" sz="2400" b="1" dirty="0" smtClean="0"/>
              <a:t>;</a:t>
            </a:r>
            <a:r>
              <a:rPr lang="en-US" altLang="en-US" sz="2400" dirty="0" smtClean="0"/>
              <a:t> he left his own bag in the car.</a:t>
            </a:r>
          </a:p>
          <a:p>
            <a:pPr lvl="1" eaLnBrk="1" hangingPunct="1"/>
            <a:r>
              <a:rPr lang="en-US" altLang="en-US" sz="2400" dirty="0" smtClean="0"/>
              <a:t>After school, I went to marching band practice</a:t>
            </a:r>
            <a:r>
              <a:rPr lang="en-US" altLang="en-US" sz="2400" b="1" dirty="0" smtClean="0"/>
              <a:t>;</a:t>
            </a:r>
            <a:r>
              <a:rPr lang="en-US" altLang="en-US" sz="2400" dirty="0" smtClean="0"/>
              <a:t> then I studied for an hour in the library.</a:t>
            </a:r>
          </a:p>
        </p:txBody>
      </p:sp>
      <p:sp>
        <p:nvSpPr>
          <p:cNvPr id="2" name="Rectangle 1"/>
          <p:cNvSpPr/>
          <p:nvPr/>
        </p:nvSpPr>
        <p:spPr>
          <a:xfrm>
            <a:off x="685800" y="1331616"/>
            <a:ext cx="6629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SEMICOLONS: Joining clauses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95598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SEMICOLONS: With commas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2895600"/>
            <a:ext cx="8001000" cy="39624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If you are joining items that already contain commas, use a semicolon to join each item instead of a comma.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chemeClr val="accent3"/>
                </a:solidFill>
              </a:rPr>
              <a:t>CONFUSING:</a:t>
            </a:r>
          </a:p>
          <a:p>
            <a:pPr lvl="1" eaLnBrk="1" hangingPunct="1">
              <a:defRPr/>
            </a:pPr>
            <a:r>
              <a:rPr lang="en-US" dirty="0" smtClean="0"/>
              <a:t>I wrote to Ann, Ramona, and Mai, and Jean notified Charles, Latoya, and Sue.</a:t>
            </a:r>
          </a:p>
          <a:p>
            <a:pPr lvl="1" eaLnBrk="1" hangingPunct="1">
              <a:defRPr/>
            </a:pPr>
            <a:r>
              <a:rPr lang="en-US" dirty="0" smtClean="0">
                <a:solidFill>
                  <a:srgbClr val="00B050"/>
                </a:solidFill>
              </a:rPr>
              <a:t>CLEAR:</a:t>
            </a:r>
          </a:p>
          <a:p>
            <a:pPr lvl="1" eaLnBrk="1" hangingPunct="1">
              <a:defRPr/>
            </a:pPr>
            <a:r>
              <a:rPr lang="en-US" dirty="0" smtClean="0"/>
              <a:t>I wrote to Ann, Ramona, and Mai</a:t>
            </a:r>
            <a:r>
              <a:rPr lang="en-US" b="1" dirty="0" smtClean="0"/>
              <a:t>;</a:t>
            </a:r>
            <a:r>
              <a:rPr lang="en-US" dirty="0" smtClean="0"/>
              <a:t> and Jean notified Charles, Latoya, and Sue.</a:t>
            </a:r>
          </a:p>
        </p:txBody>
      </p:sp>
      <p:sp>
        <p:nvSpPr>
          <p:cNvPr id="2" name="Rectangle 1"/>
          <p:cNvSpPr/>
          <p:nvPr/>
        </p:nvSpPr>
        <p:spPr>
          <a:xfrm>
            <a:off x="779652" y="1371600"/>
            <a:ext cx="66117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SEMICOLONS: With commas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373720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SEMICOLONS: With commas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2362200"/>
            <a:ext cx="6629400" cy="3962400"/>
          </a:xfrm>
        </p:spPr>
        <p:txBody>
          <a:bodyPr/>
          <a:lstStyle/>
          <a:p>
            <a:pPr lvl="1" eaLnBrk="1" hangingPunct="1"/>
            <a:r>
              <a:rPr lang="en-US" altLang="en-US" sz="2400" dirty="0" smtClean="0">
                <a:solidFill>
                  <a:srgbClr val="C00000"/>
                </a:solidFill>
              </a:rPr>
              <a:t>CONFUSING:</a:t>
            </a:r>
          </a:p>
          <a:p>
            <a:pPr lvl="1" eaLnBrk="1" hangingPunct="1"/>
            <a:r>
              <a:rPr lang="en-US" altLang="en-US" sz="2400" dirty="0" smtClean="0"/>
              <a:t>They visited Phoenix, Arizona, Santa Fe, New Mexico, and San Antonio, Texas.</a:t>
            </a:r>
          </a:p>
          <a:p>
            <a:pPr lvl="2" eaLnBrk="1" hangingPunct="1"/>
            <a:r>
              <a:rPr lang="en-US" altLang="en-US" sz="2000" dirty="0" smtClean="0"/>
              <a:t>This makes it look like 5-6 places, b/c each of the places already has a comma.</a:t>
            </a:r>
          </a:p>
          <a:p>
            <a:pPr lvl="1" eaLnBrk="1" hangingPunct="1"/>
            <a:r>
              <a:rPr lang="en-US" altLang="en-US" sz="2300" dirty="0" smtClean="0">
                <a:solidFill>
                  <a:srgbClr val="00B050"/>
                </a:solidFill>
              </a:rPr>
              <a:t>CLEAR:</a:t>
            </a:r>
            <a:endParaRPr lang="en-US" altLang="en-US" sz="2300" dirty="0" smtClean="0"/>
          </a:p>
          <a:p>
            <a:pPr lvl="1" eaLnBrk="1" hangingPunct="1"/>
            <a:r>
              <a:rPr lang="en-US" altLang="en-US" sz="2400" dirty="0" smtClean="0"/>
              <a:t>They visited Phoenix, Arizona</a:t>
            </a:r>
            <a:r>
              <a:rPr lang="en-US" altLang="en-US" sz="2400" b="1" dirty="0" smtClean="0"/>
              <a:t>;</a:t>
            </a:r>
            <a:r>
              <a:rPr lang="en-US" altLang="en-US" sz="2400" dirty="0" smtClean="0"/>
              <a:t> Santa Fe, New Mexico</a:t>
            </a:r>
            <a:r>
              <a:rPr lang="en-US" altLang="en-US" sz="2400" b="1" dirty="0" smtClean="0"/>
              <a:t>;</a:t>
            </a:r>
            <a:r>
              <a:rPr lang="en-US" altLang="en-US" sz="2400" dirty="0" smtClean="0"/>
              <a:t> and San Antonio, Texas.</a:t>
            </a:r>
          </a:p>
        </p:txBody>
      </p:sp>
      <p:sp>
        <p:nvSpPr>
          <p:cNvPr id="2" name="Rectangle 1"/>
          <p:cNvSpPr/>
          <p:nvPr/>
        </p:nvSpPr>
        <p:spPr>
          <a:xfrm>
            <a:off x="700278" y="1293302"/>
            <a:ext cx="63863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SEMICOLONS: With commas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766800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31494"/>
            <a:ext cx="151384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5" dirty="0">
                <a:solidFill>
                  <a:srgbClr val="04607A"/>
                </a:solidFill>
                <a:latin typeface="Calibri"/>
                <a:cs typeface="Calibri"/>
              </a:rPr>
              <a:t>Colon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7665084" cy="3411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0555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4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Use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colon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after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complete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sentence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to  </a:t>
            </a:r>
            <a:r>
              <a:rPr sz="2600" spc="-10" dirty="0">
                <a:latin typeface="Constantia"/>
                <a:cs typeface="Constantia"/>
              </a:rPr>
              <a:t>introduce </a:t>
            </a:r>
            <a:r>
              <a:rPr sz="2600" dirty="0">
                <a:latin typeface="Constantia"/>
                <a:cs typeface="Constantia"/>
              </a:rPr>
              <a:t>a </a:t>
            </a:r>
            <a:r>
              <a:rPr sz="2600" spc="-5" dirty="0">
                <a:latin typeface="Constantia"/>
                <a:cs typeface="Constantia"/>
              </a:rPr>
              <a:t>list </a:t>
            </a:r>
            <a:r>
              <a:rPr sz="2600" dirty="0">
                <a:latin typeface="Constantia"/>
                <a:cs typeface="Constantia"/>
              </a:rPr>
              <a:t>of</a:t>
            </a:r>
            <a:r>
              <a:rPr sz="2600" spc="-315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items.</a:t>
            </a:r>
            <a:endParaRPr sz="2600">
              <a:latin typeface="Constantia"/>
              <a:cs typeface="Constantia"/>
            </a:endParaRPr>
          </a:p>
          <a:p>
            <a:pPr marL="652780" marR="245110" lvl="1" indent="-247650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</a:tabLst>
            </a:pPr>
            <a:r>
              <a:rPr sz="2400" spc="-5" dirty="0">
                <a:latin typeface="Constantia"/>
                <a:cs typeface="Constantia"/>
              </a:rPr>
              <a:t>Example: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On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my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trip</a:t>
            </a:r>
            <a:r>
              <a:rPr sz="2400" spc="-9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I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will bring:</a:t>
            </a:r>
            <a:r>
              <a:rPr sz="2400" spc="-7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clothes,</a:t>
            </a:r>
            <a:r>
              <a:rPr sz="2400" spc="-5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spc="-40" dirty="0">
                <a:latin typeface="Constantia"/>
                <a:cs typeface="Constantia"/>
              </a:rPr>
              <a:t>pillow,</a:t>
            </a:r>
            <a:r>
              <a:rPr sz="2400" spc="-4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a  sleeping </a:t>
            </a:r>
            <a:r>
              <a:rPr sz="2400" spc="-15" dirty="0">
                <a:latin typeface="Constantia"/>
                <a:cs typeface="Constantia"/>
              </a:rPr>
              <a:t>bag, </a:t>
            </a:r>
            <a:r>
              <a:rPr sz="2400" dirty="0">
                <a:latin typeface="Constantia"/>
                <a:cs typeface="Constantia"/>
              </a:rPr>
              <a:t>a </a:t>
            </a:r>
            <a:r>
              <a:rPr sz="2400" spc="-5" dirty="0">
                <a:latin typeface="Constantia"/>
                <a:cs typeface="Constantia"/>
              </a:rPr>
              <a:t>toothbrush, </a:t>
            </a:r>
            <a:r>
              <a:rPr sz="2400" dirty="0">
                <a:latin typeface="Constantia"/>
                <a:cs typeface="Constantia"/>
              </a:rPr>
              <a:t>and </a:t>
            </a:r>
            <a:r>
              <a:rPr sz="2400" spc="-20" dirty="0">
                <a:latin typeface="Constantia"/>
                <a:cs typeface="Constantia"/>
              </a:rPr>
              <a:t>my </a:t>
            </a:r>
            <a:r>
              <a:rPr sz="2400" spc="-15" dirty="0">
                <a:latin typeface="Constantia"/>
                <a:cs typeface="Constantia"/>
              </a:rPr>
              <a:t>teddy</a:t>
            </a:r>
            <a:r>
              <a:rPr sz="2400" spc="-370" dirty="0">
                <a:latin typeface="Constantia"/>
                <a:cs typeface="Constantia"/>
              </a:rPr>
              <a:t> </a:t>
            </a:r>
            <a:r>
              <a:rPr sz="2400" spc="-50" dirty="0">
                <a:latin typeface="Constantia"/>
                <a:cs typeface="Constantia"/>
              </a:rPr>
              <a:t>bear.</a:t>
            </a:r>
            <a:endParaRPr sz="2400">
              <a:latin typeface="Constantia"/>
              <a:cs typeface="Constantia"/>
            </a:endParaRPr>
          </a:p>
          <a:p>
            <a:pPr lvl="1">
              <a:lnSpc>
                <a:spcPct val="100000"/>
              </a:lnSpc>
              <a:buClr>
                <a:srgbClr val="0E6EC5"/>
              </a:buClr>
              <a:buFont typeface="Wingdings 2"/>
              <a:buChar char=""/>
            </a:pP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160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4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Use</a:t>
            </a:r>
            <a:r>
              <a:rPr sz="2600" spc="-8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colon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after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greeting</a:t>
            </a:r>
            <a:r>
              <a:rPr sz="2600" spc="-6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of</a:t>
            </a:r>
            <a:r>
              <a:rPr sz="2600" spc="2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person’s  </a:t>
            </a:r>
            <a:r>
              <a:rPr sz="2600" spc="-5" dirty="0">
                <a:latin typeface="Constantia"/>
                <a:cs typeface="Constantia"/>
              </a:rPr>
              <a:t>name in </a:t>
            </a:r>
            <a:r>
              <a:rPr sz="2600" dirty="0">
                <a:latin typeface="Constantia"/>
                <a:cs typeface="Constantia"/>
              </a:rPr>
              <a:t>a </a:t>
            </a:r>
            <a:r>
              <a:rPr sz="2600" spc="-5" dirty="0">
                <a:latin typeface="Constantia"/>
                <a:cs typeface="Constantia"/>
              </a:rPr>
              <a:t>business</a:t>
            </a:r>
            <a:r>
              <a:rPr sz="2600" spc="-335" dirty="0">
                <a:latin typeface="Constantia"/>
                <a:cs typeface="Constantia"/>
              </a:rPr>
              <a:t> </a:t>
            </a:r>
            <a:r>
              <a:rPr sz="2600" spc="-45" dirty="0">
                <a:latin typeface="Constantia"/>
                <a:cs typeface="Constantia"/>
              </a:rPr>
              <a:t>letter.</a:t>
            </a:r>
            <a:endParaRPr sz="2600">
              <a:latin typeface="Constantia"/>
              <a:cs typeface="Constantia"/>
            </a:endParaRPr>
          </a:p>
          <a:p>
            <a:pPr marL="652780" lvl="1" indent="-247650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</a:tabLst>
            </a:pPr>
            <a:r>
              <a:rPr sz="2400" spc="-5" dirty="0">
                <a:latin typeface="Constantia"/>
                <a:cs typeface="Constantia"/>
              </a:rPr>
              <a:t>Example: </a:t>
            </a:r>
            <a:r>
              <a:rPr sz="2400" dirty="0">
                <a:latin typeface="Constantia"/>
                <a:cs typeface="Constantia"/>
              </a:rPr>
              <a:t>Dear </a:t>
            </a:r>
            <a:r>
              <a:rPr sz="2400" spc="-75" dirty="0">
                <a:latin typeface="Constantia"/>
                <a:cs typeface="Constantia"/>
              </a:rPr>
              <a:t>Mr.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Smith: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39000" y="4953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42900" y="0"/>
                </a:moveTo>
                <a:lnTo>
                  <a:pt x="292233" y="3306"/>
                </a:lnTo>
                <a:lnTo>
                  <a:pt x="243873" y="12909"/>
                </a:lnTo>
                <a:lnTo>
                  <a:pt x="198351" y="28338"/>
                </a:lnTo>
                <a:lnTo>
                  <a:pt x="156196" y="49120"/>
                </a:lnTo>
                <a:lnTo>
                  <a:pt x="117941" y="74783"/>
                </a:lnTo>
                <a:lnTo>
                  <a:pt x="84114" y="104853"/>
                </a:lnTo>
                <a:lnTo>
                  <a:pt x="55248" y="138860"/>
                </a:lnTo>
                <a:lnTo>
                  <a:pt x="31873" y="176330"/>
                </a:lnTo>
                <a:lnTo>
                  <a:pt x="14519" y="216792"/>
                </a:lnTo>
                <a:lnTo>
                  <a:pt x="3718" y="259772"/>
                </a:lnTo>
                <a:lnTo>
                  <a:pt x="0" y="304800"/>
                </a:lnTo>
                <a:lnTo>
                  <a:pt x="3718" y="349827"/>
                </a:lnTo>
                <a:lnTo>
                  <a:pt x="14519" y="392807"/>
                </a:lnTo>
                <a:lnTo>
                  <a:pt x="31873" y="433269"/>
                </a:lnTo>
                <a:lnTo>
                  <a:pt x="55248" y="470739"/>
                </a:lnTo>
                <a:lnTo>
                  <a:pt x="84114" y="504746"/>
                </a:lnTo>
                <a:lnTo>
                  <a:pt x="117941" y="534816"/>
                </a:lnTo>
                <a:lnTo>
                  <a:pt x="156196" y="560479"/>
                </a:lnTo>
                <a:lnTo>
                  <a:pt x="198351" y="581261"/>
                </a:lnTo>
                <a:lnTo>
                  <a:pt x="243873" y="596690"/>
                </a:lnTo>
                <a:lnTo>
                  <a:pt x="292233" y="606293"/>
                </a:lnTo>
                <a:lnTo>
                  <a:pt x="342900" y="609600"/>
                </a:lnTo>
                <a:lnTo>
                  <a:pt x="393566" y="606293"/>
                </a:lnTo>
                <a:lnTo>
                  <a:pt x="441926" y="596690"/>
                </a:lnTo>
                <a:lnTo>
                  <a:pt x="487448" y="581261"/>
                </a:lnTo>
                <a:lnTo>
                  <a:pt x="529603" y="560479"/>
                </a:lnTo>
                <a:lnTo>
                  <a:pt x="567858" y="534816"/>
                </a:lnTo>
                <a:lnTo>
                  <a:pt x="601685" y="504746"/>
                </a:lnTo>
                <a:lnTo>
                  <a:pt x="630551" y="470739"/>
                </a:lnTo>
                <a:lnTo>
                  <a:pt x="653926" y="433269"/>
                </a:lnTo>
                <a:lnTo>
                  <a:pt x="671280" y="392807"/>
                </a:lnTo>
                <a:lnTo>
                  <a:pt x="682081" y="349827"/>
                </a:lnTo>
                <a:lnTo>
                  <a:pt x="685800" y="304800"/>
                </a:lnTo>
                <a:lnTo>
                  <a:pt x="682081" y="259772"/>
                </a:lnTo>
                <a:lnTo>
                  <a:pt x="671280" y="216792"/>
                </a:lnTo>
                <a:lnTo>
                  <a:pt x="653926" y="176330"/>
                </a:lnTo>
                <a:lnTo>
                  <a:pt x="630551" y="138860"/>
                </a:lnTo>
                <a:lnTo>
                  <a:pt x="601685" y="104853"/>
                </a:lnTo>
                <a:lnTo>
                  <a:pt x="567858" y="74783"/>
                </a:lnTo>
                <a:lnTo>
                  <a:pt x="529603" y="49120"/>
                </a:lnTo>
                <a:lnTo>
                  <a:pt x="487448" y="28338"/>
                </a:lnTo>
                <a:lnTo>
                  <a:pt x="441926" y="12909"/>
                </a:lnTo>
                <a:lnTo>
                  <a:pt x="393566" y="3306"/>
                </a:lnTo>
                <a:lnTo>
                  <a:pt x="342900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239000" y="4953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304800"/>
                </a:moveTo>
                <a:lnTo>
                  <a:pt x="3718" y="259772"/>
                </a:lnTo>
                <a:lnTo>
                  <a:pt x="14519" y="216792"/>
                </a:lnTo>
                <a:lnTo>
                  <a:pt x="31873" y="176330"/>
                </a:lnTo>
                <a:lnTo>
                  <a:pt x="55248" y="138860"/>
                </a:lnTo>
                <a:lnTo>
                  <a:pt x="84114" y="104853"/>
                </a:lnTo>
                <a:lnTo>
                  <a:pt x="117941" y="74783"/>
                </a:lnTo>
                <a:lnTo>
                  <a:pt x="156196" y="49120"/>
                </a:lnTo>
                <a:lnTo>
                  <a:pt x="198351" y="28338"/>
                </a:lnTo>
                <a:lnTo>
                  <a:pt x="243873" y="12909"/>
                </a:lnTo>
                <a:lnTo>
                  <a:pt x="292233" y="3306"/>
                </a:lnTo>
                <a:lnTo>
                  <a:pt x="342900" y="0"/>
                </a:lnTo>
                <a:lnTo>
                  <a:pt x="393566" y="3306"/>
                </a:lnTo>
                <a:lnTo>
                  <a:pt x="441926" y="12909"/>
                </a:lnTo>
                <a:lnTo>
                  <a:pt x="487448" y="28338"/>
                </a:lnTo>
                <a:lnTo>
                  <a:pt x="529603" y="49120"/>
                </a:lnTo>
                <a:lnTo>
                  <a:pt x="567858" y="74783"/>
                </a:lnTo>
                <a:lnTo>
                  <a:pt x="601685" y="104853"/>
                </a:lnTo>
                <a:lnTo>
                  <a:pt x="630551" y="138860"/>
                </a:lnTo>
                <a:lnTo>
                  <a:pt x="653926" y="176330"/>
                </a:lnTo>
                <a:lnTo>
                  <a:pt x="671280" y="216792"/>
                </a:lnTo>
                <a:lnTo>
                  <a:pt x="682081" y="259772"/>
                </a:lnTo>
                <a:lnTo>
                  <a:pt x="685800" y="304800"/>
                </a:lnTo>
                <a:lnTo>
                  <a:pt x="682081" y="349827"/>
                </a:lnTo>
                <a:lnTo>
                  <a:pt x="671280" y="392807"/>
                </a:lnTo>
                <a:lnTo>
                  <a:pt x="653926" y="433269"/>
                </a:lnTo>
                <a:lnTo>
                  <a:pt x="630551" y="470739"/>
                </a:lnTo>
                <a:lnTo>
                  <a:pt x="601685" y="504746"/>
                </a:lnTo>
                <a:lnTo>
                  <a:pt x="567858" y="534816"/>
                </a:lnTo>
                <a:lnTo>
                  <a:pt x="529603" y="560479"/>
                </a:lnTo>
                <a:lnTo>
                  <a:pt x="487448" y="581261"/>
                </a:lnTo>
                <a:lnTo>
                  <a:pt x="441926" y="596690"/>
                </a:lnTo>
                <a:lnTo>
                  <a:pt x="393566" y="606293"/>
                </a:lnTo>
                <a:lnTo>
                  <a:pt x="342900" y="609600"/>
                </a:lnTo>
                <a:lnTo>
                  <a:pt x="292233" y="606293"/>
                </a:lnTo>
                <a:lnTo>
                  <a:pt x="243873" y="596690"/>
                </a:lnTo>
                <a:lnTo>
                  <a:pt x="198351" y="581261"/>
                </a:lnTo>
                <a:lnTo>
                  <a:pt x="156196" y="560479"/>
                </a:lnTo>
                <a:lnTo>
                  <a:pt x="117941" y="534816"/>
                </a:lnTo>
                <a:lnTo>
                  <a:pt x="84114" y="504746"/>
                </a:lnTo>
                <a:lnTo>
                  <a:pt x="55248" y="470739"/>
                </a:lnTo>
                <a:lnTo>
                  <a:pt x="31873" y="433269"/>
                </a:lnTo>
                <a:lnTo>
                  <a:pt x="14519" y="392807"/>
                </a:lnTo>
                <a:lnTo>
                  <a:pt x="3718" y="349827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0850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39000" y="58674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342900" y="0"/>
                </a:moveTo>
                <a:lnTo>
                  <a:pt x="292233" y="3304"/>
                </a:lnTo>
                <a:lnTo>
                  <a:pt x="243873" y="12904"/>
                </a:lnTo>
                <a:lnTo>
                  <a:pt x="198351" y="28328"/>
                </a:lnTo>
                <a:lnTo>
                  <a:pt x="156196" y="49104"/>
                </a:lnTo>
                <a:lnTo>
                  <a:pt x="117941" y="74761"/>
                </a:lnTo>
                <a:lnTo>
                  <a:pt x="84114" y="104827"/>
                </a:lnTo>
                <a:lnTo>
                  <a:pt x="55248" y="138832"/>
                </a:lnTo>
                <a:lnTo>
                  <a:pt x="31873" y="176303"/>
                </a:lnTo>
                <a:lnTo>
                  <a:pt x="14519" y="216768"/>
                </a:lnTo>
                <a:lnTo>
                  <a:pt x="3718" y="259758"/>
                </a:lnTo>
                <a:lnTo>
                  <a:pt x="0" y="304800"/>
                </a:lnTo>
                <a:lnTo>
                  <a:pt x="3718" y="349841"/>
                </a:lnTo>
                <a:lnTo>
                  <a:pt x="14519" y="392831"/>
                </a:lnTo>
                <a:lnTo>
                  <a:pt x="31873" y="433296"/>
                </a:lnTo>
                <a:lnTo>
                  <a:pt x="55248" y="470767"/>
                </a:lnTo>
                <a:lnTo>
                  <a:pt x="84114" y="504772"/>
                </a:lnTo>
                <a:lnTo>
                  <a:pt x="117941" y="534838"/>
                </a:lnTo>
                <a:lnTo>
                  <a:pt x="156196" y="560495"/>
                </a:lnTo>
                <a:lnTo>
                  <a:pt x="198351" y="581271"/>
                </a:lnTo>
                <a:lnTo>
                  <a:pt x="243873" y="596695"/>
                </a:lnTo>
                <a:lnTo>
                  <a:pt x="292233" y="606295"/>
                </a:lnTo>
                <a:lnTo>
                  <a:pt x="342900" y="609600"/>
                </a:lnTo>
                <a:lnTo>
                  <a:pt x="393566" y="606295"/>
                </a:lnTo>
                <a:lnTo>
                  <a:pt x="441926" y="596695"/>
                </a:lnTo>
                <a:lnTo>
                  <a:pt x="487448" y="581271"/>
                </a:lnTo>
                <a:lnTo>
                  <a:pt x="529603" y="560495"/>
                </a:lnTo>
                <a:lnTo>
                  <a:pt x="567858" y="534838"/>
                </a:lnTo>
                <a:lnTo>
                  <a:pt x="601685" y="504772"/>
                </a:lnTo>
                <a:lnTo>
                  <a:pt x="630551" y="470767"/>
                </a:lnTo>
                <a:lnTo>
                  <a:pt x="653926" y="433296"/>
                </a:lnTo>
                <a:lnTo>
                  <a:pt x="671280" y="392831"/>
                </a:lnTo>
                <a:lnTo>
                  <a:pt x="682081" y="349841"/>
                </a:lnTo>
                <a:lnTo>
                  <a:pt x="685800" y="304800"/>
                </a:lnTo>
                <a:lnTo>
                  <a:pt x="682081" y="259758"/>
                </a:lnTo>
                <a:lnTo>
                  <a:pt x="671280" y="216768"/>
                </a:lnTo>
                <a:lnTo>
                  <a:pt x="653926" y="176303"/>
                </a:lnTo>
                <a:lnTo>
                  <a:pt x="630551" y="138832"/>
                </a:lnTo>
                <a:lnTo>
                  <a:pt x="601685" y="104827"/>
                </a:lnTo>
                <a:lnTo>
                  <a:pt x="567858" y="74761"/>
                </a:lnTo>
                <a:lnTo>
                  <a:pt x="529603" y="49104"/>
                </a:lnTo>
                <a:lnTo>
                  <a:pt x="487448" y="28328"/>
                </a:lnTo>
                <a:lnTo>
                  <a:pt x="441926" y="12904"/>
                </a:lnTo>
                <a:lnTo>
                  <a:pt x="393566" y="3304"/>
                </a:lnTo>
                <a:lnTo>
                  <a:pt x="342900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39000" y="58674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0" y="304800"/>
                </a:moveTo>
                <a:lnTo>
                  <a:pt x="3718" y="259758"/>
                </a:lnTo>
                <a:lnTo>
                  <a:pt x="14519" y="216768"/>
                </a:lnTo>
                <a:lnTo>
                  <a:pt x="31873" y="176303"/>
                </a:lnTo>
                <a:lnTo>
                  <a:pt x="55248" y="138832"/>
                </a:lnTo>
                <a:lnTo>
                  <a:pt x="84114" y="104827"/>
                </a:lnTo>
                <a:lnTo>
                  <a:pt x="117941" y="74761"/>
                </a:lnTo>
                <a:lnTo>
                  <a:pt x="156196" y="49104"/>
                </a:lnTo>
                <a:lnTo>
                  <a:pt x="198351" y="28328"/>
                </a:lnTo>
                <a:lnTo>
                  <a:pt x="243873" y="12904"/>
                </a:lnTo>
                <a:lnTo>
                  <a:pt x="292233" y="3304"/>
                </a:lnTo>
                <a:lnTo>
                  <a:pt x="342900" y="0"/>
                </a:lnTo>
                <a:lnTo>
                  <a:pt x="393566" y="3304"/>
                </a:lnTo>
                <a:lnTo>
                  <a:pt x="441926" y="12904"/>
                </a:lnTo>
                <a:lnTo>
                  <a:pt x="487448" y="28328"/>
                </a:lnTo>
                <a:lnTo>
                  <a:pt x="529603" y="49104"/>
                </a:lnTo>
                <a:lnTo>
                  <a:pt x="567858" y="74761"/>
                </a:lnTo>
                <a:lnTo>
                  <a:pt x="601685" y="104827"/>
                </a:lnTo>
                <a:lnTo>
                  <a:pt x="630551" y="138832"/>
                </a:lnTo>
                <a:lnTo>
                  <a:pt x="653926" y="176303"/>
                </a:lnTo>
                <a:lnTo>
                  <a:pt x="671280" y="216768"/>
                </a:lnTo>
                <a:lnTo>
                  <a:pt x="682081" y="259758"/>
                </a:lnTo>
                <a:lnTo>
                  <a:pt x="685800" y="304800"/>
                </a:lnTo>
                <a:lnTo>
                  <a:pt x="682081" y="349841"/>
                </a:lnTo>
                <a:lnTo>
                  <a:pt x="671280" y="392831"/>
                </a:lnTo>
                <a:lnTo>
                  <a:pt x="653926" y="433296"/>
                </a:lnTo>
                <a:lnTo>
                  <a:pt x="630551" y="470767"/>
                </a:lnTo>
                <a:lnTo>
                  <a:pt x="601685" y="504772"/>
                </a:lnTo>
                <a:lnTo>
                  <a:pt x="567858" y="534838"/>
                </a:lnTo>
                <a:lnTo>
                  <a:pt x="529603" y="560495"/>
                </a:lnTo>
                <a:lnTo>
                  <a:pt x="487448" y="581271"/>
                </a:lnTo>
                <a:lnTo>
                  <a:pt x="441926" y="596695"/>
                </a:lnTo>
                <a:lnTo>
                  <a:pt x="393566" y="606295"/>
                </a:lnTo>
                <a:lnTo>
                  <a:pt x="342900" y="609600"/>
                </a:lnTo>
                <a:lnTo>
                  <a:pt x="292233" y="606295"/>
                </a:lnTo>
                <a:lnTo>
                  <a:pt x="243873" y="596695"/>
                </a:lnTo>
                <a:lnTo>
                  <a:pt x="198351" y="581271"/>
                </a:lnTo>
                <a:lnTo>
                  <a:pt x="156196" y="560495"/>
                </a:lnTo>
                <a:lnTo>
                  <a:pt x="117941" y="534838"/>
                </a:lnTo>
                <a:lnTo>
                  <a:pt x="84114" y="504772"/>
                </a:lnTo>
                <a:lnTo>
                  <a:pt x="55248" y="470767"/>
                </a:lnTo>
                <a:lnTo>
                  <a:pt x="31873" y="433296"/>
                </a:lnTo>
                <a:lnTo>
                  <a:pt x="14519" y="392831"/>
                </a:lnTo>
                <a:lnTo>
                  <a:pt x="3718" y="349841"/>
                </a:lnTo>
                <a:lnTo>
                  <a:pt x="0" y="304800"/>
                </a:lnTo>
                <a:close/>
              </a:path>
            </a:pathLst>
          </a:custGeom>
          <a:ln w="25400">
            <a:solidFill>
              <a:srgbClr val="0850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COLONS: Lists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2286000"/>
            <a:ext cx="7467600" cy="4572000"/>
          </a:xfrm>
        </p:spPr>
        <p:txBody>
          <a:bodyPr/>
          <a:lstStyle/>
          <a:p>
            <a:pPr eaLnBrk="1" hangingPunct="1"/>
            <a:r>
              <a:rPr lang="en-US" altLang="en-US" sz="2800" b="1" dirty="0" smtClean="0"/>
              <a:t>Use a colon before a list of items, especially after expressions such as </a:t>
            </a:r>
            <a:r>
              <a:rPr lang="en-US" altLang="en-US" sz="2800" b="1" i="1" dirty="0" smtClean="0"/>
              <a:t>the following</a:t>
            </a:r>
            <a:r>
              <a:rPr lang="en-US" altLang="en-US" sz="2800" b="1" dirty="0" smtClean="0"/>
              <a:t> or </a:t>
            </a:r>
            <a:r>
              <a:rPr lang="en-US" altLang="en-US" sz="2800" b="1" i="1" dirty="0" smtClean="0"/>
              <a:t>as follows.</a:t>
            </a:r>
          </a:p>
          <a:p>
            <a:pPr lvl="1" eaLnBrk="1" hangingPunct="1"/>
            <a:r>
              <a:rPr lang="en-US" altLang="en-US" sz="2400" dirty="0" smtClean="0"/>
              <a:t>You will need these items for map work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 a ruler, pencils, and paper.</a:t>
            </a:r>
          </a:p>
          <a:p>
            <a:pPr lvl="1" eaLnBrk="1" hangingPunct="1"/>
            <a:r>
              <a:rPr lang="en-US" altLang="en-US" sz="2400" dirty="0" smtClean="0"/>
              <a:t>Jack’s pocket contained the following items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 a key, a note, a button, and two quarters.</a:t>
            </a:r>
          </a:p>
          <a:p>
            <a:pPr lvl="1" eaLnBrk="1" hangingPunct="1"/>
            <a:r>
              <a:rPr lang="en-US" altLang="en-US" sz="2400" dirty="0" smtClean="0"/>
              <a:t>The primary colors are as follows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 red, blue, and yellow.</a:t>
            </a:r>
          </a:p>
        </p:txBody>
      </p:sp>
      <p:sp>
        <p:nvSpPr>
          <p:cNvPr id="2" name="Rectangle 1"/>
          <p:cNvSpPr/>
          <p:nvPr/>
        </p:nvSpPr>
        <p:spPr>
          <a:xfrm>
            <a:off x="779652" y="1322262"/>
            <a:ext cx="31827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COLONS: Lists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69087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COLONS: Lists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2438400"/>
            <a:ext cx="8077200" cy="25146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Don’t use a </a:t>
            </a:r>
            <a:r>
              <a:rPr lang="en-US" altLang="en-US" sz="2800" b="1" dirty="0" smtClean="0"/>
              <a:t>colon</a:t>
            </a:r>
            <a:r>
              <a:rPr lang="en-US" altLang="en-US" sz="2800" dirty="0" smtClean="0"/>
              <a:t> between a verb and its object(s).</a:t>
            </a:r>
          </a:p>
          <a:p>
            <a:pPr lvl="1" eaLnBrk="1" hangingPunct="1"/>
            <a:r>
              <a:rPr lang="en-US" altLang="en-US" sz="2400" dirty="0" smtClean="0"/>
              <a:t>Your heading should contain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 your name, the date, and the title of your essay.</a:t>
            </a:r>
          </a:p>
          <a:p>
            <a:pPr lvl="1" eaLnBrk="1" hangingPunct="1"/>
            <a:r>
              <a:rPr lang="en-US" altLang="en-US" sz="2400" dirty="0" smtClean="0"/>
              <a:t>Your heading should contain your name, the date, and the title of your essay.</a:t>
            </a:r>
          </a:p>
          <a:p>
            <a:pPr lvl="1" eaLnBrk="1" hangingPunct="1"/>
            <a:r>
              <a:rPr lang="en-US" altLang="en-US" sz="2400" dirty="0" smtClean="0"/>
              <a:t>Your heading should contain the following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 your name, the date, and the title of your essay.</a:t>
            </a:r>
          </a:p>
        </p:txBody>
      </p:sp>
      <p:pic>
        <p:nvPicPr>
          <p:cNvPr id="39940" name="Picture 4" descr="MCj0397044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3124200"/>
            <a:ext cx="752475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1" name="Picture 5" descr="MCj0397044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3921125"/>
            <a:ext cx="750887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6" descr="MCj043152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860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990600" y="1371600"/>
            <a:ext cx="3352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COLONS: Lists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70502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COLONS: Lists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79652" y="2286000"/>
            <a:ext cx="7830948" cy="2743200"/>
          </a:xfrm>
        </p:spPr>
        <p:txBody>
          <a:bodyPr/>
          <a:lstStyle/>
          <a:p>
            <a:pPr eaLnBrk="1" hangingPunct="1"/>
            <a:r>
              <a:rPr lang="en-US" altLang="en-US" sz="2800" dirty="0" smtClean="0"/>
              <a:t>Don’t use a colon between a preposition and its object(s).</a:t>
            </a:r>
          </a:p>
          <a:p>
            <a:pPr lvl="1" eaLnBrk="1" hangingPunct="1"/>
            <a:r>
              <a:rPr lang="en-US" altLang="en-US" sz="2400" dirty="0" smtClean="0"/>
              <a:t>This marinara sauce is made of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 tomatoes, onions, oregano, and garlic.</a:t>
            </a:r>
          </a:p>
          <a:p>
            <a:pPr lvl="1" eaLnBrk="1" hangingPunct="1"/>
            <a:r>
              <a:rPr lang="en-US" altLang="en-US" sz="2400" dirty="0" smtClean="0"/>
              <a:t>This marinara sauce is made of tomatoes, onions, oregano, and garlic.</a:t>
            </a:r>
          </a:p>
          <a:p>
            <a:pPr lvl="1" eaLnBrk="1" hangingPunct="1"/>
            <a:r>
              <a:rPr lang="en-US" altLang="en-US" sz="2400" dirty="0" smtClean="0"/>
              <a:t>This marinara sauce is made of the following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 tomatoes, onions, oregano, and garlic.</a:t>
            </a:r>
          </a:p>
        </p:txBody>
      </p:sp>
      <p:pic>
        <p:nvPicPr>
          <p:cNvPr id="40964" name="Picture 4" descr="MCj0397044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3" y="3091764"/>
            <a:ext cx="7524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 descr="MCj0397044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63" y="3911600"/>
            <a:ext cx="752475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6" descr="MCj0431521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286000"/>
            <a:ext cx="838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43000" y="1293960"/>
            <a:ext cx="3200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COLONS: Lists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31449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COLONS: Conventional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2209800"/>
            <a:ext cx="8077200" cy="4495800"/>
          </a:xfrm>
        </p:spPr>
        <p:txBody>
          <a:bodyPr/>
          <a:lstStyle/>
          <a:p>
            <a:pPr eaLnBrk="1" hangingPunct="1"/>
            <a:r>
              <a:rPr lang="en-US" altLang="en-US" b="1" dirty="0" smtClean="0"/>
              <a:t>Use a colon between hour &amp; minute.</a:t>
            </a:r>
          </a:p>
          <a:p>
            <a:pPr lvl="1" eaLnBrk="1" hangingPunct="1"/>
            <a:r>
              <a:rPr lang="en-US" altLang="en-US" dirty="0" smtClean="0"/>
              <a:t>8</a:t>
            </a:r>
            <a:r>
              <a:rPr lang="en-US" altLang="en-US" b="1" dirty="0" smtClean="0"/>
              <a:t>:</a:t>
            </a:r>
            <a:r>
              <a:rPr lang="en-US" altLang="en-US" dirty="0" smtClean="0"/>
              <a:t>30 A.M.</a:t>
            </a:r>
          </a:p>
          <a:p>
            <a:pPr lvl="1" eaLnBrk="1" hangingPunct="1"/>
            <a:r>
              <a:rPr lang="en-US" altLang="en-US" dirty="0" smtClean="0"/>
              <a:t>10</a:t>
            </a:r>
            <a:r>
              <a:rPr lang="en-US" altLang="en-US" b="1" dirty="0" smtClean="0"/>
              <a:t>:</a:t>
            </a:r>
            <a:r>
              <a:rPr lang="en-US" altLang="en-US" dirty="0" smtClean="0"/>
              <a:t>00 P.M.</a:t>
            </a:r>
          </a:p>
          <a:p>
            <a:pPr eaLnBrk="1" hangingPunct="1"/>
            <a:r>
              <a:rPr lang="en-US" altLang="en-US" b="1" dirty="0" smtClean="0"/>
              <a:t>Use a colon after the greeting of a business letter.</a:t>
            </a:r>
          </a:p>
          <a:p>
            <a:pPr lvl="1" eaLnBrk="1" hangingPunct="1"/>
            <a:r>
              <a:rPr lang="en-US" altLang="en-US" dirty="0" smtClean="0"/>
              <a:t>Dear Sir or Madam</a:t>
            </a:r>
            <a:r>
              <a:rPr lang="en-US" altLang="en-US" b="1" dirty="0" smtClean="0"/>
              <a:t>:</a:t>
            </a:r>
          </a:p>
          <a:p>
            <a:pPr lvl="1" eaLnBrk="1" hangingPunct="1"/>
            <a:r>
              <a:rPr lang="en-US" altLang="en-US" dirty="0" smtClean="0"/>
              <a:t>To whom it may concern</a:t>
            </a:r>
            <a:r>
              <a:rPr lang="en-US" altLang="en-US" b="1" dirty="0" smtClean="0"/>
              <a:t>:</a:t>
            </a:r>
          </a:p>
        </p:txBody>
      </p:sp>
      <p:sp>
        <p:nvSpPr>
          <p:cNvPr id="2" name="Rectangle 1"/>
          <p:cNvSpPr/>
          <p:nvPr/>
        </p:nvSpPr>
        <p:spPr>
          <a:xfrm>
            <a:off x="1371600" y="947012"/>
            <a:ext cx="52578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COLONS: Conventional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80282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COLONS: Conventional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2438400"/>
            <a:ext cx="8153400" cy="2057400"/>
          </a:xfrm>
        </p:spPr>
        <p:txBody>
          <a:bodyPr/>
          <a:lstStyle/>
          <a:p>
            <a:pPr eaLnBrk="1" hangingPunct="1"/>
            <a:r>
              <a:rPr lang="en-US" altLang="en-US" sz="2800" b="1" dirty="0" smtClean="0"/>
              <a:t>Use a colon between chapter &amp; verse in biblical references and between titles &amp; subtitles.</a:t>
            </a:r>
            <a:endParaRPr lang="en-US" altLang="en-US" sz="2800" dirty="0" smtClean="0"/>
          </a:p>
          <a:p>
            <a:pPr lvl="1" eaLnBrk="1" hangingPunct="1"/>
            <a:r>
              <a:rPr lang="en-US" altLang="en-US" sz="2400" dirty="0" smtClean="0"/>
              <a:t>John 3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16</a:t>
            </a:r>
          </a:p>
          <a:p>
            <a:pPr lvl="1" eaLnBrk="1" hangingPunct="1"/>
            <a:r>
              <a:rPr lang="en-US" altLang="en-US" sz="2400" i="1" dirty="0" smtClean="0"/>
              <a:t>The Chronicles of Narnia</a:t>
            </a:r>
            <a:r>
              <a:rPr lang="en-US" altLang="en-US" sz="2400" b="1" i="1" dirty="0" smtClean="0"/>
              <a:t>: </a:t>
            </a:r>
            <a:r>
              <a:rPr lang="en-US" altLang="en-US" sz="2400" i="1" dirty="0" smtClean="0"/>
              <a:t>The Silver Chair</a:t>
            </a:r>
          </a:p>
          <a:p>
            <a:pPr lvl="1" eaLnBrk="1" hangingPunct="1"/>
            <a:r>
              <a:rPr lang="en-US" altLang="en-US" sz="2400" dirty="0" smtClean="0"/>
              <a:t>“Oral Storytelling</a:t>
            </a:r>
            <a:r>
              <a:rPr lang="en-US" altLang="en-US" sz="2400" b="1" dirty="0" smtClean="0"/>
              <a:t>:</a:t>
            </a:r>
            <a:r>
              <a:rPr lang="en-US" altLang="en-US" sz="2400" dirty="0" smtClean="0"/>
              <a:t> Making the Winter Shorter”</a:t>
            </a:r>
          </a:p>
        </p:txBody>
      </p:sp>
      <p:sp>
        <p:nvSpPr>
          <p:cNvPr id="2" name="Rectangle 1"/>
          <p:cNvSpPr/>
          <p:nvPr/>
        </p:nvSpPr>
        <p:spPr>
          <a:xfrm>
            <a:off x="1295400" y="1295400"/>
            <a:ext cx="5715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COLONS: Conventional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150404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31494"/>
            <a:ext cx="300736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25" dirty="0">
                <a:solidFill>
                  <a:srgbClr val="04607A"/>
                </a:solidFill>
                <a:latin typeface="Calibri"/>
                <a:cs typeface="Calibri"/>
              </a:rPr>
              <a:t>Parenthesis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7835900" cy="1624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Use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parenthesis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to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enclose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words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or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figures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that  </a:t>
            </a:r>
            <a:r>
              <a:rPr sz="2600" spc="5" dirty="0">
                <a:latin typeface="Constantia"/>
                <a:cs typeface="Constantia"/>
              </a:rPr>
              <a:t>clarify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or</a:t>
            </a:r>
            <a:r>
              <a:rPr sz="2600" spc="-155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are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used</a:t>
            </a:r>
            <a:r>
              <a:rPr sz="2600" spc="-95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as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an</a:t>
            </a:r>
            <a:r>
              <a:rPr sz="2600" spc="-1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aside.</a:t>
            </a:r>
            <a:endParaRPr sz="2600">
              <a:latin typeface="Constantia"/>
              <a:cs typeface="Constantia"/>
            </a:endParaRPr>
          </a:p>
          <a:p>
            <a:pPr marL="652780" marR="457834" lvl="1" indent="-247650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  <a:tab pos="3609975" algn="l"/>
              </a:tabLst>
            </a:pPr>
            <a:r>
              <a:rPr sz="2400" spc="-5" dirty="0">
                <a:latin typeface="Constantia"/>
                <a:cs typeface="Constantia"/>
              </a:rPr>
              <a:t>Example:</a:t>
            </a:r>
            <a:r>
              <a:rPr sz="2400" spc="-40" dirty="0">
                <a:latin typeface="Constantia"/>
                <a:cs typeface="Constantia"/>
              </a:rPr>
              <a:t> </a:t>
            </a:r>
            <a:r>
              <a:rPr sz="2400" spc="-30" dirty="0">
                <a:latin typeface="Constantia"/>
                <a:cs typeface="Constantia"/>
              </a:rPr>
              <a:t>He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received	</a:t>
            </a:r>
            <a:r>
              <a:rPr sz="2400" spc="-5" dirty="0">
                <a:latin typeface="Constantia"/>
                <a:cs typeface="Constantia"/>
              </a:rPr>
              <a:t>one </a:t>
            </a:r>
            <a:r>
              <a:rPr sz="2400" spc="-10" dirty="0">
                <a:latin typeface="Constantia"/>
                <a:cs typeface="Constantia"/>
              </a:rPr>
              <a:t>hundred </a:t>
            </a:r>
            <a:r>
              <a:rPr sz="2400" dirty="0">
                <a:latin typeface="Constantia"/>
                <a:cs typeface="Constantia"/>
              </a:rPr>
              <a:t>and </a:t>
            </a:r>
            <a:r>
              <a:rPr sz="2400" spc="10" dirty="0">
                <a:latin typeface="Constantia"/>
                <a:cs typeface="Constantia"/>
              </a:rPr>
              <a:t>fifty</a:t>
            </a:r>
            <a:r>
              <a:rPr sz="2400" spc="-29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points  </a:t>
            </a:r>
            <a:r>
              <a:rPr sz="2400" spc="-5" dirty="0">
                <a:latin typeface="Constantia"/>
                <a:cs typeface="Constantia"/>
              </a:rPr>
              <a:t>(150)on </a:t>
            </a:r>
            <a:r>
              <a:rPr sz="2400" dirty="0">
                <a:latin typeface="Constantia"/>
                <a:cs typeface="Constantia"/>
              </a:rPr>
              <a:t>his </a:t>
            </a:r>
            <a:r>
              <a:rPr sz="2400" spc="-5" dirty="0">
                <a:latin typeface="Constantia"/>
                <a:cs typeface="Constantia"/>
              </a:rPr>
              <a:t>math</a:t>
            </a:r>
            <a:r>
              <a:rPr sz="2400" spc="-20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project.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1778" y="4495967"/>
            <a:ext cx="988694" cy="1905000"/>
          </a:xfrm>
          <a:custGeom>
            <a:avLst/>
            <a:gdLst/>
            <a:ahLst/>
            <a:cxnLst/>
            <a:rect l="l" t="t" r="r" b="b"/>
            <a:pathLst>
              <a:path w="988695" h="1905000">
                <a:moveTo>
                  <a:pt x="10668" y="1764928"/>
                </a:moveTo>
                <a:lnTo>
                  <a:pt x="0" y="1901669"/>
                </a:lnTo>
                <a:lnTo>
                  <a:pt x="36808" y="1904027"/>
                </a:lnTo>
                <a:lnTo>
                  <a:pt x="73675" y="1904832"/>
                </a:lnTo>
                <a:lnTo>
                  <a:pt x="110567" y="1904084"/>
                </a:lnTo>
                <a:lnTo>
                  <a:pt x="194259" y="1896635"/>
                </a:lnTo>
                <a:lnTo>
                  <a:pt x="240269" y="1889106"/>
                </a:lnTo>
                <a:lnTo>
                  <a:pt x="285423" y="1879262"/>
                </a:lnTo>
                <a:lnTo>
                  <a:pt x="329669" y="1867168"/>
                </a:lnTo>
                <a:lnTo>
                  <a:pt x="372954" y="1852886"/>
                </a:lnTo>
                <a:lnTo>
                  <a:pt x="415226" y="1836483"/>
                </a:lnTo>
                <a:lnTo>
                  <a:pt x="456431" y="1818022"/>
                </a:lnTo>
                <a:lnTo>
                  <a:pt x="496518" y="1797568"/>
                </a:lnTo>
                <a:lnTo>
                  <a:pt x="535433" y="1775186"/>
                </a:lnTo>
                <a:lnTo>
                  <a:pt x="547350" y="1767519"/>
                </a:lnTo>
                <a:lnTo>
                  <a:pt x="57977" y="1767519"/>
                </a:lnTo>
                <a:lnTo>
                  <a:pt x="10668" y="1764928"/>
                </a:lnTo>
                <a:close/>
              </a:path>
              <a:path w="988695" h="1905000">
                <a:moveTo>
                  <a:pt x="546839" y="137007"/>
                </a:moveTo>
                <a:lnTo>
                  <a:pt x="75057" y="137007"/>
                </a:lnTo>
                <a:lnTo>
                  <a:pt x="106628" y="137712"/>
                </a:lnTo>
                <a:lnTo>
                  <a:pt x="138175" y="139786"/>
                </a:lnTo>
                <a:lnTo>
                  <a:pt x="185252" y="145332"/>
                </a:lnTo>
                <a:lnTo>
                  <a:pt x="231353" y="153724"/>
                </a:lnTo>
                <a:lnTo>
                  <a:pt x="276403" y="164870"/>
                </a:lnTo>
                <a:lnTo>
                  <a:pt x="320327" y="178678"/>
                </a:lnTo>
                <a:lnTo>
                  <a:pt x="363052" y="195057"/>
                </a:lnTo>
                <a:lnTo>
                  <a:pt x="404503" y="213913"/>
                </a:lnTo>
                <a:lnTo>
                  <a:pt x="444606" y="235155"/>
                </a:lnTo>
                <a:lnTo>
                  <a:pt x="483286" y="258691"/>
                </a:lnTo>
                <a:lnTo>
                  <a:pt x="520469" y="284429"/>
                </a:lnTo>
                <a:lnTo>
                  <a:pt x="556081" y="312277"/>
                </a:lnTo>
                <a:lnTo>
                  <a:pt x="590047" y="342142"/>
                </a:lnTo>
                <a:lnTo>
                  <a:pt x="622293" y="373932"/>
                </a:lnTo>
                <a:lnTo>
                  <a:pt x="652744" y="407557"/>
                </a:lnTo>
                <a:lnTo>
                  <a:pt x="681326" y="442922"/>
                </a:lnTo>
                <a:lnTo>
                  <a:pt x="707966" y="479937"/>
                </a:lnTo>
                <a:lnTo>
                  <a:pt x="732587" y="518510"/>
                </a:lnTo>
                <a:lnTo>
                  <a:pt x="755117" y="558547"/>
                </a:lnTo>
                <a:lnTo>
                  <a:pt x="775480" y="599958"/>
                </a:lnTo>
                <a:lnTo>
                  <a:pt x="793603" y="642650"/>
                </a:lnTo>
                <a:lnTo>
                  <a:pt x="809411" y="686531"/>
                </a:lnTo>
                <a:lnTo>
                  <a:pt x="822829" y="731510"/>
                </a:lnTo>
                <a:lnTo>
                  <a:pt x="833783" y="777493"/>
                </a:lnTo>
                <a:lnTo>
                  <a:pt x="842199" y="824389"/>
                </a:lnTo>
                <a:lnTo>
                  <a:pt x="848003" y="872106"/>
                </a:lnTo>
                <a:lnTo>
                  <a:pt x="851119" y="920551"/>
                </a:lnTo>
                <a:lnTo>
                  <a:pt x="851475" y="969634"/>
                </a:lnTo>
                <a:lnTo>
                  <a:pt x="848995" y="1019261"/>
                </a:lnTo>
                <a:lnTo>
                  <a:pt x="843701" y="1068634"/>
                </a:lnTo>
                <a:lnTo>
                  <a:pt x="835695" y="1116983"/>
                </a:lnTo>
                <a:lnTo>
                  <a:pt x="825066" y="1164232"/>
                </a:lnTo>
                <a:lnTo>
                  <a:pt x="811900" y="1210301"/>
                </a:lnTo>
                <a:lnTo>
                  <a:pt x="796286" y="1255112"/>
                </a:lnTo>
                <a:lnTo>
                  <a:pt x="778311" y="1298588"/>
                </a:lnTo>
                <a:lnTo>
                  <a:pt x="758063" y="1340651"/>
                </a:lnTo>
                <a:lnTo>
                  <a:pt x="735628" y="1381222"/>
                </a:lnTo>
                <a:lnTo>
                  <a:pt x="711096" y="1420224"/>
                </a:lnTo>
                <a:lnTo>
                  <a:pt x="684553" y="1457578"/>
                </a:lnTo>
                <a:lnTo>
                  <a:pt x="656088" y="1493207"/>
                </a:lnTo>
                <a:lnTo>
                  <a:pt x="625787" y="1527032"/>
                </a:lnTo>
                <a:lnTo>
                  <a:pt x="593739" y="1558975"/>
                </a:lnTo>
                <a:lnTo>
                  <a:pt x="560032" y="1588959"/>
                </a:lnTo>
                <a:lnTo>
                  <a:pt x="524752" y="1616906"/>
                </a:lnTo>
                <a:lnTo>
                  <a:pt x="487987" y="1642736"/>
                </a:lnTo>
                <a:lnTo>
                  <a:pt x="449826" y="1666373"/>
                </a:lnTo>
                <a:lnTo>
                  <a:pt x="410355" y="1687739"/>
                </a:lnTo>
                <a:lnTo>
                  <a:pt x="369663" y="1706754"/>
                </a:lnTo>
                <a:lnTo>
                  <a:pt x="327837" y="1723342"/>
                </a:lnTo>
                <a:lnTo>
                  <a:pt x="284965" y="1737425"/>
                </a:lnTo>
                <a:lnTo>
                  <a:pt x="241134" y="1748923"/>
                </a:lnTo>
                <a:lnTo>
                  <a:pt x="196432" y="1757760"/>
                </a:lnTo>
                <a:lnTo>
                  <a:pt x="150947" y="1763857"/>
                </a:lnTo>
                <a:lnTo>
                  <a:pt x="104766" y="1767136"/>
                </a:lnTo>
                <a:lnTo>
                  <a:pt x="57977" y="1767519"/>
                </a:lnTo>
                <a:lnTo>
                  <a:pt x="547350" y="1767519"/>
                </a:lnTo>
                <a:lnTo>
                  <a:pt x="609537" y="1724892"/>
                </a:lnTo>
                <a:lnTo>
                  <a:pt x="644620" y="1697110"/>
                </a:lnTo>
                <a:lnTo>
                  <a:pt x="678321" y="1667656"/>
                </a:lnTo>
                <a:lnTo>
                  <a:pt x="710588" y="1636597"/>
                </a:lnTo>
                <a:lnTo>
                  <a:pt x="741366" y="1603995"/>
                </a:lnTo>
                <a:lnTo>
                  <a:pt x="770604" y="1569915"/>
                </a:lnTo>
                <a:lnTo>
                  <a:pt x="798248" y="1534422"/>
                </a:lnTo>
                <a:lnTo>
                  <a:pt x="824247" y="1497581"/>
                </a:lnTo>
                <a:lnTo>
                  <a:pt x="848547" y="1459455"/>
                </a:lnTo>
                <a:lnTo>
                  <a:pt x="871096" y="1420109"/>
                </a:lnTo>
                <a:lnTo>
                  <a:pt x="891841" y="1379608"/>
                </a:lnTo>
                <a:lnTo>
                  <a:pt x="910729" y="1338015"/>
                </a:lnTo>
                <a:lnTo>
                  <a:pt x="927708" y="1295396"/>
                </a:lnTo>
                <a:lnTo>
                  <a:pt x="942724" y="1251815"/>
                </a:lnTo>
                <a:lnTo>
                  <a:pt x="955726" y="1207336"/>
                </a:lnTo>
                <a:lnTo>
                  <a:pt x="966661" y="1162024"/>
                </a:lnTo>
                <a:lnTo>
                  <a:pt x="975475" y="1115942"/>
                </a:lnTo>
                <a:lnTo>
                  <a:pt x="982117" y="1069157"/>
                </a:lnTo>
                <a:lnTo>
                  <a:pt x="986533" y="1021731"/>
                </a:lnTo>
                <a:lnTo>
                  <a:pt x="988671" y="973730"/>
                </a:lnTo>
                <a:lnTo>
                  <a:pt x="988477" y="925218"/>
                </a:lnTo>
                <a:lnTo>
                  <a:pt x="985901" y="876259"/>
                </a:lnTo>
                <a:lnTo>
                  <a:pt x="980952" y="827497"/>
                </a:lnTo>
                <a:lnTo>
                  <a:pt x="973719" y="779573"/>
                </a:lnTo>
                <a:lnTo>
                  <a:pt x="964265" y="732539"/>
                </a:lnTo>
                <a:lnTo>
                  <a:pt x="952651" y="686451"/>
                </a:lnTo>
                <a:lnTo>
                  <a:pt x="938938" y="641364"/>
                </a:lnTo>
                <a:lnTo>
                  <a:pt x="923189" y="597333"/>
                </a:lnTo>
                <a:lnTo>
                  <a:pt x="905465" y="554413"/>
                </a:lnTo>
                <a:lnTo>
                  <a:pt x="885828" y="512658"/>
                </a:lnTo>
                <a:lnTo>
                  <a:pt x="864341" y="472123"/>
                </a:lnTo>
                <a:lnTo>
                  <a:pt x="841064" y="432864"/>
                </a:lnTo>
                <a:lnTo>
                  <a:pt x="816059" y="394934"/>
                </a:lnTo>
                <a:lnTo>
                  <a:pt x="789389" y="358390"/>
                </a:lnTo>
                <a:lnTo>
                  <a:pt x="761115" y="323286"/>
                </a:lnTo>
                <a:lnTo>
                  <a:pt x="731300" y="289677"/>
                </a:lnTo>
                <a:lnTo>
                  <a:pt x="700004" y="257617"/>
                </a:lnTo>
                <a:lnTo>
                  <a:pt x="667289" y="227162"/>
                </a:lnTo>
                <a:lnTo>
                  <a:pt x="633218" y="198366"/>
                </a:lnTo>
                <a:lnTo>
                  <a:pt x="597853" y="171284"/>
                </a:lnTo>
                <a:lnTo>
                  <a:pt x="561254" y="145972"/>
                </a:lnTo>
                <a:lnTo>
                  <a:pt x="546839" y="137007"/>
                </a:lnTo>
                <a:close/>
              </a:path>
              <a:path w="988695" h="1905000">
                <a:moveTo>
                  <a:pt x="94972" y="0"/>
                </a:moveTo>
                <a:lnTo>
                  <a:pt x="48399" y="198"/>
                </a:lnTo>
                <a:lnTo>
                  <a:pt x="1397" y="2880"/>
                </a:lnTo>
                <a:lnTo>
                  <a:pt x="11938" y="139659"/>
                </a:lnTo>
                <a:lnTo>
                  <a:pt x="43485" y="137660"/>
                </a:lnTo>
                <a:lnTo>
                  <a:pt x="75057" y="137007"/>
                </a:lnTo>
                <a:lnTo>
                  <a:pt x="546839" y="137007"/>
                </a:lnTo>
                <a:lnTo>
                  <a:pt x="523484" y="122484"/>
                </a:lnTo>
                <a:lnTo>
                  <a:pt x="484605" y="100875"/>
                </a:lnTo>
                <a:lnTo>
                  <a:pt x="444678" y="81199"/>
                </a:lnTo>
                <a:lnTo>
                  <a:pt x="403766" y="63512"/>
                </a:lnTo>
                <a:lnTo>
                  <a:pt x="361930" y="47869"/>
                </a:lnTo>
                <a:lnTo>
                  <a:pt x="319231" y="34325"/>
                </a:lnTo>
                <a:lnTo>
                  <a:pt x="275733" y="22933"/>
                </a:lnTo>
                <a:lnTo>
                  <a:pt x="231496" y="13750"/>
                </a:lnTo>
                <a:lnTo>
                  <a:pt x="186582" y="6830"/>
                </a:lnTo>
                <a:lnTo>
                  <a:pt x="141053" y="2229"/>
                </a:lnTo>
                <a:lnTo>
                  <a:pt x="94972" y="0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1778" y="4495967"/>
            <a:ext cx="988694" cy="1905000"/>
          </a:xfrm>
          <a:custGeom>
            <a:avLst/>
            <a:gdLst/>
            <a:ahLst/>
            <a:cxnLst/>
            <a:rect l="l" t="t" r="r" b="b"/>
            <a:pathLst>
              <a:path w="988695" h="1905000">
                <a:moveTo>
                  <a:pt x="1397" y="2880"/>
                </a:moveTo>
                <a:lnTo>
                  <a:pt x="48399" y="198"/>
                </a:lnTo>
                <a:lnTo>
                  <a:pt x="94972" y="0"/>
                </a:lnTo>
                <a:lnTo>
                  <a:pt x="141053" y="2229"/>
                </a:lnTo>
                <a:lnTo>
                  <a:pt x="186582" y="6830"/>
                </a:lnTo>
                <a:lnTo>
                  <a:pt x="231496" y="13750"/>
                </a:lnTo>
                <a:lnTo>
                  <a:pt x="275733" y="22933"/>
                </a:lnTo>
                <a:lnTo>
                  <a:pt x="319231" y="34325"/>
                </a:lnTo>
                <a:lnTo>
                  <a:pt x="361930" y="47869"/>
                </a:lnTo>
                <a:lnTo>
                  <a:pt x="403766" y="63512"/>
                </a:lnTo>
                <a:lnTo>
                  <a:pt x="444678" y="81199"/>
                </a:lnTo>
                <a:lnTo>
                  <a:pt x="484605" y="100875"/>
                </a:lnTo>
                <a:lnTo>
                  <a:pt x="523484" y="122484"/>
                </a:lnTo>
                <a:lnTo>
                  <a:pt x="561254" y="145972"/>
                </a:lnTo>
                <a:lnTo>
                  <a:pt x="597853" y="171284"/>
                </a:lnTo>
                <a:lnTo>
                  <a:pt x="633218" y="198366"/>
                </a:lnTo>
                <a:lnTo>
                  <a:pt x="667289" y="227162"/>
                </a:lnTo>
                <a:lnTo>
                  <a:pt x="700004" y="257617"/>
                </a:lnTo>
                <a:lnTo>
                  <a:pt x="731300" y="289677"/>
                </a:lnTo>
                <a:lnTo>
                  <a:pt x="761115" y="323286"/>
                </a:lnTo>
                <a:lnTo>
                  <a:pt x="789389" y="358390"/>
                </a:lnTo>
                <a:lnTo>
                  <a:pt x="816059" y="394934"/>
                </a:lnTo>
                <a:lnTo>
                  <a:pt x="841064" y="432864"/>
                </a:lnTo>
                <a:lnTo>
                  <a:pt x="864341" y="472123"/>
                </a:lnTo>
                <a:lnTo>
                  <a:pt x="885828" y="512658"/>
                </a:lnTo>
                <a:lnTo>
                  <a:pt x="905465" y="554413"/>
                </a:lnTo>
                <a:lnTo>
                  <a:pt x="923189" y="597333"/>
                </a:lnTo>
                <a:lnTo>
                  <a:pt x="938938" y="641364"/>
                </a:lnTo>
                <a:lnTo>
                  <a:pt x="952651" y="686451"/>
                </a:lnTo>
                <a:lnTo>
                  <a:pt x="964265" y="732539"/>
                </a:lnTo>
                <a:lnTo>
                  <a:pt x="973719" y="779573"/>
                </a:lnTo>
                <a:lnTo>
                  <a:pt x="980952" y="827497"/>
                </a:lnTo>
                <a:lnTo>
                  <a:pt x="985901" y="876259"/>
                </a:lnTo>
                <a:lnTo>
                  <a:pt x="988477" y="925218"/>
                </a:lnTo>
                <a:lnTo>
                  <a:pt x="988671" y="973730"/>
                </a:lnTo>
                <a:lnTo>
                  <a:pt x="986533" y="1021731"/>
                </a:lnTo>
                <a:lnTo>
                  <a:pt x="982117" y="1069157"/>
                </a:lnTo>
                <a:lnTo>
                  <a:pt x="975475" y="1115942"/>
                </a:lnTo>
                <a:lnTo>
                  <a:pt x="966661" y="1162024"/>
                </a:lnTo>
                <a:lnTo>
                  <a:pt x="955726" y="1207336"/>
                </a:lnTo>
                <a:lnTo>
                  <a:pt x="942724" y="1251815"/>
                </a:lnTo>
                <a:lnTo>
                  <a:pt x="927708" y="1295396"/>
                </a:lnTo>
                <a:lnTo>
                  <a:pt x="910729" y="1338015"/>
                </a:lnTo>
                <a:lnTo>
                  <a:pt x="891841" y="1379608"/>
                </a:lnTo>
                <a:lnTo>
                  <a:pt x="871096" y="1420109"/>
                </a:lnTo>
                <a:lnTo>
                  <a:pt x="848547" y="1459455"/>
                </a:lnTo>
                <a:lnTo>
                  <a:pt x="824247" y="1497581"/>
                </a:lnTo>
                <a:lnTo>
                  <a:pt x="798248" y="1534422"/>
                </a:lnTo>
                <a:lnTo>
                  <a:pt x="770604" y="1569915"/>
                </a:lnTo>
                <a:lnTo>
                  <a:pt x="741366" y="1603995"/>
                </a:lnTo>
                <a:lnTo>
                  <a:pt x="710588" y="1636597"/>
                </a:lnTo>
                <a:lnTo>
                  <a:pt x="678321" y="1667656"/>
                </a:lnTo>
                <a:lnTo>
                  <a:pt x="644620" y="1697110"/>
                </a:lnTo>
                <a:lnTo>
                  <a:pt x="609537" y="1724892"/>
                </a:lnTo>
                <a:lnTo>
                  <a:pt x="573123" y="1750939"/>
                </a:lnTo>
                <a:lnTo>
                  <a:pt x="535433" y="1775186"/>
                </a:lnTo>
                <a:lnTo>
                  <a:pt x="496518" y="1797568"/>
                </a:lnTo>
                <a:lnTo>
                  <a:pt x="456431" y="1818022"/>
                </a:lnTo>
                <a:lnTo>
                  <a:pt x="415226" y="1836483"/>
                </a:lnTo>
                <a:lnTo>
                  <a:pt x="372954" y="1852886"/>
                </a:lnTo>
                <a:lnTo>
                  <a:pt x="329669" y="1867168"/>
                </a:lnTo>
                <a:lnTo>
                  <a:pt x="285423" y="1879262"/>
                </a:lnTo>
                <a:lnTo>
                  <a:pt x="240269" y="1889106"/>
                </a:lnTo>
                <a:lnTo>
                  <a:pt x="194259" y="1896635"/>
                </a:lnTo>
                <a:lnTo>
                  <a:pt x="147447" y="1901784"/>
                </a:lnTo>
                <a:lnTo>
                  <a:pt x="73675" y="1904832"/>
                </a:lnTo>
                <a:lnTo>
                  <a:pt x="36808" y="1904027"/>
                </a:lnTo>
                <a:lnTo>
                  <a:pt x="0" y="1901669"/>
                </a:lnTo>
                <a:lnTo>
                  <a:pt x="10668" y="1764928"/>
                </a:lnTo>
                <a:lnTo>
                  <a:pt x="57977" y="1767519"/>
                </a:lnTo>
                <a:lnTo>
                  <a:pt x="104766" y="1767136"/>
                </a:lnTo>
                <a:lnTo>
                  <a:pt x="150947" y="1763857"/>
                </a:lnTo>
                <a:lnTo>
                  <a:pt x="196432" y="1757760"/>
                </a:lnTo>
                <a:lnTo>
                  <a:pt x="241134" y="1748923"/>
                </a:lnTo>
                <a:lnTo>
                  <a:pt x="284965" y="1737425"/>
                </a:lnTo>
                <a:lnTo>
                  <a:pt x="327837" y="1723342"/>
                </a:lnTo>
                <a:lnTo>
                  <a:pt x="369663" y="1706754"/>
                </a:lnTo>
                <a:lnTo>
                  <a:pt x="410355" y="1687739"/>
                </a:lnTo>
                <a:lnTo>
                  <a:pt x="449826" y="1666373"/>
                </a:lnTo>
                <a:lnTo>
                  <a:pt x="487987" y="1642736"/>
                </a:lnTo>
                <a:lnTo>
                  <a:pt x="524752" y="1616906"/>
                </a:lnTo>
                <a:lnTo>
                  <a:pt x="560032" y="1588959"/>
                </a:lnTo>
                <a:lnTo>
                  <a:pt x="593739" y="1558975"/>
                </a:lnTo>
                <a:lnTo>
                  <a:pt x="625787" y="1527032"/>
                </a:lnTo>
                <a:lnTo>
                  <a:pt x="656088" y="1493207"/>
                </a:lnTo>
                <a:lnTo>
                  <a:pt x="684553" y="1457578"/>
                </a:lnTo>
                <a:lnTo>
                  <a:pt x="711096" y="1420224"/>
                </a:lnTo>
                <a:lnTo>
                  <a:pt x="735628" y="1381222"/>
                </a:lnTo>
                <a:lnTo>
                  <a:pt x="758063" y="1340651"/>
                </a:lnTo>
                <a:lnTo>
                  <a:pt x="778311" y="1298588"/>
                </a:lnTo>
                <a:lnTo>
                  <a:pt x="796286" y="1255112"/>
                </a:lnTo>
                <a:lnTo>
                  <a:pt x="811900" y="1210301"/>
                </a:lnTo>
                <a:lnTo>
                  <a:pt x="825066" y="1164232"/>
                </a:lnTo>
                <a:lnTo>
                  <a:pt x="835695" y="1116983"/>
                </a:lnTo>
                <a:lnTo>
                  <a:pt x="843701" y="1068634"/>
                </a:lnTo>
                <a:lnTo>
                  <a:pt x="848995" y="1019261"/>
                </a:lnTo>
                <a:lnTo>
                  <a:pt x="851475" y="969634"/>
                </a:lnTo>
                <a:lnTo>
                  <a:pt x="851119" y="920551"/>
                </a:lnTo>
                <a:lnTo>
                  <a:pt x="848003" y="872106"/>
                </a:lnTo>
                <a:lnTo>
                  <a:pt x="842199" y="824389"/>
                </a:lnTo>
                <a:lnTo>
                  <a:pt x="833783" y="777493"/>
                </a:lnTo>
                <a:lnTo>
                  <a:pt x="822829" y="731510"/>
                </a:lnTo>
                <a:lnTo>
                  <a:pt x="809411" y="686531"/>
                </a:lnTo>
                <a:lnTo>
                  <a:pt x="793603" y="642650"/>
                </a:lnTo>
                <a:lnTo>
                  <a:pt x="775480" y="599958"/>
                </a:lnTo>
                <a:lnTo>
                  <a:pt x="755117" y="558547"/>
                </a:lnTo>
                <a:lnTo>
                  <a:pt x="732587" y="518510"/>
                </a:lnTo>
                <a:lnTo>
                  <a:pt x="707966" y="479937"/>
                </a:lnTo>
                <a:lnTo>
                  <a:pt x="681326" y="442922"/>
                </a:lnTo>
                <a:lnTo>
                  <a:pt x="652744" y="407557"/>
                </a:lnTo>
                <a:lnTo>
                  <a:pt x="622293" y="373932"/>
                </a:lnTo>
                <a:lnTo>
                  <a:pt x="590047" y="342142"/>
                </a:lnTo>
                <a:lnTo>
                  <a:pt x="556081" y="312277"/>
                </a:lnTo>
                <a:lnTo>
                  <a:pt x="520469" y="284429"/>
                </a:lnTo>
                <a:lnTo>
                  <a:pt x="483286" y="258691"/>
                </a:lnTo>
                <a:lnTo>
                  <a:pt x="444606" y="235155"/>
                </a:lnTo>
                <a:lnTo>
                  <a:pt x="404503" y="213913"/>
                </a:lnTo>
                <a:lnTo>
                  <a:pt x="363052" y="195057"/>
                </a:lnTo>
                <a:lnTo>
                  <a:pt x="320327" y="178678"/>
                </a:lnTo>
                <a:lnTo>
                  <a:pt x="276403" y="164870"/>
                </a:lnTo>
                <a:lnTo>
                  <a:pt x="231353" y="153724"/>
                </a:lnTo>
                <a:lnTo>
                  <a:pt x="185252" y="145332"/>
                </a:lnTo>
                <a:lnTo>
                  <a:pt x="138175" y="139786"/>
                </a:lnTo>
                <a:lnTo>
                  <a:pt x="75057" y="137007"/>
                </a:lnTo>
                <a:lnTo>
                  <a:pt x="43485" y="137660"/>
                </a:lnTo>
                <a:lnTo>
                  <a:pt x="11938" y="139659"/>
                </a:lnTo>
                <a:lnTo>
                  <a:pt x="1397" y="2880"/>
                </a:lnTo>
                <a:close/>
              </a:path>
            </a:pathLst>
          </a:custGeom>
          <a:ln w="25400">
            <a:solidFill>
              <a:srgbClr val="0850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00751" y="4495815"/>
            <a:ext cx="988694" cy="1905000"/>
          </a:xfrm>
          <a:custGeom>
            <a:avLst/>
            <a:gdLst/>
            <a:ahLst/>
            <a:cxnLst/>
            <a:rect l="l" t="t" r="r" b="b"/>
            <a:pathLst>
              <a:path w="988695" h="1905000">
                <a:moveTo>
                  <a:pt x="914995" y="0"/>
                </a:moveTo>
                <a:lnTo>
                  <a:pt x="841224" y="3032"/>
                </a:lnTo>
                <a:lnTo>
                  <a:pt x="794411" y="8184"/>
                </a:lnTo>
                <a:lnTo>
                  <a:pt x="748401" y="15715"/>
                </a:lnTo>
                <a:lnTo>
                  <a:pt x="703247" y="25562"/>
                </a:lnTo>
                <a:lnTo>
                  <a:pt x="659001" y="37658"/>
                </a:lnTo>
                <a:lnTo>
                  <a:pt x="615716" y="51941"/>
                </a:lnTo>
                <a:lnTo>
                  <a:pt x="573444" y="68346"/>
                </a:lnTo>
                <a:lnTo>
                  <a:pt x="532239" y="86808"/>
                </a:lnTo>
                <a:lnTo>
                  <a:pt x="492152" y="107263"/>
                </a:lnTo>
                <a:lnTo>
                  <a:pt x="453237" y="129646"/>
                </a:lnTo>
                <a:lnTo>
                  <a:pt x="415547" y="153893"/>
                </a:lnTo>
                <a:lnTo>
                  <a:pt x="379133" y="179940"/>
                </a:lnTo>
                <a:lnTo>
                  <a:pt x="344050" y="207722"/>
                </a:lnTo>
                <a:lnTo>
                  <a:pt x="310349" y="237175"/>
                </a:lnTo>
                <a:lnTo>
                  <a:pt x="278082" y="268234"/>
                </a:lnTo>
                <a:lnTo>
                  <a:pt x="247304" y="300836"/>
                </a:lnTo>
                <a:lnTo>
                  <a:pt x="218066" y="334914"/>
                </a:lnTo>
                <a:lnTo>
                  <a:pt x="190422" y="370406"/>
                </a:lnTo>
                <a:lnTo>
                  <a:pt x="164423" y="407247"/>
                </a:lnTo>
                <a:lnTo>
                  <a:pt x="140123" y="445372"/>
                </a:lnTo>
                <a:lnTo>
                  <a:pt x="117574" y="484716"/>
                </a:lnTo>
                <a:lnTo>
                  <a:pt x="96829" y="525217"/>
                </a:lnTo>
                <a:lnTo>
                  <a:pt x="77941" y="566808"/>
                </a:lnTo>
                <a:lnTo>
                  <a:pt x="60962" y="609426"/>
                </a:lnTo>
                <a:lnTo>
                  <a:pt x="45946" y="653006"/>
                </a:lnTo>
                <a:lnTo>
                  <a:pt x="32944" y="697484"/>
                </a:lnTo>
                <a:lnTo>
                  <a:pt x="22009" y="742795"/>
                </a:lnTo>
                <a:lnTo>
                  <a:pt x="13195" y="788875"/>
                </a:lnTo>
                <a:lnTo>
                  <a:pt x="6553" y="835660"/>
                </a:lnTo>
                <a:lnTo>
                  <a:pt x="2137" y="883085"/>
                </a:lnTo>
                <a:lnTo>
                  <a:pt x="0" y="931086"/>
                </a:lnTo>
                <a:lnTo>
                  <a:pt x="193" y="979598"/>
                </a:lnTo>
                <a:lnTo>
                  <a:pt x="2770" y="1028557"/>
                </a:lnTo>
                <a:lnTo>
                  <a:pt x="7718" y="1077315"/>
                </a:lnTo>
                <a:lnTo>
                  <a:pt x="14951" y="1125238"/>
                </a:lnTo>
                <a:lnTo>
                  <a:pt x="24405" y="1172270"/>
                </a:lnTo>
                <a:lnTo>
                  <a:pt x="36019" y="1218356"/>
                </a:lnTo>
                <a:lnTo>
                  <a:pt x="49732" y="1263441"/>
                </a:lnTo>
                <a:lnTo>
                  <a:pt x="65481" y="1307471"/>
                </a:lnTo>
                <a:lnTo>
                  <a:pt x="83205" y="1350390"/>
                </a:lnTo>
                <a:lnTo>
                  <a:pt x="102842" y="1392143"/>
                </a:lnTo>
                <a:lnTo>
                  <a:pt x="124329" y="1432677"/>
                </a:lnTo>
                <a:lnTo>
                  <a:pt x="147606" y="1471935"/>
                </a:lnTo>
                <a:lnTo>
                  <a:pt x="172611" y="1509864"/>
                </a:lnTo>
                <a:lnTo>
                  <a:pt x="199281" y="1546407"/>
                </a:lnTo>
                <a:lnTo>
                  <a:pt x="227555" y="1581511"/>
                </a:lnTo>
                <a:lnTo>
                  <a:pt x="257370" y="1615120"/>
                </a:lnTo>
                <a:lnTo>
                  <a:pt x="288666" y="1647179"/>
                </a:lnTo>
                <a:lnTo>
                  <a:pt x="321381" y="1677635"/>
                </a:lnTo>
                <a:lnTo>
                  <a:pt x="355452" y="1706430"/>
                </a:lnTo>
                <a:lnTo>
                  <a:pt x="390817" y="1733512"/>
                </a:lnTo>
                <a:lnTo>
                  <a:pt x="427416" y="1758825"/>
                </a:lnTo>
                <a:lnTo>
                  <a:pt x="465186" y="1782314"/>
                </a:lnTo>
                <a:lnTo>
                  <a:pt x="504065" y="1803923"/>
                </a:lnTo>
                <a:lnTo>
                  <a:pt x="543992" y="1823600"/>
                </a:lnTo>
                <a:lnTo>
                  <a:pt x="584904" y="1841287"/>
                </a:lnTo>
                <a:lnTo>
                  <a:pt x="626740" y="1856932"/>
                </a:lnTo>
                <a:lnTo>
                  <a:pt x="669439" y="1870477"/>
                </a:lnTo>
                <a:lnTo>
                  <a:pt x="712937" y="1881870"/>
                </a:lnTo>
                <a:lnTo>
                  <a:pt x="757174" y="1891055"/>
                </a:lnTo>
                <a:lnTo>
                  <a:pt x="802088" y="1897976"/>
                </a:lnTo>
                <a:lnTo>
                  <a:pt x="847617" y="1902580"/>
                </a:lnTo>
                <a:lnTo>
                  <a:pt x="893698" y="1904811"/>
                </a:lnTo>
                <a:lnTo>
                  <a:pt x="940271" y="1904615"/>
                </a:lnTo>
                <a:lnTo>
                  <a:pt x="987274" y="1901936"/>
                </a:lnTo>
                <a:lnTo>
                  <a:pt x="976936" y="1767822"/>
                </a:lnTo>
                <a:lnTo>
                  <a:pt x="913614" y="1767822"/>
                </a:lnTo>
                <a:lnTo>
                  <a:pt x="882042" y="1767123"/>
                </a:lnTo>
                <a:lnTo>
                  <a:pt x="803418" y="1759522"/>
                </a:lnTo>
                <a:lnTo>
                  <a:pt x="757317" y="1751120"/>
                </a:lnTo>
                <a:lnTo>
                  <a:pt x="712267" y="1739964"/>
                </a:lnTo>
                <a:lnTo>
                  <a:pt x="668343" y="1726148"/>
                </a:lnTo>
                <a:lnTo>
                  <a:pt x="625618" y="1709763"/>
                </a:lnTo>
                <a:lnTo>
                  <a:pt x="584167" y="1690902"/>
                </a:lnTo>
                <a:lnTo>
                  <a:pt x="544064" y="1669655"/>
                </a:lnTo>
                <a:lnTo>
                  <a:pt x="505384" y="1646116"/>
                </a:lnTo>
                <a:lnTo>
                  <a:pt x="468201" y="1620376"/>
                </a:lnTo>
                <a:lnTo>
                  <a:pt x="432589" y="1592527"/>
                </a:lnTo>
                <a:lnTo>
                  <a:pt x="398623" y="1562660"/>
                </a:lnTo>
                <a:lnTo>
                  <a:pt x="366377" y="1530869"/>
                </a:lnTo>
                <a:lnTo>
                  <a:pt x="335926" y="1497246"/>
                </a:lnTo>
                <a:lnTo>
                  <a:pt x="307344" y="1461881"/>
                </a:lnTo>
                <a:lnTo>
                  <a:pt x="280704" y="1424867"/>
                </a:lnTo>
                <a:lnTo>
                  <a:pt x="256083" y="1386296"/>
                </a:lnTo>
                <a:lnTo>
                  <a:pt x="233553" y="1346259"/>
                </a:lnTo>
                <a:lnTo>
                  <a:pt x="213190" y="1304850"/>
                </a:lnTo>
                <a:lnTo>
                  <a:pt x="195067" y="1262160"/>
                </a:lnTo>
                <a:lnTo>
                  <a:pt x="179259" y="1218281"/>
                </a:lnTo>
                <a:lnTo>
                  <a:pt x="165841" y="1173304"/>
                </a:lnTo>
                <a:lnTo>
                  <a:pt x="154887" y="1127322"/>
                </a:lnTo>
                <a:lnTo>
                  <a:pt x="146471" y="1080427"/>
                </a:lnTo>
                <a:lnTo>
                  <a:pt x="140667" y="1032711"/>
                </a:lnTo>
                <a:lnTo>
                  <a:pt x="137551" y="984265"/>
                </a:lnTo>
                <a:lnTo>
                  <a:pt x="137195" y="935183"/>
                </a:lnTo>
                <a:lnTo>
                  <a:pt x="139676" y="885555"/>
                </a:lnTo>
                <a:lnTo>
                  <a:pt x="144969" y="836186"/>
                </a:lnTo>
                <a:lnTo>
                  <a:pt x="152975" y="787839"/>
                </a:lnTo>
                <a:lnTo>
                  <a:pt x="163604" y="740594"/>
                </a:lnTo>
                <a:lnTo>
                  <a:pt x="176770" y="694528"/>
                </a:lnTo>
                <a:lnTo>
                  <a:pt x="192384" y="649719"/>
                </a:lnTo>
                <a:lnTo>
                  <a:pt x="210359" y="606246"/>
                </a:lnTo>
                <a:lnTo>
                  <a:pt x="230607" y="564185"/>
                </a:lnTo>
                <a:lnTo>
                  <a:pt x="253042" y="523616"/>
                </a:lnTo>
                <a:lnTo>
                  <a:pt x="277574" y="484616"/>
                </a:lnTo>
                <a:lnTo>
                  <a:pt x="304117" y="447263"/>
                </a:lnTo>
                <a:lnTo>
                  <a:pt x="332582" y="411636"/>
                </a:lnTo>
                <a:lnTo>
                  <a:pt x="362883" y="377812"/>
                </a:lnTo>
                <a:lnTo>
                  <a:pt x="394931" y="345869"/>
                </a:lnTo>
                <a:lnTo>
                  <a:pt x="428638" y="315887"/>
                </a:lnTo>
                <a:lnTo>
                  <a:pt x="463918" y="287941"/>
                </a:lnTo>
                <a:lnTo>
                  <a:pt x="500683" y="262112"/>
                </a:lnTo>
                <a:lnTo>
                  <a:pt x="538844" y="238476"/>
                </a:lnTo>
                <a:lnTo>
                  <a:pt x="578315" y="217111"/>
                </a:lnTo>
                <a:lnTo>
                  <a:pt x="619007" y="198097"/>
                </a:lnTo>
                <a:lnTo>
                  <a:pt x="660833" y="181510"/>
                </a:lnTo>
                <a:lnTo>
                  <a:pt x="703705" y="167429"/>
                </a:lnTo>
                <a:lnTo>
                  <a:pt x="747536" y="155932"/>
                </a:lnTo>
                <a:lnTo>
                  <a:pt x="792238" y="147097"/>
                </a:lnTo>
                <a:lnTo>
                  <a:pt x="837723" y="141002"/>
                </a:lnTo>
                <a:lnTo>
                  <a:pt x="883904" y="137725"/>
                </a:lnTo>
                <a:lnTo>
                  <a:pt x="978205" y="137344"/>
                </a:lnTo>
                <a:lnTo>
                  <a:pt x="988671" y="3159"/>
                </a:lnTo>
                <a:lnTo>
                  <a:pt x="951862" y="799"/>
                </a:lnTo>
                <a:lnTo>
                  <a:pt x="914995" y="0"/>
                </a:lnTo>
                <a:close/>
              </a:path>
              <a:path w="988695" h="1905000">
                <a:moveTo>
                  <a:pt x="976733" y="1765182"/>
                </a:moveTo>
                <a:lnTo>
                  <a:pt x="945185" y="1767175"/>
                </a:lnTo>
                <a:lnTo>
                  <a:pt x="913614" y="1767822"/>
                </a:lnTo>
                <a:lnTo>
                  <a:pt x="976936" y="1767822"/>
                </a:lnTo>
                <a:lnTo>
                  <a:pt x="976733" y="1765182"/>
                </a:lnTo>
                <a:close/>
              </a:path>
              <a:path w="988695" h="1905000">
                <a:moveTo>
                  <a:pt x="978205" y="137344"/>
                </a:moveTo>
                <a:lnTo>
                  <a:pt x="930693" y="137344"/>
                </a:lnTo>
                <a:lnTo>
                  <a:pt x="978003" y="139938"/>
                </a:lnTo>
                <a:lnTo>
                  <a:pt x="978205" y="137344"/>
                </a:lnTo>
                <a:close/>
              </a:path>
            </a:pathLst>
          </a:custGeom>
          <a:solidFill>
            <a:srgbClr val="0E6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00751" y="4495815"/>
            <a:ext cx="988694" cy="1905000"/>
          </a:xfrm>
          <a:custGeom>
            <a:avLst/>
            <a:gdLst/>
            <a:ahLst/>
            <a:cxnLst/>
            <a:rect l="l" t="t" r="r" b="b"/>
            <a:pathLst>
              <a:path w="988695" h="1905000">
                <a:moveTo>
                  <a:pt x="987274" y="1901936"/>
                </a:moveTo>
                <a:lnTo>
                  <a:pt x="940271" y="1904615"/>
                </a:lnTo>
                <a:lnTo>
                  <a:pt x="893698" y="1904811"/>
                </a:lnTo>
                <a:lnTo>
                  <a:pt x="847617" y="1902580"/>
                </a:lnTo>
                <a:lnTo>
                  <a:pt x="802088" y="1897976"/>
                </a:lnTo>
                <a:lnTo>
                  <a:pt x="757174" y="1891055"/>
                </a:lnTo>
                <a:lnTo>
                  <a:pt x="712937" y="1881870"/>
                </a:lnTo>
                <a:lnTo>
                  <a:pt x="669439" y="1870477"/>
                </a:lnTo>
                <a:lnTo>
                  <a:pt x="626740" y="1856932"/>
                </a:lnTo>
                <a:lnTo>
                  <a:pt x="584904" y="1841287"/>
                </a:lnTo>
                <a:lnTo>
                  <a:pt x="543992" y="1823600"/>
                </a:lnTo>
                <a:lnTo>
                  <a:pt x="504065" y="1803923"/>
                </a:lnTo>
                <a:lnTo>
                  <a:pt x="465186" y="1782314"/>
                </a:lnTo>
                <a:lnTo>
                  <a:pt x="427416" y="1758825"/>
                </a:lnTo>
                <a:lnTo>
                  <a:pt x="390817" y="1733512"/>
                </a:lnTo>
                <a:lnTo>
                  <a:pt x="355452" y="1706430"/>
                </a:lnTo>
                <a:lnTo>
                  <a:pt x="321381" y="1677635"/>
                </a:lnTo>
                <a:lnTo>
                  <a:pt x="288666" y="1647179"/>
                </a:lnTo>
                <a:lnTo>
                  <a:pt x="257370" y="1615120"/>
                </a:lnTo>
                <a:lnTo>
                  <a:pt x="227555" y="1581511"/>
                </a:lnTo>
                <a:lnTo>
                  <a:pt x="199281" y="1546407"/>
                </a:lnTo>
                <a:lnTo>
                  <a:pt x="172611" y="1509864"/>
                </a:lnTo>
                <a:lnTo>
                  <a:pt x="147606" y="1471935"/>
                </a:lnTo>
                <a:lnTo>
                  <a:pt x="124329" y="1432677"/>
                </a:lnTo>
                <a:lnTo>
                  <a:pt x="102842" y="1392143"/>
                </a:lnTo>
                <a:lnTo>
                  <a:pt x="83205" y="1350390"/>
                </a:lnTo>
                <a:lnTo>
                  <a:pt x="65481" y="1307471"/>
                </a:lnTo>
                <a:lnTo>
                  <a:pt x="49732" y="1263441"/>
                </a:lnTo>
                <a:lnTo>
                  <a:pt x="36019" y="1218356"/>
                </a:lnTo>
                <a:lnTo>
                  <a:pt x="24405" y="1172270"/>
                </a:lnTo>
                <a:lnTo>
                  <a:pt x="14951" y="1125238"/>
                </a:lnTo>
                <a:lnTo>
                  <a:pt x="7718" y="1077315"/>
                </a:lnTo>
                <a:lnTo>
                  <a:pt x="2770" y="1028557"/>
                </a:lnTo>
                <a:lnTo>
                  <a:pt x="193" y="979598"/>
                </a:lnTo>
                <a:lnTo>
                  <a:pt x="0" y="931086"/>
                </a:lnTo>
                <a:lnTo>
                  <a:pt x="2137" y="883085"/>
                </a:lnTo>
                <a:lnTo>
                  <a:pt x="6553" y="835660"/>
                </a:lnTo>
                <a:lnTo>
                  <a:pt x="13195" y="788875"/>
                </a:lnTo>
                <a:lnTo>
                  <a:pt x="22009" y="742795"/>
                </a:lnTo>
                <a:lnTo>
                  <a:pt x="32944" y="697484"/>
                </a:lnTo>
                <a:lnTo>
                  <a:pt x="45946" y="653006"/>
                </a:lnTo>
                <a:lnTo>
                  <a:pt x="60962" y="609426"/>
                </a:lnTo>
                <a:lnTo>
                  <a:pt x="77941" y="566808"/>
                </a:lnTo>
                <a:lnTo>
                  <a:pt x="96829" y="525217"/>
                </a:lnTo>
                <a:lnTo>
                  <a:pt x="117574" y="484716"/>
                </a:lnTo>
                <a:lnTo>
                  <a:pt x="140123" y="445372"/>
                </a:lnTo>
                <a:lnTo>
                  <a:pt x="164423" y="407247"/>
                </a:lnTo>
                <a:lnTo>
                  <a:pt x="190422" y="370406"/>
                </a:lnTo>
                <a:lnTo>
                  <a:pt x="218066" y="334914"/>
                </a:lnTo>
                <a:lnTo>
                  <a:pt x="247304" y="300836"/>
                </a:lnTo>
                <a:lnTo>
                  <a:pt x="278082" y="268234"/>
                </a:lnTo>
                <a:lnTo>
                  <a:pt x="310349" y="237175"/>
                </a:lnTo>
                <a:lnTo>
                  <a:pt x="344050" y="207722"/>
                </a:lnTo>
                <a:lnTo>
                  <a:pt x="379133" y="179940"/>
                </a:lnTo>
                <a:lnTo>
                  <a:pt x="415547" y="153893"/>
                </a:lnTo>
                <a:lnTo>
                  <a:pt x="453237" y="129646"/>
                </a:lnTo>
                <a:lnTo>
                  <a:pt x="492152" y="107263"/>
                </a:lnTo>
                <a:lnTo>
                  <a:pt x="532239" y="86808"/>
                </a:lnTo>
                <a:lnTo>
                  <a:pt x="573444" y="68346"/>
                </a:lnTo>
                <a:lnTo>
                  <a:pt x="615716" y="51941"/>
                </a:lnTo>
                <a:lnTo>
                  <a:pt x="659001" y="37658"/>
                </a:lnTo>
                <a:lnTo>
                  <a:pt x="703247" y="25562"/>
                </a:lnTo>
                <a:lnTo>
                  <a:pt x="748401" y="15715"/>
                </a:lnTo>
                <a:lnTo>
                  <a:pt x="794411" y="8184"/>
                </a:lnTo>
                <a:lnTo>
                  <a:pt x="841224" y="3032"/>
                </a:lnTo>
                <a:lnTo>
                  <a:pt x="914995" y="0"/>
                </a:lnTo>
                <a:lnTo>
                  <a:pt x="951862" y="799"/>
                </a:lnTo>
                <a:lnTo>
                  <a:pt x="988671" y="3159"/>
                </a:lnTo>
                <a:lnTo>
                  <a:pt x="978003" y="139938"/>
                </a:lnTo>
                <a:lnTo>
                  <a:pt x="930693" y="137344"/>
                </a:lnTo>
                <a:lnTo>
                  <a:pt x="883904" y="137725"/>
                </a:lnTo>
                <a:lnTo>
                  <a:pt x="837723" y="141002"/>
                </a:lnTo>
                <a:lnTo>
                  <a:pt x="792238" y="147097"/>
                </a:lnTo>
                <a:lnTo>
                  <a:pt x="747536" y="155932"/>
                </a:lnTo>
                <a:lnTo>
                  <a:pt x="703705" y="167429"/>
                </a:lnTo>
                <a:lnTo>
                  <a:pt x="660833" y="181510"/>
                </a:lnTo>
                <a:lnTo>
                  <a:pt x="619007" y="198097"/>
                </a:lnTo>
                <a:lnTo>
                  <a:pt x="578315" y="217111"/>
                </a:lnTo>
                <a:lnTo>
                  <a:pt x="538844" y="238476"/>
                </a:lnTo>
                <a:lnTo>
                  <a:pt x="500683" y="262112"/>
                </a:lnTo>
                <a:lnTo>
                  <a:pt x="463918" y="287941"/>
                </a:lnTo>
                <a:lnTo>
                  <a:pt x="428638" y="315887"/>
                </a:lnTo>
                <a:lnTo>
                  <a:pt x="394931" y="345869"/>
                </a:lnTo>
                <a:lnTo>
                  <a:pt x="362883" y="377812"/>
                </a:lnTo>
                <a:lnTo>
                  <a:pt x="332582" y="411636"/>
                </a:lnTo>
                <a:lnTo>
                  <a:pt x="304117" y="447263"/>
                </a:lnTo>
                <a:lnTo>
                  <a:pt x="277574" y="484616"/>
                </a:lnTo>
                <a:lnTo>
                  <a:pt x="253042" y="523616"/>
                </a:lnTo>
                <a:lnTo>
                  <a:pt x="230607" y="564185"/>
                </a:lnTo>
                <a:lnTo>
                  <a:pt x="210359" y="606246"/>
                </a:lnTo>
                <a:lnTo>
                  <a:pt x="192384" y="649719"/>
                </a:lnTo>
                <a:lnTo>
                  <a:pt x="176770" y="694528"/>
                </a:lnTo>
                <a:lnTo>
                  <a:pt x="163604" y="740594"/>
                </a:lnTo>
                <a:lnTo>
                  <a:pt x="152975" y="787839"/>
                </a:lnTo>
                <a:lnTo>
                  <a:pt x="144969" y="836186"/>
                </a:lnTo>
                <a:lnTo>
                  <a:pt x="139676" y="885555"/>
                </a:lnTo>
                <a:lnTo>
                  <a:pt x="137195" y="935183"/>
                </a:lnTo>
                <a:lnTo>
                  <a:pt x="137551" y="984265"/>
                </a:lnTo>
                <a:lnTo>
                  <a:pt x="140667" y="1032711"/>
                </a:lnTo>
                <a:lnTo>
                  <a:pt x="146471" y="1080427"/>
                </a:lnTo>
                <a:lnTo>
                  <a:pt x="154887" y="1127322"/>
                </a:lnTo>
                <a:lnTo>
                  <a:pt x="165841" y="1173304"/>
                </a:lnTo>
                <a:lnTo>
                  <a:pt x="179259" y="1218281"/>
                </a:lnTo>
                <a:lnTo>
                  <a:pt x="195067" y="1262160"/>
                </a:lnTo>
                <a:lnTo>
                  <a:pt x="213190" y="1304850"/>
                </a:lnTo>
                <a:lnTo>
                  <a:pt x="233553" y="1346259"/>
                </a:lnTo>
                <a:lnTo>
                  <a:pt x="256083" y="1386296"/>
                </a:lnTo>
                <a:lnTo>
                  <a:pt x="280704" y="1424867"/>
                </a:lnTo>
                <a:lnTo>
                  <a:pt x="307344" y="1461881"/>
                </a:lnTo>
                <a:lnTo>
                  <a:pt x="335926" y="1497246"/>
                </a:lnTo>
                <a:lnTo>
                  <a:pt x="366377" y="1530869"/>
                </a:lnTo>
                <a:lnTo>
                  <a:pt x="398623" y="1562660"/>
                </a:lnTo>
                <a:lnTo>
                  <a:pt x="432589" y="1592527"/>
                </a:lnTo>
                <a:lnTo>
                  <a:pt x="468201" y="1620376"/>
                </a:lnTo>
                <a:lnTo>
                  <a:pt x="505384" y="1646116"/>
                </a:lnTo>
                <a:lnTo>
                  <a:pt x="544064" y="1669655"/>
                </a:lnTo>
                <a:lnTo>
                  <a:pt x="584167" y="1690902"/>
                </a:lnTo>
                <a:lnTo>
                  <a:pt x="625618" y="1709763"/>
                </a:lnTo>
                <a:lnTo>
                  <a:pt x="668343" y="1726148"/>
                </a:lnTo>
                <a:lnTo>
                  <a:pt x="712267" y="1739964"/>
                </a:lnTo>
                <a:lnTo>
                  <a:pt x="757317" y="1751120"/>
                </a:lnTo>
                <a:lnTo>
                  <a:pt x="803418" y="1759522"/>
                </a:lnTo>
                <a:lnTo>
                  <a:pt x="850495" y="1765080"/>
                </a:lnTo>
                <a:lnTo>
                  <a:pt x="913614" y="1767822"/>
                </a:lnTo>
                <a:lnTo>
                  <a:pt x="945185" y="1767175"/>
                </a:lnTo>
                <a:lnTo>
                  <a:pt x="976733" y="1765182"/>
                </a:lnTo>
                <a:lnTo>
                  <a:pt x="987274" y="1901936"/>
                </a:lnTo>
                <a:close/>
              </a:path>
            </a:pathLst>
          </a:custGeom>
          <a:ln w="25400">
            <a:solidFill>
              <a:srgbClr val="0850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31494"/>
            <a:ext cx="304609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dirty="0">
                <a:solidFill>
                  <a:srgbClr val="04607A"/>
                </a:solidFill>
                <a:latin typeface="Calibri"/>
                <a:cs typeface="Calibri"/>
              </a:rPr>
              <a:t>Apo</a:t>
            </a:r>
            <a:r>
              <a:rPr sz="5000" spc="-60" dirty="0">
                <a:solidFill>
                  <a:srgbClr val="04607A"/>
                </a:solidFill>
                <a:latin typeface="Calibri"/>
                <a:cs typeface="Calibri"/>
              </a:rPr>
              <a:t>s</a:t>
            </a:r>
            <a:r>
              <a:rPr sz="5000" dirty="0">
                <a:solidFill>
                  <a:srgbClr val="04607A"/>
                </a:solidFill>
                <a:latin typeface="Calibri"/>
                <a:cs typeface="Calibri"/>
              </a:rPr>
              <a:t>t</a:t>
            </a:r>
            <a:r>
              <a:rPr sz="5000" spc="-85" dirty="0">
                <a:solidFill>
                  <a:srgbClr val="04607A"/>
                </a:solidFill>
                <a:latin typeface="Calibri"/>
                <a:cs typeface="Calibri"/>
              </a:rPr>
              <a:t>r</a:t>
            </a:r>
            <a:r>
              <a:rPr sz="5000" spc="-5" dirty="0">
                <a:solidFill>
                  <a:srgbClr val="04607A"/>
                </a:solidFill>
                <a:latin typeface="Calibri"/>
                <a:cs typeface="Calibri"/>
              </a:rPr>
              <a:t>ophe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8055609" cy="3404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51765" indent="-274320" algn="just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Use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apostrophe</a:t>
            </a:r>
            <a:r>
              <a:rPr sz="2600" spc="-16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when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combining</a:t>
            </a:r>
            <a:r>
              <a:rPr sz="2600" spc="-20" dirty="0">
                <a:latin typeface="Constantia"/>
                <a:cs typeface="Constantia"/>
              </a:rPr>
              <a:t> two</a:t>
            </a:r>
            <a:r>
              <a:rPr sz="2600" spc="-165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words.  </a:t>
            </a:r>
            <a:r>
              <a:rPr sz="2600" spc="-30" dirty="0">
                <a:latin typeface="Constantia"/>
                <a:cs typeface="Constantia"/>
              </a:rPr>
              <a:t>It </a:t>
            </a:r>
            <a:r>
              <a:rPr sz="2600" spc="-5" dirty="0">
                <a:latin typeface="Constantia"/>
                <a:cs typeface="Constantia"/>
              </a:rPr>
              <a:t>is </a:t>
            </a:r>
            <a:r>
              <a:rPr sz="2600" spc="-25" dirty="0">
                <a:latin typeface="Constantia"/>
                <a:cs typeface="Constantia"/>
              </a:rPr>
              <a:t>always </a:t>
            </a:r>
            <a:r>
              <a:rPr sz="2600" spc="-10" dirty="0">
                <a:latin typeface="Constantia"/>
                <a:cs typeface="Constantia"/>
              </a:rPr>
              <a:t>placed </a:t>
            </a:r>
            <a:r>
              <a:rPr sz="2600" spc="-5" dirty="0">
                <a:latin typeface="Constantia"/>
                <a:cs typeface="Constantia"/>
              </a:rPr>
              <a:t>in the spot </a:t>
            </a:r>
            <a:r>
              <a:rPr sz="2600" spc="-10" dirty="0">
                <a:latin typeface="Constantia"/>
                <a:cs typeface="Constantia"/>
              </a:rPr>
              <a:t>where </a:t>
            </a:r>
            <a:r>
              <a:rPr sz="2600" spc="-5" dirty="0">
                <a:latin typeface="Constantia"/>
                <a:cs typeface="Constantia"/>
              </a:rPr>
              <a:t>the </a:t>
            </a:r>
            <a:r>
              <a:rPr sz="2600" spc="-10" dirty="0">
                <a:latin typeface="Constantia"/>
                <a:cs typeface="Constantia"/>
              </a:rPr>
              <a:t>letter(s) </a:t>
            </a:r>
            <a:r>
              <a:rPr sz="2600" spc="-30" dirty="0">
                <a:latin typeface="Constantia"/>
                <a:cs typeface="Constantia"/>
              </a:rPr>
              <a:t>have  </a:t>
            </a:r>
            <a:r>
              <a:rPr sz="2600" spc="-5" dirty="0">
                <a:latin typeface="Constantia"/>
                <a:cs typeface="Constantia"/>
              </a:rPr>
              <a:t>been</a:t>
            </a:r>
            <a:r>
              <a:rPr sz="2600" spc="-10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removed.</a:t>
            </a:r>
            <a:endParaRPr sz="2600">
              <a:latin typeface="Constantia"/>
              <a:cs typeface="Constantia"/>
            </a:endParaRPr>
          </a:p>
          <a:p>
            <a:pPr marL="652780" lvl="1" indent="-247650" algn="just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</a:tabLst>
            </a:pPr>
            <a:r>
              <a:rPr sz="2400" spc="-5" dirty="0">
                <a:latin typeface="Constantia"/>
                <a:cs typeface="Constantia"/>
              </a:rPr>
              <a:t>Example: </a:t>
            </a:r>
            <a:r>
              <a:rPr sz="2400" spc="-30" dirty="0">
                <a:latin typeface="Constantia"/>
                <a:cs typeface="Constantia"/>
              </a:rPr>
              <a:t>She’s </a:t>
            </a:r>
            <a:r>
              <a:rPr sz="2400" dirty="0">
                <a:latin typeface="Constantia"/>
                <a:cs typeface="Constantia"/>
              </a:rPr>
              <a:t>(she </a:t>
            </a:r>
            <a:r>
              <a:rPr sz="2400" spc="-5" dirty="0">
                <a:latin typeface="Constantia"/>
                <a:cs typeface="Constantia"/>
              </a:rPr>
              <a:t>is) </a:t>
            </a:r>
            <a:r>
              <a:rPr sz="2400" spc="-10" dirty="0">
                <a:latin typeface="Constantia"/>
                <a:cs typeface="Constantia"/>
              </a:rPr>
              <a:t>only </a:t>
            </a:r>
            <a:r>
              <a:rPr sz="2400" spc="-20" dirty="0">
                <a:latin typeface="Constantia"/>
                <a:cs typeface="Constantia"/>
              </a:rPr>
              <a:t>allowed </a:t>
            </a:r>
            <a:r>
              <a:rPr sz="2400" spc="-15" dirty="0">
                <a:latin typeface="Constantia"/>
                <a:cs typeface="Constantia"/>
              </a:rPr>
              <a:t>candy </a:t>
            </a:r>
            <a:r>
              <a:rPr sz="2400" dirty="0">
                <a:latin typeface="Constantia"/>
                <a:cs typeface="Constantia"/>
              </a:rPr>
              <a:t>on</a:t>
            </a:r>
            <a:r>
              <a:rPr sz="2400" spc="-420" dirty="0">
                <a:latin typeface="Constantia"/>
                <a:cs typeface="Constantia"/>
              </a:rPr>
              <a:t> </a:t>
            </a:r>
            <a:r>
              <a:rPr sz="2400" spc="-55" dirty="0">
                <a:latin typeface="Constantia"/>
                <a:cs typeface="Constantia"/>
              </a:rPr>
              <a:t>Friday.</a:t>
            </a:r>
            <a:endParaRPr sz="2400">
              <a:latin typeface="Constantia"/>
              <a:cs typeface="Constanti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0E6EC5"/>
              </a:buClr>
              <a:buFont typeface="Wingdings 2"/>
              <a:buChar char=""/>
            </a:pPr>
            <a:endParaRPr sz="3500">
              <a:latin typeface="Times New Roman"/>
              <a:cs typeface="Times New Roman"/>
            </a:endParaRPr>
          </a:p>
          <a:p>
            <a:pPr marL="286385" marR="5080" indent="-274320" algn="just">
              <a:lnSpc>
                <a:spcPct val="100000"/>
              </a:lnSpc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Use</a:t>
            </a:r>
            <a:r>
              <a:rPr sz="2600" spc="-8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apostrophe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to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show</a:t>
            </a:r>
            <a:r>
              <a:rPr sz="2600" spc="-114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possession.</a:t>
            </a:r>
            <a:r>
              <a:rPr sz="2600" spc="-5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Place</a:t>
            </a:r>
            <a:r>
              <a:rPr sz="2600" spc="-10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the  apostrophe </a:t>
            </a:r>
            <a:r>
              <a:rPr sz="2600" spc="-15" dirty="0">
                <a:latin typeface="Constantia"/>
                <a:cs typeface="Constantia"/>
              </a:rPr>
              <a:t>before </a:t>
            </a:r>
            <a:r>
              <a:rPr sz="2600" spc="-5" dirty="0">
                <a:latin typeface="Constantia"/>
                <a:cs typeface="Constantia"/>
              </a:rPr>
              <a:t>the</a:t>
            </a:r>
            <a:r>
              <a:rPr sz="2600" spc="-295" dirty="0">
                <a:latin typeface="Constantia"/>
                <a:cs typeface="Constantia"/>
              </a:rPr>
              <a:t> </a:t>
            </a:r>
            <a:r>
              <a:rPr sz="2600" u="heavy" spc="-20" dirty="0">
                <a:uFill>
                  <a:solidFill>
                    <a:srgbClr val="000000"/>
                  </a:solidFill>
                </a:uFill>
                <a:latin typeface="Constantia"/>
                <a:cs typeface="Constantia"/>
              </a:rPr>
              <a:t>s</a:t>
            </a:r>
            <a:r>
              <a:rPr sz="2600" spc="-20" dirty="0">
                <a:latin typeface="Constantia"/>
                <a:cs typeface="Constantia"/>
              </a:rPr>
              <a:t>.</a:t>
            </a:r>
            <a:endParaRPr sz="2600">
              <a:latin typeface="Constantia"/>
              <a:cs typeface="Constantia"/>
            </a:endParaRPr>
          </a:p>
          <a:p>
            <a:pPr marL="652780" lvl="1" indent="-247650" algn="just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</a:tabLst>
            </a:pPr>
            <a:r>
              <a:rPr sz="2400" spc="-5" dirty="0">
                <a:latin typeface="Constantia"/>
                <a:cs typeface="Constantia"/>
              </a:rPr>
              <a:t>Example: They found </a:t>
            </a:r>
            <a:r>
              <a:rPr sz="2400" spc="-15" dirty="0">
                <a:latin typeface="Constantia"/>
                <a:cs typeface="Constantia"/>
              </a:rPr>
              <a:t>Ms. Connor’s</a:t>
            </a:r>
            <a:r>
              <a:rPr sz="2400" spc="-229" dirty="0">
                <a:latin typeface="Constantia"/>
                <a:cs typeface="Constantia"/>
              </a:rPr>
              <a:t> </a:t>
            </a:r>
            <a:r>
              <a:rPr sz="2400" spc="-25" dirty="0">
                <a:latin typeface="Constantia"/>
                <a:cs typeface="Constantia"/>
              </a:rPr>
              <a:t>gloves.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6209" y="5366715"/>
            <a:ext cx="27813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dirty="0">
                <a:solidFill>
                  <a:srgbClr val="4FCEFF"/>
                </a:solidFill>
                <a:latin typeface="Constantia"/>
                <a:cs typeface="Constantia"/>
              </a:rPr>
              <a:t>’</a:t>
            </a:r>
            <a:endParaRPr sz="9600">
              <a:latin typeface="Constantia"/>
              <a:cs typeface="Constant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31494"/>
            <a:ext cx="439610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0" dirty="0">
                <a:solidFill>
                  <a:srgbClr val="04607A"/>
                </a:solidFill>
                <a:latin typeface="Calibri"/>
                <a:cs typeface="Calibri"/>
              </a:rPr>
              <a:t>Quotation</a:t>
            </a:r>
            <a:r>
              <a:rPr sz="5000" spc="-110" dirty="0">
                <a:solidFill>
                  <a:srgbClr val="04607A"/>
                </a:solidFill>
                <a:latin typeface="Calibri"/>
                <a:cs typeface="Calibri"/>
              </a:rPr>
              <a:t> </a:t>
            </a:r>
            <a:r>
              <a:rPr sz="5000" spc="-10" dirty="0">
                <a:solidFill>
                  <a:srgbClr val="04607A"/>
                </a:solidFill>
                <a:latin typeface="Calibri"/>
                <a:cs typeface="Calibri"/>
              </a:rPr>
              <a:t>Marks</a:t>
            </a:r>
            <a:endParaRPr sz="5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866642"/>
            <a:ext cx="8041005" cy="26930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40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45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Use</a:t>
            </a:r>
            <a:r>
              <a:rPr sz="2600" spc="-125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quotation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marks</a:t>
            </a:r>
            <a:r>
              <a:rPr sz="2600" spc="-90" dirty="0">
                <a:latin typeface="Constantia"/>
                <a:cs typeface="Constantia"/>
              </a:rPr>
              <a:t> </a:t>
            </a:r>
            <a:r>
              <a:rPr sz="2600" spc="-20" dirty="0">
                <a:latin typeface="Constantia"/>
                <a:cs typeface="Constantia"/>
              </a:rPr>
              <a:t>to</a:t>
            </a:r>
            <a:r>
              <a:rPr sz="2600" spc="-14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set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off</a:t>
            </a:r>
            <a:r>
              <a:rPr sz="2600" spc="-2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direct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quotation.</a:t>
            </a:r>
            <a:endParaRPr sz="2600">
              <a:latin typeface="Constantia"/>
              <a:cs typeface="Constantia"/>
            </a:endParaRPr>
          </a:p>
          <a:p>
            <a:pPr marL="652780" lvl="1" indent="-247650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</a:tabLst>
            </a:pPr>
            <a:r>
              <a:rPr sz="2400" dirty="0">
                <a:latin typeface="Constantia"/>
                <a:cs typeface="Constantia"/>
              </a:rPr>
              <a:t>Example:“What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is</a:t>
            </a:r>
            <a:r>
              <a:rPr sz="2400" spc="-13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your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favorite</a:t>
            </a:r>
            <a:r>
              <a:rPr sz="2400" spc="-135" dirty="0">
                <a:latin typeface="Constantia"/>
                <a:cs typeface="Constantia"/>
              </a:rPr>
              <a:t> </a:t>
            </a:r>
            <a:r>
              <a:rPr sz="2400" spc="-15" dirty="0">
                <a:latin typeface="Constantia"/>
                <a:cs typeface="Constantia"/>
              </a:rPr>
              <a:t>color?”</a:t>
            </a:r>
            <a:r>
              <a:rPr sz="2400" spc="-35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she</a:t>
            </a:r>
            <a:r>
              <a:rPr sz="2400" spc="-120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asked.</a:t>
            </a:r>
            <a:endParaRPr sz="2400">
              <a:latin typeface="Constantia"/>
              <a:cs typeface="Constanti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0E6EC5"/>
              </a:buClr>
              <a:buFont typeface="Wingdings 2"/>
              <a:buChar char=""/>
            </a:pPr>
            <a:endParaRPr sz="3500">
              <a:latin typeface="Times New Roman"/>
              <a:cs typeface="Times New Roman"/>
            </a:endParaRPr>
          </a:p>
          <a:p>
            <a:pPr marL="286385" marR="203835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230"/>
              <a:buFont typeface="Wingdings 2"/>
              <a:buChar char=""/>
              <a:tabLst>
                <a:tab pos="287020" algn="l"/>
              </a:tabLst>
            </a:pPr>
            <a:r>
              <a:rPr sz="2600" spc="-10" dirty="0">
                <a:latin typeface="Constantia"/>
                <a:cs typeface="Constantia"/>
              </a:rPr>
              <a:t>Rule:</a:t>
            </a:r>
            <a:r>
              <a:rPr sz="2600" spc="-45" dirty="0">
                <a:latin typeface="Constantia"/>
                <a:cs typeface="Constantia"/>
              </a:rPr>
              <a:t> </a:t>
            </a:r>
            <a:r>
              <a:rPr sz="2600" spc="-15" dirty="0">
                <a:latin typeface="Constantia"/>
                <a:cs typeface="Constantia"/>
              </a:rPr>
              <a:t>Periods</a:t>
            </a:r>
            <a:r>
              <a:rPr sz="2600" spc="-110" dirty="0">
                <a:latin typeface="Constantia"/>
                <a:cs typeface="Constantia"/>
              </a:rPr>
              <a:t> </a:t>
            </a:r>
            <a:r>
              <a:rPr sz="2600" dirty="0">
                <a:latin typeface="Constantia"/>
                <a:cs typeface="Constantia"/>
              </a:rPr>
              <a:t>and</a:t>
            </a:r>
            <a:r>
              <a:rPr sz="2600" spc="-70" dirty="0">
                <a:latin typeface="Constantia"/>
                <a:cs typeface="Constantia"/>
              </a:rPr>
              <a:t> </a:t>
            </a:r>
            <a:r>
              <a:rPr sz="2600" spc="-10" dirty="0">
                <a:latin typeface="Constantia"/>
                <a:cs typeface="Constantia"/>
              </a:rPr>
              <a:t>commas</a:t>
            </a:r>
            <a:r>
              <a:rPr sz="2600" spc="-150" dirty="0">
                <a:latin typeface="Constantia"/>
                <a:cs typeface="Constantia"/>
              </a:rPr>
              <a:t> </a:t>
            </a:r>
            <a:r>
              <a:rPr sz="2600" spc="-25" dirty="0">
                <a:latin typeface="Constantia"/>
                <a:cs typeface="Constantia"/>
              </a:rPr>
              <a:t>always</a:t>
            </a:r>
            <a:r>
              <a:rPr sz="2600" spc="-135" dirty="0">
                <a:latin typeface="Constantia"/>
                <a:cs typeface="Constantia"/>
              </a:rPr>
              <a:t> </a:t>
            </a:r>
            <a:r>
              <a:rPr sz="2600" spc="-35" dirty="0">
                <a:latin typeface="Constantia"/>
                <a:cs typeface="Constantia"/>
              </a:rPr>
              <a:t>go</a:t>
            </a:r>
            <a:r>
              <a:rPr sz="2600" spc="-6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inside</a:t>
            </a:r>
            <a:r>
              <a:rPr sz="2600" spc="-130" dirty="0">
                <a:latin typeface="Constantia"/>
                <a:cs typeface="Constantia"/>
              </a:rPr>
              <a:t> </a:t>
            </a:r>
            <a:r>
              <a:rPr sz="2600" spc="-5" dirty="0">
                <a:latin typeface="Constantia"/>
                <a:cs typeface="Constantia"/>
              </a:rPr>
              <a:t>quotation  </a:t>
            </a:r>
            <a:r>
              <a:rPr sz="2600" spc="-15" dirty="0">
                <a:latin typeface="Constantia"/>
                <a:cs typeface="Constantia"/>
              </a:rPr>
              <a:t>marks.</a:t>
            </a:r>
            <a:endParaRPr sz="2600">
              <a:latin typeface="Constantia"/>
              <a:cs typeface="Constantia"/>
            </a:endParaRPr>
          </a:p>
          <a:p>
            <a:pPr marL="652780" lvl="1" indent="-247650">
              <a:lnSpc>
                <a:spcPct val="100000"/>
              </a:lnSpc>
              <a:spcBef>
                <a:spcPts val="585"/>
              </a:spcBef>
              <a:buClr>
                <a:srgbClr val="0E6EC5"/>
              </a:buClr>
              <a:buSzPct val="85416"/>
              <a:buFont typeface="Wingdings 2"/>
              <a:buChar char=""/>
              <a:tabLst>
                <a:tab pos="653415" algn="l"/>
              </a:tabLst>
            </a:pPr>
            <a:r>
              <a:rPr sz="2400" spc="-5" dirty="0">
                <a:latin typeface="Constantia"/>
                <a:cs typeface="Constantia"/>
              </a:rPr>
              <a:t>Example:</a:t>
            </a:r>
            <a:r>
              <a:rPr sz="2400" spc="-50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“I</a:t>
            </a:r>
            <a:r>
              <a:rPr sz="2400" spc="-65" dirty="0">
                <a:latin typeface="Constantia"/>
                <a:cs typeface="Constantia"/>
              </a:rPr>
              <a:t> </a:t>
            </a:r>
            <a:r>
              <a:rPr sz="2400" spc="-40" dirty="0">
                <a:latin typeface="Constantia"/>
                <a:cs typeface="Constantia"/>
              </a:rPr>
              <a:t>don’t</a:t>
            </a:r>
            <a:r>
              <a:rPr sz="2400" spc="-85" dirty="0">
                <a:latin typeface="Constantia"/>
                <a:cs typeface="Constantia"/>
              </a:rPr>
              <a:t> </a:t>
            </a:r>
            <a:r>
              <a:rPr sz="2400" spc="-10" dirty="0">
                <a:latin typeface="Constantia"/>
                <a:cs typeface="Constantia"/>
              </a:rPr>
              <a:t>want</a:t>
            </a:r>
            <a:r>
              <a:rPr sz="2400" spc="-80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to</a:t>
            </a:r>
            <a:r>
              <a:rPr sz="2400" spc="-114" dirty="0">
                <a:latin typeface="Constantia"/>
                <a:cs typeface="Constantia"/>
              </a:rPr>
              <a:t> </a:t>
            </a:r>
            <a:r>
              <a:rPr sz="2400" spc="-30" dirty="0">
                <a:latin typeface="Constantia"/>
                <a:cs typeface="Constantia"/>
              </a:rPr>
              <a:t>go</a:t>
            </a:r>
            <a:r>
              <a:rPr sz="2400" spc="-95" dirty="0">
                <a:latin typeface="Constantia"/>
                <a:cs typeface="Constantia"/>
              </a:rPr>
              <a:t> </a:t>
            </a:r>
            <a:r>
              <a:rPr sz="2400" spc="-20" dirty="0">
                <a:latin typeface="Constantia"/>
                <a:cs typeface="Constantia"/>
              </a:rPr>
              <a:t>to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school</a:t>
            </a:r>
            <a:r>
              <a:rPr sz="2400" spc="-30" dirty="0">
                <a:latin typeface="Constantia"/>
                <a:cs typeface="Constantia"/>
              </a:rPr>
              <a:t> </a:t>
            </a:r>
            <a:r>
              <a:rPr sz="2400" spc="-80" dirty="0">
                <a:latin typeface="Constantia"/>
                <a:cs typeface="Constantia"/>
              </a:rPr>
              <a:t>today,”</a:t>
            </a:r>
            <a:r>
              <a:rPr sz="2400" spc="-15" dirty="0">
                <a:latin typeface="Constantia"/>
                <a:cs typeface="Constantia"/>
              </a:rPr>
              <a:t> </a:t>
            </a:r>
            <a:r>
              <a:rPr sz="2400" spc="-5" dirty="0">
                <a:latin typeface="Constantia"/>
                <a:cs typeface="Constantia"/>
              </a:rPr>
              <a:t>Alan</a:t>
            </a:r>
            <a:r>
              <a:rPr sz="2400" spc="-100" dirty="0">
                <a:latin typeface="Constantia"/>
                <a:cs typeface="Constantia"/>
              </a:rPr>
              <a:t> </a:t>
            </a:r>
            <a:r>
              <a:rPr sz="2400" dirty="0">
                <a:latin typeface="Constantia"/>
                <a:cs typeface="Constantia"/>
              </a:rPr>
              <a:t>said.</a:t>
            </a:r>
            <a:endParaRPr sz="2400">
              <a:latin typeface="Constantia"/>
              <a:cs typeface="Constant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65813" y="4990510"/>
            <a:ext cx="919480" cy="744220"/>
          </a:xfrm>
          <a:custGeom>
            <a:avLst/>
            <a:gdLst/>
            <a:ahLst/>
            <a:cxnLst/>
            <a:rect l="l" t="t" r="r" b="b"/>
            <a:pathLst>
              <a:path w="919479" h="744220">
                <a:moveTo>
                  <a:pt x="919175" y="0"/>
                </a:moveTo>
                <a:lnTo>
                  <a:pt x="0" y="10631"/>
                </a:lnTo>
                <a:lnTo>
                  <a:pt x="4194" y="678135"/>
                </a:lnTo>
                <a:lnTo>
                  <a:pt x="832737" y="744035"/>
                </a:lnTo>
                <a:lnTo>
                  <a:pt x="919175" y="0"/>
                </a:lnTo>
                <a:close/>
              </a:path>
            </a:pathLst>
          </a:custGeom>
          <a:solidFill>
            <a:srgbClr val="FF9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78872" y="4984131"/>
            <a:ext cx="972185" cy="750570"/>
          </a:xfrm>
          <a:custGeom>
            <a:avLst/>
            <a:gdLst/>
            <a:ahLst/>
            <a:cxnLst/>
            <a:rect l="l" t="t" r="r" b="b"/>
            <a:pathLst>
              <a:path w="972184" h="750570">
                <a:moveTo>
                  <a:pt x="971880" y="0"/>
                </a:moveTo>
                <a:lnTo>
                  <a:pt x="0" y="55283"/>
                </a:lnTo>
                <a:lnTo>
                  <a:pt x="90653" y="750414"/>
                </a:lnTo>
                <a:lnTo>
                  <a:pt x="929725" y="695142"/>
                </a:lnTo>
                <a:lnTo>
                  <a:pt x="971880" y="0"/>
                </a:lnTo>
                <a:close/>
              </a:path>
            </a:pathLst>
          </a:custGeom>
          <a:solidFill>
            <a:srgbClr val="FF9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67417" y="4876753"/>
            <a:ext cx="879475" cy="1059815"/>
          </a:xfrm>
          <a:custGeom>
            <a:avLst/>
            <a:gdLst/>
            <a:ahLst/>
            <a:cxnLst/>
            <a:rect l="l" t="t" r="r" b="b"/>
            <a:pathLst>
              <a:path w="879475" h="1059814">
                <a:moveTo>
                  <a:pt x="418934" y="0"/>
                </a:moveTo>
                <a:lnTo>
                  <a:pt x="316285" y="0"/>
                </a:lnTo>
                <a:lnTo>
                  <a:pt x="301462" y="7471"/>
                </a:lnTo>
                <a:lnTo>
                  <a:pt x="269853" y="37239"/>
                </a:lnTo>
                <a:lnTo>
                  <a:pt x="252985" y="77609"/>
                </a:lnTo>
                <a:lnTo>
                  <a:pt x="250887" y="100999"/>
                </a:lnTo>
                <a:lnTo>
                  <a:pt x="252985" y="118009"/>
                </a:lnTo>
                <a:lnTo>
                  <a:pt x="257209" y="135019"/>
                </a:lnTo>
                <a:lnTo>
                  <a:pt x="263531" y="152030"/>
                </a:lnTo>
                <a:lnTo>
                  <a:pt x="271950" y="166914"/>
                </a:lnTo>
                <a:lnTo>
                  <a:pt x="227697" y="175419"/>
                </a:lnTo>
                <a:lnTo>
                  <a:pt x="181309" y="190303"/>
                </a:lnTo>
                <a:lnTo>
                  <a:pt x="137035" y="215789"/>
                </a:lnTo>
                <a:lnTo>
                  <a:pt x="94871" y="251936"/>
                </a:lnTo>
                <a:lnTo>
                  <a:pt x="56923" y="296588"/>
                </a:lnTo>
                <a:lnTo>
                  <a:pt x="27408" y="353969"/>
                </a:lnTo>
                <a:lnTo>
                  <a:pt x="6324" y="422010"/>
                </a:lnTo>
                <a:lnTo>
                  <a:pt x="0" y="502780"/>
                </a:lnTo>
                <a:lnTo>
                  <a:pt x="2109" y="536801"/>
                </a:lnTo>
                <a:lnTo>
                  <a:pt x="10543" y="596308"/>
                </a:lnTo>
                <a:lnTo>
                  <a:pt x="29514" y="651591"/>
                </a:lnTo>
                <a:lnTo>
                  <a:pt x="54813" y="696244"/>
                </a:lnTo>
                <a:lnTo>
                  <a:pt x="92762" y="732361"/>
                </a:lnTo>
                <a:lnTo>
                  <a:pt x="143360" y="760003"/>
                </a:lnTo>
                <a:lnTo>
                  <a:pt x="170766" y="768508"/>
                </a:lnTo>
                <a:lnTo>
                  <a:pt x="31623" y="991716"/>
                </a:lnTo>
                <a:lnTo>
                  <a:pt x="252985" y="1057617"/>
                </a:lnTo>
                <a:lnTo>
                  <a:pt x="267755" y="1059742"/>
                </a:lnTo>
                <a:lnTo>
                  <a:pt x="282496" y="1053365"/>
                </a:lnTo>
                <a:lnTo>
                  <a:pt x="295140" y="1044862"/>
                </a:lnTo>
                <a:lnTo>
                  <a:pt x="301462" y="1032107"/>
                </a:lnTo>
                <a:lnTo>
                  <a:pt x="303589" y="1017226"/>
                </a:lnTo>
                <a:lnTo>
                  <a:pt x="299364" y="1002345"/>
                </a:lnTo>
                <a:lnTo>
                  <a:pt x="288818" y="989590"/>
                </a:lnTo>
                <a:lnTo>
                  <a:pt x="276175" y="983214"/>
                </a:lnTo>
                <a:lnTo>
                  <a:pt x="151791" y="944949"/>
                </a:lnTo>
                <a:lnTo>
                  <a:pt x="261433" y="766382"/>
                </a:lnTo>
                <a:lnTo>
                  <a:pt x="299364" y="753624"/>
                </a:lnTo>
                <a:lnTo>
                  <a:pt x="354193" y="715351"/>
                </a:lnTo>
                <a:lnTo>
                  <a:pt x="390026" y="662223"/>
                </a:lnTo>
                <a:lnTo>
                  <a:pt x="408992" y="598434"/>
                </a:lnTo>
                <a:lnTo>
                  <a:pt x="803000" y="598434"/>
                </a:lnTo>
                <a:lnTo>
                  <a:pt x="805347" y="577171"/>
                </a:lnTo>
                <a:lnTo>
                  <a:pt x="803220" y="536801"/>
                </a:lnTo>
                <a:lnTo>
                  <a:pt x="793322" y="502780"/>
                </a:lnTo>
                <a:lnTo>
                  <a:pt x="398446" y="502780"/>
                </a:lnTo>
                <a:lnTo>
                  <a:pt x="381578" y="468759"/>
                </a:lnTo>
                <a:lnTo>
                  <a:pt x="337325" y="422010"/>
                </a:lnTo>
                <a:lnTo>
                  <a:pt x="299364" y="402874"/>
                </a:lnTo>
                <a:lnTo>
                  <a:pt x="257209" y="394368"/>
                </a:lnTo>
                <a:lnTo>
                  <a:pt x="263531" y="392242"/>
                </a:lnTo>
                <a:lnTo>
                  <a:pt x="269853" y="387990"/>
                </a:lnTo>
                <a:lnTo>
                  <a:pt x="286721" y="383737"/>
                </a:lnTo>
                <a:lnTo>
                  <a:pt x="328876" y="370979"/>
                </a:lnTo>
                <a:lnTo>
                  <a:pt x="364710" y="351843"/>
                </a:lnTo>
                <a:lnTo>
                  <a:pt x="392124" y="317851"/>
                </a:lnTo>
                <a:lnTo>
                  <a:pt x="402670" y="268946"/>
                </a:lnTo>
                <a:lnTo>
                  <a:pt x="400573" y="254062"/>
                </a:lnTo>
                <a:lnTo>
                  <a:pt x="398446" y="241305"/>
                </a:lnTo>
                <a:lnTo>
                  <a:pt x="392124" y="226421"/>
                </a:lnTo>
                <a:lnTo>
                  <a:pt x="385802" y="213663"/>
                </a:lnTo>
                <a:lnTo>
                  <a:pt x="402670" y="209410"/>
                </a:lnTo>
                <a:lnTo>
                  <a:pt x="411119" y="205158"/>
                </a:lnTo>
                <a:lnTo>
                  <a:pt x="419538" y="203031"/>
                </a:lnTo>
                <a:lnTo>
                  <a:pt x="427957" y="198779"/>
                </a:lnTo>
                <a:lnTo>
                  <a:pt x="434309" y="192429"/>
                </a:lnTo>
                <a:lnTo>
                  <a:pt x="442728" y="188177"/>
                </a:lnTo>
                <a:lnTo>
                  <a:pt x="449050" y="181798"/>
                </a:lnTo>
                <a:lnTo>
                  <a:pt x="463820" y="164787"/>
                </a:lnTo>
                <a:lnTo>
                  <a:pt x="474337" y="143524"/>
                </a:lnTo>
                <a:lnTo>
                  <a:pt x="480689" y="122261"/>
                </a:lnTo>
                <a:lnTo>
                  <a:pt x="482786" y="100999"/>
                </a:lnTo>
                <a:lnTo>
                  <a:pt x="480689" y="79736"/>
                </a:lnTo>
                <a:lnTo>
                  <a:pt x="463820" y="39365"/>
                </a:lnTo>
                <a:lnTo>
                  <a:pt x="432182" y="7471"/>
                </a:lnTo>
                <a:lnTo>
                  <a:pt x="421636" y="1092"/>
                </a:lnTo>
                <a:lnTo>
                  <a:pt x="418934" y="0"/>
                </a:lnTo>
                <a:close/>
              </a:path>
              <a:path w="879475" h="1059814">
                <a:moveTo>
                  <a:pt x="803000" y="598434"/>
                </a:moveTo>
                <a:lnTo>
                  <a:pt x="408992" y="598434"/>
                </a:lnTo>
                <a:lnTo>
                  <a:pt x="419538" y="632455"/>
                </a:lnTo>
                <a:lnTo>
                  <a:pt x="432182" y="664349"/>
                </a:lnTo>
                <a:lnTo>
                  <a:pt x="449050" y="691991"/>
                </a:lnTo>
                <a:lnTo>
                  <a:pt x="468015" y="715351"/>
                </a:lnTo>
                <a:lnTo>
                  <a:pt x="478562" y="723856"/>
                </a:lnTo>
                <a:lnTo>
                  <a:pt x="487010" y="732361"/>
                </a:lnTo>
                <a:lnTo>
                  <a:pt x="497527" y="738740"/>
                </a:lnTo>
                <a:lnTo>
                  <a:pt x="510200" y="745119"/>
                </a:lnTo>
                <a:lnTo>
                  <a:pt x="520746" y="751498"/>
                </a:lnTo>
                <a:lnTo>
                  <a:pt x="531263" y="755750"/>
                </a:lnTo>
                <a:lnTo>
                  <a:pt x="556580" y="764256"/>
                </a:lnTo>
                <a:lnTo>
                  <a:pt x="657759" y="1057617"/>
                </a:lnTo>
                <a:lnTo>
                  <a:pt x="858048" y="953452"/>
                </a:lnTo>
                <a:lnTo>
                  <a:pt x="865633" y="947076"/>
                </a:lnTo>
                <a:lnTo>
                  <a:pt x="702041" y="947076"/>
                </a:lnTo>
                <a:lnTo>
                  <a:pt x="640891" y="770634"/>
                </a:lnTo>
                <a:lnTo>
                  <a:pt x="655661" y="768508"/>
                </a:lnTo>
                <a:lnTo>
                  <a:pt x="672529" y="764256"/>
                </a:lnTo>
                <a:lnTo>
                  <a:pt x="687270" y="757877"/>
                </a:lnTo>
                <a:lnTo>
                  <a:pt x="699944" y="751498"/>
                </a:lnTo>
                <a:lnTo>
                  <a:pt x="714685" y="745119"/>
                </a:lnTo>
                <a:lnTo>
                  <a:pt x="750518" y="715351"/>
                </a:lnTo>
                <a:lnTo>
                  <a:pt x="790576" y="651591"/>
                </a:lnTo>
                <a:lnTo>
                  <a:pt x="801122" y="615444"/>
                </a:lnTo>
                <a:lnTo>
                  <a:pt x="803000" y="598434"/>
                </a:lnTo>
                <a:close/>
              </a:path>
              <a:path w="879475" h="1059814">
                <a:moveTo>
                  <a:pt x="836956" y="879049"/>
                </a:moveTo>
                <a:lnTo>
                  <a:pt x="822215" y="883302"/>
                </a:lnTo>
                <a:lnTo>
                  <a:pt x="702041" y="947076"/>
                </a:lnTo>
                <a:lnTo>
                  <a:pt x="865633" y="947076"/>
                </a:lnTo>
                <a:lnTo>
                  <a:pt x="870692" y="942823"/>
                </a:lnTo>
                <a:lnTo>
                  <a:pt x="877014" y="930068"/>
                </a:lnTo>
                <a:lnTo>
                  <a:pt x="879141" y="915187"/>
                </a:lnTo>
                <a:lnTo>
                  <a:pt x="874916" y="900306"/>
                </a:lnTo>
                <a:lnTo>
                  <a:pt x="864370" y="887551"/>
                </a:lnTo>
                <a:lnTo>
                  <a:pt x="851726" y="881175"/>
                </a:lnTo>
                <a:lnTo>
                  <a:pt x="836956" y="879049"/>
                </a:lnTo>
                <a:close/>
              </a:path>
              <a:path w="879475" h="1059814">
                <a:moveTo>
                  <a:pt x="704138" y="166914"/>
                </a:moveTo>
                <a:lnTo>
                  <a:pt x="689397" y="166914"/>
                </a:lnTo>
                <a:lnTo>
                  <a:pt x="645115" y="171166"/>
                </a:lnTo>
                <a:lnTo>
                  <a:pt x="596638" y="186050"/>
                </a:lnTo>
                <a:lnTo>
                  <a:pt x="548131" y="209410"/>
                </a:lnTo>
                <a:lnTo>
                  <a:pt x="501751" y="243431"/>
                </a:lnTo>
                <a:lnTo>
                  <a:pt x="459596" y="288083"/>
                </a:lnTo>
                <a:lnTo>
                  <a:pt x="427957" y="347590"/>
                </a:lnTo>
                <a:lnTo>
                  <a:pt x="406895" y="417758"/>
                </a:lnTo>
                <a:lnTo>
                  <a:pt x="398446" y="502780"/>
                </a:lnTo>
                <a:lnTo>
                  <a:pt x="793322" y="502780"/>
                </a:lnTo>
                <a:lnTo>
                  <a:pt x="777932" y="466633"/>
                </a:lnTo>
                <a:lnTo>
                  <a:pt x="733650" y="422010"/>
                </a:lnTo>
                <a:lnTo>
                  <a:pt x="695719" y="402874"/>
                </a:lnTo>
                <a:lnTo>
                  <a:pt x="653564" y="394368"/>
                </a:lnTo>
                <a:lnTo>
                  <a:pt x="659886" y="392242"/>
                </a:lnTo>
                <a:lnTo>
                  <a:pt x="666207" y="387990"/>
                </a:lnTo>
                <a:lnTo>
                  <a:pt x="683076" y="383737"/>
                </a:lnTo>
                <a:lnTo>
                  <a:pt x="725231" y="370979"/>
                </a:lnTo>
                <a:lnTo>
                  <a:pt x="761064" y="351843"/>
                </a:lnTo>
                <a:lnTo>
                  <a:pt x="788479" y="317851"/>
                </a:lnTo>
                <a:lnTo>
                  <a:pt x="799025" y="268946"/>
                </a:lnTo>
                <a:lnTo>
                  <a:pt x="796898" y="249810"/>
                </a:lnTo>
                <a:lnTo>
                  <a:pt x="790576" y="230673"/>
                </a:lnTo>
                <a:lnTo>
                  <a:pt x="782157" y="211536"/>
                </a:lnTo>
                <a:lnTo>
                  <a:pt x="769513" y="196652"/>
                </a:lnTo>
                <a:lnTo>
                  <a:pt x="763191" y="192429"/>
                </a:lnTo>
                <a:lnTo>
                  <a:pt x="756840" y="186050"/>
                </a:lnTo>
                <a:lnTo>
                  <a:pt x="740001" y="177545"/>
                </a:lnTo>
                <a:lnTo>
                  <a:pt x="729455" y="173293"/>
                </a:lnTo>
                <a:lnTo>
                  <a:pt x="716782" y="169040"/>
                </a:lnTo>
                <a:lnTo>
                  <a:pt x="704138" y="166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66782" y="4911866"/>
            <a:ext cx="134944" cy="131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45423" y="5120184"/>
            <a:ext cx="255270" cy="450850"/>
          </a:xfrm>
          <a:custGeom>
            <a:avLst/>
            <a:gdLst/>
            <a:ahLst/>
            <a:cxnLst/>
            <a:rect l="l" t="t" r="r" b="b"/>
            <a:pathLst>
              <a:path w="255270" h="450850">
                <a:moveTo>
                  <a:pt x="221358" y="0"/>
                </a:moveTo>
                <a:lnTo>
                  <a:pt x="198168" y="0"/>
                </a:lnTo>
                <a:lnTo>
                  <a:pt x="181300" y="4252"/>
                </a:lnTo>
                <a:lnTo>
                  <a:pt x="162334" y="8505"/>
                </a:lnTo>
                <a:lnTo>
                  <a:pt x="124374" y="23389"/>
                </a:lnTo>
                <a:lnTo>
                  <a:pt x="88543" y="46778"/>
                </a:lnTo>
                <a:lnTo>
                  <a:pt x="52704" y="82896"/>
                </a:lnTo>
                <a:lnTo>
                  <a:pt x="27405" y="123295"/>
                </a:lnTo>
                <a:lnTo>
                  <a:pt x="4215" y="199842"/>
                </a:lnTo>
                <a:lnTo>
                  <a:pt x="0" y="259349"/>
                </a:lnTo>
                <a:lnTo>
                  <a:pt x="2106" y="308254"/>
                </a:lnTo>
                <a:lnTo>
                  <a:pt x="12646" y="352876"/>
                </a:lnTo>
                <a:lnTo>
                  <a:pt x="27405" y="389023"/>
                </a:lnTo>
                <a:lnTo>
                  <a:pt x="59029" y="425170"/>
                </a:lnTo>
                <a:lnTo>
                  <a:pt x="94868" y="444307"/>
                </a:lnTo>
                <a:lnTo>
                  <a:pt x="126501" y="450686"/>
                </a:lnTo>
                <a:lnTo>
                  <a:pt x="134920" y="450686"/>
                </a:lnTo>
                <a:lnTo>
                  <a:pt x="183427" y="442181"/>
                </a:lnTo>
                <a:lnTo>
                  <a:pt x="221358" y="416665"/>
                </a:lnTo>
                <a:lnTo>
                  <a:pt x="246675" y="380518"/>
                </a:lnTo>
                <a:lnTo>
                  <a:pt x="255094" y="333740"/>
                </a:lnTo>
                <a:lnTo>
                  <a:pt x="252997" y="308254"/>
                </a:lnTo>
                <a:lnTo>
                  <a:pt x="246675" y="286991"/>
                </a:lnTo>
                <a:lnTo>
                  <a:pt x="238226" y="267854"/>
                </a:lnTo>
                <a:lnTo>
                  <a:pt x="235065" y="263601"/>
                </a:lnTo>
                <a:lnTo>
                  <a:pt x="78003" y="263601"/>
                </a:lnTo>
                <a:lnTo>
                  <a:pt x="78003" y="199842"/>
                </a:lnTo>
                <a:lnTo>
                  <a:pt x="82219" y="161569"/>
                </a:lnTo>
                <a:lnTo>
                  <a:pt x="101193" y="123295"/>
                </a:lnTo>
                <a:lnTo>
                  <a:pt x="134920" y="89274"/>
                </a:lnTo>
                <a:lnTo>
                  <a:pt x="223455" y="55283"/>
                </a:lnTo>
                <a:lnTo>
                  <a:pt x="240323" y="46778"/>
                </a:lnTo>
                <a:lnTo>
                  <a:pt x="246675" y="36147"/>
                </a:lnTo>
                <a:lnTo>
                  <a:pt x="246675" y="21262"/>
                </a:lnTo>
                <a:lnTo>
                  <a:pt x="244548" y="17010"/>
                </a:lnTo>
                <a:lnTo>
                  <a:pt x="242450" y="12757"/>
                </a:lnTo>
                <a:lnTo>
                  <a:pt x="240323" y="8505"/>
                </a:lnTo>
                <a:lnTo>
                  <a:pt x="236128" y="6378"/>
                </a:lnTo>
                <a:lnTo>
                  <a:pt x="229807" y="2126"/>
                </a:lnTo>
                <a:lnTo>
                  <a:pt x="221358" y="0"/>
                </a:lnTo>
                <a:close/>
              </a:path>
              <a:path w="255270" h="450850">
                <a:moveTo>
                  <a:pt x="166559" y="229581"/>
                </a:moveTo>
                <a:lnTo>
                  <a:pt x="156013" y="229581"/>
                </a:lnTo>
                <a:lnTo>
                  <a:pt x="139145" y="233833"/>
                </a:lnTo>
                <a:lnTo>
                  <a:pt x="134920" y="235959"/>
                </a:lnTo>
                <a:lnTo>
                  <a:pt x="78003" y="263601"/>
                </a:lnTo>
                <a:lnTo>
                  <a:pt x="235065" y="263601"/>
                </a:lnTo>
                <a:lnTo>
                  <a:pt x="225582" y="250844"/>
                </a:lnTo>
                <a:lnTo>
                  <a:pt x="212939" y="240212"/>
                </a:lnTo>
                <a:lnTo>
                  <a:pt x="200265" y="233833"/>
                </a:lnTo>
                <a:lnTo>
                  <a:pt x="166559" y="229581"/>
                </a:lnTo>
                <a:close/>
              </a:path>
            </a:pathLst>
          </a:custGeom>
          <a:solidFill>
            <a:srgbClr val="FF9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41755" y="5120184"/>
            <a:ext cx="255270" cy="450850"/>
          </a:xfrm>
          <a:custGeom>
            <a:avLst/>
            <a:gdLst/>
            <a:ahLst/>
            <a:cxnLst/>
            <a:rect l="l" t="t" r="r" b="b"/>
            <a:pathLst>
              <a:path w="255270" h="450850">
                <a:moveTo>
                  <a:pt x="223479" y="0"/>
                </a:moveTo>
                <a:lnTo>
                  <a:pt x="200289" y="0"/>
                </a:lnTo>
                <a:lnTo>
                  <a:pt x="181324" y="4252"/>
                </a:lnTo>
                <a:lnTo>
                  <a:pt x="126495" y="23389"/>
                </a:lnTo>
                <a:lnTo>
                  <a:pt x="88564" y="46778"/>
                </a:lnTo>
                <a:lnTo>
                  <a:pt x="52731" y="82896"/>
                </a:lnTo>
                <a:lnTo>
                  <a:pt x="27414" y="123295"/>
                </a:lnTo>
                <a:lnTo>
                  <a:pt x="4224" y="199842"/>
                </a:lnTo>
                <a:lnTo>
                  <a:pt x="2126" y="229581"/>
                </a:lnTo>
                <a:lnTo>
                  <a:pt x="0" y="259349"/>
                </a:lnTo>
                <a:lnTo>
                  <a:pt x="2126" y="308254"/>
                </a:lnTo>
                <a:lnTo>
                  <a:pt x="12673" y="352876"/>
                </a:lnTo>
                <a:lnTo>
                  <a:pt x="27414" y="389023"/>
                </a:lnTo>
                <a:lnTo>
                  <a:pt x="59052" y="425170"/>
                </a:lnTo>
                <a:lnTo>
                  <a:pt x="94886" y="444307"/>
                </a:lnTo>
                <a:lnTo>
                  <a:pt x="126495" y="450686"/>
                </a:lnTo>
                <a:lnTo>
                  <a:pt x="137041" y="450686"/>
                </a:lnTo>
                <a:lnTo>
                  <a:pt x="183421" y="442181"/>
                </a:lnTo>
                <a:lnTo>
                  <a:pt x="221381" y="416665"/>
                </a:lnTo>
                <a:lnTo>
                  <a:pt x="246669" y="380518"/>
                </a:lnTo>
                <a:lnTo>
                  <a:pt x="255118" y="333740"/>
                </a:lnTo>
                <a:lnTo>
                  <a:pt x="252991" y="308254"/>
                </a:lnTo>
                <a:lnTo>
                  <a:pt x="248796" y="286991"/>
                </a:lnTo>
                <a:lnTo>
                  <a:pt x="238250" y="267854"/>
                </a:lnTo>
                <a:lnTo>
                  <a:pt x="235613" y="263601"/>
                </a:lnTo>
                <a:lnTo>
                  <a:pt x="78018" y="263601"/>
                </a:lnTo>
                <a:lnTo>
                  <a:pt x="78018" y="199842"/>
                </a:lnTo>
                <a:lnTo>
                  <a:pt x="82242" y="161569"/>
                </a:lnTo>
                <a:lnTo>
                  <a:pt x="101208" y="123295"/>
                </a:lnTo>
                <a:lnTo>
                  <a:pt x="134944" y="89274"/>
                </a:lnTo>
                <a:lnTo>
                  <a:pt x="191870" y="65915"/>
                </a:lnTo>
                <a:lnTo>
                  <a:pt x="225606" y="55283"/>
                </a:lnTo>
                <a:lnTo>
                  <a:pt x="242444" y="46778"/>
                </a:lnTo>
                <a:lnTo>
                  <a:pt x="248796" y="36147"/>
                </a:lnTo>
                <a:lnTo>
                  <a:pt x="248796" y="21262"/>
                </a:lnTo>
                <a:lnTo>
                  <a:pt x="246669" y="17010"/>
                </a:lnTo>
                <a:lnTo>
                  <a:pt x="244571" y="12757"/>
                </a:lnTo>
                <a:lnTo>
                  <a:pt x="240347" y="8505"/>
                </a:lnTo>
                <a:lnTo>
                  <a:pt x="236123" y="6378"/>
                </a:lnTo>
                <a:lnTo>
                  <a:pt x="229801" y="2126"/>
                </a:lnTo>
                <a:lnTo>
                  <a:pt x="223479" y="0"/>
                </a:lnTo>
                <a:close/>
              </a:path>
              <a:path w="255270" h="450850">
                <a:moveTo>
                  <a:pt x="168680" y="229581"/>
                </a:moveTo>
                <a:lnTo>
                  <a:pt x="156036" y="229581"/>
                </a:lnTo>
                <a:lnTo>
                  <a:pt x="147587" y="231707"/>
                </a:lnTo>
                <a:lnTo>
                  <a:pt x="134944" y="235959"/>
                </a:lnTo>
                <a:lnTo>
                  <a:pt x="78018" y="263601"/>
                </a:lnTo>
                <a:lnTo>
                  <a:pt x="235613" y="263601"/>
                </a:lnTo>
                <a:lnTo>
                  <a:pt x="227703" y="250844"/>
                </a:lnTo>
                <a:lnTo>
                  <a:pt x="215060" y="240212"/>
                </a:lnTo>
                <a:lnTo>
                  <a:pt x="202416" y="233833"/>
                </a:lnTo>
                <a:lnTo>
                  <a:pt x="168680" y="229581"/>
                </a:lnTo>
                <a:close/>
              </a:path>
            </a:pathLst>
          </a:custGeom>
          <a:solidFill>
            <a:srgbClr val="FF9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08887" y="4876753"/>
            <a:ext cx="898525" cy="1059815"/>
          </a:xfrm>
          <a:custGeom>
            <a:avLst/>
            <a:gdLst/>
            <a:ahLst/>
            <a:cxnLst/>
            <a:rect l="l" t="t" r="r" b="b"/>
            <a:pathLst>
              <a:path w="898525" h="1059814">
                <a:moveTo>
                  <a:pt x="897951" y="434768"/>
                </a:moveTo>
                <a:lnTo>
                  <a:pt x="501757" y="434768"/>
                </a:lnTo>
                <a:lnTo>
                  <a:pt x="508079" y="453875"/>
                </a:lnTo>
                <a:lnTo>
                  <a:pt x="518625" y="468759"/>
                </a:lnTo>
                <a:lnTo>
                  <a:pt x="529172" y="485770"/>
                </a:lnTo>
                <a:lnTo>
                  <a:pt x="562878" y="517664"/>
                </a:lnTo>
                <a:lnTo>
                  <a:pt x="600839" y="534675"/>
                </a:lnTo>
                <a:lnTo>
                  <a:pt x="613482" y="538927"/>
                </a:lnTo>
                <a:lnTo>
                  <a:pt x="642994" y="543180"/>
                </a:lnTo>
                <a:lnTo>
                  <a:pt x="636672" y="545306"/>
                </a:lnTo>
                <a:lnTo>
                  <a:pt x="630350" y="549559"/>
                </a:lnTo>
                <a:lnTo>
                  <a:pt x="621931" y="551685"/>
                </a:lnTo>
                <a:lnTo>
                  <a:pt x="611385" y="553811"/>
                </a:lnTo>
                <a:lnTo>
                  <a:pt x="592390" y="560190"/>
                </a:lnTo>
                <a:lnTo>
                  <a:pt x="552361" y="575045"/>
                </a:lnTo>
                <a:lnTo>
                  <a:pt x="518625" y="600560"/>
                </a:lnTo>
                <a:lnTo>
                  <a:pt x="499630" y="640960"/>
                </a:lnTo>
                <a:lnTo>
                  <a:pt x="497533" y="668602"/>
                </a:lnTo>
                <a:lnTo>
                  <a:pt x="499630" y="689865"/>
                </a:lnTo>
                <a:lnTo>
                  <a:pt x="514401" y="725982"/>
                </a:lnTo>
                <a:lnTo>
                  <a:pt x="541815" y="753624"/>
                </a:lnTo>
                <a:lnTo>
                  <a:pt x="562878" y="764256"/>
                </a:lnTo>
                <a:lnTo>
                  <a:pt x="567103" y="772761"/>
                </a:lnTo>
                <a:lnTo>
                  <a:pt x="579746" y="794018"/>
                </a:lnTo>
                <a:lnTo>
                  <a:pt x="598741" y="821654"/>
                </a:lnTo>
                <a:lnTo>
                  <a:pt x="619804" y="855666"/>
                </a:lnTo>
                <a:lnTo>
                  <a:pt x="638799" y="887551"/>
                </a:lnTo>
                <a:lnTo>
                  <a:pt x="657765" y="917314"/>
                </a:lnTo>
                <a:lnTo>
                  <a:pt x="670408" y="936447"/>
                </a:lnTo>
                <a:lnTo>
                  <a:pt x="674633" y="944949"/>
                </a:lnTo>
                <a:lnTo>
                  <a:pt x="550234" y="983214"/>
                </a:lnTo>
                <a:lnTo>
                  <a:pt x="535493" y="989590"/>
                </a:lnTo>
                <a:lnTo>
                  <a:pt x="527045" y="1002345"/>
                </a:lnTo>
                <a:lnTo>
                  <a:pt x="522820" y="1017226"/>
                </a:lnTo>
                <a:lnTo>
                  <a:pt x="524947" y="1032107"/>
                </a:lnTo>
                <a:lnTo>
                  <a:pt x="531269" y="1044862"/>
                </a:lnTo>
                <a:lnTo>
                  <a:pt x="541815" y="1053365"/>
                </a:lnTo>
                <a:lnTo>
                  <a:pt x="556556" y="1059742"/>
                </a:lnTo>
                <a:lnTo>
                  <a:pt x="571327" y="1057617"/>
                </a:lnTo>
                <a:lnTo>
                  <a:pt x="792679" y="991716"/>
                </a:lnTo>
                <a:lnTo>
                  <a:pt x="655638" y="766382"/>
                </a:lnTo>
                <a:lnTo>
                  <a:pt x="672506" y="762129"/>
                </a:lnTo>
                <a:lnTo>
                  <a:pt x="710466" y="749371"/>
                </a:lnTo>
                <a:lnTo>
                  <a:pt x="750524" y="730235"/>
                </a:lnTo>
                <a:lnTo>
                  <a:pt x="788455" y="702593"/>
                </a:lnTo>
                <a:lnTo>
                  <a:pt x="822191" y="668602"/>
                </a:lnTo>
                <a:lnTo>
                  <a:pt x="853830" y="621823"/>
                </a:lnTo>
                <a:lnTo>
                  <a:pt x="879117" y="560190"/>
                </a:lnTo>
                <a:lnTo>
                  <a:pt x="895985" y="481517"/>
                </a:lnTo>
                <a:lnTo>
                  <a:pt x="898082" y="436894"/>
                </a:lnTo>
                <a:lnTo>
                  <a:pt x="897951" y="434768"/>
                </a:lnTo>
                <a:close/>
              </a:path>
              <a:path w="898525" h="1059814">
                <a:moveTo>
                  <a:pt x="42155" y="879049"/>
                </a:moveTo>
                <a:lnTo>
                  <a:pt x="27414" y="881175"/>
                </a:lnTo>
                <a:lnTo>
                  <a:pt x="14741" y="887551"/>
                </a:lnTo>
                <a:lnTo>
                  <a:pt x="4224" y="900306"/>
                </a:lnTo>
                <a:lnTo>
                  <a:pt x="0" y="915187"/>
                </a:lnTo>
                <a:lnTo>
                  <a:pt x="2097" y="930068"/>
                </a:lnTo>
                <a:lnTo>
                  <a:pt x="8419" y="942823"/>
                </a:lnTo>
                <a:lnTo>
                  <a:pt x="21062" y="953452"/>
                </a:lnTo>
                <a:lnTo>
                  <a:pt x="221352" y="1057617"/>
                </a:lnTo>
                <a:lnTo>
                  <a:pt x="259182" y="947076"/>
                </a:lnTo>
                <a:lnTo>
                  <a:pt x="177070" y="947076"/>
                </a:lnTo>
                <a:lnTo>
                  <a:pt x="56925" y="883302"/>
                </a:lnTo>
                <a:lnTo>
                  <a:pt x="42155" y="879049"/>
                </a:lnTo>
                <a:close/>
              </a:path>
              <a:path w="898525" h="1059814">
                <a:moveTo>
                  <a:pt x="319564" y="770634"/>
                </a:moveTo>
                <a:lnTo>
                  <a:pt x="238220" y="770634"/>
                </a:lnTo>
                <a:lnTo>
                  <a:pt x="177070" y="947076"/>
                </a:lnTo>
                <a:lnTo>
                  <a:pt x="259182" y="947076"/>
                </a:lnTo>
                <a:lnTo>
                  <a:pt x="319564" y="770634"/>
                </a:lnTo>
                <a:close/>
              </a:path>
              <a:path w="898525" h="1059814">
                <a:moveTo>
                  <a:pt x="309917" y="166914"/>
                </a:moveTo>
                <a:lnTo>
                  <a:pt x="288824" y="166914"/>
                </a:lnTo>
                <a:lnTo>
                  <a:pt x="248766" y="171166"/>
                </a:lnTo>
                <a:lnTo>
                  <a:pt x="179197" y="198779"/>
                </a:lnTo>
                <a:lnTo>
                  <a:pt x="126495" y="251936"/>
                </a:lnTo>
                <a:lnTo>
                  <a:pt x="107500" y="285957"/>
                </a:lnTo>
                <a:lnTo>
                  <a:pt x="92759" y="362474"/>
                </a:lnTo>
                <a:lnTo>
                  <a:pt x="96983" y="402874"/>
                </a:lnTo>
                <a:lnTo>
                  <a:pt x="122271" y="470886"/>
                </a:lnTo>
                <a:lnTo>
                  <a:pt x="153880" y="509159"/>
                </a:lnTo>
                <a:lnTo>
                  <a:pt x="189743" y="530422"/>
                </a:lnTo>
                <a:lnTo>
                  <a:pt x="204484" y="534675"/>
                </a:lnTo>
                <a:lnTo>
                  <a:pt x="217128" y="538927"/>
                </a:lnTo>
                <a:lnTo>
                  <a:pt x="246669" y="543180"/>
                </a:lnTo>
                <a:lnTo>
                  <a:pt x="240317" y="545306"/>
                </a:lnTo>
                <a:lnTo>
                  <a:pt x="231898" y="549559"/>
                </a:lnTo>
                <a:lnTo>
                  <a:pt x="215030" y="553811"/>
                </a:lnTo>
                <a:lnTo>
                  <a:pt x="196065" y="560190"/>
                </a:lnTo>
                <a:lnTo>
                  <a:pt x="174972" y="566569"/>
                </a:lnTo>
                <a:lnTo>
                  <a:pt x="139139" y="585676"/>
                </a:lnTo>
                <a:lnTo>
                  <a:pt x="111724" y="619697"/>
                </a:lnTo>
                <a:lnTo>
                  <a:pt x="101178" y="668602"/>
                </a:lnTo>
                <a:lnTo>
                  <a:pt x="103305" y="689865"/>
                </a:lnTo>
                <a:lnTo>
                  <a:pt x="118046" y="725982"/>
                </a:lnTo>
                <a:lnTo>
                  <a:pt x="143363" y="751498"/>
                </a:lnTo>
                <a:lnTo>
                  <a:pt x="149685" y="757877"/>
                </a:lnTo>
                <a:lnTo>
                  <a:pt x="181294" y="770634"/>
                </a:lnTo>
                <a:lnTo>
                  <a:pt x="196065" y="772761"/>
                </a:lnTo>
                <a:lnTo>
                  <a:pt x="217128" y="772761"/>
                </a:lnTo>
                <a:lnTo>
                  <a:pt x="225576" y="770634"/>
                </a:lnTo>
                <a:lnTo>
                  <a:pt x="319564" y="770634"/>
                </a:lnTo>
                <a:lnTo>
                  <a:pt x="324658" y="755750"/>
                </a:lnTo>
                <a:lnTo>
                  <a:pt x="326755" y="751498"/>
                </a:lnTo>
                <a:lnTo>
                  <a:pt x="326755" y="742993"/>
                </a:lnTo>
                <a:lnTo>
                  <a:pt x="337301" y="738740"/>
                </a:lnTo>
                <a:lnTo>
                  <a:pt x="368940" y="719603"/>
                </a:lnTo>
                <a:lnTo>
                  <a:pt x="390003" y="702593"/>
                </a:lnTo>
                <a:lnTo>
                  <a:pt x="398452" y="694117"/>
                </a:lnTo>
                <a:lnTo>
                  <a:pt x="408998" y="685612"/>
                </a:lnTo>
                <a:lnTo>
                  <a:pt x="440607" y="647339"/>
                </a:lnTo>
                <a:lnTo>
                  <a:pt x="472246" y="592055"/>
                </a:lnTo>
                <a:lnTo>
                  <a:pt x="493309" y="524043"/>
                </a:lnTo>
                <a:lnTo>
                  <a:pt x="499630" y="481517"/>
                </a:lnTo>
                <a:lnTo>
                  <a:pt x="501656" y="439021"/>
                </a:lnTo>
                <a:lnTo>
                  <a:pt x="501757" y="434768"/>
                </a:lnTo>
                <a:lnTo>
                  <a:pt x="897951" y="434768"/>
                </a:lnTo>
                <a:lnTo>
                  <a:pt x="895985" y="402874"/>
                </a:lnTo>
                <a:lnTo>
                  <a:pt x="893888" y="370979"/>
                </a:lnTo>
                <a:lnTo>
                  <a:pt x="887566" y="341211"/>
                </a:lnTo>
                <a:lnTo>
                  <a:pt x="887079" y="339085"/>
                </a:lnTo>
                <a:lnTo>
                  <a:pt x="491211" y="339085"/>
                </a:lnTo>
                <a:lnTo>
                  <a:pt x="480665" y="305094"/>
                </a:lnTo>
                <a:lnTo>
                  <a:pt x="451153" y="247683"/>
                </a:lnTo>
                <a:lnTo>
                  <a:pt x="400549" y="198779"/>
                </a:lnTo>
                <a:lnTo>
                  <a:pt x="347848" y="175419"/>
                </a:lnTo>
                <a:lnTo>
                  <a:pt x="309917" y="166914"/>
                </a:lnTo>
                <a:close/>
              </a:path>
              <a:path w="898525" h="1059814">
                <a:moveTo>
                  <a:pt x="597517" y="0"/>
                </a:moveTo>
                <a:lnTo>
                  <a:pt x="542597" y="0"/>
                </a:lnTo>
                <a:lnTo>
                  <a:pt x="524947" y="5345"/>
                </a:lnTo>
                <a:lnTo>
                  <a:pt x="486987" y="30860"/>
                </a:lnTo>
                <a:lnTo>
                  <a:pt x="461699" y="66978"/>
                </a:lnTo>
                <a:lnTo>
                  <a:pt x="453251" y="111630"/>
                </a:lnTo>
                <a:lnTo>
                  <a:pt x="455378" y="132893"/>
                </a:lnTo>
                <a:lnTo>
                  <a:pt x="472246" y="173293"/>
                </a:lnTo>
                <a:lnTo>
                  <a:pt x="499630" y="200905"/>
                </a:lnTo>
                <a:lnTo>
                  <a:pt x="546010" y="222168"/>
                </a:lnTo>
                <a:lnTo>
                  <a:pt x="524947" y="247683"/>
                </a:lnTo>
                <a:lnTo>
                  <a:pt x="510177" y="275325"/>
                </a:lnTo>
                <a:lnTo>
                  <a:pt x="497533" y="307220"/>
                </a:lnTo>
                <a:lnTo>
                  <a:pt x="491211" y="339085"/>
                </a:lnTo>
                <a:lnTo>
                  <a:pt x="887079" y="339085"/>
                </a:lnTo>
                <a:lnTo>
                  <a:pt x="870698" y="288083"/>
                </a:lnTo>
                <a:lnTo>
                  <a:pt x="843284" y="243431"/>
                </a:lnTo>
                <a:lnTo>
                  <a:pt x="796904" y="198779"/>
                </a:lnTo>
                <a:lnTo>
                  <a:pt x="744202" y="175419"/>
                </a:lnTo>
                <a:lnTo>
                  <a:pt x="706242" y="166914"/>
                </a:lnTo>
                <a:lnTo>
                  <a:pt x="670408" y="166914"/>
                </a:lnTo>
                <a:lnTo>
                  <a:pt x="676730" y="154156"/>
                </a:lnTo>
                <a:lnTo>
                  <a:pt x="680954" y="139272"/>
                </a:lnTo>
                <a:lnTo>
                  <a:pt x="685179" y="126514"/>
                </a:lnTo>
                <a:lnTo>
                  <a:pt x="685179" y="111630"/>
                </a:lnTo>
                <a:lnTo>
                  <a:pt x="676730" y="69104"/>
                </a:lnTo>
                <a:lnTo>
                  <a:pt x="653540" y="32987"/>
                </a:lnTo>
                <a:lnTo>
                  <a:pt x="624028" y="11724"/>
                </a:lnTo>
                <a:lnTo>
                  <a:pt x="615609" y="5345"/>
                </a:lnTo>
                <a:lnTo>
                  <a:pt x="602936" y="1092"/>
                </a:lnTo>
                <a:lnTo>
                  <a:pt x="5975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79635" y="5120184"/>
            <a:ext cx="255270" cy="450850"/>
          </a:xfrm>
          <a:custGeom>
            <a:avLst/>
            <a:gdLst/>
            <a:ahLst/>
            <a:cxnLst/>
            <a:rect l="l" t="t" r="r" b="b"/>
            <a:pathLst>
              <a:path w="255270" h="450850">
                <a:moveTo>
                  <a:pt x="254940" y="189210"/>
                </a:moveTo>
                <a:lnTo>
                  <a:pt x="175002" y="189210"/>
                </a:lnTo>
                <a:lnTo>
                  <a:pt x="175002" y="269980"/>
                </a:lnTo>
                <a:lnTo>
                  <a:pt x="170777" y="291243"/>
                </a:lnTo>
                <a:lnTo>
                  <a:pt x="153909" y="329516"/>
                </a:lnTo>
                <a:lnTo>
                  <a:pt x="118076" y="363508"/>
                </a:lnTo>
                <a:lnTo>
                  <a:pt x="61150" y="386897"/>
                </a:lnTo>
                <a:lnTo>
                  <a:pt x="29541" y="395402"/>
                </a:lnTo>
                <a:lnTo>
                  <a:pt x="12673" y="406034"/>
                </a:lnTo>
                <a:lnTo>
                  <a:pt x="6321" y="414539"/>
                </a:lnTo>
                <a:lnTo>
                  <a:pt x="6321" y="429423"/>
                </a:lnTo>
                <a:lnTo>
                  <a:pt x="8448" y="433676"/>
                </a:lnTo>
                <a:lnTo>
                  <a:pt x="10546" y="437928"/>
                </a:lnTo>
                <a:lnTo>
                  <a:pt x="12673" y="442181"/>
                </a:lnTo>
                <a:lnTo>
                  <a:pt x="16868" y="446433"/>
                </a:lnTo>
                <a:lnTo>
                  <a:pt x="23189" y="448560"/>
                </a:lnTo>
                <a:lnTo>
                  <a:pt x="31638" y="450686"/>
                </a:lnTo>
                <a:lnTo>
                  <a:pt x="40057" y="450686"/>
                </a:lnTo>
                <a:lnTo>
                  <a:pt x="107530" y="435802"/>
                </a:lnTo>
                <a:lnTo>
                  <a:pt x="143363" y="418791"/>
                </a:lnTo>
                <a:lnTo>
                  <a:pt x="179197" y="391150"/>
                </a:lnTo>
                <a:lnTo>
                  <a:pt x="208738" y="357129"/>
                </a:lnTo>
                <a:lnTo>
                  <a:pt x="234025" y="312506"/>
                </a:lnTo>
                <a:lnTo>
                  <a:pt x="248796" y="257222"/>
                </a:lnTo>
                <a:lnTo>
                  <a:pt x="255118" y="193463"/>
                </a:lnTo>
                <a:lnTo>
                  <a:pt x="254940" y="189210"/>
                </a:lnTo>
                <a:close/>
              </a:path>
              <a:path w="255270" h="450850">
                <a:moveTo>
                  <a:pt x="126495" y="0"/>
                </a:moveTo>
                <a:lnTo>
                  <a:pt x="105432" y="0"/>
                </a:lnTo>
                <a:lnTo>
                  <a:pt x="92759" y="2126"/>
                </a:lnTo>
                <a:lnTo>
                  <a:pt x="82242" y="4252"/>
                </a:lnTo>
                <a:lnTo>
                  <a:pt x="71696" y="8505"/>
                </a:lnTo>
                <a:lnTo>
                  <a:pt x="61150" y="14884"/>
                </a:lnTo>
                <a:lnTo>
                  <a:pt x="50604" y="19136"/>
                </a:lnTo>
                <a:lnTo>
                  <a:pt x="18995" y="53157"/>
                </a:lnTo>
                <a:lnTo>
                  <a:pt x="2126" y="95653"/>
                </a:lnTo>
                <a:lnTo>
                  <a:pt x="0" y="119043"/>
                </a:lnTo>
                <a:lnTo>
                  <a:pt x="2126" y="144558"/>
                </a:lnTo>
                <a:lnTo>
                  <a:pt x="16868" y="184958"/>
                </a:lnTo>
                <a:lnTo>
                  <a:pt x="52731" y="216823"/>
                </a:lnTo>
                <a:lnTo>
                  <a:pt x="86437" y="223202"/>
                </a:lnTo>
                <a:lnTo>
                  <a:pt x="96983" y="223202"/>
                </a:lnTo>
                <a:lnTo>
                  <a:pt x="107530" y="221075"/>
                </a:lnTo>
                <a:lnTo>
                  <a:pt x="120173" y="216823"/>
                </a:lnTo>
                <a:lnTo>
                  <a:pt x="175002" y="189210"/>
                </a:lnTo>
                <a:lnTo>
                  <a:pt x="254940" y="189210"/>
                </a:lnTo>
                <a:lnTo>
                  <a:pt x="252991" y="142432"/>
                </a:lnTo>
                <a:lnTo>
                  <a:pt x="242444" y="99906"/>
                </a:lnTo>
                <a:lnTo>
                  <a:pt x="227703" y="63788"/>
                </a:lnTo>
                <a:lnTo>
                  <a:pt x="193967" y="25515"/>
                </a:lnTo>
                <a:lnTo>
                  <a:pt x="160231" y="6378"/>
                </a:lnTo>
                <a:lnTo>
                  <a:pt x="147587" y="4252"/>
                </a:lnTo>
                <a:lnTo>
                  <a:pt x="126495" y="0"/>
                </a:lnTo>
                <a:close/>
              </a:path>
            </a:pathLst>
          </a:custGeom>
          <a:solidFill>
            <a:srgbClr val="FF9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10645" y="4922498"/>
            <a:ext cx="137041" cy="131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75990" y="5120184"/>
            <a:ext cx="255270" cy="450850"/>
          </a:xfrm>
          <a:custGeom>
            <a:avLst/>
            <a:gdLst/>
            <a:ahLst/>
            <a:cxnLst/>
            <a:rect l="l" t="t" r="r" b="b"/>
            <a:pathLst>
              <a:path w="255270" h="450850">
                <a:moveTo>
                  <a:pt x="254913" y="189210"/>
                </a:moveTo>
                <a:lnTo>
                  <a:pt x="174972" y="189210"/>
                </a:lnTo>
                <a:lnTo>
                  <a:pt x="174972" y="269980"/>
                </a:lnTo>
                <a:lnTo>
                  <a:pt x="170777" y="291243"/>
                </a:lnTo>
                <a:lnTo>
                  <a:pt x="153909" y="329516"/>
                </a:lnTo>
                <a:lnTo>
                  <a:pt x="120173" y="363508"/>
                </a:lnTo>
                <a:lnTo>
                  <a:pt x="63247" y="386897"/>
                </a:lnTo>
                <a:lnTo>
                  <a:pt x="29511" y="395402"/>
                </a:lnTo>
                <a:lnTo>
                  <a:pt x="12643" y="406034"/>
                </a:lnTo>
                <a:lnTo>
                  <a:pt x="6321" y="414539"/>
                </a:lnTo>
                <a:lnTo>
                  <a:pt x="6321" y="429423"/>
                </a:lnTo>
                <a:lnTo>
                  <a:pt x="8448" y="433676"/>
                </a:lnTo>
                <a:lnTo>
                  <a:pt x="10546" y="437928"/>
                </a:lnTo>
                <a:lnTo>
                  <a:pt x="18965" y="446433"/>
                </a:lnTo>
                <a:lnTo>
                  <a:pt x="31638" y="450686"/>
                </a:lnTo>
                <a:lnTo>
                  <a:pt x="40057" y="450686"/>
                </a:lnTo>
                <a:lnTo>
                  <a:pt x="109627" y="435802"/>
                </a:lnTo>
                <a:lnTo>
                  <a:pt x="145461" y="418791"/>
                </a:lnTo>
                <a:lnTo>
                  <a:pt x="179197" y="391150"/>
                </a:lnTo>
                <a:lnTo>
                  <a:pt x="208708" y="357129"/>
                </a:lnTo>
                <a:lnTo>
                  <a:pt x="234025" y="312506"/>
                </a:lnTo>
                <a:lnTo>
                  <a:pt x="248766" y="257222"/>
                </a:lnTo>
                <a:lnTo>
                  <a:pt x="255088" y="193463"/>
                </a:lnTo>
                <a:lnTo>
                  <a:pt x="254913" y="189210"/>
                </a:lnTo>
                <a:close/>
              </a:path>
              <a:path w="255270" h="450850">
                <a:moveTo>
                  <a:pt x="128592" y="0"/>
                </a:moveTo>
                <a:lnTo>
                  <a:pt x="105403" y="0"/>
                </a:lnTo>
                <a:lnTo>
                  <a:pt x="92759" y="2126"/>
                </a:lnTo>
                <a:lnTo>
                  <a:pt x="82213" y="4252"/>
                </a:lnTo>
                <a:lnTo>
                  <a:pt x="71696" y="8505"/>
                </a:lnTo>
                <a:lnTo>
                  <a:pt x="61150" y="14884"/>
                </a:lnTo>
                <a:lnTo>
                  <a:pt x="50604" y="19136"/>
                </a:lnTo>
                <a:lnTo>
                  <a:pt x="18965" y="53157"/>
                </a:lnTo>
                <a:lnTo>
                  <a:pt x="2097" y="95653"/>
                </a:lnTo>
                <a:lnTo>
                  <a:pt x="0" y="119043"/>
                </a:lnTo>
                <a:lnTo>
                  <a:pt x="2097" y="144558"/>
                </a:lnTo>
                <a:lnTo>
                  <a:pt x="16868" y="184958"/>
                </a:lnTo>
                <a:lnTo>
                  <a:pt x="54828" y="216823"/>
                </a:lnTo>
                <a:lnTo>
                  <a:pt x="86437" y="223202"/>
                </a:lnTo>
                <a:lnTo>
                  <a:pt x="99081" y="223202"/>
                </a:lnTo>
                <a:lnTo>
                  <a:pt x="115949" y="218949"/>
                </a:lnTo>
                <a:lnTo>
                  <a:pt x="174972" y="189210"/>
                </a:lnTo>
                <a:lnTo>
                  <a:pt x="254913" y="189210"/>
                </a:lnTo>
                <a:lnTo>
                  <a:pt x="252991" y="142432"/>
                </a:lnTo>
                <a:lnTo>
                  <a:pt x="242444" y="99906"/>
                </a:lnTo>
                <a:lnTo>
                  <a:pt x="227703" y="63788"/>
                </a:lnTo>
                <a:lnTo>
                  <a:pt x="196065" y="25515"/>
                </a:lnTo>
                <a:lnTo>
                  <a:pt x="160231" y="6378"/>
                </a:lnTo>
                <a:lnTo>
                  <a:pt x="128592" y="0"/>
                </a:lnTo>
                <a:close/>
              </a:path>
            </a:pathLst>
          </a:custGeom>
          <a:solidFill>
            <a:srgbClr val="FF9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08937" y="4952236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5316" y="0"/>
                </a:moveTo>
                <a:lnTo>
                  <a:pt x="14770" y="2126"/>
                </a:lnTo>
                <a:lnTo>
                  <a:pt x="6351" y="8505"/>
                </a:lnTo>
                <a:lnTo>
                  <a:pt x="2126" y="17010"/>
                </a:lnTo>
                <a:lnTo>
                  <a:pt x="0" y="25515"/>
                </a:lnTo>
                <a:lnTo>
                  <a:pt x="2126" y="36147"/>
                </a:lnTo>
                <a:lnTo>
                  <a:pt x="6351" y="44652"/>
                </a:lnTo>
                <a:lnTo>
                  <a:pt x="14770" y="48904"/>
                </a:lnTo>
                <a:lnTo>
                  <a:pt x="25316" y="51031"/>
                </a:lnTo>
                <a:lnTo>
                  <a:pt x="35863" y="48904"/>
                </a:lnTo>
                <a:lnTo>
                  <a:pt x="44282" y="44652"/>
                </a:lnTo>
                <a:lnTo>
                  <a:pt x="48506" y="36147"/>
                </a:lnTo>
                <a:lnTo>
                  <a:pt x="50604" y="25515"/>
                </a:lnTo>
                <a:lnTo>
                  <a:pt x="48506" y="17010"/>
                </a:lnTo>
                <a:lnTo>
                  <a:pt x="44282" y="8505"/>
                </a:lnTo>
                <a:lnTo>
                  <a:pt x="35863" y="2126"/>
                </a:lnTo>
                <a:lnTo>
                  <a:pt x="253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696793" y="4945858"/>
            <a:ext cx="48895" cy="51435"/>
          </a:xfrm>
          <a:custGeom>
            <a:avLst/>
            <a:gdLst/>
            <a:ahLst/>
            <a:cxnLst/>
            <a:rect l="l" t="t" r="r" b="b"/>
            <a:pathLst>
              <a:path w="48895" h="51435">
                <a:moveTo>
                  <a:pt x="25287" y="0"/>
                </a:moveTo>
                <a:lnTo>
                  <a:pt x="14770" y="2126"/>
                </a:lnTo>
                <a:lnTo>
                  <a:pt x="6321" y="8505"/>
                </a:lnTo>
                <a:lnTo>
                  <a:pt x="2097" y="17010"/>
                </a:lnTo>
                <a:lnTo>
                  <a:pt x="0" y="25515"/>
                </a:lnTo>
                <a:lnTo>
                  <a:pt x="2097" y="36147"/>
                </a:lnTo>
                <a:lnTo>
                  <a:pt x="6321" y="44652"/>
                </a:lnTo>
                <a:lnTo>
                  <a:pt x="14770" y="48904"/>
                </a:lnTo>
                <a:lnTo>
                  <a:pt x="25287" y="51031"/>
                </a:lnTo>
                <a:lnTo>
                  <a:pt x="33736" y="48904"/>
                </a:lnTo>
                <a:lnTo>
                  <a:pt x="42155" y="44652"/>
                </a:lnTo>
                <a:lnTo>
                  <a:pt x="46379" y="36147"/>
                </a:lnTo>
                <a:lnTo>
                  <a:pt x="48477" y="25515"/>
                </a:lnTo>
                <a:lnTo>
                  <a:pt x="46379" y="17010"/>
                </a:lnTo>
                <a:lnTo>
                  <a:pt x="42155" y="8505"/>
                </a:lnTo>
                <a:lnTo>
                  <a:pt x="33736" y="2126"/>
                </a:lnTo>
                <a:lnTo>
                  <a:pt x="25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773393" y="4945858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5287" y="0"/>
                </a:moveTo>
                <a:lnTo>
                  <a:pt x="16868" y="2126"/>
                </a:lnTo>
                <a:lnTo>
                  <a:pt x="8419" y="8505"/>
                </a:lnTo>
                <a:lnTo>
                  <a:pt x="2097" y="17010"/>
                </a:lnTo>
                <a:lnTo>
                  <a:pt x="0" y="25515"/>
                </a:lnTo>
                <a:lnTo>
                  <a:pt x="2097" y="36147"/>
                </a:lnTo>
                <a:lnTo>
                  <a:pt x="8419" y="44652"/>
                </a:lnTo>
                <a:lnTo>
                  <a:pt x="16868" y="48904"/>
                </a:lnTo>
                <a:lnTo>
                  <a:pt x="25287" y="51031"/>
                </a:lnTo>
                <a:lnTo>
                  <a:pt x="35833" y="48904"/>
                </a:lnTo>
                <a:lnTo>
                  <a:pt x="44282" y="44652"/>
                </a:lnTo>
                <a:lnTo>
                  <a:pt x="48477" y="36147"/>
                </a:lnTo>
                <a:lnTo>
                  <a:pt x="50604" y="25515"/>
                </a:lnTo>
                <a:lnTo>
                  <a:pt x="48477" y="17010"/>
                </a:lnTo>
                <a:lnTo>
                  <a:pt x="44282" y="8505"/>
                </a:lnTo>
                <a:lnTo>
                  <a:pt x="35833" y="2126"/>
                </a:lnTo>
                <a:lnTo>
                  <a:pt x="25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52800" y="4962868"/>
            <a:ext cx="50800" cy="51435"/>
          </a:xfrm>
          <a:custGeom>
            <a:avLst/>
            <a:gdLst/>
            <a:ahLst/>
            <a:cxnLst/>
            <a:rect l="l" t="t" r="r" b="b"/>
            <a:pathLst>
              <a:path w="50800" h="51435">
                <a:moveTo>
                  <a:pt x="25287" y="0"/>
                </a:moveTo>
                <a:lnTo>
                  <a:pt x="16868" y="2126"/>
                </a:lnTo>
                <a:lnTo>
                  <a:pt x="8448" y="6378"/>
                </a:lnTo>
                <a:lnTo>
                  <a:pt x="2097" y="14884"/>
                </a:lnTo>
                <a:lnTo>
                  <a:pt x="0" y="25515"/>
                </a:lnTo>
                <a:lnTo>
                  <a:pt x="2097" y="36147"/>
                </a:lnTo>
                <a:lnTo>
                  <a:pt x="8448" y="44652"/>
                </a:lnTo>
                <a:lnTo>
                  <a:pt x="16868" y="48904"/>
                </a:lnTo>
                <a:lnTo>
                  <a:pt x="25287" y="51031"/>
                </a:lnTo>
                <a:lnTo>
                  <a:pt x="35833" y="48904"/>
                </a:lnTo>
                <a:lnTo>
                  <a:pt x="44282" y="44652"/>
                </a:lnTo>
                <a:lnTo>
                  <a:pt x="48477" y="36147"/>
                </a:lnTo>
                <a:lnTo>
                  <a:pt x="50604" y="25515"/>
                </a:lnTo>
                <a:lnTo>
                  <a:pt x="48477" y="14884"/>
                </a:lnTo>
                <a:lnTo>
                  <a:pt x="44282" y="6378"/>
                </a:lnTo>
                <a:lnTo>
                  <a:pt x="35833" y="2126"/>
                </a:lnTo>
                <a:lnTo>
                  <a:pt x="25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57778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183880" cy="553998"/>
          </a:xfrm>
        </p:spPr>
        <p:txBody>
          <a:bodyPr/>
          <a:lstStyle/>
          <a:p>
            <a:pPr algn="ctr"/>
            <a:r>
              <a:rPr lang="en-US" sz="3600" b="1" dirty="0" smtClean="0">
                <a:solidFill>
                  <a:srgbClr val="0070C0"/>
                </a:solidFill>
              </a:rPr>
              <a:t>Hyphens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183880" cy="4187952"/>
          </a:xfrm>
        </p:spPr>
        <p:txBody>
          <a:bodyPr>
            <a:normAutofit/>
          </a:bodyPr>
          <a:lstStyle/>
          <a:p>
            <a:r>
              <a:rPr lang="en-US" dirty="0" smtClean="0"/>
              <a:t>Rule #1: Compound Words</a:t>
            </a:r>
          </a:p>
          <a:p>
            <a:pPr lvl="1"/>
            <a:r>
              <a:rPr lang="en-US" dirty="0" smtClean="0"/>
              <a:t>There is no specific rule – consult a dictionary!</a:t>
            </a:r>
          </a:p>
          <a:p>
            <a:pPr lvl="2"/>
            <a:r>
              <a:rPr lang="en-US" dirty="0" smtClean="0"/>
              <a:t>Ex: Vice-president, self-awareness, X-ray</a:t>
            </a:r>
          </a:p>
          <a:p>
            <a:pPr marL="603504" lvl="2" indent="0">
              <a:buNone/>
            </a:pPr>
            <a:endParaRPr lang="en-US" dirty="0" smtClean="0"/>
          </a:p>
          <a:p>
            <a:r>
              <a:rPr lang="en-US" dirty="0" smtClean="0"/>
              <a:t>Rule # 2: With Prefixes</a:t>
            </a:r>
          </a:p>
          <a:p>
            <a:pPr lvl="1"/>
            <a:r>
              <a:rPr lang="en-US" dirty="0"/>
              <a:t>all-, co-, ex-, half-, great-, numbers and capital letters</a:t>
            </a:r>
          </a:p>
          <a:p>
            <a:pPr lvl="2"/>
            <a:r>
              <a:rPr lang="en-US" dirty="0" smtClean="0"/>
              <a:t>Ex: All-knowing</a:t>
            </a:r>
            <a:r>
              <a:rPr lang="en-US" dirty="0"/>
              <a:t>, co-author, ex-convict, half-life, great- uncle, 10-yards, T-Shirt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Rule # 3: Dates</a:t>
            </a:r>
          </a:p>
          <a:p>
            <a:pPr lvl="1"/>
            <a:r>
              <a:rPr lang="en-US" dirty="0" smtClean="0"/>
              <a:t>11-19-1988</a:t>
            </a:r>
          </a:p>
          <a:p>
            <a:pPr lvl="3"/>
            <a:r>
              <a:rPr lang="en-US" sz="1500" dirty="0" smtClean="0"/>
              <a:t>^I expect gifts..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71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183880" cy="553998"/>
          </a:xfrm>
        </p:spPr>
        <p:txBody>
          <a:bodyPr/>
          <a:lstStyle/>
          <a:p>
            <a:pPr algn="ctr"/>
            <a:r>
              <a:rPr lang="en-US" sz="3600" b="1" dirty="0" smtClean="0">
                <a:solidFill>
                  <a:srgbClr val="0070C0"/>
                </a:solidFill>
              </a:rPr>
              <a:t>Hyphens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83880" cy="4187952"/>
          </a:xfrm>
        </p:spPr>
        <p:txBody>
          <a:bodyPr>
            <a:normAutofit/>
          </a:bodyPr>
          <a:lstStyle/>
          <a:p>
            <a:r>
              <a:rPr lang="en-US" dirty="0" smtClean="0"/>
              <a:t>Rule # 4: Compound Numbers from 21-99</a:t>
            </a:r>
          </a:p>
          <a:p>
            <a:pPr lvl="2"/>
            <a:r>
              <a:rPr lang="en-US" dirty="0"/>
              <a:t>Ex: twenty-three, one hundred and </a:t>
            </a:r>
            <a:r>
              <a:rPr lang="en-US" dirty="0" smtClean="0"/>
              <a:t>sixty-two.</a:t>
            </a:r>
          </a:p>
          <a:p>
            <a:r>
              <a:rPr lang="en-US" dirty="0" smtClean="0"/>
              <a:t>Rule #5: Fractions as Adjectives/Adverbs</a:t>
            </a:r>
          </a:p>
          <a:p>
            <a:pPr lvl="2"/>
            <a:r>
              <a:rPr lang="en-US" dirty="0" smtClean="0"/>
              <a:t>The recipe called for one-half gallon of eggnog. </a:t>
            </a:r>
          </a:p>
          <a:p>
            <a:r>
              <a:rPr lang="en-US" dirty="0" smtClean="0"/>
              <a:t>Rule #6: Scores</a:t>
            </a:r>
          </a:p>
          <a:p>
            <a:pPr lvl="2"/>
            <a:r>
              <a:rPr lang="en-US" dirty="0" smtClean="0"/>
              <a:t>We won the game 88-62</a:t>
            </a:r>
          </a:p>
          <a:p>
            <a:r>
              <a:rPr lang="en-US" dirty="0" smtClean="0"/>
              <a:t>Rule #7: Compound Adjectives</a:t>
            </a:r>
          </a:p>
          <a:p>
            <a:pPr lvl="2"/>
            <a:r>
              <a:rPr lang="en-US" dirty="0"/>
              <a:t>Not long ago you were eighth-grade </a:t>
            </a:r>
            <a:r>
              <a:rPr lang="en-US" dirty="0" smtClean="0"/>
              <a:t>students</a:t>
            </a:r>
          </a:p>
          <a:p>
            <a:r>
              <a:rPr lang="en-US" dirty="0" smtClean="0"/>
              <a:t>Rule #8: Instead of “through”</a:t>
            </a:r>
          </a:p>
          <a:p>
            <a:pPr lvl="2"/>
            <a:r>
              <a:rPr lang="en-US" dirty="0" smtClean="0"/>
              <a:t>Read pages 1-234 for tomorrow</a:t>
            </a:r>
          </a:p>
        </p:txBody>
      </p:sp>
    </p:spTree>
    <p:extLst>
      <p:ext uri="{BB962C8B-B14F-4D97-AF65-F5344CB8AC3E}">
        <p14:creationId xmlns:p14="http://schemas.microsoft.com/office/powerpoint/2010/main" val="355233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183880" cy="609600"/>
          </a:xfrm>
        </p:spPr>
        <p:txBody>
          <a:bodyPr/>
          <a:lstStyle/>
          <a:p>
            <a:pPr algn="ctr"/>
            <a:r>
              <a:rPr lang="en-US" sz="3600" b="1" dirty="0" smtClean="0">
                <a:solidFill>
                  <a:srgbClr val="0070C0"/>
                </a:solidFill>
              </a:rPr>
              <a:t>Dashes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183880" cy="4187952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Dashes add emphasis.</a:t>
            </a:r>
          </a:p>
          <a:p>
            <a:endParaRPr lang="en-US" dirty="0" smtClean="0"/>
          </a:p>
          <a:p>
            <a:r>
              <a:rPr lang="en-US" dirty="0" smtClean="0"/>
              <a:t>Dashes make sentences stronger or more interesting than conjunctions.</a:t>
            </a:r>
          </a:p>
        </p:txBody>
      </p:sp>
    </p:spTree>
    <p:extLst>
      <p:ext uri="{BB962C8B-B14F-4D97-AF65-F5344CB8AC3E}">
        <p14:creationId xmlns:p14="http://schemas.microsoft.com/office/powerpoint/2010/main" val="240511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183880" cy="685800"/>
          </a:xfrm>
        </p:spPr>
        <p:txBody>
          <a:bodyPr/>
          <a:lstStyle/>
          <a:p>
            <a:pPr algn="ctr"/>
            <a:r>
              <a:rPr lang="en-US" sz="3600" dirty="0" smtClean="0">
                <a:solidFill>
                  <a:srgbClr val="0070C0"/>
                </a:solidFill>
              </a:rPr>
              <a:t>Dashes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183880" cy="4495800"/>
          </a:xfrm>
        </p:spPr>
        <p:txBody>
          <a:bodyPr>
            <a:normAutofit/>
          </a:bodyPr>
          <a:lstStyle/>
          <a:p>
            <a:r>
              <a:rPr lang="en-US" b="1" dirty="0" smtClean="0"/>
              <a:t>Rule  #1: Use </a:t>
            </a:r>
            <a:r>
              <a:rPr lang="en-US" b="1" dirty="0"/>
              <a:t>a dash to link two </a:t>
            </a:r>
            <a:r>
              <a:rPr lang="en-US" b="1" dirty="0" smtClean="0"/>
              <a:t>parts </a:t>
            </a:r>
            <a:r>
              <a:rPr lang="en-US" b="1" dirty="0"/>
              <a:t>of a sentence.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600" b="1" u="sng" dirty="0" smtClean="0"/>
              <a:t>Okay</a:t>
            </a:r>
            <a:endParaRPr lang="en-US" sz="2600" b="1" u="sng" dirty="0"/>
          </a:p>
          <a:p>
            <a:r>
              <a:rPr lang="en-US" b="1" dirty="0"/>
              <a:t>“Come to class on time </a:t>
            </a:r>
            <a:r>
              <a:rPr lang="en-US" b="1" dirty="0">
                <a:solidFill>
                  <a:srgbClr val="FF0000"/>
                </a:solidFill>
              </a:rPr>
              <a:t>because it’s the rule</a:t>
            </a:r>
            <a:r>
              <a:rPr lang="en-US" dirty="0">
                <a:solidFill>
                  <a:srgbClr val="FF0000"/>
                </a:solidFill>
              </a:rPr>
              <a:t>.”</a:t>
            </a:r>
          </a:p>
          <a:p>
            <a:pPr lvl="1"/>
            <a:r>
              <a:rPr lang="en-US" sz="1500" i="1" dirty="0"/>
              <a:t>^Conjunctions are too boring. Students will show up late. </a:t>
            </a:r>
            <a:endParaRPr lang="en-US" sz="1500" i="1" dirty="0" smtClean="0"/>
          </a:p>
          <a:p>
            <a:pPr lvl="1"/>
            <a:endParaRPr lang="en-US" sz="1500" i="1" dirty="0"/>
          </a:p>
          <a:p>
            <a:pPr marL="0" indent="0">
              <a:buNone/>
            </a:pPr>
            <a:r>
              <a:rPr lang="en-US" b="1" u="sng" dirty="0" smtClean="0"/>
              <a:t>Better</a:t>
            </a:r>
            <a:endParaRPr lang="en-US" b="1" u="sng" dirty="0"/>
          </a:p>
          <a:p>
            <a:r>
              <a:rPr lang="en-US" b="1" dirty="0"/>
              <a:t>“Come to class on time </a:t>
            </a:r>
            <a:r>
              <a:rPr lang="en-US" b="1" dirty="0">
                <a:solidFill>
                  <a:srgbClr val="FF0000"/>
                </a:solidFill>
              </a:rPr>
              <a:t>- it’s the rule.”</a:t>
            </a:r>
          </a:p>
          <a:p>
            <a:pPr lvl="1"/>
            <a:r>
              <a:rPr lang="en-US" sz="1700" i="1" dirty="0" smtClean="0"/>
              <a:t>^Whoa! </a:t>
            </a:r>
            <a:r>
              <a:rPr lang="en-US" sz="1700" i="1" dirty="0"/>
              <a:t>Students will be so impressed and intimated by dash usage that they show up on time every single day.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1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8183880" cy="609600"/>
          </a:xfrm>
        </p:spPr>
        <p:txBody>
          <a:bodyPr/>
          <a:lstStyle/>
          <a:p>
            <a:pPr algn="ctr"/>
            <a:r>
              <a:rPr lang="en-US" sz="3600" b="1" dirty="0" smtClean="0">
                <a:solidFill>
                  <a:srgbClr val="0070C0"/>
                </a:solidFill>
              </a:rPr>
              <a:t>Dashes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183880" cy="4419600"/>
          </a:xfrm>
        </p:spPr>
        <p:txBody>
          <a:bodyPr>
            <a:normAutofit/>
          </a:bodyPr>
          <a:lstStyle/>
          <a:p>
            <a:pPr lvl="2"/>
            <a:r>
              <a:rPr lang="en-US" dirty="0" smtClean="0"/>
              <a:t>Rule #2 – Use dashes to emphasize by the way, parenthetical expressions. </a:t>
            </a:r>
          </a:p>
          <a:p>
            <a:pPr marL="841248" lvl="3" indent="0">
              <a:buNone/>
            </a:pPr>
            <a:r>
              <a:rPr lang="en-US" dirty="0" smtClean="0"/>
              <a:t>	       -Ex: We have been learning grammar–my 			        favorite subject–for the past week. </a:t>
            </a:r>
          </a:p>
          <a:p>
            <a:pPr marL="841248" lvl="3" indent="0">
              <a:buNone/>
            </a:pPr>
            <a:endParaRPr lang="en-US" dirty="0"/>
          </a:p>
          <a:p>
            <a:pPr marL="841248" lvl="3" indent="0">
              <a:buNone/>
            </a:pPr>
            <a:r>
              <a:rPr lang="en-US" sz="2200" dirty="0" smtClean="0"/>
              <a:t>Rule #3 – Use a dash to set off a long appositive or an appositive with lots of commas. </a:t>
            </a:r>
          </a:p>
          <a:p>
            <a:pPr marL="841248" lvl="3" indent="0">
              <a:buNone/>
            </a:pPr>
            <a:endParaRPr lang="en-US" sz="2200" dirty="0" smtClean="0"/>
          </a:p>
          <a:p>
            <a:pPr marL="841248" lvl="3" indent="0">
              <a:buNone/>
            </a:pPr>
            <a:r>
              <a:rPr lang="en-US" sz="2200" dirty="0"/>
              <a:t>	</a:t>
            </a:r>
            <a:r>
              <a:rPr lang="en-US" sz="2200" b="1" dirty="0" smtClean="0"/>
              <a:t>Okay </a:t>
            </a:r>
            <a:r>
              <a:rPr lang="en-US" sz="2200" dirty="0" smtClean="0"/>
              <a:t>-</a:t>
            </a:r>
            <a:r>
              <a:rPr lang="en-US" sz="1800" b="1" dirty="0" smtClean="0"/>
              <a:t> </a:t>
            </a:r>
            <a:r>
              <a:rPr lang="en-US" sz="1800" dirty="0" smtClean="0"/>
              <a:t>I love Extreme </a:t>
            </a:r>
            <a:r>
              <a:rPr lang="en-US" sz="1800" dirty="0" smtClean="0">
                <a:solidFill>
                  <a:srgbClr val="FF0000"/>
                </a:solidFill>
              </a:rPr>
              <a:t>Trampoline, a </a:t>
            </a:r>
            <a:r>
              <a:rPr lang="en-US" sz="1800" dirty="0" smtClean="0"/>
              <a:t>large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warehouse in Carol            		    Stream with dangerous, bouncy trampolines. </a:t>
            </a:r>
          </a:p>
          <a:p>
            <a:pPr marL="841248" lvl="3" indent="0">
              <a:buNone/>
            </a:pPr>
            <a:r>
              <a:rPr lang="en-US" sz="1800" dirty="0"/>
              <a:t>	 </a:t>
            </a:r>
            <a:r>
              <a:rPr lang="en-US" sz="1800" dirty="0" smtClean="0"/>
              <a:t>       </a:t>
            </a:r>
          </a:p>
          <a:p>
            <a:pPr marL="841248" lvl="3" indent="0">
              <a:buNone/>
            </a:pPr>
            <a:r>
              <a:rPr lang="en-US" sz="2200" b="1" dirty="0" smtClean="0"/>
              <a:t>Better</a:t>
            </a:r>
            <a:r>
              <a:rPr lang="en-US" sz="1800" b="1" dirty="0" smtClean="0"/>
              <a:t> –   </a:t>
            </a:r>
            <a:r>
              <a:rPr lang="en-US" sz="1800" dirty="0" smtClean="0"/>
              <a:t>I love Extreme </a:t>
            </a:r>
            <a:r>
              <a:rPr lang="en-US" sz="1800" dirty="0" smtClean="0">
                <a:solidFill>
                  <a:srgbClr val="FF0000"/>
                </a:solidFill>
              </a:rPr>
              <a:t>Trampoline – a </a:t>
            </a:r>
            <a:r>
              <a:rPr lang="en-US" sz="1800" dirty="0" smtClean="0"/>
              <a:t>large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/>
              <a:t>warehouse in</a:t>
            </a:r>
          </a:p>
          <a:p>
            <a:pPr marL="841248" lvl="3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  Carol Stream with dangerous, bouncy trampolines. </a:t>
            </a:r>
          </a:p>
          <a:p>
            <a:pPr marL="841248" lvl="3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</a:t>
            </a:r>
            <a:endParaRPr lang="en-US" sz="2200" dirty="0" smtClean="0"/>
          </a:p>
          <a:p>
            <a:pPr marL="841248" lvl="3" indent="0">
              <a:buNone/>
            </a:pPr>
            <a:endParaRPr lang="en-US" dirty="0"/>
          </a:p>
          <a:p>
            <a:pPr marL="841248" lvl="3" indent="0">
              <a:buNone/>
            </a:pPr>
            <a:endParaRPr lang="en-US" dirty="0" smtClean="0"/>
          </a:p>
          <a:p>
            <a:pPr marL="841248" lvl="3" indent="0">
              <a:buNone/>
            </a:pPr>
            <a:endParaRPr lang="en-US" dirty="0" smtClean="0"/>
          </a:p>
          <a:p>
            <a:pPr marL="841248" lvl="3" indent="0">
              <a:buNone/>
            </a:pPr>
            <a:endParaRPr lang="en-US" dirty="0"/>
          </a:p>
          <a:p>
            <a:pPr lvl="2"/>
            <a:endParaRPr lang="en-US" dirty="0" smtClean="0"/>
          </a:p>
          <a:p>
            <a:pPr marL="841248" lvl="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21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183880" cy="685800"/>
          </a:xfrm>
        </p:spPr>
        <p:txBody>
          <a:bodyPr/>
          <a:lstStyle/>
          <a:p>
            <a:pPr algn="ctr"/>
            <a:r>
              <a:rPr lang="en-US" sz="3600" b="1" dirty="0" smtClean="0">
                <a:solidFill>
                  <a:srgbClr val="0070C0"/>
                </a:solidFill>
              </a:rPr>
              <a:t>Dashes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183880" cy="4187952"/>
          </a:xfrm>
        </p:spPr>
        <p:txBody>
          <a:bodyPr>
            <a:normAutofit/>
          </a:bodyPr>
          <a:lstStyle/>
          <a:p>
            <a:r>
              <a:rPr lang="en-US" dirty="0"/>
              <a:t>Rule #4: </a:t>
            </a:r>
            <a:r>
              <a:rPr lang="en-US" dirty="0" smtClean="0"/>
              <a:t>Use a dash to sum up a list or idea. </a:t>
            </a:r>
          </a:p>
          <a:p>
            <a:pPr lvl="2"/>
            <a:r>
              <a:rPr lang="en-US" dirty="0" smtClean="0"/>
              <a:t>Ex: Red, white, and blue – those are the American colors. </a:t>
            </a:r>
          </a:p>
          <a:p>
            <a:endParaRPr lang="en-US" dirty="0"/>
          </a:p>
          <a:p>
            <a:r>
              <a:rPr lang="en-US" dirty="0" smtClean="0"/>
              <a:t>Rule #5: Use a dash in dialogue to show hesitation or a break in the flow of a sentence. </a:t>
            </a:r>
          </a:p>
          <a:p>
            <a:pPr lvl="2"/>
            <a:r>
              <a:rPr lang="en-US" dirty="0" smtClean="0"/>
              <a:t>Ex: Last Wednesday – no, it was the one before – you were free to do as you pleased. </a:t>
            </a:r>
            <a:endParaRPr lang="en-US" dirty="0"/>
          </a:p>
          <a:p>
            <a:pPr marL="603504" lvl="2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39570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183880" cy="685800"/>
          </a:xfrm>
        </p:spPr>
        <p:txBody>
          <a:bodyPr/>
          <a:lstStyle/>
          <a:p>
            <a:pPr algn="ctr"/>
            <a:r>
              <a:rPr lang="en-US" sz="3600" b="1" dirty="0" smtClean="0">
                <a:solidFill>
                  <a:srgbClr val="0070C0"/>
                </a:solidFill>
              </a:rPr>
              <a:t>(Parentheses)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183880" cy="4187952"/>
          </a:xfrm>
        </p:spPr>
        <p:txBody>
          <a:bodyPr/>
          <a:lstStyle/>
          <a:p>
            <a:r>
              <a:rPr lang="en-US" dirty="0" smtClean="0"/>
              <a:t>Rule #1: Set off parenthetical expressions (by the way information) from the rest of the sentence. </a:t>
            </a:r>
          </a:p>
          <a:p>
            <a:pPr lvl="2"/>
            <a:r>
              <a:rPr lang="en-US" dirty="0" smtClean="0"/>
              <a:t>Ex: John Lennon (1940-1980) was the most gifted songwriter in The Beatles. </a:t>
            </a:r>
          </a:p>
          <a:p>
            <a:pPr lvl="2"/>
            <a:r>
              <a:rPr lang="en-US" dirty="0" smtClean="0"/>
              <a:t>Nobody (except his mother) can sit next to him because of his foul stench. </a:t>
            </a:r>
          </a:p>
          <a:p>
            <a:pPr lvl="2"/>
            <a:r>
              <a:rPr lang="en-US" dirty="0" smtClean="0"/>
              <a:t>I paid 10 euros (about $8) for a Big Mac. </a:t>
            </a:r>
          </a:p>
        </p:txBody>
      </p:sp>
    </p:spTree>
    <p:extLst>
      <p:ext uri="{BB962C8B-B14F-4D97-AF65-F5344CB8AC3E}">
        <p14:creationId xmlns:p14="http://schemas.microsoft.com/office/powerpoint/2010/main" val="162735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183880" cy="609600"/>
          </a:xfrm>
        </p:spPr>
        <p:txBody>
          <a:bodyPr/>
          <a:lstStyle/>
          <a:p>
            <a:pPr algn="ctr"/>
            <a:r>
              <a:rPr lang="en-US" sz="3600" b="1" dirty="0" smtClean="0">
                <a:solidFill>
                  <a:srgbClr val="0070C0"/>
                </a:solidFill>
              </a:rPr>
              <a:t>Brackets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183880" cy="4187952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Use brackets for </a:t>
            </a:r>
            <a:r>
              <a:rPr lang="en-US" u="sng" dirty="0" smtClean="0"/>
              <a:t>Clarity</a:t>
            </a:r>
          </a:p>
          <a:p>
            <a:pPr lvl="1"/>
            <a:r>
              <a:rPr lang="en-US" u="sng" dirty="0" smtClean="0"/>
              <a:t>Ofte</a:t>
            </a:r>
            <a:r>
              <a:rPr lang="en-US" dirty="0" smtClean="0"/>
              <a:t>n used when quoting another source</a:t>
            </a:r>
          </a:p>
          <a:p>
            <a:pPr lvl="2"/>
            <a:r>
              <a:rPr lang="en-US" dirty="0" smtClean="0"/>
              <a:t>“Everybody wants the greatest teacher of all time [Mr. K] as their English teacher”</a:t>
            </a:r>
          </a:p>
          <a:p>
            <a:pPr lvl="2"/>
            <a:r>
              <a:rPr lang="en-US" dirty="0" smtClean="0"/>
              <a:t>“They [ants] are taking over my apartment. I am powerless to stop them</a:t>
            </a:r>
          </a:p>
          <a:p>
            <a:pPr lvl="2"/>
            <a:r>
              <a:rPr lang="en-US" dirty="0" smtClean="0"/>
              <a:t>“Read [chapters] 1-3 for homework tonight.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82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2805</Words>
  <Application>Microsoft Office PowerPoint</Application>
  <PresentationFormat>On-screen Show (4:3)</PresentationFormat>
  <Paragraphs>333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Century Gothic</vt:lpstr>
      <vt:lpstr>Constantia</vt:lpstr>
      <vt:lpstr>Times New Roman</vt:lpstr>
      <vt:lpstr>Wingdings 2</vt:lpstr>
      <vt:lpstr>Office Theme</vt:lpstr>
      <vt:lpstr> Md. Mojibur Rahman</vt:lpstr>
      <vt:lpstr>Why do we need punctuation?</vt:lpstr>
      <vt:lpstr>PowerPoint Presentation</vt:lpstr>
      <vt:lpstr>PowerPoint Presentation</vt:lpstr>
      <vt:lpstr>Types of Punctuation</vt:lpstr>
      <vt:lpstr>Period</vt:lpstr>
      <vt:lpstr>Question Mark</vt:lpstr>
      <vt:lpstr>Exclamation Point</vt:lpstr>
      <vt:lpstr>A CLARIFICATION…</vt:lpstr>
      <vt:lpstr>END MARKS</vt:lpstr>
      <vt:lpstr>END MARKS</vt:lpstr>
      <vt:lpstr>END MARKS</vt:lpstr>
      <vt:lpstr>*A COUPLE QUICK NOTES</vt:lpstr>
      <vt:lpstr>*A COUPLE OF QUICK NOTES</vt:lpstr>
      <vt:lpstr>Comma</vt:lpstr>
      <vt:lpstr>COMMAS: Series</vt:lpstr>
      <vt:lpstr>* A COUPLE OF QUICK NOTES</vt:lpstr>
      <vt:lpstr>COMMAS: Modifiers</vt:lpstr>
      <vt:lpstr>A COUPLE OF QUICK NOTES</vt:lpstr>
      <vt:lpstr>COMMAS: Joining clauses</vt:lpstr>
      <vt:lpstr>COMMAS: Interrupters</vt:lpstr>
      <vt:lpstr>COMMAS: Interrupters</vt:lpstr>
      <vt:lpstr>COMMAS: Interrupters</vt:lpstr>
      <vt:lpstr>COMMAS: Iterrupters</vt:lpstr>
      <vt:lpstr>COMMAS: Interrupters</vt:lpstr>
      <vt:lpstr>COMMAS: Interrupters</vt:lpstr>
      <vt:lpstr>COMMAS: Interrupters</vt:lpstr>
      <vt:lpstr>COMMAS: Introductory elements</vt:lpstr>
      <vt:lpstr>COMMAS: Introductory elements</vt:lpstr>
      <vt:lpstr>COMMAS: Conventional USES</vt:lpstr>
      <vt:lpstr>Commas: Conventional uses</vt:lpstr>
      <vt:lpstr>SEMICOLONS: Joining clauses</vt:lpstr>
      <vt:lpstr>SEMICOLONS: With commas</vt:lpstr>
      <vt:lpstr>SEMICOLONS: With commas</vt:lpstr>
      <vt:lpstr>Colon</vt:lpstr>
      <vt:lpstr>COLONS: Lists</vt:lpstr>
      <vt:lpstr>COLONS: Lists</vt:lpstr>
      <vt:lpstr>COLONS: Lists</vt:lpstr>
      <vt:lpstr>COLONS: Conventional</vt:lpstr>
      <vt:lpstr>COLONS: Conventional</vt:lpstr>
      <vt:lpstr>Parenthesis</vt:lpstr>
      <vt:lpstr>Apostrophe</vt:lpstr>
      <vt:lpstr>Quotation Marks</vt:lpstr>
      <vt:lpstr>Hyphens</vt:lpstr>
      <vt:lpstr>Hyphens</vt:lpstr>
      <vt:lpstr>Dashes</vt:lpstr>
      <vt:lpstr>Dashes</vt:lpstr>
      <vt:lpstr>Dashes</vt:lpstr>
      <vt:lpstr>Dashes</vt:lpstr>
      <vt:lpstr>(Parentheses)</vt:lpstr>
      <vt:lpstr>Brackets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Mojibur Rahman</cp:lastModifiedBy>
  <cp:revision>14</cp:revision>
  <dcterms:created xsi:type="dcterms:W3CDTF">2021-02-08T06:29:05Z</dcterms:created>
  <dcterms:modified xsi:type="dcterms:W3CDTF">2022-09-16T05:42:33Z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2010-03-02T00:00:00Z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2021-02-08T00:00:00Z</vt:filetime>
  </property>
</Properties>
</file>