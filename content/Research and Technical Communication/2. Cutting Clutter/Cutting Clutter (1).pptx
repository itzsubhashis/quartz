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94EA1D1-CB86-408D-A453-61E14AE350F3}" type="datetimeFigureOut">
              <a:rPr lang="en-IN" smtClean="0"/>
              <a:t>18-08-2022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7E1CBA-36C7-4ED2-A035-9FE711D881C3}" type="slidenum">
              <a:rPr lang="en-IN" smtClean="0"/>
              <a:t>‹#›</a:t>
            </a:fld>
            <a:endParaRPr lang="en-IN"/>
          </a:p>
        </p:txBody>
      </p:sp>
    </p:spTree>
    <p:extLst>
      <p:ext uri="{BB962C8B-B14F-4D97-AF65-F5344CB8AC3E}">
        <p14:creationId xmlns:p14="http://schemas.microsoft.com/office/powerpoint/2010/main" val="2988286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4EA1D1-CB86-408D-A453-61E14AE350F3}" type="datetimeFigureOut">
              <a:rPr lang="en-IN" smtClean="0"/>
              <a:t>18-08-2022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7E1CBA-36C7-4ED2-A035-9FE711D881C3}" type="slidenum">
              <a:rPr lang="en-IN" smtClean="0"/>
              <a:t>‹#›</a:t>
            </a:fld>
            <a:endParaRPr lang="en-IN"/>
          </a:p>
        </p:txBody>
      </p:sp>
    </p:spTree>
    <p:extLst>
      <p:ext uri="{BB962C8B-B14F-4D97-AF65-F5344CB8AC3E}">
        <p14:creationId xmlns:p14="http://schemas.microsoft.com/office/powerpoint/2010/main" val="3941914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4EA1D1-CB86-408D-A453-61E14AE350F3}" type="datetimeFigureOut">
              <a:rPr lang="en-IN" smtClean="0"/>
              <a:t>18-08-2022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7E1CBA-36C7-4ED2-A035-9FE711D881C3}" type="slidenum">
              <a:rPr lang="en-IN" smtClean="0"/>
              <a:t>‹#›</a:t>
            </a:fld>
            <a:endParaRPr lang="en-IN"/>
          </a:p>
        </p:txBody>
      </p:sp>
    </p:spTree>
    <p:extLst>
      <p:ext uri="{BB962C8B-B14F-4D97-AF65-F5344CB8AC3E}">
        <p14:creationId xmlns:p14="http://schemas.microsoft.com/office/powerpoint/2010/main" val="1360387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D94EA1D1-CB86-408D-A453-61E14AE350F3}" type="datetimeFigureOut">
              <a:rPr lang="en-IN" smtClean="0"/>
              <a:t>18-08-2022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7E1CBA-36C7-4ED2-A035-9FE711D881C3}" type="slidenum">
              <a:rPr lang="en-IN" smtClean="0"/>
              <a:t>‹#›</a:t>
            </a:fld>
            <a:endParaRPr lang="en-IN"/>
          </a:p>
        </p:txBody>
      </p:sp>
    </p:spTree>
    <p:extLst>
      <p:ext uri="{BB962C8B-B14F-4D97-AF65-F5344CB8AC3E}">
        <p14:creationId xmlns:p14="http://schemas.microsoft.com/office/powerpoint/2010/main" val="312309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94EA1D1-CB86-408D-A453-61E14AE350F3}" type="datetimeFigureOut">
              <a:rPr lang="en-IN" smtClean="0"/>
              <a:t>18-08-2022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97E1CBA-36C7-4ED2-A035-9FE711D881C3}" type="slidenum">
              <a:rPr lang="en-IN" smtClean="0"/>
              <a:t>‹#›</a:t>
            </a:fld>
            <a:endParaRPr lang="en-IN"/>
          </a:p>
        </p:txBody>
      </p:sp>
    </p:spTree>
    <p:extLst>
      <p:ext uri="{BB962C8B-B14F-4D97-AF65-F5344CB8AC3E}">
        <p14:creationId xmlns:p14="http://schemas.microsoft.com/office/powerpoint/2010/main" val="3772336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94EA1D1-CB86-408D-A453-61E14AE350F3}" type="datetimeFigureOut">
              <a:rPr lang="en-IN" smtClean="0"/>
              <a:t>18-08-2022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97E1CBA-36C7-4ED2-A035-9FE711D881C3}" type="slidenum">
              <a:rPr lang="en-IN" smtClean="0"/>
              <a:t>‹#›</a:t>
            </a:fld>
            <a:endParaRPr lang="en-IN"/>
          </a:p>
        </p:txBody>
      </p:sp>
    </p:spTree>
    <p:extLst>
      <p:ext uri="{BB962C8B-B14F-4D97-AF65-F5344CB8AC3E}">
        <p14:creationId xmlns:p14="http://schemas.microsoft.com/office/powerpoint/2010/main" val="2420467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4EA1D1-CB86-408D-A453-61E14AE350F3}" type="datetimeFigureOut">
              <a:rPr lang="en-IN" smtClean="0"/>
              <a:t>18-08-2022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97E1CBA-36C7-4ED2-A035-9FE711D881C3}" type="slidenum">
              <a:rPr lang="en-IN" smtClean="0"/>
              <a:t>‹#›</a:t>
            </a:fld>
            <a:endParaRPr lang="en-IN"/>
          </a:p>
        </p:txBody>
      </p:sp>
    </p:spTree>
    <p:extLst>
      <p:ext uri="{BB962C8B-B14F-4D97-AF65-F5344CB8AC3E}">
        <p14:creationId xmlns:p14="http://schemas.microsoft.com/office/powerpoint/2010/main" val="2140408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4EA1D1-CB86-408D-A453-61E14AE350F3}" type="datetimeFigureOut">
              <a:rPr lang="en-IN" smtClean="0"/>
              <a:t>18-08-2022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7E1CBA-36C7-4ED2-A035-9FE711D881C3}" type="slidenum">
              <a:rPr lang="en-IN" smtClean="0"/>
              <a:t>‹#›</a:t>
            </a:fld>
            <a:endParaRPr lang="en-IN"/>
          </a:p>
        </p:txBody>
      </p:sp>
    </p:spTree>
    <p:extLst>
      <p:ext uri="{BB962C8B-B14F-4D97-AF65-F5344CB8AC3E}">
        <p14:creationId xmlns:p14="http://schemas.microsoft.com/office/powerpoint/2010/main" val="1473287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4EA1D1-CB86-408D-A453-61E14AE350F3}" type="datetimeFigureOut">
              <a:rPr lang="en-IN" smtClean="0"/>
              <a:t>18-08-2022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7E1CBA-36C7-4ED2-A035-9FE711D881C3}" type="slidenum">
              <a:rPr lang="en-IN" smtClean="0"/>
              <a:t>‹#›</a:t>
            </a:fld>
            <a:endParaRPr lang="en-IN"/>
          </a:p>
        </p:txBody>
      </p:sp>
    </p:spTree>
    <p:extLst>
      <p:ext uri="{BB962C8B-B14F-4D97-AF65-F5344CB8AC3E}">
        <p14:creationId xmlns:p14="http://schemas.microsoft.com/office/powerpoint/2010/main" val="690028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4EA1D1-CB86-408D-A453-61E14AE350F3}" type="datetimeFigureOut">
              <a:rPr lang="en-IN" smtClean="0"/>
              <a:t>18-08-2022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7E1CBA-36C7-4ED2-A035-9FE711D881C3}" type="slidenum">
              <a:rPr lang="en-IN" smtClean="0"/>
              <a:t>‹#›</a:t>
            </a:fld>
            <a:endParaRPr lang="en-IN"/>
          </a:p>
        </p:txBody>
      </p:sp>
    </p:spTree>
    <p:extLst>
      <p:ext uri="{BB962C8B-B14F-4D97-AF65-F5344CB8AC3E}">
        <p14:creationId xmlns:p14="http://schemas.microsoft.com/office/powerpoint/2010/main" val="61654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94EA1D1-CB86-408D-A453-61E14AE350F3}" type="datetimeFigureOut">
              <a:rPr lang="en-IN" smtClean="0"/>
              <a:t>18-08-2022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7E1CBA-36C7-4ED2-A035-9FE711D881C3}" type="slidenum">
              <a:rPr lang="en-IN" smtClean="0"/>
              <a:t>‹#›</a:t>
            </a:fld>
            <a:endParaRPr lang="en-IN"/>
          </a:p>
        </p:txBody>
      </p:sp>
    </p:spTree>
    <p:extLst>
      <p:ext uri="{BB962C8B-B14F-4D97-AF65-F5344CB8AC3E}">
        <p14:creationId xmlns:p14="http://schemas.microsoft.com/office/powerpoint/2010/main" val="2870046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EA1D1-CB86-408D-A453-61E14AE350F3}" type="datetimeFigureOut">
              <a:rPr lang="en-IN" smtClean="0"/>
              <a:t>18-08-2022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7E1CBA-36C7-4ED2-A035-9FE711D881C3}" type="slidenum">
              <a:rPr lang="en-IN" smtClean="0"/>
              <a:t>‹#›</a:t>
            </a:fld>
            <a:endParaRPr lang="en-IN"/>
          </a:p>
        </p:txBody>
      </p:sp>
    </p:spTree>
    <p:extLst>
      <p:ext uri="{BB962C8B-B14F-4D97-AF65-F5344CB8AC3E}">
        <p14:creationId xmlns:p14="http://schemas.microsoft.com/office/powerpoint/2010/main" val="3149214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6600" b="1" dirty="0" smtClean="0"/>
              <a:t>Cutting Clutter</a:t>
            </a:r>
            <a:endParaRPr lang="en-IN" sz="6600" b="1" dirty="0"/>
          </a:p>
        </p:txBody>
      </p:sp>
      <p:sp>
        <p:nvSpPr>
          <p:cNvPr id="3" name="Subtitle 2"/>
          <p:cNvSpPr>
            <a:spLocks noGrp="1"/>
          </p:cNvSpPr>
          <p:nvPr>
            <p:ph type="subTitle" idx="1"/>
          </p:nvPr>
        </p:nvSpPr>
        <p:spPr/>
        <p:txBody>
          <a:bodyPr/>
          <a:lstStyle/>
          <a:p>
            <a:endParaRPr lang="en-IN" dirty="0" smtClean="0"/>
          </a:p>
          <a:p>
            <a:r>
              <a:rPr lang="en-IN" dirty="0" smtClean="0"/>
              <a:t>Md. Mojibur Rahman</a:t>
            </a:r>
          </a:p>
          <a:p>
            <a:r>
              <a:rPr lang="en-IN" dirty="0" smtClean="0"/>
              <a:t>mrahmanelt@iitism.ac.in</a:t>
            </a:r>
            <a:endParaRPr lang="en-IN" dirty="0"/>
          </a:p>
        </p:txBody>
      </p:sp>
    </p:spTree>
    <p:extLst>
      <p:ext uri="{BB962C8B-B14F-4D97-AF65-F5344CB8AC3E}">
        <p14:creationId xmlns:p14="http://schemas.microsoft.com/office/powerpoint/2010/main" val="3826774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Cut Clutter from Writing</a:t>
            </a:r>
            <a:endParaRPr lang="en-IN" b="1" dirty="0"/>
          </a:p>
        </p:txBody>
      </p:sp>
      <p:sp>
        <p:nvSpPr>
          <p:cNvPr id="3" name="Content Placeholder 2"/>
          <p:cNvSpPr>
            <a:spLocks noGrp="1"/>
          </p:cNvSpPr>
          <p:nvPr>
            <p:ph idx="1"/>
          </p:nvPr>
        </p:nvSpPr>
        <p:spPr/>
        <p:txBody>
          <a:bodyPr/>
          <a:lstStyle/>
          <a:p>
            <a:r>
              <a:rPr lang="en-IN" dirty="0" smtClean="0"/>
              <a:t>We often take too long to say too little. Writing clearly and cleanly takes work, but it’s vital. When we write simply, we know what we’ve said, and we know other people will understand it.</a:t>
            </a:r>
          </a:p>
          <a:p>
            <a:r>
              <a:rPr lang="en-IN" dirty="0" smtClean="0"/>
              <a:t>Clutter is words, phrase, or sentences that take up space, and they contribute little to the message.</a:t>
            </a:r>
          </a:p>
          <a:p>
            <a:r>
              <a:rPr lang="en-IN" dirty="0" smtClean="0"/>
              <a:t>Clutter may also be commonly referred to as wordiness or conciseness. </a:t>
            </a:r>
          </a:p>
          <a:p>
            <a:r>
              <a:rPr lang="en-IN" dirty="0" smtClean="0"/>
              <a:t>It’s a common problem for any one who writes but one that’s easily solved by learning to recognize the most common symptoms of clutter.</a:t>
            </a:r>
            <a:endParaRPr lang="en-IN" dirty="0"/>
          </a:p>
        </p:txBody>
      </p:sp>
    </p:spTree>
    <p:extLst>
      <p:ext uri="{BB962C8B-B14F-4D97-AF65-F5344CB8AC3E}">
        <p14:creationId xmlns:p14="http://schemas.microsoft.com/office/powerpoint/2010/main" val="1734123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Don’t Draw Excessive Attention to the Writer</a:t>
            </a:r>
            <a:endParaRPr lang="en-IN" b="1" dirty="0"/>
          </a:p>
        </p:txBody>
      </p:sp>
      <p:sp>
        <p:nvSpPr>
          <p:cNvPr id="3" name="Content Placeholder 2"/>
          <p:cNvSpPr>
            <a:spLocks noGrp="1"/>
          </p:cNvSpPr>
          <p:nvPr>
            <p:ph idx="1"/>
          </p:nvPr>
        </p:nvSpPr>
        <p:spPr/>
        <p:txBody>
          <a:bodyPr>
            <a:normAutofit fontScale="92500" lnSpcReduction="10000"/>
          </a:bodyPr>
          <a:lstStyle/>
          <a:p>
            <a:r>
              <a:rPr lang="en-IN" dirty="0" smtClean="0"/>
              <a:t>Using expressions like –</a:t>
            </a:r>
          </a:p>
          <a:p>
            <a:endParaRPr lang="en-IN" dirty="0"/>
          </a:p>
          <a:p>
            <a:endParaRPr lang="en-IN" dirty="0" smtClean="0"/>
          </a:p>
          <a:p>
            <a:endParaRPr lang="en-IN" dirty="0"/>
          </a:p>
          <a:p>
            <a:r>
              <a:rPr lang="en-IN" dirty="0" smtClean="0"/>
              <a:t>Takes the reader’s attention away from shat should be most important – the old man – and puts it on the narrator or the writer.</a:t>
            </a:r>
          </a:p>
          <a:p>
            <a:r>
              <a:rPr lang="en-IN" dirty="0" smtClean="0"/>
              <a:t>When you say something about the old man, you simply imply you ‘noticed,’ ‘spotted,’ ‘saw,’ observed,’ or ‘could see’ him since there is no other way you could know those things about him. Since the ‘seeing’ announcement is unnecessary, simply revise the sentence.</a:t>
            </a:r>
          </a:p>
          <a:p>
            <a:pPr marL="0" indent="0" algn="ctr">
              <a:buNone/>
            </a:pPr>
            <a:r>
              <a:rPr lang="en-IN" b="1" dirty="0" smtClean="0">
                <a:solidFill>
                  <a:srgbClr val="00B050"/>
                </a:solidFill>
              </a:rPr>
              <a:t>An old man in a tattered coat leaned into the wind</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738963179"/>
              </p:ext>
            </p:extLst>
          </p:nvPr>
        </p:nvGraphicFramePr>
        <p:xfrm>
          <a:off x="1064028" y="2398837"/>
          <a:ext cx="10289772" cy="1463040"/>
        </p:xfrm>
        <a:graphic>
          <a:graphicData uri="http://schemas.openxmlformats.org/drawingml/2006/table">
            <a:tbl>
              <a:tblPr firstRow="1" bandRow="1">
                <a:tableStyleId>{5C22544A-7EE6-4342-B048-85BDC9FD1C3A}</a:tableStyleId>
              </a:tblPr>
              <a:tblGrid>
                <a:gridCol w="3122040"/>
                <a:gridCol w="7167732"/>
              </a:tblGrid>
              <a:tr h="370840">
                <a:tc>
                  <a:txBody>
                    <a:bodyPr/>
                    <a:lstStyle/>
                    <a:p>
                      <a:r>
                        <a:rPr lang="en-IN" dirty="0" smtClean="0"/>
                        <a:t>I noticed…</a:t>
                      </a:r>
                    </a:p>
                    <a:p>
                      <a:r>
                        <a:rPr lang="en-IN" dirty="0" smtClean="0"/>
                        <a:t>I spotted…</a:t>
                      </a:r>
                    </a:p>
                    <a:p>
                      <a:r>
                        <a:rPr lang="en-IN" dirty="0" smtClean="0"/>
                        <a:t>I saw…</a:t>
                      </a:r>
                    </a:p>
                    <a:p>
                      <a:r>
                        <a:rPr lang="en-IN" dirty="0" smtClean="0"/>
                        <a:t>I observed…</a:t>
                      </a:r>
                    </a:p>
                    <a:p>
                      <a:r>
                        <a:rPr lang="en-IN" dirty="0" smtClean="0"/>
                        <a:t>I could see…</a:t>
                      </a:r>
                      <a:endParaRPr lang="en-IN" dirty="0"/>
                    </a:p>
                  </a:txBody>
                  <a:tcPr/>
                </a:tc>
                <a:tc>
                  <a:txBody>
                    <a:bodyPr/>
                    <a:lstStyle/>
                    <a:p>
                      <a:endParaRPr lang="en-IN" dirty="0" smtClean="0"/>
                    </a:p>
                    <a:p>
                      <a:endParaRPr lang="en-IN" dirty="0" smtClean="0"/>
                    </a:p>
                    <a:p>
                      <a:r>
                        <a:rPr lang="en-IN" dirty="0" smtClean="0"/>
                        <a:t>An old man in a tattered coat leaning into the wind</a:t>
                      </a:r>
                      <a:endParaRPr lang="en-IN" dirty="0"/>
                    </a:p>
                  </a:txBody>
                  <a:tcPr/>
                </a:tc>
              </a:tr>
            </a:tbl>
          </a:graphicData>
        </a:graphic>
      </p:graphicFrame>
    </p:spTree>
    <p:extLst>
      <p:ext uri="{BB962C8B-B14F-4D97-AF65-F5344CB8AC3E}">
        <p14:creationId xmlns:p14="http://schemas.microsoft.com/office/powerpoint/2010/main" val="1231617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Don’t use Verbs that require helping verbs if a simpler form will do</a:t>
            </a:r>
            <a:endParaRPr lang="en-IN" b="1" dirty="0"/>
          </a:p>
        </p:txBody>
      </p:sp>
      <p:sp>
        <p:nvSpPr>
          <p:cNvPr id="3" name="Content Placeholder 2"/>
          <p:cNvSpPr>
            <a:spLocks noGrp="1"/>
          </p:cNvSpPr>
          <p:nvPr>
            <p:ph idx="1"/>
          </p:nvPr>
        </p:nvSpPr>
        <p:spPr/>
        <p:txBody>
          <a:bodyPr/>
          <a:lstStyle/>
          <a:p>
            <a:r>
              <a:rPr lang="en-IN" dirty="0" smtClean="0"/>
              <a:t>Be specially cautious of forms of ‘be’ and ‘would’ when they precede an action verb.</a:t>
            </a:r>
          </a:p>
          <a:p>
            <a:pPr marL="0" indent="0">
              <a:buNone/>
            </a:pPr>
            <a:r>
              <a:rPr lang="en-IN" dirty="0" smtClean="0"/>
              <a:t>Instead: </a:t>
            </a:r>
            <a:r>
              <a:rPr lang="en-IN" dirty="0" smtClean="0">
                <a:solidFill>
                  <a:srgbClr val="FF0000"/>
                </a:solidFill>
              </a:rPr>
              <a:t>The cooks were preparing pea soup last night.</a:t>
            </a:r>
          </a:p>
          <a:p>
            <a:pPr marL="0" indent="0">
              <a:buNone/>
            </a:pPr>
            <a:r>
              <a:rPr lang="en-IN" dirty="0" smtClean="0"/>
              <a:t>Say: </a:t>
            </a:r>
            <a:r>
              <a:rPr lang="en-IN" dirty="0" smtClean="0">
                <a:solidFill>
                  <a:srgbClr val="00B050"/>
                </a:solidFill>
              </a:rPr>
              <a:t>The cooks prepared pea soup last night.</a:t>
            </a:r>
          </a:p>
          <a:p>
            <a:pPr marL="0" indent="0">
              <a:buNone/>
            </a:pPr>
            <a:r>
              <a:rPr lang="en-IN" dirty="0" smtClean="0"/>
              <a:t>Instead: </a:t>
            </a:r>
            <a:r>
              <a:rPr lang="en-IN" dirty="0" smtClean="0">
                <a:solidFill>
                  <a:srgbClr val="FF0000"/>
                </a:solidFill>
              </a:rPr>
              <a:t>Sara would take all the criticism.</a:t>
            </a:r>
          </a:p>
          <a:p>
            <a:pPr marL="0" indent="0">
              <a:buNone/>
            </a:pPr>
            <a:r>
              <a:rPr lang="en-IN" dirty="0" smtClean="0"/>
              <a:t>Say: </a:t>
            </a:r>
            <a:r>
              <a:rPr lang="en-IN" dirty="0" smtClean="0">
                <a:solidFill>
                  <a:srgbClr val="00B050"/>
                </a:solidFill>
              </a:rPr>
              <a:t>Sara took all he criticism.</a:t>
            </a:r>
          </a:p>
          <a:p>
            <a:pPr marL="0" indent="0">
              <a:buNone/>
            </a:pPr>
            <a:r>
              <a:rPr lang="en-IN" dirty="0" smtClean="0"/>
              <a:t>Instead: </a:t>
            </a:r>
            <a:r>
              <a:rPr lang="en-IN" dirty="0" smtClean="0">
                <a:solidFill>
                  <a:srgbClr val="FF0000"/>
                </a:solidFill>
              </a:rPr>
              <a:t>I will have eaten the chips before the game.</a:t>
            </a:r>
          </a:p>
          <a:p>
            <a:pPr marL="0" indent="0">
              <a:buNone/>
            </a:pPr>
            <a:r>
              <a:rPr lang="en-IN" dirty="0" smtClean="0"/>
              <a:t>Say: </a:t>
            </a:r>
            <a:r>
              <a:rPr lang="en-IN" dirty="0" smtClean="0">
                <a:solidFill>
                  <a:srgbClr val="00B050"/>
                </a:solidFill>
              </a:rPr>
              <a:t>I will eat the chips before the game.</a:t>
            </a:r>
          </a:p>
          <a:p>
            <a:pPr marL="0" indent="0">
              <a:buNone/>
            </a:pPr>
            <a:endParaRPr lang="en-IN" dirty="0"/>
          </a:p>
        </p:txBody>
      </p:sp>
    </p:spTree>
    <p:extLst>
      <p:ext uri="{BB962C8B-B14F-4D97-AF65-F5344CB8AC3E}">
        <p14:creationId xmlns:p14="http://schemas.microsoft.com/office/powerpoint/2010/main" val="1017688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Never start an independent clause with the word “There”</a:t>
            </a:r>
            <a:endParaRPr lang="en-IN" b="1" dirty="0"/>
          </a:p>
        </p:txBody>
      </p:sp>
      <p:sp>
        <p:nvSpPr>
          <p:cNvPr id="3" name="Content Placeholder 2"/>
          <p:cNvSpPr>
            <a:spLocks noGrp="1"/>
          </p:cNvSpPr>
          <p:nvPr>
            <p:ph idx="1"/>
          </p:nvPr>
        </p:nvSpPr>
        <p:spPr/>
        <p:txBody>
          <a:bodyPr/>
          <a:lstStyle/>
          <a:p>
            <a:r>
              <a:rPr lang="en-IN" dirty="0" smtClean="0"/>
              <a:t>Action verbs create better visuals, and the “there” construction is more wordy.</a:t>
            </a:r>
          </a:p>
          <a:p>
            <a:endParaRPr lang="en-IN" dirty="0"/>
          </a:p>
          <a:p>
            <a:pPr marL="0" indent="0">
              <a:buNone/>
            </a:pPr>
            <a:r>
              <a:rPr lang="en-IN" dirty="0" smtClean="0"/>
              <a:t>Instead: </a:t>
            </a:r>
            <a:r>
              <a:rPr lang="en-IN" dirty="0" smtClean="0">
                <a:solidFill>
                  <a:srgbClr val="FF0000"/>
                </a:solidFill>
              </a:rPr>
              <a:t>There was a rhinoceros charging across the road.</a:t>
            </a:r>
          </a:p>
          <a:p>
            <a:pPr marL="0" indent="0">
              <a:buNone/>
            </a:pPr>
            <a:r>
              <a:rPr lang="en-IN" dirty="0" smtClean="0"/>
              <a:t>Say: </a:t>
            </a:r>
            <a:r>
              <a:rPr lang="en-IN" dirty="0" smtClean="0">
                <a:solidFill>
                  <a:srgbClr val="00B050"/>
                </a:solidFill>
              </a:rPr>
              <a:t>A rhinoceros charged across the road.</a:t>
            </a:r>
            <a:endParaRPr lang="en-IN" dirty="0">
              <a:solidFill>
                <a:srgbClr val="00B050"/>
              </a:solidFill>
            </a:endParaRPr>
          </a:p>
        </p:txBody>
      </p:sp>
    </p:spTree>
    <p:extLst>
      <p:ext uri="{BB962C8B-B14F-4D97-AF65-F5344CB8AC3E}">
        <p14:creationId xmlns:p14="http://schemas.microsoft.com/office/powerpoint/2010/main" val="1819860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Never start an independent clause with the word “It”</a:t>
            </a:r>
            <a:endParaRPr lang="en-IN" dirty="0"/>
          </a:p>
        </p:txBody>
      </p:sp>
      <p:sp>
        <p:nvSpPr>
          <p:cNvPr id="3" name="Content Placeholder 2"/>
          <p:cNvSpPr>
            <a:spLocks noGrp="1"/>
          </p:cNvSpPr>
          <p:nvPr>
            <p:ph idx="1"/>
          </p:nvPr>
        </p:nvSpPr>
        <p:spPr/>
        <p:txBody>
          <a:bodyPr/>
          <a:lstStyle/>
          <a:p>
            <a:pPr marL="0" indent="0">
              <a:buNone/>
            </a:pPr>
            <a:r>
              <a:rPr lang="en-IN" dirty="0" smtClean="0"/>
              <a:t>Instead: </a:t>
            </a:r>
            <a:r>
              <a:rPr lang="en-IN" dirty="0" smtClean="0">
                <a:solidFill>
                  <a:srgbClr val="FF0000"/>
                </a:solidFill>
              </a:rPr>
              <a:t>It was a cold night when the cows broke out.</a:t>
            </a:r>
          </a:p>
          <a:p>
            <a:pPr marL="0" indent="0">
              <a:buNone/>
            </a:pPr>
            <a:r>
              <a:rPr lang="en-IN" dirty="0" smtClean="0"/>
              <a:t>Say: </a:t>
            </a:r>
            <a:r>
              <a:rPr lang="en-IN" i="1" dirty="0" smtClean="0">
                <a:solidFill>
                  <a:srgbClr val="00B050"/>
                </a:solidFill>
              </a:rPr>
              <a:t>On</a:t>
            </a:r>
            <a:r>
              <a:rPr lang="en-IN" dirty="0" smtClean="0">
                <a:solidFill>
                  <a:srgbClr val="00B050"/>
                </a:solidFill>
              </a:rPr>
              <a:t> a cold night the cows broke out.</a:t>
            </a:r>
          </a:p>
          <a:p>
            <a:pPr marL="0" indent="0">
              <a:buNone/>
            </a:pPr>
            <a:r>
              <a:rPr lang="en-IN" dirty="0" smtClean="0"/>
              <a:t>Instead: </a:t>
            </a:r>
            <a:r>
              <a:rPr lang="en-IN" dirty="0" smtClean="0">
                <a:solidFill>
                  <a:srgbClr val="FF0000"/>
                </a:solidFill>
              </a:rPr>
              <a:t>It’s too bad they lost the game.</a:t>
            </a:r>
          </a:p>
          <a:p>
            <a:pPr marL="0" indent="0">
              <a:buNone/>
            </a:pPr>
            <a:r>
              <a:rPr lang="en-IN" dirty="0" smtClean="0"/>
              <a:t>Say: </a:t>
            </a:r>
            <a:r>
              <a:rPr lang="en-IN" i="1" dirty="0" smtClean="0">
                <a:solidFill>
                  <a:srgbClr val="00B050"/>
                </a:solidFill>
              </a:rPr>
              <a:t>Unfortunately</a:t>
            </a:r>
            <a:r>
              <a:rPr lang="en-IN" dirty="0" smtClean="0">
                <a:solidFill>
                  <a:srgbClr val="00B050"/>
                </a:solidFill>
              </a:rPr>
              <a:t>, they lost the game.</a:t>
            </a:r>
          </a:p>
          <a:p>
            <a:pPr marL="0" indent="0">
              <a:buNone/>
            </a:pPr>
            <a:r>
              <a:rPr lang="en-IN" dirty="0" smtClean="0"/>
              <a:t>Instead: </a:t>
            </a:r>
            <a:r>
              <a:rPr lang="en-IN" dirty="0" smtClean="0">
                <a:solidFill>
                  <a:srgbClr val="FF0000"/>
                </a:solidFill>
              </a:rPr>
              <a:t>It seemed Grandma was prepared for the worst.</a:t>
            </a:r>
          </a:p>
          <a:p>
            <a:pPr marL="0" indent="0">
              <a:buNone/>
            </a:pPr>
            <a:r>
              <a:rPr lang="en-IN" dirty="0" smtClean="0"/>
              <a:t>Say: </a:t>
            </a:r>
            <a:r>
              <a:rPr lang="en-IN" dirty="0" smtClean="0">
                <a:solidFill>
                  <a:srgbClr val="00B050"/>
                </a:solidFill>
              </a:rPr>
              <a:t>Grandma was prepared for the worst.</a:t>
            </a:r>
          </a:p>
          <a:p>
            <a:pPr marL="0" indent="0">
              <a:buNone/>
            </a:pPr>
            <a:endParaRPr lang="en-IN" dirty="0"/>
          </a:p>
        </p:txBody>
      </p:sp>
    </p:spTree>
    <p:extLst>
      <p:ext uri="{BB962C8B-B14F-4D97-AF65-F5344CB8AC3E}">
        <p14:creationId xmlns:p14="http://schemas.microsoft.com/office/powerpoint/2010/main" val="753293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Don’t use two or more action verbs when only one is needed to make the meaning clear.</a:t>
            </a:r>
            <a:endParaRPr lang="en-IN" b="1" dirty="0"/>
          </a:p>
        </p:txBody>
      </p:sp>
      <p:sp>
        <p:nvSpPr>
          <p:cNvPr id="3" name="Content Placeholder 2"/>
          <p:cNvSpPr>
            <a:spLocks noGrp="1"/>
          </p:cNvSpPr>
          <p:nvPr>
            <p:ph idx="1"/>
          </p:nvPr>
        </p:nvSpPr>
        <p:spPr/>
        <p:txBody>
          <a:bodyPr/>
          <a:lstStyle/>
          <a:p>
            <a:endParaRPr lang="en-IN" dirty="0" smtClean="0"/>
          </a:p>
          <a:p>
            <a:pPr marL="0" indent="0">
              <a:buNone/>
            </a:pPr>
            <a:r>
              <a:rPr lang="en-IN" dirty="0" smtClean="0"/>
              <a:t>Instead: </a:t>
            </a:r>
            <a:r>
              <a:rPr lang="en-IN" dirty="0" smtClean="0">
                <a:solidFill>
                  <a:srgbClr val="FF0000"/>
                </a:solidFill>
              </a:rPr>
              <a:t>Nate began to cry when his dog died.</a:t>
            </a:r>
          </a:p>
          <a:p>
            <a:pPr marL="0" indent="0">
              <a:buNone/>
            </a:pPr>
            <a:r>
              <a:rPr lang="en-IN" dirty="0" smtClean="0"/>
              <a:t>Say: </a:t>
            </a:r>
            <a:r>
              <a:rPr lang="en-IN" dirty="0" smtClean="0">
                <a:solidFill>
                  <a:srgbClr val="00B050"/>
                </a:solidFill>
              </a:rPr>
              <a:t>Nate cried when his dog died.</a:t>
            </a:r>
            <a:endParaRPr lang="en-IN" dirty="0">
              <a:solidFill>
                <a:srgbClr val="00B050"/>
              </a:solidFill>
            </a:endParaRPr>
          </a:p>
        </p:txBody>
      </p:sp>
    </p:spTree>
    <p:extLst>
      <p:ext uri="{BB962C8B-B14F-4D97-AF65-F5344CB8AC3E}">
        <p14:creationId xmlns:p14="http://schemas.microsoft.com/office/powerpoint/2010/main" val="533404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Cut the adverb implied in the verb</a:t>
            </a:r>
            <a:endParaRPr lang="en-IN" b="1" dirty="0"/>
          </a:p>
        </p:txBody>
      </p:sp>
      <p:sp>
        <p:nvSpPr>
          <p:cNvPr id="3" name="Content Placeholder 2"/>
          <p:cNvSpPr>
            <a:spLocks noGrp="1"/>
          </p:cNvSpPr>
          <p:nvPr>
            <p:ph idx="1"/>
          </p:nvPr>
        </p:nvSpPr>
        <p:spPr/>
        <p:txBody>
          <a:bodyPr/>
          <a:lstStyle/>
          <a:p>
            <a:pPr marL="0" indent="0">
              <a:buNone/>
            </a:pPr>
            <a:r>
              <a:rPr lang="en-IN" dirty="0" smtClean="0"/>
              <a:t>Instead: </a:t>
            </a:r>
            <a:r>
              <a:rPr lang="en-IN" dirty="0" smtClean="0">
                <a:solidFill>
                  <a:srgbClr val="FF0000"/>
                </a:solidFill>
              </a:rPr>
              <a:t>She sprinted </a:t>
            </a:r>
            <a:r>
              <a:rPr lang="en-IN" u="sng" dirty="0" smtClean="0">
                <a:solidFill>
                  <a:srgbClr val="FF0000"/>
                </a:solidFill>
              </a:rPr>
              <a:t>rapidly</a:t>
            </a:r>
            <a:r>
              <a:rPr lang="en-IN" dirty="0" smtClean="0">
                <a:solidFill>
                  <a:srgbClr val="FF0000"/>
                </a:solidFill>
              </a:rPr>
              <a:t> after the bus.</a:t>
            </a:r>
          </a:p>
          <a:p>
            <a:pPr marL="0" indent="0">
              <a:buNone/>
            </a:pPr>
            <a:r>
              <a:rPr lang="en-IN" dirty="0" smtClean="0"/>
              <a:t>Say: </a:t>
            </a:r>
            <a:r>
              <a:rPr lang="en-IN" dirty="0" smtClean="0">
                <a:solidFill>
                  <a:srgbClr val="00B050"/>
                </a:solidFill>
              </a:rPr>
              <a:t>She sprinted after the bus.</a:t>
            </a:r>
          </a:p>
          <a:p>
            <a:pPr marL="0" indent="0">
              <a:buNone/>
            </a:pPr>
            <a:r>
              <a:rPr lang="en-IN" dirty="0" smtClean="0"/>
              <a:t>Instead: </a:t>
            </a:r>
            <a:r>
              <a:rPr lang="en-IN" dirty="0" smtClean="0">
                <a:solidFill>
                  <a:srgbClr val="FF0000"/>
                </a:solidFill>
              </a:rPr>
              <a:t>Grandpa stumbled </a:t>
            </a:r>
            <a:r>
              <a:rPr lang="en-IN" u="sng" dirty="0" smtClean="0">
                <a:solidFill>
                  <a:srgbClr val="FF0000"/>
                </a:solidFill>
              </a:rPr>
              <a:t>clumsily</a:t>
            </a:r>
            <a:r>
              <a:rPr lang="en-IN" dirty="0" smtClean="0">
                <a:solidFill>
                  <a:srgbClr val="FF0000"/>
                </a:solidFill>
              </a:rPr>
              <a:t> over the cat.</a:t>
            </a:r>
          </a:p>
          <a:p>
            <a:pPr marL="0" indent="0">
              <a:buNone/>
            </a:pPr>
            <a:r>
              <a:rPr lang="en-IN" dirty="0" smtClean="0"/>
              <a:t>Say: </a:t>
            </a:r>
            <a:r>
              <a:rPr lang="en-IN" dirty="0" smtClean="0">
                <a:solidFill>
                  <a:srgbClr val="00B050"/>
                </a:solidFill>
              </a:rPr>
              <a:t>Grandpa stumbled over the cat.</a:t>
            </a:r>
          </a:p>
          <a:p>
            <a:pPr marL="0" indent="0">
              <a:buNone/>
            </a:pPr>
            <a:r>
              <a:rPr lang="en-IN" dirty="0" smtClean="0"/>
              <a:t>Instead: </a:t>
            </a:r>
            <a:r>
              <a:rPr lang="en-IN" dirty="0" smtClean="0">
                <a:solidFill>
                  <a:srgbClr val="FF0000"/>
                </a:solidFill>
              </a:rPr>
              <a:t>Mary cried </a:t>
            </a:r>
            <a:r>
              <a:rPr lang="en-IN" u="sng" dirty="0" smtClean="0">
                <a:solidFill>
                  <a:srgbClr val="FF0000"/>
                </a:solidFill>
              </a:rPr>
              <a:t>sadly </a:t>
            </a:r>
            <a:r>
              <a:rPr lang="en-IN" dirty="0" smtClean="0">
                <a:solidFill>
                  <a:srgbClr val="FF0000"/>
                </a:solidFill>
              </a:rPr>
              <a:t>because Bambi’s mother died.</a:t>
            </a:r>
          </a:p>
          <a:p>
            <a:pPr marL="0" indent="0">
              <a:buNone/>
            </a:pPr>
            <a:r>
              <a:rPr lang="en-IN" dirty="0" smtClean="0"/>
              <a:t>Say: </a:t>
            </a:r>
            <a:r>
              <a:rPr lang="en-IN" dirty="0" smtClean="0">
                <a:solidFill>
                  <a:srgbClr val="00B050"/>
                </a:solidFill>
              </a:rPr>
              <a:t>Mary cried because Bambi’s mother died.</a:t>
            </a:r>
            <a:endParaRPr lang="en-IN" dirty="0">
              <a:solidFill>
                <a:srgbClr val="00B050"/>
              </a:solidFill>
            </a:endParaRPr>
          </a:p>
        </p:txBody>
      </p:sp>
    </p:spTree>
    <p:extLst>
      <p:ext uri="{BB962C8B-B14F-4D97-AF65-F5344CB8AC3E}">
        <p14:creationId xmlns:p14="http://schemas.microsoft.com/office/powerpoint/2010/main" val="1359086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Use the short words rather than the long one </a:t>
            </a:r>
            <a:r>
              <a:rPr lang="en-IN" b="1" i="1" dirty="0" smtClean="0"/>
              <a:t>when they mean the same thing</a:t>
            </a:r>
            <a:r>
              <a:rPr lang="en-IN" b="1" dirty="0" smtClean="0"/>
              <a:t>.</a:t>
            </a:r>
            <a:endParaRPr lang="en-IN"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22559940"/>
              </p:ext>
            </p:extLst>
          </p:nvPr>
        </p:nvGraphicFramePr>
        <p:xfrm>
          <a:off x="838200" y="2307763"/>
          <a:ext cx="10515600" cy="3527769"/>
        </p:xfrm>
        <a:graphic>
          <a:graphicData uri="http://schemas.openxmlformats.org/drawingml/2006/table">
            <a:tbl>
              <a:tblPr firstRow="1" bandRow="1">
                <a:tableStyleId>{5C22544A-7EE6-4342-B048-85BDC9FD1C3A}</a:tableStyleId>
              </a:tblPr>
              <a:tblGrid>
                <a:gridCol w="5257800"/>
                <a:gridCol w="5257800"/>
              </a:tblGrid>
              <a:tr h="503967">
                <a:tc>
                  <a:txBody>
                    <a:bodyPr/>
                    <a:lstStyle/>
                    <a:p>
                      <a:pPr algn="ctr"/>
                      <a:r>
                        <a:rPr lang="en-IN" dirty="0" smtClean="0"/>
                        <a:t>Instead</a:t>
                      </a:r>
                      <a:r>
                        <a:rPr lang="en-IN" baseline="0" dirty="0" smtClean="0"/>
                        <a:t> of</a:t>
                      </a:r>
                      <a:endParaRPr lang="en-IN" dirty="0"/>
                    </a:p>
                  </a:txBody>
                  <a:tcPr/>
                </a:tc>
                <a:tc>
                  <a:txBody>
                    <a:bodyPr/>
                    <a:lstStyle/>
                    <a:p>
                      <a:pPr algn="ctr"/>
                      <a:r>
                        <a:rPr lang="en-IN" dirty="0" smtClean="0"/>
                        <a:t>Say</a:t>
                      </a:r>
                      <a:endParaRPr lang="en-IN" dirty="0"/>
                    </a:p>
                  </a:txBody>
                  <a:tcPr/>
                </a:tc>
              </a:tr>
              <a:tr h="503967">
                <a:tc>
                  <a:txBody>
                    <a:bodyPr/>
                    <a:lstStyle/>
                    <a:p>
                      <a:r>
                        <a:rPr lang="en-IN" dirty="0" err="1" smtClean="0"/>
                        <a:t>Nemrous</a:t>
                      </a:r>
                      <a:endParaRPr lang="en-IN" dirty="0" smtClean="0"/>
                    </a:p>
                  </a:txBody>
                  <a:tcPr/>
                </a:tc>
                <a:tc>
                  <a:txBody>
                    <a:bodyPr/>
                    <a:lstStyle/>
                    <a:p>
                      <a:r>
                        <a:rPr lang="en-IN" dirty="0" smtClean="0"/>
                        <a:t>Many</a:t>
                      </a:r>
                      <a:endParaRPr lang="en-IN" dirty="0"/>
                    </a:p>
                  </a:txBody>
                  <a:tcPr/>
                </a:tc>
              </a:tr>
              <a:tr h="503967">
                <a:tc>
                  <a:txBody>
                    <a:bodyPr/>
                    <a:lstStyle/>
                    <a:p>
                      <a:r>
                        <a:rPr lang="en-IN" dirty="0" smtClean="0"/>
                        <a:t>Facilitate</a:t>
                      </a:r>
                      <a:endParaRPr lang="en-IN" dirty="0"/>
                    </a:p>
                  </a:txBody>
                  <a:tcPr/>
                </a:tc>
                <a:tc>
                  <a:txBody>
                    <a:bodyPr/>
                    <a:lstStyle/>
                    <a:p>
                      <a:r>
                        <a:rPr lang="en-IN" dirty="0" smtClean="0"/>
                        <a:t>Ease</a:t>
                      </a:r>
                      <a:endParaRPr lang="en-IN" dirty="0"/>
                    </a:p>
                  </a:txBody>
                  <a:tcPr/>
                </a:tc>
              </a:tr>
              <a:tr h="503967">
                <a:tc>
                  <a:txBody>
                    <a:bodyPr/>
                    <a:lstStyle/>
                    <a:p>
                      <a:r>
                        <a:rPr lang="en-IN" dirty="0" smtClean="0"/>
                        <a:t>Remainder</a:t>
                      </a:r>
                      <a:endParaRPr lang="en-IN" dirty="0"/>
                    </a:p>
                  </a:txBody>
                  <a:tcPr/>
                </a:tc>
                <a:tc>
                  <a:txBody>
                    <a:bodyPr/>
                    <a:lstStyle/>
                    <a:p>
                      <a:r>
                        <a:rPr lang="en-IN" dirty="0" smtClean="0"/>
                        <a:t>Rest</a:t>
                      </a:r>
                      <a:endParaRPr lang="en-IN" dirty="0"/>
                    </a:p>
                  </a:txBody>
                  <a:tcPr/>
                </a:tc>
              </a:tr>
              <a:tr h="503967">
                <a:tc>
                  <a:txBody>
                    <a:bodyPr/>
                    <a:lstStyle/>
                    <a:p>
                      <a:r>
                        <a:rPr lang="en-IN" dirty="0" smtClean="0"/>
                        <a:t>Initial</a:t>
                      </a:r>
                      <a:endParaRPr lang="en-IN" dirty="0"/>
                    </a:p>
                  </a:txBody>
                  <a:tcPr/>
                </a:tc>
                <a:tc>
                  <a:txBody>
                    <a:bodyPr/>
                    <a:lstStyle/>
                    <a:p>
                      <a:r>
                        <a:rPr lang="en-IN" dirty="0" smtClean="0"/>
                        <a:t>First</a:t>
                      </a:r>
                      <a:endParaRPr lang="en-IN" dirty="0"/>
                    </a:p>
                  </a:txBody>
                  <a:tcPr/>
                </a:tc>
              </a:tr>
              <a:tr h="503967">
                <a:tc>
                  <a:txBody>
                    <a:bodyPr/>
                    <a:lstStyle/>
                    <a:p>
                      <a:r>
                        <a:rPr lang="en-IN" dirty="0" smtClean="0"/>
                        <a:t>Sufficient</a:t>
                      </a:r>
                      <a:endParaRPr lang="en-IN" dirty="0"/>
                    </a:p>
                  </a:txBody>
                  <a:tcPr/>
                </a:tc>
                <a:tc>
                  <a:txBody>
                    <a:bodyPr/>
                    <a:lstStyle/>
                    <a:p>
                      <a:r>
                        <a:rPr lang="en-IN" dirty="0" smtClean="0"/>
                        <a:t>Enough</a:t>
                      </a:r>
                      <a:endParaRPr lang="en-IN" dirty="0"/>
                    </a:p>
                  </a:txBody>
                  <a:tcPr/>
                </a:tc>
              </a:tr>
              <a:tr h="503967">
                <a:tc>
                  <a:txBody>
                    <a:bodyPr/>
                    <a:lstStyle/>
                    <a:p>
                      <a:r>
                        <a:rPr lang="en-IN" dirty="0" smtClean="0"/>
                        <a:t>Attempt</a:t>
                      </a:r>
                      <a:endParaRPr lang="en-IN" dirty="0"/>
                    </a:p>
                  </a:txBody>
                  <a:tcPr/>
                </a:tc>
                <a:tc>
                  <a:txBody>
                    <a:bodyPr/>
                    <a:lstStyle/>
                    <a:p>
                      <a:r>
                        <a:rPr lang="en-IN" dirty="0" smtClean="0"/>
                        <a:t>Try</a:t>
                      </a:r>
                      <a:endParaRPr lang="en-IN" dirty="0"/>
                    </a:p>
                  </a:txBody>
                  <a:tcPr/>
                </a:tc>
              </a:tr>
            </a:tbl>
          </a:graphicData>
        </a:graphic>
      </p:graphicFrame>
    </p:spTree>
    <p:extLst>
      <p:ext uri="{BB962C8B-B14F-4D97-AF65-F5344CB8AC3E}">
        <p14:creationId xmlns:p14="http://schemas.microsoft.com/office/powerpoint/2010/main" val="3457109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Always be cautious of “that”</a:t>
            </a:r>
            <a:endParaRPr lang="en-IN" b="1" dirty="0"/>
          </a:p>
        </p:txBody>
      </p:sp>
      <p:sp>
        <p:nvSpPr>
          <p:cNvPr id="3" name="Content Placeholder 2"/>
          <p:cNvSpPr>
            <a:spLocks noGrp="1"/>
          </p:cNvSpPr>
          <p:nvPr>
            <p:ph idx="1"/>
          </p:nvPr>
        </p:nvSpPr>
        <p:spPr/>
        <p:txBody>
          <a:bodyPr/>
          <a:lstStyle/>
          <a:p>
            <a:pPr marL="0" indent="0">
              <a:buNone/>
            </a:pPr>
            <a:endParaRPr lang="en-IN" dirty="0" smtClean="0"/>
          </a:p>
          <a:p>
            <a:pPr marL="0" indent="0">
              <a:buNone/>
            </a:pPr>
            <a:r>
              <a:rPr lang="en-IN" dirty="0" smtClean="0"/>
              <a:t>Instead: </a:t>
            </a:r>
            <a:r>
              <a:rPr lang="en-IN" dirty="0" smtClean="0">
                <a:solidFill>
                  <a:srgbClr val="FF0000"/>
                </a:solidFill>
              </a:rPr>
              <a:t>He thought </a:t>
            </a:r>
            <a:r>
              <a:rPr lang="en-IN" u="sng" dirty="0" smtClean="0">
                <a:solidFill>
                  <a:srgbClr val="FF0000"/>
                </a:solidFill>
              </a:rPr>
              <a:t>that</a:t>
            </a:r>
            <a:r>
              <a:rPr lang="en-IN" dirty="0" smtClean="0">
                <a:solidFill>
                  <a:srgbClr val="FF0000"/>
                </a:solidFill>
              </a:rPr>
              <a:t> he was late.</a:t>
            </a:r>
          </a:p>
          <a:p>
            <a:pPr marL="0" indent="0">
              <a:buNone/>
            </a:pPr>
            <a:r>
              <a:rPr lang="en-IN" dirty="0" smtClean="0"/>
              <a:t>Say: </a:t>
            </a:r>
            <a:r>
              <a:rPr lang="en-IN" dirty="0" smtClean="0">
                <a:solidFill>
                  <a:srgbClr val="00B050"/>
                </a:solidFill>
              </a:rPr>
              <a:t>He thought he was late.</a:t>
            </a:r>
          </a:p>
          <a:p>
            <a:pPr marL="0" indent="0">
              <a:buNone/>
            </a:pPr>
            <a:r>
              <a:rPr lang="en-IN" dirty="0" smtClean="0"/>
              <a:t>Instead: </a:t>
            </a:r>
            <a:r>
              <a:rPr lang="en-IN" dirty="0" smtClean="0">
                <a:solidFill>
                  <a:srgbClr val="FF0000"/>
                </a:solidFill>
              </a:rPr>
              <a:t>I am certain </a:t>
            </a:r>
            <a:r>
              <a:rPr lang="en-IN" u="sng" dirty="0" smtClean="0">
                <a:solidFill>
                  <a:srgbClr val="FF0000"/>
                </a:solidFill>
              </a:rPr>
              <a:t>that</a:t>
            </a:r>
            <a:r>
              <a:rPr lang="en-IN" dirty="0" smtClean="0">
                <a:solidFill>
                  <a:srgbClr val="FF0000"/>
                </a:solidFill>
              </a:rPr>
              <a:t> he went home.</a:t>
            </a:r>
          </a:p>
          <a:p>
            <a:pPr marL="0" indent="0">
              <a:buNone/>
            </a:pPr>
            <a:r>
              <a:rPr lang="en-IN" dirty="0" smtClean="0"/>
              <a:t>Say: </a:t>
            </a:r>
            <a:r>
              <a:rPr lang="en-IN" dirty="0" smtClean="0">
                <a:solidFill>
                  <a:srgbClr val="00B050"/>
                </a:solidFill>
              </a:rPr>
              <a:t>I am certain he went home.</a:t>
            </a:r>
          </a:p>
          <a:p>
            <a:pPr marL="0" indent="0">
              <a:buNone/>
            </a:pPr>
            <a:endParaRPr lang="en-IN" dirty="0"/>
          </a:p>
        </p:txBody>
      </p:sp>
    </p:spTree>
    <p:extLst>
      <p:ext uri="{BB962C8B-B14F-4D97-AF65-F5344CB8AC3E}">
        <p14:creationId xmlns:p14="http://schemas.microsoft.com/office/powerpoint/2010/main" val="4228299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Use the active voice—put the actor in the sentence</a:t>
            </a:r>
            <a:endParaRPr lang="en-IN" b="1" dirty="0"/>
          </a:p>
        </p:txBody>
      </p:sp>
      <p:sp>
        <p:nvSpPr>
          <p:cNvPr id="3" name="Content Placeholder 2"/>
          <p:cNvSpPr>
            <a:spLocks noGrp="1"/>
          </p:cNvSpPr>
          <p:nvPr>
            <p:ph idx="1"/>
          </p:nvPr>
        </p:nvSpPr>
        <p:spPr/>
        <p:txBody>
          <a:bodyPr/>
          <a:lstStyle/>
          <a:p>
            <a:pPr marL="0" indent="0">
              <a:buNone/>
            </a:pPr>
            <a:endParaRPr lang="en-IN" dirty="0" smtClean="0"/>
          </a:p>
          <a:p>
            <a:pPr marL="0" indent="0">
              <a:buNone/>
            </a:pPr>
            <a:r>
              <a:rPr lang="en-IN" dirty="0" smtClean="0"/>
              <a:t>Instead: </a:t>
            </a:r>
            <a:r>
              <a:rPr lang="en-IN" dirty="0" smtClean="0">
                <a:solidFill>
                  <a:srgbClr val="FF0000"/>
                </a:solidFill>
              </a:rPr>
              <a:t>It was decided that the committee would meet tonight.</a:t>
            </a:r>
          </a:p>
          <a:p>
            <a:pPr marL="0" indent="0">
              <a:buNone/>
            </a:pPr>
            <a:r>
              <a:rPr lang="en-IN" dirty="0" smtClean="0"/>
              <a:t>Say: </a:t>
            </a:r>
            <a:r>
              <a:rPr lang="en-IN" dirty="0" smtClean="0">
                <a:solidFill>
                  <a:srgbClr val="00B050"/>
                </a:solidFill>
              </a:rPr>
              <a:t>The committee will meet tonight. </a:t>
            </a:r>
          </a:p>
          <a:p>
            <a:pPr marL="0" indent="0">
              <a:buNone/>
            </a:pPr>
            <a:r>
              <a:rPr lang="en-IN" dirty="0" smtClean="0"/>
              <a:t>Instead: </a:t>
            </a:r>
            <a:r>
              <a:rPr lang="en-IN" dirty="0" smtClean="0">
                <a:solidFill>
                  <a:srgbClr val="FF0000"/>
                </a:solidFill>
              </a:rPr>
              <a:t>The porch was swept by Kate.</a:t>
            </a:r>
          </a:p>
          <a:p>
            <a:pPr marL="0" indent="0">
              <a:buNone/>
            </a:pPr>
            <a:r>
              <a:rPr lang="en-IN" dirty="0" smtClean="0"/>
              <a:t>Say: </a:t>
            </a:r>
            <a:r>
              <a:rPr lang="en-IN" dirty="0" smtClean="0">
                <a:solidFill>
                  <a:srgbClr val="00B050"/>
                </a:solidFill>
              </a:rPr>
              <a:t>Kate swept the porch.</a:t>
            </a:r>
            <a:endParaRPr lang="en-IN" dirty="0">
              <a:solidFill>
                <a:srgbClr val="00B050"/>
              </a:solidFill>
            </a:endParaRPr>
          </a:p>
        </p:txBody>
      </p:sp>
    </p:spTree>
    <p:extLst>
      <p:ext uri="{BB962C8B-B14F-4D97-AF65-F5344CB8AC3E}">
        <p14:creationId xmlns:p14="http://schemas.microsoft.com/office/powerpoint/2010/main" val="1326570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Don’t use phrases that add words, not meaning.</a:t>
            </a:r>
            <a:endParaRPr lang="en-IN"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24265076"/>
              </p:ext>
            </p:extLst>
          </p:nvPr>
        </p:nvGraphicFramePr>
        <p:xfrm>
          <a:off x="838200" y="1825623"/>
          <a:ext cx="10515600" cy="3727278"/>
        </p:xfrm>
        <a:graphic>
          <a:graphicData uri="http://schemas.openxmlformats.org/drawingml/2006/table">
            <a:tbl>
              <a:tblPr firstRow="1" bandRow="1">
                <a:tableStyleId>{5C22544A-7EE6-4342-B048-85BDC9FD1C3A}</a:tableStyleId>
              </a:tblPr>
              <a:tblGrid>
                <a:gridCol w="5257800"/>
                <a:gridCol w="5257800"/>
              </a:tblGrid>
              <a:tr h="621213">
                <a:tc>
                  <a:txBody>
                    <a:bodyPr/>
                    <a:lstStyle/>
                    <a:p>
                      <a:pPr algn="ctr"/>
                      <a:r>
                        <a:rPr lang="en-IN" dirty="0" smtClean="0"/>
                        <a:t>Instead of</a:t>
                      </a:r>
                      <a:endParaRPr lang="en-IN" dirty="0"/>
                    </a:p>
                  </a:txBody>
                  <a:tcPr/>
                </a:tc>
                <a:tc>
                  <a:txBody>
                    <a:bodyPr/>
                    <a:lstStyle/>
                    <a:p>
                      <a:pPr algn="ctr"/>
                      <a:r>
                        <a:rPr lang="en-IN" dirty="0" smtClean="0"/>
                        <a:t>Say</a:t>
                      </a:r>
                      <a:endParaRPr lang="en-IN" dirty="0"/>
                    </a:p>
                  </a:txBody>
                  <a:tcPr/>
                </a:tc>
              </a:tr>
              <a:tr h="621213">
                <a:tc>
                  <a:txBody>
                    <a:bodyPr/>
                    <a:lstStyle/>
                    <a:p>
                      <a:r>
                        <a:rPr lang="en-IN" dirty="0" smtClean="0"/>
                        <a:t>Due to the fact that</a:t>
                      </a:r>
                      <a:endParaRPr lang="en-IN" dirty="0"/>
                    </a:p>
                  </a:txBody>
                  <a:tcPr/>
                </a:tc>
                <a:tc>
                  <a:txBody>
                    <a:bodyPr/>
                    <a:lstStyle/>
                    <a:p>
                      <a:r>
                        <a:rPr lang="en-IN" dirty="0" smtClean="0"/>
                        <a:t>Because </a:t>
                      </a:r>
                      <a:endParaRPr lang="en-IN" dirty="0"/>
                    </a:p>
                  </a:txBody>
                  <a:tcPr/>
                </a:tc>
              </a:tr>
              <a:tr h="621213">
                <a:tc>
                  <a:txBody>
                    <a:bodyPr/>
                    <a:lstStyle/>
                    <a:p>
                      <a:r>
                        <a:rPr lang="en-IN" dirty="0" smtClean="0"/>
                        <a:t>In the event that</a:t>
                      </a:r>
                      <a:endParaRPr lang="en-IN" dirty="0"/>
                    </a:p>
                  </a:txBody>
                  <a:tcPr/>
                </a:tc>
                <a:tc>
                  <a:txBody>
                    <a:bodyPr/>
                    <a:lstStyle/>
                    <a:p>
                      <a:r>
                        <a:rPr lang="en-IN" dirty="0" smtClean="0"/>
                        <a:t>If </a:t>
                      </a:r>
                      <a:endParaRPr lang="en-IN" dirty="0"/>
                    </a:p>
                  </a:txBody>
                  <a:tcPr/>
                </a:tc>
              </a:tr>
              <a:tr h="621213">
                <a:tc>
                  <a:txBody>
                    <a:bodyPr/>
                    <a:lstStyle/>
                    <a:p>
                      <a:r>
                        <a:rPr lang="en-IN" dirty="0" smtClean="0"/>
                        <a:t>With the possible exception of</a:t>
                      </a:r>
                      <a:endParaRPr lang="en-IN" dirty="0"/>
                    </a:p>
                  </a:txBody>
                  <a:tcPr/>
                </a:tc>
                <a:tc>
                  <a:txBody>
                    <a:bodyPr/>
                    <a:lstStyle/>
                    <a:p>
                      <a:r>
                        <a:rPr lang="en-IN" dirty="0" smtClean="0"/>
                        <a:t>Except</a:t>
                      </a:r>
                      <a:r>
                        <a:rPr lang="en-IN" baseline="0" dirty="0" smtClean="0"/>
                        <a:t> </a:t>
                      </a:r>
                      <a:endParaRPr lang="en-IN" dirty="0"/>
                    </a:p>
                  </a:txBody>
                  <a:tcPr/>
                </a:tc>
              </a:tr>
              <a:tr h="621213">
                <a:tc>
                  <a:txBody>
                    <a:bodyPr/>
                    <a:lstStyle/>
                    <a:p>
                      <a:r>
                        <a:rPr lang="en-IN" dirty="0" smtClean="0"/>
                        <a:t>At the present time</a:t>
                      </a:r>
                      <a:endParaRPr lang="en-IN" dirty="0"/>
                    </a:p>
                  </a:txBody>
                  <a:tcPr/>
                </a:tc>
                <a:tc>
                  <a:txBody>
                    <a:bodyPr/>
                    <a:lstStyle/>
                    <a:p>
                      <a:r>
                        <a:rPr lang="en-IN" dirty="0" smtClean="0"/>
                        <a:t>Now </a:t>
                      </a:r>
                      <a:endParaRPr lang="en-IN" dirty="0"/>
                    </a:p>
                  </a:txBody>
                  <a:tcPr/>
                </a:tc>
              </a:tr>
              <a:tr h="621213">
                <a:tc>
                  <a:txBody>
                    <a:bodyPr/>
                    <a:lstStyle/>
                    <a:p>
                      <a:r>
                        <a:rPr lang="en-IN" dirty="0" smtClean="0"/>
                        <a:t>The reason why</a:t>
                      </a:r>
                      <a:r>
                        <a:rPr lang="en-IN" baseline="0" dirty="0" smtClean="0"/>
                        <a:t> he went to the store because</a:t>
                      </a:r>
                      <a:endParaRPr lang="en-IN" dirty="0"/>
                    </a:p>
                  </a:txBody>
                  <a:tcPr/>
                </a:tc>
                <a:tc>
                  <a:txBody>
                    <a:bodyPr/>
                    <a:lstStyle/>
                    <a:p>
                      <a:r>
                        <a:rPr lang="en-IN" baseline="0" dirty="0" smtClean="0"/>
                        <a:t>He went to the store because</a:t>
                      </a:r>
                      <a:endParaRPr lang="en-IN" dirty="0"/>
                    </a:p>
                  </a:txBody>
                  <a:tcPr/>
                </a:tc>
              </a:tr>
            </a:tbl>
          </a:graphicData>
        </a:graphic>
      </p:graphicFrame>
    </p:spTree>
    <p:extLst>
      <p:ext uri="{BB962C8B-B14F-4D97-AF65-F5344CB8AC3E}">
        <p14:creationId xmlns:p14="http://schemas.microsoft.com/office/powerpoint/2010/main" val="3757194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Avoid general adjectives or adverbs</a:t>
            </a:r>
            <a:endParaRPr lang="en-IN" b="1" dirty="0"/>
          </a:p>
        </p:txBody>
      </p:sp>
      <p:sp>
        <p:nvSpPr>
          <p:cNvPr id="3" name="Content Placeholder 2"/>
          <p:cNvSpPr>
            <a:spLocks noGrp="1"/>
          </p:cNvSpPr>
          <p:nvPr>
            <p:ph idx="1"/>
          </p:nvPr>
        </p:nvSpPr>
        <p:spPr/>
        <p:txBody>
          <a:bodyPr/>
          <a:lstStyle/>
          <a:p>
            <a:r>
              <a:rPr lang="en-IN" dirty="0" smtClean="0"/>
              <a:t>These words don’t tell the reader anything important—they just take up space: kind of, sort of, individual, specific, definitely, actually, generally, really, basically, for all intents and purposes.</a:t>
            </a:r>
          </a:p>
          <a:p>
            <a:r>
              <a:rPr lang="en-IN" dirty="0" smtClean="0"/>
              <a:t>Avoid Qualifiers- </a:t>
            </a:r>
          </a:p>
          <a:p>
            <a:pPr marL="0" indent="0">
              <a:buNone/>
            </a:pPr>
            <a:r>
              <a:rPr lang="en-IN" dirty="0" smtClean="0"/>
              <a:t>Instead: </a:t>
            </a:r>
            <a:r>
              <a:rPr lang="en-IN" dirty="0" smtClean="0">
                <a:solidFill>
                  <a:srgbClr val="FF0000"/>
                </a:solidFill>
              </a:rPr>
              <a:t>He was </a:t>
            </a:r>
            <a:r>
              <a:rPr lang="en-IN" u="sng" dirty="0" smtClean="0">
                <a:solidFill>
                  <a:srgbClr val="FF0000"/>
                </a:solidFill>
              </a:rPr>
              <a:t>very</a:t>
            </a:r>
            <a:r>
              <a:rPr lang="en-IN" dirty="0" smtClean="0">
                <a:solidFill>
                  <a:srgbClr val="FF0000"/>
                </a:solidFill>
              </a:rPr>
              <a:t> tired.</a:t>
            </a:r>
          </a:p>
          <a:p>
            <a:pPr marL="0" indent="0">
              <a:buNone/>
            </a:pPr>
            <a:r>
              <a:rPr lang="en-IN" dirty="0" smtClean="0"/>
              <a:t>Say: </a:t>
            </a:r>
            <a:r>
              <a:rPr lang="en-IN" dirty="0" smtClean="0">
                <a:solidFill>
                  <a:srgbClr val="00B050"/>
                </a:solidFill>
              </a:rPr>
              <a:t>He was tired.</a:t>
            </a:r>
          </a:p>
          <a:p>
            <a:pPr marL="0" indent="0">
              <a:buNone/>
            </a:pPr>
            <a:r>
              <a:rPr lang="en-IN" dirty="0">
                <a:solidFill>
                  <a:srgbClr val="00B050"/>
                </a:solidFill>
              </a:rPr>
              <a:t>	</a:t>
            </a:r>
            <a:r>
              <a:rPr lang="en-IN" dirty="0" smtClean="0">
                <a:solidFill>
                  <a:srgbClr val="00B050"/>
                </a:solidFill>
              </a:rPr>
              <a:t>He was exhausted.</a:t>
            </a:r>
            <a:endParaRPr lang="en-IN" dirty="0">
              <a:solidFill>
                <a:srgbClr val="00B050"/>
              </a:solidFill>
            </a:endParaRPr>
          </a:p>
          <a:p>
            <a:pPr marL="0" indent="0">
              <a:buNone/>
            </a:pPr>
            <a:endParaRPr lang="en-IN" dirty="0"/>
          </a:p>
        </p:txBody>
      </p:sp>
    </p:spTree>
    <p:extLst>
      <p:ext uri="{BB962C8B-B14F-4D97-AF65-F5344CB8AC3E}">
        <p14:creationId xmlns:p14="http://schemas.microsoft.com/office/powerpoint/2010/main" val="965046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Use verbs, rather than noun forms of verbs</a:t>
            </a:r>
            <a:endParaRPr lang="en-IN" b="1" dirty="0"/>
          </a:p>
        </p:txBody>
      </p:sp>
      <p:sp>
        <p:nvSpPr>
          <p:cNvPr id="3" name="Content Placeholder 2"/>
          <p:cNvSpPr>
            <a:spLocks noGrp="1"/>
          </p:cNvSpPr>
          <p:nvPr>
            <p:ph idx="1"/>
          </p:nvPr>
        </p:nvSpPr>
        <p:spPr/>
        <p:txBody>
          <a:bodyPr/>
          <a:lstStyle/>
          <a:p>
            <a:r>
              <a:rPr lang="en-IN" dirty="0" smtClean="0"/>
              <a:t>Active verbs take less space than gerunds (a noun with –</a:t>
            </a:r>
            <a:r>
              <a:rPr lang="en-IN" dirty="0" err="1" smtClean="0"/>
              <a:t>ing</a:t>
            </a:r>
            <a:r>
              <a:rPr lang="en-IN" dirty="0" smtClean="0"/>
              <a:t>, like frittering and spicing) or infinitives (to shout, to muzzle).</a:t>
            </a:r>
          </a:p>
          <a:p>
            <a:pPr marL="0" indent="0">
              <a:buNone/>
            </a:pPr>
            <a:endParaRPr lang="en-IN" dirty="0"/>
          </a:p>
          <a:p>
            <a:pPr marL="0" indent="0">
              <a:buNone/>
            </a:pPr>
            <a:r>
              <a:rPr lang="en-IN" dirty="0" smtClean="0"/>
              <a:t>Instead: </a:t>
            </a:r>
            <a:r>
              <a:rPr lang="en-IN" dirty="0" smtClean="0">
                <a:solidFill>
                  <a:srgbClr val="FF0000"/>
                </a:solidFill>
              </a:rPr>
              <a:t>Dancing is hard for me.</a:t>
            </a:r>
          </a:p>
          <a:p>
            <a:pPr marL="0" indent="0">
              <a:buNone/>
            </a:pPr>
            <a:r>
              <a:rPr lang="en-IN" dirty="0" smtClean="0"/>
              <a:t>Say: </a:t>
            </a:r>
            <a:r>
              <a:rPr lang="en-IN" dirty="0" smtClean="0">
                <a:solidFill>
                  <a:srgbClr val="00B050"/>
                </a:solidFill>
              </a:rPr>
              <a:t>I cannot dance.</a:t>
            </a:r>
          </a:p>
          <a:p>
            <a:pPr marL="0" indent="0">
              <a:buNone/>
            </a:pPr>
            <a:r>
              <a:rPr lang="en-IN" dirty="0" smtClean="0"/>
              <a:t>Instead: </a:t>
            </a:r>
            <a:r>
              <a:rPr lang="en-IN" dirty="0" smtClean="0">
                <a:solidFill>
                  <a:srgbClr val="FF0000"/>
                </a:solidFill>
              </a:rPr>
              <a:t>To dream is soothing.</a:t>
            </a:r>
          </a:p>
          <a:p>
            <a:pPr marL="0" indent="0">
              <a:buNone/>
            </a:pPr>
            <a:r>
              <a:rPr lang="en-IN" dirty="0" smtClean="0"/>
              <a:t>Say: </a:t>
            </a:r>
            <a:r>
              <a:rPr lang="en-IN" dirty="0" smtClean="0">
                <a:solidFill>
                  <a:srgbClr val="00B050"/>
                </a:solidFill>
              </a:rPr>
              <a:t>Dreams soothe.</a:t>
            </a:r>
            <a:endParaRPr lang="en-IN" dirty="0">
              <a:solidFill>
                <a:srgbClr val="00B050"/>
              </a:solidFill>
            </a:endParaRPr>
          </a:p>
        </p:txBody>
      </p:sp>
    </p:spTree>
    <p:extLst>
      <p:ext uri="{BB962C8B-B14F-4D97-AF65-F5344CB8AC3E}">
        <p14:creationId xmlns:p14="http://schemas.microsoft.com/office/powerpoint/2010/main" val="1963264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State personal opinions or beliefs directly and without labelling them as belonging to you.</a:t>
            </a:r>
            <a:endParaRPr lang="en-IN" b="1" dirty="0"/>
          </a:p>
        </p:txBody>
      </p:sp>
      <p:sp>
        <p:nvSpPr>
          <p:cNvPr id="6" name="Content Placeholder 5"/>
          <p:cNvSpPr>
            <a:spLocks noGrp="1"/>
          </p:cNvSpPr>
          <p:nvPr>
            <p:ph idx="1"/>
          </p:nvPr>
        </p:nvSpPr>
        <p:spPr/>
        <p:txBody>
          <a:bodyPr>
            <a:normAutofit/>
          </a:bodyPr>
          <a:lstStyle/>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a:p>
            <a:pPr marL="0" indent="0">
              <a:buNone/>
            </a:pPr>
            <a:r>
              <a:rPr lang="en-IN" dirty="0" smtClean="0"/>
              <a:t>Instead, be direct, and do not qualify your opinions:</a:t>
            </a:r>
          </a:p>
          <a:p>
            <a:pPr marL="0" indent="0">
              <a:buNone/>
            </a:pPr>
            <a:endParaRPr lang="en-IN" dirty="0"/>
          </a:p>
          <a:p>
            <a:pPr marL="0" indent="0">
              <a:buNone/>
            </a:pPr>
            <a:r>
              <a:rPr lang="en-IN" dirty="0" smtClean="0">
                <a:solidFill>
                  <a:srgbClr val="00B050"/>
                </a:solidFill>
              </a:rPr>
              <a:t>Automatic weapons should be outlawed.</a:t>
            </a:r>
            <a:endParaRPr lang="en-IN" dirty="0">
              <a:solidFill>
                <a:srgbClr val="00B050"/>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3378407429"/>
              </p:ext>
            </p:extLst>
          </p:nvPr>
        </p:nvGraphicFramePr>
        <p:xfrm>
          <a:off x="1117599" y="2182706"/>
          <a:ext cx="9888451" cy="1463040"/>
        </p:xfrm>
        <a:graphic>
          <a:graphicData uri="http://schemas.openxmlformats.org/drawingml/2006/table">
            <a:tbl>
              <a:tblPr firstRow="1" bandRow="1">
                <a:tableStyleId>{5C22544A-7EE6-4342-B048-85BDC9FD1C3A}</a:tableStyleId>
              </a:tblPr>
              <a:tblGrid>
                <a:gridCol w="2928329"/>
                <a:gridCol w="6960122"/>
              </a:tblGrid>
              <a:tr h="1325266">
                <a:tc>
                  <a:txBody>
                    <a:bodyPr/>
                    <a:lstStyle/>
                    <a:p>
                      <a:pPr fontAlgn="t"/>
                      <a:r>
                        <a:rPr lang="en-IN" b="1" dirty="0" smtClean="0"/>
                        <a:t>I think… </a:t>
                      </a:r>
                      <a:endParaRPr lang="en-IN" dirty="0" smtClean="0"/>
                    </a:p>
                    <a:p>
                      <a:pPr fontAlgn="t"/>
                      <a:r>
                        <a:rPr lang="en-IN" b="1" dirty="0" smtClean="0"/>
                        <a:t>I feel…</a:t>
                      </a:r>
                      <a:endParaRPr lang="en-IN" dirty="0" smtClean="0"/>
                    </a:p>
                    <a:p>
                      <a:pPr fontAlgn="t"/>
                      <a:r>
                        <a:rPr lang="en-IN" b="1" dirty="0" smtClean="0"/>
                        <a:t>I believe…</a:t>
                      </a:r>
                      <a:endParaRPr lang="en-IN" dirty="0" smtClean="0"/>
                    </a:p>
                    <a:p>
                      <a:pPr fontAlgn="t"/>
                      <a:r>
                        <a:rPr lang="en-IN" b="1" dirty="0" smtClean="0"/>
                        <a:t>I realize…</a:t>
                      </a:r>
                      <a:endParaRPr lang="en-IN" dirty="0" smtClean="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smtClean="0"/>
                        <a:t>automatic  weapons should be outlawed.</a:t>
                      </a:r>
                      <a:endParaRPr lang="en-IN" dirty="0" smtClean="0"/>
                    </a:p>
                    <a:p>
                      <a:endParaRPr lang="en-IN" dirty="0"/>
                    </a:p>
                  </a:txBody>
                  <a:tcPr/>
                </a:tc>
              </a:tr>
            </a:tbl>
          </a:graphicData>
        </a:graphic>
      </p:graphicFrame>
    </p:spTree>
    <p:extLst>
      <p:ext uri="{BB962C8B-B14F-4D97-AF65-F5344CB8AC3E}">
        <p14:creationId xmlns:p14="http://schemas.microsoft.com/office/powerpoint/2010/main" val="1446713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Eliminate Wordiness</a:t>
            </a:r>
            <a:endParaRPr lang="en-IN" b="1" dirty="0"/>
          </a:p>
        </p:txBody>
      </p:sp>
      <p:sp>
        <p:nvSpPr>
          <p:cNvPr id="3" name="Content Placeholder 2"/>
          <p:cNvSpPr>
            <a:spLocks noGrp="1"/>
          </p:cNvSpPr>
          <p:nvPr>
            <p:ph idx="1"/>
          </p:nvPr>
        </p:nvSpPr>
        <p:spPr/>
        <p:txBody>
          <a:bodyPr>
            <a:normAutofit/>
          </a:bodyPr>
          <a:lstStyle/>
          <a:p>
            <a:r>
              <a:rPr lang="en-IN" dirty="0" smtClean="0"/>
              <a:t>For a sentence to flow well, it should not be cluttered with unnecessary words. Sentences should be concise and direct. </a:t>
            </a:r>
          </a:p>
          <a:p>
            <a:endParaRPr lang="en-IN" dirty="0"/>
          </a:p>
          <a:p>
            <a:pPr marL="0" indent="0">
              <a:buNone/>
            </a:pPr>
            <a:r>
              <a:rPr lang="en-IN" dirty="0" smtClean="0"/>
              <a:t>Instead</a:t>
            </a:r>
            <a:r>
              <a:rPr lang="en-IN" dirty="0" smtClean="0">
                <a:solidFill>
                  <a:srgbClr val="FF0000"/>
                </a:solidFill>
              </a:rPr>
              <a:t>: I enjoy power walking at a quick pace in the </a:t>
            </a:r>
            <a:r>
              <a:rPr lang="en-IN" dirty="0" err="1" smtClean="0">
                <a:solidFill>
                  <a:srgbClr val="FF0000"/>
                </a:solidFill>
              </a:rPr>
              <a:t>nighttime</a:t>
            </a:r>
            <a:r>
              <a:rPr lang="en-IN" dirty="0" smtClean="0">
                <a:solidFill>
                  <a:srgbClr val="FF0000"/>
                </a:solidFill>
              </a:rPr>
              <a:t> twilight under the dark sky.</a:t>
            </a:r>
          </a:p>
          <a:p>
            <a:pPr marL="0" indent="0">
              <a:buNone/>
            </a:pPr>
            <a:r>
              <a:rPr lang="en-IN" dirty="0" smtClean="0"/>
              <a:t>Say: </a:t>
            </a:r>
            <a:r>
              <a:rPr lang="en-IN" dirty="0" smtClean="0">
                <a:solidFill>
                  <a:srgbClr val="00B050"/>
                </a:solidFill>
              </a:rPr>
              <a:t>I enjoy power walking at night.</a:t>
            </a:r>
          </a:p>
          <a:p>
            <a:pPr marL="0" indent="0">
              <a:buNone/>
            </a:pPr>
            <a:r>
              <a:rPr lang="en-IN" dirty="0" smtClean="0"/>
              <a:t>Instead: </a:t>
            </a:r>
            <a:r>
              <a:rPr lang="en-IN" dirty="0" smtClean="0">
                <a:solidFill>
                  <a:srgbClr val="FF0000"/>
                </a:solidFill>
              </a:rPr>
              <a:t>She is one of the many girls who attends and walks the corridors of my school.</a:t>
            </a:r>
          </a:p>
          <a:p>
            <a:pPr marL="0" indent="0">
              <a:buNone/>
            </a:pPr>
            <a:r>
              <a:rPr lang="en-IN" dirty="0" smtClean="0"/>
              <a:t>Say: </a:t>
            </a:r>
            <a:r>
              <a:rPr lang="en-IN" dirty="0" smtClean="0">
                <a:solidFill>
                  <a:srgbClr val="00B050"/>
                </a:solidFill>
              </a:rPr>
              <a:t>She attends my school.</a:t>
            </a:r>
          </a:p>
          <a:p>
            <a:pPr marL="0" indent="0">
              <a:buNone/>
            </a:pPr>
            <a:endParaRPr lang="en-IN" dirty="0" smtClean="0"/>
          </a:p>
          <a:p>
            <a:pPr marL="0" indent="0">
              <a:buNone/>
            </a:pPr>
            <a:endParaRPr lang="en-IN" dirty="0"/>
          </a:p>
        </p:txBody>
      </p:sp>
    </p:spTree>
    <p:extLst>
      <p:ext uri="{BB962C8B-B14F-4D97-AF65-F5344CB8AC3E}">
        <p14:creationId xmlns:p14="http://schemas.microsoft.com/office/powerpoint/2010/main" val="345335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Remove Redundant Words</a:t>
            </a:r>
            <a:endParaRPr lang="en-IN" b="1" dirty="0"/>
          </a:p>
        </p:txBody>
      </p:sp>
      <p:sp>
        <p:nvSpPr>
          <p:cNvPr id="3" name="Content Placeholder 2"/>
          <p:cNvSpPr>
            <a:spLocks noGrp="1"/>
          </p:cNvSpPr>
          <p:nvPr>
            <p:ph idx="1"/>
          </p:nvPr>
        </p:nvSpPr>
        <p:spPr/>
        <p:txBody>
          <a:bodyPr>
            <a:normAutofit/>
          </a:bodyPr>
          <a:lstStyle/>
          <a:p>
            <a:r>
              <a:rPr lang="en-IN" dirty="0" smtClean="0"/>
              <a:t>Remove words that are redundant. These are some common pairs of words that are redundant; one word should be removed from each pair. </a:t>
            </a:r>
          </a:p>
        </p:txBody>
      </p:sp>
      <p:graphicFrame>
        <p:nvGraphicFramePr>
          <p:cNvPr id="4" name="Table 3"/>
          <p:cNvGraphicFramePr>
            <a:graphicFrameLocks noGrp="1"/>
          </p:cNvGraphicFramePr>
          <p:nvPr>
            <p:extLst>
              <p:ext uri="{D42A27DB-BD31-4B8C-83A1-F6EECF244321}">
                <p14:modId xmlns:p14="http://schemas.microsoft.com/office/powerpoint/2010/main" val="1527285906"/>
              </p:ext>
            </p:extLst>
          </p:nvPr>
        </p:nvGraphicFramePr>
        <p:xfrm>
          <a:off x="1849120" y="3063856"/>
          <a:ext cx="8128000" cy="3383280"/>
        </p:xfrm>
        <a:graphic>
          <a:graphicData uri="http://schemas.openxmlformats.org/drawingml/2006/table">
            <a:tbl>
              <a:tblPr firstRow="1" bandRow="1">
                <a:tableStyleId>{5C22544A-7EE6-4342-B048-85BDC9FD1C3A}</a:tableStyleId>
              </a:tblPr>
              <a:tblGrid>
                <a:gridCol w="4064000"/>
                <a:gridCol w="4064000"/>
              </a:tblGrid>
              <a:tr h="2605424">
                <a:tc>
                  <a:txBody>
                    <a:bodyPr/>
                    <a:lstStyle/>
                    <a:p>
                      <a:r>
                        <a:rPr lang="en-IN" dirty="0" smtClean="0"/>
                        <a:t>first and foremost </a:t>
                      </a:r>
                    </a:p>
                    <a:p>
                      <a:endParaRPr lang="en-IN" dirty="0" smtClean="0"/>
                    </a:p>
                    <a:p>
                      <a:r>
                        <a:rPr lang="en-IN" dirty="0" smtClean="0"/>
                        <a:t>each and every </a:t>
                      </a:r>
                    </a:p>
                    <a:p>
                      <a:endParaRPr lang="en-IN" dirty="0" smtClean="0"/>
                    </a:p>
                    <a:p>
                      <a:r>
                        <a:rPr lang="en-IN" dirty="0" smtClean="0"/>
                        <a:t>any and all </a:t>
                      </a:r>
                    </a:p>
                    <a:p>
                      <a:endParaRPr lang="en-IN" dirty="0" smtClean="0"/>
                    </a:p>
                    <a:p>
                      <a:r>
                        <a:rPr lang="en-IN" dirty="0" smtClean="0"/>
                        <a:t>hopes and desires </a:t>
                      </a:r>
                    </a:p>
                    <a:p>
                      <a:endParaRPr lang="en-IN" dirty="0" smtClean="0"/>
                    </a:p>
                    <a:p>
                      <a:r>
                        <a:rPr lang="en-IN" dirty="0" smtClean="0"/>
                        <a:t>always and forever </a:t>
                      </a:r>
                    </a:p>
                    <a:p>
                      <a:endParaRPr lang="en-IN" dirty="0"/>
                    </a:p>
                  </a:txBody>
                  <a:tcPr/>
                </a:tc>
                <a:tc>
                  <a:txBody>
                    <a:bodyPr/>
                    <a:lstStyle/>
                    <a:p>
                      <a:r>
                        <a:rPr lang="en-IN" dirty="0" smtClean="0"/>
                        <a:t>final outcome </a:t>
                      </a:r>
                    </a:p>
                    <a:p>
                      <a:endParaRPr lang="en-IN" dirty="0" smtClean="0"/>
                    </a:p>
                    <a:p>
                      <a:r>
                        <a:rPr lang="en-IN" dirty="0" smtClean="0"/>
                        <a:t>ancient history </a:t>
                      </a:r>
                    </a:p>
                    <a:p>
                      <a:endParaRPr lang="en-IN" dirty="0" smtClean="0"/>
                    </a:p>
                    <a:p>
                      <a:r>
                        <a:rPr lang="en-IN" dirty="0" smtClean="0"/>
                        <a:t>future plans </a:t>
                      </a:r>
                    </a:p>
                    <a:p>
                      <a:endParaRPr lang="en-IN" dirty="0" smtClean="0"/>
                    </a:p>
                    <a:p>
                      <a:r>
                        <a:rPr lang="en-IN" dirty="0" smtClean="0"/>
                        <a:t>free gift </a:t>
                      </a:r>
                    </a:p>
                    <a:p>
                      <a:endParaRPr lang="en-IN" dirty="0" smtClean="0"/>
                    </a:p>
                    <a:p>
                      <a:r>
                        <a:rPr lang="en-IN" dirty="0" smtClean="0"/>
                        <a:t>terrible tragedy </a:t>
                      </a:r>
                    </a:p>
                    <a:p>
                      <a:endParaRPr lang="en-IN" dirty="0" smtClean="0"/>
                    </a:p>
                    <a:p>
                      <a:r>
                        <a:rPr lang="en-IN" dirty="0" smtClean="0"/>
                        <a:t>reflect back</a:t>
                      </a:r>
                    </a:p>
                    <a:p>
                      <a:endParaRPr lang="en-IN" dirty="0"/>
                    </a:p>
                  </a:txBody>
                  <a:tcPr/>
                </a:tc>
              </a:tr>
            </a:tbl>
          </a:graphicData>
        </a:graphic>
      </p:graphicFrame>
    </p:spTree>
    <p:extLst>
      <p:ext uri="{BB962C8B-B14F-4D97-AF65-F5344CB8AC3E}">
        <p14:creationId xmlns:p14="http://schemas.microsoft.com/office/powerpoint/2010/main" val="388699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Remove Meaningless Intensifiers</a:t>
            </a:r>
            <a:endParaRPr lang="en-IN" b="1" dirty="0"/>
          </a:p>
        </p:txBody>
      </p:sp>
      <p:sp>
        <p:nvSpPr>
          <p:cNvPr id="3" name="Content Placeholder 2"/>
          <p:cNvSpPr>
            <a:spLocks noGrp="1"/>
          </p:cNvSpPr>
          <p:nvPr>
            <p:ph idx="1"/>
          </p:nvPr>
        </p:nvSpPr>
        <p:spPr/>
        <p:txBody>
          <a:bodyPr/>
          <a:lstStyle/>
          <a:p>
            <a:r>
              <a:rPr lang="en-IN" dirty="0" smtClean="0"/>
              <a:t>Intensifiers such as so, very, many, quite, really, and definitely are unnecessary. If they add no significance to the sentence, they can be removed. </a:t>
            </a:r>
          </a:p>
          <a:p>
            <a:pPr marL="0" indent="0">
              <a:buNone/>
            </a:pPr>
            <a:r>
              <a:rPr lang="en-IN" dirty="0" smtClean="0"/>
              <a:t>Instead: : </a:t>
            </a:r>
            <a:r>
              <a:rPr lang="en-IN" dirty="0" smtClean="0">
                <a:solidFill>
                  <a:srgbClr val="FF0000"/>
                </a:solidFill>
              </a:rPr>
              <a:t>Lisa is definitely a very skilled writer.</a:t>
            </a:r>
          </a:p>
          <a:p>
            <a:pPr marL="0" indent="0">
              <a:buNone/>
            </a:pPr>
            <a:r>
              <a:rPr lang="en-IN" dirty="0" smtClean="0"/>
              <a:t>Say: : </a:t>
            </a:r>
            <a:r>
              <a:rPr lang="en-IN" dirty="0" smtClean="0">
                <a:solidFill>
                  <a:srgbClr val="00B050"/>
                </a:solidFill>
              </a:rPr>
              <a:t>Lisa is a skilled writer.</a:t>
            </a:r>
          </a:p>
          <a:p>
            <a:pPr marL="0" indent="0">
              <a:buNone/>
            </a:pPr>
            <a:r>
              <a:rPr lang="en-IN" dirty="0" smtClean="0"/>
              <a:t>Instead: </a:t>
            </a:r>
            <a:r>
              <a:rPr lang="en-IN" dirty="0" smtClean="0">
                <a:solidFill>
                  <a:srgbClr val="FF0000"/>
                </a:solidFill>
              </a:rPr>
              <a:t>She really, truly dances quite well. </a:t>
            </a:r>
          </a:p>
          <a:p>
            <a:pPr marL="0" indent="0">
              <a:buNone/>
            </a:pPr>
            <a:r>
              <a:rPr lang="en-IN" dirty="0" smtClean="0"/>
              <a:t>Say: </a:t>
            </a:r>
            <a:r>
              <a:rPr lang="en-IN" dirty="0" smtClean="0">
                <a:solidFill>
                  <a:srgbClr val="00B050"/>
                </a:solidFill>
              </a:rPr>
              <a:t>She dances well. </a:t>
            </a:r>
            <a:endParaRPr lang="en-IN" dirty="0">
              <a:solidFill>
                <a:srgbClr val="00B050"/>
              </a:solidFill>
            </a:endParaRPr>
          </a:p>
        </p:txBody>
      </p:sp>
    </p:spTree>
    <p:extLst>
      <p:ext uri="{BB962C8B-B14F-4D97-AF65-F5344CB8AC3E}">
        <p14:creationId xmlns:p14="http://schemas.microsoft.com/office/powerpoint/2010/main" val="36549781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Remove Unnecessary Prepositions</a:t>
            </a:r>
            <a:endParaRPr lang="en-IN" b="1" dirty="0"/>
          </a:p>
        </p:txBody>
      </p:sp>
      <p:sp>
        <p:nvSpPr>
          <p:cNvPr id="3" name="Content Placeholder 2"/>
          <p:cNvSpPr>
            <a:spLocks noGrp="1"/>
          </p:cNvSpPr>
          <p:nvPr>
            <p:ph idx="1"/>
          </p:nvPr>
        </p:nvSpPr>
        <p:spPr/>
        <p:txBody>
          <a:bodyPr/>
          <a:lstStyle/>
          <a:p>
            <a:pPr marL="0" indent="0">
              <a:buNone/>
            </a:pPr>
            <a:endParaRPr lang="en-IN" dirty="0" smtClean="0"/>
          </a:p>
          <a:p>
            <a:pPr marL="0" indent="0">
              <a:buNone/>
            </a:pPr>
            <a:r>
              <a:rPr lang="en-IN" dirty="0" smtClean="0"/>
              <a:t>Instead: </a:t>
            </a:r>
            <a:r>
              <a:rPr lang="en-IN" dirty="0" smtClean="0">
                <a:solidFill>
                  <a:srgbClr val="FF0000"/>
                </a:solidFill>
              </a:rPr>
              <a:t>I go to work from between 9:00 a.m. to about 5:00 p.m. [with and take a one-hour break in between at about around noon.</a:t>
            </a:r>
          </a:p>
          <a:p>
            <a:pPr marL="0" indent="0">
              <a:buNone/>
            </a:pPr>
            <a:endParaRPr lang="en-IN" dirty="0" smtClean="0"/>
          </a:p>
          <a:p>
            <a:pPr marL="0" indent="0">
              <a:buNone/>
            </a:pPr>
            <a:r>
              <a:rPr lang="en-IN" dirty="0" smtClean="0"/>
              <a:t>Say: </a:t>
            </a:r>
            <a:r>
              <a:rPr lang="en-IN" dirty="0" smtClean="0">
                <a:solidFill>
                  <a:srgbClr val="00B050"/>
                </a:solidFill>
              </a:rPr>
              <a:t>I work from 9:00 a.m.to 5:00 p.m. and take a one-hour break around noon.</a:t>
            </a:r>
            <a:endParaRPr lang="en-IN" dirty="0">
              <a:solidFill>
                <a:srgbClr val="00B050"/>
              </a:solidFill>
            </a:endParaRPr>
          </a:p>
        </p:txBody>
      </p:sp>
    </p:spTree>
    <p:extLst>
      <p:ext uri="{BB962C8B-B14F-4D97-AF65-F5344CB8AC3E}">
        <p14:creationId xmlns:p14="http://schemas.microsoft.com/office/powerpoint/2010/main" val="3429319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Avoid Lengthiness</a:t>
            </a:r>
            <a:endParaRPr lang="en-IN" b="1" dirty="0"/>
          </a:p>
        </p:txBody>
      </p:sp>
      <p:sp>
        <p:nvSpPr>
          <p:cNvPr id="3" name="Content Placeholder 2"/>
          <p:cNvSpPr>
            <a:spLocks noGrp="1"/>
          </p:cNvSpPr>
          <p:nvPr>
            <p:ph idx="1"/>
          </p:nvPr>
        </p:nvSpPr>
        <p:spPr/>
        <p:txBody>
          <a:bodyPr/>
          <a:lstStyle/>
          <a:p>
            <a:r>
              <a:rPr lang="en-IN" dirty="0" smtClean="0"/>
              <a:t>Avoid lengthy expressions that make a sentence wordy. Eliminating this problem may require moving words around in the sentence. </a:t>
            </a:r>
          </a:p>
          <a:p>
            <a:pPr marL="0" indent="0">
              <a:buNone/>
            </a:pPr>
            <a:r>
              <a:rPr lang="en-IN" dirty="0" smtClean="0"/>
              <a:t>Instead: </a:t>
            </a:r>
            <a:r>
              <a:rPr lang="en-IN" dirty="0" smtClean="0">
                <a:solidFill>
                  <a:srgbClr val="FF0000"/>
                </a:solidFill>
              </a:rPr>
              <a:t>At this point in time, there are currently far too many prisoners of war, also known as POWs. </a:t>
            </a:r>
          </a:p>
          <a:p>
            <a:pPr marL="0" indent="0">
              <a:buNone/>
            </a:pPr>
            <a:r>
              <a:rPr lang="en-IN" dirty="0" smtClean="0"/>
              <a:t>Say: </a:t>
            </a:r>
            <a:r>
              <a:rPr lang="en-IN" dirty="0" smtClean="0">
                <a:solidFill>
                  <a:srgbClr val="00B050"/>
                </a:solidFill>
              </a:rPr>
              <a:t>There are currently far too many prisoners of war (POWs). </a:t>
            </a:r>
          </a:p>
          <a:p>
            <a:pPr marL="0" indent="0">
              <a:buNone/>
            </a:pPr>
            <a:r>
              <a:rPr lang="en-IN" dirty="0" smtClean="0"/>
              <a:t>Instead: </a:t>
            </a:r>
            <a:r>
              <a:rPr lang="en-IN" dirty="0" smtClean="0">
                <a:solidFill>
                  <a:srgbClr val="FF0000"/>
                </a:solidFill>
              </a:rPr>
              <a:t>If you really want to know, I can truthfully say that I actually don’t really care about where we go to eat for dinner.</a:t>
            </a:r>
          </a:p>
          <a:p>
            <a:pPr marL="0" indent="0">
              <a:buNone/>
            </a:pPr>
            <a:r>
              <a:rPr lang="en-IN" dirty="0" smtClean="0"/>
              <a:t>Say: </a:t>
            </a:r>
            <a:r>
              <a:rPr lang="en-IN" dirty="0" smtClean="0">
                <a:solidFill>
                  <a:srgbClr val="00B050"/>
                </a:solidFill>
              </a:rPr>
              <a:t>I don’t care where we eat dinner.</a:t>
            </a:r>
            <a:endParaRPr lang="en-IN" dirty="0">
              <a:solidFill>
                <a:srgbClr val="00B050"/>
              </a:solidFill>
            </a:endParaRPr>
          </a:p>
        </p:txBody>
      </p:sp>
    </p:spTree>
    <p:extLst>
      <p:ext uri="{BB962C8B-B14F-4D97-AF65-F5344CB8AC3E}">
        <p14:creationId xmlns:p14="http://schemas.microsoft.com/office/powerpoint/2010/main" val="2953435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Sample Paragraph</a:t>
            </a:r>
            <a:endParaRPr lang="en-IN" b="1" dirty="0"/>
          </a:p>
        </p:txBody>
      </p:sp>
      <p:sp>
        <p:nvSpPr>
          <p:cNvPr id="3" name="Content Placeholder 2"/>
          <p:cNvSpPr>
            <a:spLocks noGrp="1"/>
          </p:cNvSpPr>
          <p:nvPr>
            <p:ph idx="1"/>
          </p:nvPr>
        </p:nvSpPr>
        <p:spPr>
          <a:xfrm>
            <a:off x="838199" y="1825624"/>
            <a:ext cx="10882745" cy="4758056"/>
          </a:xfrm>
        </p:spPr>
        <p:txBody>
          <a:bodyPr>
            <a:normAutofit fontScale="92500" lnSpcReduction="10000"/>
          </a:bodyPr>
          <a:lstStyle/>
          <a:p>
            <a:r>
              <a:rPr lang="en-IN" dirty="0" smtClean="0"/>
              <a:t>Original: </a:t>
            </a:r>
          </a:p>
          <a:p>
            <a:pPr marL="0" indent="0">
              <a:buNone/>
            </a:pPr>
            <a:r>
              <a:rPr lang="en-IN" dirty="0" smtClean="0">
                <a:solidFill>
                  <a:srgbClr val="FF0000"/>
                </a:solidFill>
              </a:rPr>
              <a:t>For nearly 20 years when asked the question what I would like to be when I grow up, I always used to think about writing, but I did not always consider writing as something I might like to be doing full-time. The foundation of my career goals started out in fifth grade, when my teacher told me a story I had written might be at a high enough standard to be publishable in the future. I was intrigued by this profession because I was always reading, but at the time I was always reading about marine mammals and had formed the impression that I would like to become a marine biologist because I had read everything about whales. As time passed and I became better acquainted with the study of science, I found that the job of a writer was something that would fit very well with my personality and goals in life, because it allows you to read about anything you want and you do not have to make a lot of measurements. </a:t>
            </a:r>
            <a:r>
              <a:rPr lang="en-IN" dirty="0" smtClean="0"/>
              <a:t>(173 words)</a:t>
            </a:r>
            <a:endParaRPr lang="en-IN" dirty="0"/>
          </a:p>
        </p:txBody>
      </p:sp>
    </p:spTree>
    <p:extLst>
      <p:ext uri="{BB962C8B-B14F-4D97-AF65-F5344CB8AC3E}">
        <p14:creationId xmlns:p14="http://schemas.microsoft.com/office/powerpoint/2010/main" val="535603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Stripped down without losing any of the meaning: </a:t>
            </a:r>
          </a:p>
          <a:p>
            <a:pPr marL="0" indent="0">
              <a:buNone/>
            </a:pPr>
            <a:endParaRPr lang="en-IN" dirty="0"/>
          </a:p>
          <a:p>
            <a:pPr marL="0" indent="0">
              <a:buNone/>
            </a:pPr>
            <a:r>
              <a:rPr lang="en-IN" dirty="0" smtClean="0">
                <a:solidFill>
                  <a:srgbClr val="00B050"/>
                </a:solidFill>
              </a:rPr>
              <a:t>For 20 years I have liked writing, but I did not always think of making a living by it. I first thought of writing as a job when my fifth grade teacher told me I might turn a story of mine into a children’s book. I read all the time, but back then I read about whales. I thought I wanted to study Marine Biology. As I learned more about research, I found I liked talking about whales better than swimming with them. </a:t>
            </a:r>
            <a:r>
              <a:rPr lang="en-IN" dirty="0" smtClean="0"/>
              <a:t>(83 words).</a:t>
            </a:r>
            <a:endParaRPr lang="en-IN" dirty="0"/>
          </a:p>
        </p:txBody>
      </p:sp>
    </p:spTree>
    <p:extLst>
      <p:ext uri="{BB962C8B-B14F-4D97-AF65-F5344CB8AC3E}">
        <p14:creationId xmlns:p14="http://schemas.microsoft.com/office/powerpoint/2010/main" val="1911800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17124" y="2421924"/>
            <a:ext cx="7965990" cy="1107996"/>
          </a:xfrm>
          <a:prstGeom prst="rect">
            <a:avLst/>
          </a:prstGeom>
          <a:noFill/>
        </p:spPr>
        <p:txBody>
          <a:bodyPr wrap="square" lIns="91440" tIns="45720" rIns="91440" bIns="45720">
            <a:spAutoFit/>
          </a:bodyPr>
          <a:lstStyle/>
          <a:p>
            <a:pPr algn="ctr"/>
            <a:r>
              <a:rPr lang="en-US" sz="6600" b="1" cap="none" spc="0" dirty="0" smtClean="0">
                <a:ln w="0"/>
                <a:solidFill>
                  <a:schemeClr val="tx1"/>
                </a:solidFill>
                <a:effectLst>
                  <a:outerShdw blurRad="38100" dist="19050" dir="2700000" algn="tl" rotWithShape="0">
                    <a:schemeClr val="dk1">
                      <a:alpha val="40000"/>
                    </a:schemeClr>
                  </a:outerShdw>
                </a:effectLst>
              </a:rPr>
              <a:t>Thank You</a:t>
            </a:r>
            <a:endParaRPr lang="en-US" sz="6600" b="1"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2581941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1551</Words>
  <Application>Microsoft Office PowerPoint</Application>
  <PresentationFormat>Widescreen</PresentationFormat>
  <Paragraphs>176</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Cutting Clutter</vt:lpstr>
      <vt:lpstr>Cut Clutter from Writing</vt:lpstr>
      <vt:lpstr>Don’t Draw Excessive Attention to the Writer</vt:lpstr>
      <vt:lpstr>Don’t use Verbs that require helping verbs if a simpler form will do</vt:lpstr>
      <vt:lpstr>Never start an independent clause with the word “There”</vt:lpstr>
      <vt:lpstr>Never start an independent clause with the word “It”</vt:lpstr>
      <vt:lpstr>Don’t use two or more action verbs when only one is needed to make the meaning clear.</vt:lpstr>
      <vt:lpstr>Cut the adverb implied in the verb</vt:lpstr>
      <vt:lpstr>Use the short words rather than the long one when they mean the same thing.</vt:lpstr>
      <vt:lpstr>Always be cautious of “that”</vt:lpstr>
      <vt:lpstr>Use the active voice—put the actor in the sentence</vt:lpstr>
      <vt:lpstr>Don’t use phrases that add words, not meaning.</vt:lpstr>
      <vt:lpstr>Avoid general adjectives or adverbs</vt:lpstr>
      <vt:lpstr>Use verbs, rather than noun forms of verbs</vt:lpstr>
      <vt:lpstr>State personal opinions or beliefs directly and without labelling them as belonging to you.</vt:lpstr>
      <vt:lpstr>Eliminate Wordiness</vt:lpstr>
      <vt:lpstr>Remove Redundant Words</vt:lpstr>
      <vt:lpstr>Remove Meaningless Intensifiers</vt:lpstr>
      <vt:lpstr>Remove Unnecessary Prepositions</vt:lpstr>
      <vt:lpstr>Avoid Lengthiness</vt:lpstr>
      <vt:lpstr>Sample Paragraph</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Cutting Clutter</dc:title>
  <dc:creator>Mojibur Rahman</dc:creator>
  <cp:lastModifiedBy>Mojibur Rahman</cp:lastModifiedBy>
  <cp:revision>18</cp:revision>
  <dcterms:created xsi:type="dcterms:W3CDTF">2022-08-18T05:14:06Z</dcterms:created>
  <dcterms:modified xsi:type="dcterms:W3CDTF">2022-08-18T10:16:19Z</dcterms:modified>
</cp:coreProperties>
</file>